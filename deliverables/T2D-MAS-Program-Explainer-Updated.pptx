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c3bd8fc179442d" /><Relationship Type="http://schemas.openxmlformats.org/officeDocument/2006/relationships/extended-properties" Target="/docProps/app.xml" Id="Rb5cbe7050a0347ca" /><Relationship Type="http://schemas.openxmlformats.org/officeDocument/2006/relationships/officeDocument" Target="/ppt/presentation.xml" Id="R4b2bdd4b88594f94" /></Relationships>
</file>

<file path=ppt/presentation.xml><?xml version="1.0" encoding="utf-8"?>
<p:presentation xmlns:p="http://schemas.openxmlformats.org/presentationml/2006/main">
  <p:sldMasterIdLst>
    <p:sldMasterId xmlns:r="http://schemas.openxmlformats.org/officeDocument/2006/relationships" id="2147483648" r:id="R5459db6a85b940b0"/>
  </p:sldMasterIdLst>
  <p:notesMasterIdLst>
    <p:notesMasterId xmlns:r="http://schemas.openxmlformats.org/officeDocument/2006/relationships" r:id="R66e0d67b49e0404f"/>
  </p:notesMasterIdLst>
  <p:sldIdLst>
    <p:sldId xmlns:r="http://schemas.openxmlformats.org/officeDocument/2006/relationships" id="256" r:id="R22fdf0cfbe1546b8"/>
    <p:sldId xmlns:r="http://schemas.openxmlformats.org/officeDocument/2006/relationships" id="257" r:id="R9738bce92ba64715"/>
    <p:sldId xmlns:r="http://schemas.openxmlformats.org/officeDocument/2006/relationships" id="258" r:id="R5dee4d9985274116"/>
    <p:sldId xmlns:r="http://schemas.openxmlformats.org/officeDocument/2006/relationships" id="259" r:id="Rf4de7468617a419b"/>
    <p:sldId xmlns:r="http://schemas.openxmlformats.org/officeDocument/2006/relationships" id="260" r:id="Rd03b0287b55446e1"/>
    <p:sldId xmlns:r="http://schemas.openxmlformats.org/officeDocument/2006/relationships" id="261" r:id="R83106eb3dbff476f"/>
    <p:sldId xmlns:r="http://schemas.openxmlformats.org/officeDocument/2006/relationships" id="262" r:id="Ra6756cffbd2a489f"/>
    <p:sldId xmlns:r="http://schemas.openxmlformats.org/officeDocument/2006/relationships" id="263" r:id="Rdea91462016f4a94"/>
    <p:sldId xmlns:r="http://schemas.openxmlformats.org/officeDocument/2006/relationships" id="264" r:id="R51ac94d0552c47e5"/>
    <p:sldId xmlns:r="http://schemas.openxmlformats.org/officeDocument/2006/relationships" id="265" r:id="R2b22327ff4a24b1c"/>
    <p:sldId xmlns:r="http://schemas.openxmlformats.org/officeDocument/2006/relationships" id="266" r:id="R761ee9d4fb9340b6"/>
    <p:sldId xmlns:r="http://schemas.openxmlformats.org/officeDocument/2006/relationships" id="267" r:id="Ra7d49918205f4882"/>
    <p:sldId xmlns:r="http://schemas.openxmlformats.org/officeDocument/2006/relationships" id="268" r:id="R07a022d8d59a415c"/>
    <p:sldId xmlns:r="http://schemas.openxmlformats.org/officeDocument/2006/relationships" id="269" r:id="R82343c2b3f8e4a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d4419d8ef74d78" /><Relationship Type="http://schemas.openxmlformats.org/officeDocument/2006/relationships/slideMaster" Target="/ppt/slideMasters/slideMaster1.xml" Id="R5459db6a85b940b0" /><Relationship Type="http://schemas.openxmlformats.org/officeDocument/2006/relationships/notesMaster" Target="/ppt/notesMasters/notesMaster1.xml" Id="R66e0d67b49e0404f" /><Relationship Type="http://schemas.openxmlformats.org/officeDocument/2006/relationships/presProps" Target="/ppt/presProps.xml" Id="Re53bb87f47a247ce" /><Relationship Type="http://schemas.openxmlformats.org/officeDocument/2006/relationships/tableStyles" Target="/ppt/tableStyles.xml" Id="R61382d32ce8446ed" /><Relationship Type="http://schemas.openxmlformats.org/officeDocument/2006/relationships/slide" Target="/ppt/slides/slide1.xml" Id="R22fdf0cfbe1546b8" /><Relationship Type="http://schemas.openxmlformats.org/officeDocument/2006/relationships/slide" Target="/ppt/slides/slide2.xml" Id="R9738bce92ba64715" /><Relationship Type="http://schemas.openxmlformats.org/officeDocument/2006/relationships/slide" Target="/ppt/slides/slide3.xml" Id="R5dee4d9985274116" /><Relationship Type="http://schemas.openxmlformats.org/officeDocument/2006/relationships/slide" Target="/ppt/slides/slide4.xml" Id="Rf4de7468617a419b" /><Relationship Type="http://schemas.openxmlformats.org/officeDocument/2006/relationships/slide" Target="/ppt/slides/slide5.xml" Id="Rd03b0287b55446e1" /><Relationship Type="http://schemas.openxmlformats.org/officeDocument/2006/relationships/slide" Target="/ppt/slides/slide6.xml" Id="R83106eb3dbff476f" /><Relationship Type="http://schemas.openxmlformats.org/officeDocument/2006/relationships/slide" Target="/ppt/slides/slide7.xml" Id="Ra6756cffbd2a489f" /><Relationship Type="http://schemas.openxmlformats.org/officeDocument/2006/relationships/slide" Target="/ppt/slides/slide8.xml" Id="Rdea91462016f4a94" /><Relationship Type="http://schemas.openxmlformats.org/officeDocument/2006/relationships/slide" Target="/ppt/slides/slide9.xml" Id="R51ac94d0552c47e5" /><Relationship Type="http://schemas.openxmlformats.org/officeDocument/2006/relationships/slide" Target="/ppt/slides/slide10.xml" Id="R2b22327ff4a24b1c" /><Relationship Type="http://schemas.openxmlformats.org/officeDocument/2006/relationships/slide" Target="/ppt/slides/slide11.xml" Id="R761ee9d4fb9340b6" /><Relationship Type="http://schemas.openxmlformats.org/officeDocument/2006/relationships/slide" Target="/ppt/slides/slide12.xml" Id="Ra7d49918205f4882" /><Relationship Type="http://schemas.openxmlformats.org/officeDocument/2006/relationships/slide" Target="/ppt/slides/slide13.xml" Id="R07a022d8d59a415c" /><Relationship Type="http://schemas.openxmlformats.org/officeDocument/2006/relationships/slide" Target="/ppt/slides/slide14.xml" Id="R82343c2b3f8e4a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ef023eea1f45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7feb73f30a4776" /><Relationship Type="http://schemas.openxmlformats.org/officeDocument/2006/relationships/notesMaster" Target="/ppt/notesMasters/notesMaster1.xml" Id="Ra9aea12ce91c47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6bb0cfbc5b42ad" /><Relationship Type="http://schemas.openxmlformats.org/officeDocument/2006/relationships/notesMaster" Target="/ppt/notesMasters/notesMaster1.xml" Id="R7819aaa409f845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6c8bba55a14641" /><Relationship Type="http://schemas.openxmlformats.org/officeDocument/2006/relationships/notesMaster" Target="/ppt/notesMasters/notesMaster1.xml" Id="Ra66a88a9068b45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2a15f110564e87" /><Relationship Type="http://schemas.openxmlformats.org/officeDocument/2006/relationships/notesMaster" Target="/ppt/notesMasters/notesMaster1.xml" Id="Rff4e1640083949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d7b017727a4204" /><Relationship Type="http://schemas.openxmlformats.org/officeDocument/2006/relationships/notesMaster" Target="/ppt/notesMasters/notesMaster1.xml" Id="Rb93bb28fbece4e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e7da17c9a94117" /><Relationship Type="http://schemas.openxmlformats.org/officeDocument/2006/relationships/notesMaster" Target="/ppt/notesMasters/notesMaster1.xml" Id="R794563441e6240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7953e221094061" /><Relationship Type="http://schemas.openxmlformats.org/officeDocument/2006/relationships/notesMaster" Target="/ppt/notesMasters/notesMaster1.xml" Id="R730b4b853d0247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4b2e71ebe94884" /><Relationship Type="http://schemas.openxmlformats.org/officeDocument/2006/relationships/notesMaster" Target="/ppt/notesMasters/notesMaster1.xml" Id="R4509041cfb6f4d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98273759e04f8a" /><Relationship Type="http://schemas.openxmlformats.org/officeDocument/2006/relationships/notesMaster" Target="/ppt/notesMasters/notesMaster1.xml" Id="R9a88b5fb826f4f8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c34edce2474c65" /><Relationship Type="http://schemas.openxmlformats.org/officeDocument/2006/relationships/notesMaster" Target="/ppt/notesMasters/notesMaster1.xml" Id="R578b687fc84844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a0a943d69c41d0" /><Relationship Type="http://schemas.openxmlformats.org/officeDocument/2006/relationships/notesMaster" Target="/ppt/notesMasters/notesMaster1.xml" Id="Re165e2938d224e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a32261e24e4b75" /><Relationship Type="http://schemas.openxmlformats.org/officeDocument/2006/relationships/notesMaster" Target="/ppt/notesMasters/notesMaster1.xml" Id="R6f017ae98569418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33d1c87095c4002" /><Relationship Type="http://schemas.openxmlformats.org/officeDocument/2006/relationships/notesMaster" Target="/ppt/notesMasters/notesMaster1.xml" Id="R33c9920dd7c445f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7cf35826f24fa0" /><Relationship Type="http://schemas.openxmlformats.org/officeDocument/2006/relationships/notesMaster" Target="/ppt/notesMasters/notesMaster1.xml" Id="Rd9e95953bdb940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docs/AUDIT.md and docs/process_and_experiments.md in the repository; the final report (docs/Laporan_Proyek1_T2D-MAS_Final.pdf); Project 1 - Idea.pdf. Updated on 20 October 2026 to match the rebuilt agents and 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Based on Project 1 - Idea.pdf, pages 1–2, and the report's Chapter 2. This is the original intended problem and goal, not a claim that every stage is already automated in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real, simulated or not built is listed per stage in docs/AUDIT.md and agents/AGENT_CATALOG.md. OpenRouter is optional in agents/severity_triage.py for Broker-Triage and reviewer-note interpretation, and only ':free' model ids are sent. The evaluation harness does not call an LLM. Still not built: a real repository, CI, deployment and telemetry; live use of the trained models; the 30-second undo window; reviewer login.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agent runs StageAgent.run() in agents/stage_agent.py: perceive, remember, reason, act, report. Each stage output in the dashboard lists these five steps in plain words. The code is grouped like the report's families: scouts.py, brokers.py, workers.py and security_policy.py. Scout-Log is the agent that actually migrates, during 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A0–A3 meanings are defined in eval/runner.py. They are benchmark configurations, not the dashboard workflow. A3 serializes a mobile bundle and an aggregate response in the investigation stage. In the dashboard, Scout-Log makes real trips to six nodes during investigation, but those trips are not part of the benchmark. Byte and message values come from results/20260930T020846305626/summary.csv, the run the report cites.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Agents live in agents/scouts.py, brokers.py and workers.py; agents/pipeline.py runs them and applies their gates; agents/orchestrator.py holds the nine-stage state machine. Every stage output, message and gate is audited. Real: masking and normalization, TF-IDF duplicate search, severity rules, the Contract Net auction, signed Scout-Log trips with egress checks, the secret scan, NAPFD and all gates. Simulated with seeds taken from the ticket id: node logs, project board, repository diff, CI, canary and telemetry. The six gate types: duplicate_review (similarity 0.70–0.85), autonomy_gate (confidence below 0.70 or risk above 0.60), secret_scan, pr_merge (always), canary_review (release risk above 0.30) and release_signoff (always).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Follows deliverables/T2D-MAS-Live-Demo-Guide.md in local mode without an OpenRouter key. FB-001 is casual Indonesian with a typo and an emoji: the balance was deducted but no order was created. Local rules assign Critical with confidence 0.84; risk 1.0 exceeds R_max 0.60, so the autonomy gate waits for a person. Contract Net utilities: Payments 0.87, Platform 0.70, Mobile app 0.67. Scout-Log visits six nodes (node-6 holds 30 MB, below the 42 MB break-even, so it answers through its exporter) and payment-db ranks first. Test counts (93–109 in seven runs), NAPFD and the release risk score are seeded from the ticket id, so they vary per run. FB-001's release risk stayed between 0.22 and 0.27, below 0.30, so its canary starts on its own. FB-002 repeats the complaint and is auto-linked at cosine 0.956.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agents/severity_triage.py, agents/similarity.py, agents/workers.py, agents/broker_assign.py, eval/runner.py; the triage, RCA and envs module READMEs; Project 1 - Idea.pdf page 2. agents/similarity.py reproduces the idea's worked cosine example (0.994 and 0.119). Live duplicate search is lexical, so it misses an Indonesian and an English report of the same problem. Optional OpenRouter outputs are bounded proposals and never authorize policy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agents/mobility.py, agents/node_runtime.py, agents/scout_log_program.py, agents/security_policy.py and docs/process_and_experiments.md. Rule: migrate when L_node &gt; 3 × (A + R), with A = 12 MB and R = 2 MB, so the break-even is 42 MB. Five nodes run the signed code; node-6 (30 MB) answers through its exporter. Only allowlisted aggregates leave a node, and a test checks that the fake customer e-mails in the node logs never appear outside. A3's bundle bytes are modeled in the evaluation harness, separately from these live trips.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data/README.md, eval/config.json and results/20260930T020846305626/metadata.json. The four-arm runner uses generated tickets, five seeds and a 70/30 chronological train/evaluation split. The general data preprocessing module uses 70/10/20.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results/20260930T020846305626/summary.csv, the run the report cites. A fresh run with the current code matches every non-timing value (python -m eval.compare_runs). Recall@5 and MAP improve sharply from A0 to the agent arms. F1 is 1.0 everywhere because every generated title contains its severity phrase; this is kept so the report's numbers stay reproducible. NAPFD is synthetic. Wall time is a tiny measured host workload, not ticket handling latency. Rollback rates are simulated. That run's plotting step stopped on a matplotlib keyword; eval/report.py has since been fixed, so new runs also write charts.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from results/20260930T020846305626/statistical_tests.csv. Friedman omnibus p-values: wall time 0.0135883, network bytes 0.00181665, CPU 0.92615, rollback 0.60389. Five seed-level observations make comparisons exploratory. The security injection summary recorded 20 blocked and none passed. Network-byte and rollback tests repeat exactly on a rerun; wall-time and CPU tests depend on the host.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Synthesis of docs/AUDIT.md, agents/AGENT_CATALOG.md, README.md, docs/process_and_experiments.md and the evaluation artifacts. Remaining gaps: no real repository, CI, deployment or telemetry; the trained models (MiniLM + FAISS, GraphSAGE, PPO/DQN) stay offline; no 30-second undo; reviewers are typed names, not logins; the evaluation tickets contain their severity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Deck updated on 20 October 2026 to match the rebuilt agents and dashboard. The final report PDF is exported from a Google Doc; docs/REPORT_REVISIONS.md lists the report passages that no longer match the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e6e4fe848a4e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cc9b18a1b04dd3" /><Relationship Type="http://schemas.openxmlformats.org/officeDocument/2006/relationships/slideLayout" Target="/ppt/slideLayouts/slideLayout1.xml" Id="R61eaaeffb44844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eaaeffb44844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fb91d01ce8474f" /><Relationship Type="http://schemas.openxmlformats.org/officeDocument/2006/relationships/notesSlide" Target="/ppt/notesSlides/notesSlide1.xml" Id="Rcaece2dd48e14f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c360b5c72e4d0d" /><Relationship Type="http://schemas.openxmlformats.org/officeDocument/2006/relationships/notesSlide" Target="/ppt/notesSlides/notesSlide2.xml" Id="R87d988f36c2046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489b90e45c489b" /><Relationship Type="http://schemas.openxmlformats.org/officeDocument/2006/relationships/notesSlide" Target="/ppt/notesSlides/notesSlide3.xml" Id="Rdbccc021d95d42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bf9f614c604426" /><Relationship Type="http://schemas.openxmlformats.org/officeDocument/2006/relationships/notesSlide" Target="/ppt/notesSlides/notesSlide4.xml" Id="R1dd8b97c9aac46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62f82b039ec4ff4" /><Relationship Type="http://schemas.openxmlformats.org/officeDocument/2006/relationships/notesSlide" Target="/ppt/notesSlides/notesSlide5.xml" Id="Rcd51dc7f05e44b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62f9ed02f04f35" /><Relationship Type="http://schemas.openxmlformats.org/officeDocument/2006/relationships/notesSlide" Target="/ppt/notesSlides/notesSlide6.xml" Id="Re3efe6607f1746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f1193db7c304637" /><Relationship Type="http://schemas.openxmlformats.org/officeDocument/2006/relationships/notesSlide" Target="/ppt/notesSlides/notesSlide7.xml" Id="Ref6b58a69f904a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5d9e90936b34da9" /><Relationship Type="http://schemas.openxmlformats.org/officeDocument/2006/relationships/notesSlide" Target="/ppt/notesSlides/notesSlide8.xml" Id="Rd55c738232574f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c1fbe8f0804cd5" /><Relationship Type="http://schemas.openxmlformats.org/officeDocument/2006/relationships/notesSlide" Target="/ppt/notesSlides/notesSlide9.xml" Id="Rb366a8b5ac944f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326fd7f46e04219" /><Relationship Type="http://schemas.openxmlformats.org/officeDocument/2006/relationships/notesSlide" Target="/ppt/notesSlides/notesSlide10.xml" Id="Re47b3126227c46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373f3b435ab4dba" /><Relationship Type="http://schemas.openxmlformats.org/officeDocument/2006/relationships/notesSlide" Target="/ppt/notesSlides/notesSlide11.xml" Id="Ra13721d2b8f348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4ab547389f74cba" /><Relationship Type="http://schemas.openxmlformats.org/officeDocument/2006/relationships/notesSlide" Target="/ppt/notesSlides/notesSlide12.xml" Id="R4b3f2bff054643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0ba454536f24f96" /><Relationship Type="http://schemas.openxmlformats.org/officeDocument/2006/relationships/notesSlide" Target="/ppt/notesSlides/notesSlide13.xml" Id="R90fe1c62a6c64fb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3609f9936a44920" /><Relationship Type="http://schemas.openxmlformats.org/officeDocument/2006/relationships/notesSlide" Target="/ppt/notesSlides/notesSlide14.xml" Id="R033f60051b84494a"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03720EB-2C0C-4616-A57A-E6E8FDC1F34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A9A505-5452-4EC5-95A1-575C3A4EBF5B}"/>
              </a:ext>
            </a:extLst>
          </p:cNvPr>
          <p:cNvSpPr>
            <a:spLocks xmlns:a="http://schemas.openxmlformats.org/drawingml/2006/main" noGrp="1"/>
          </p:cNvSpPr>
          <p:nvPr/>
        </p:nvSpPr>
        <p:spPr>
          <a:xfrm xmlns:a="http://schemas.openxmlformats.org/drawingml/2006/main">
            <a:off x="723900" y="876300"/>
            <a:ext cx="647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6774"/>
          </a:bodyPr>
          <a:lstStyle xmlns:a="http://schemas.openxmlformats.org/drawingml/2006/main"/>
          <a:p xmlns:a="http://schemas.openxmlformats.org/drawingml/2006/main">
            <a:pPr algn="l">
              <a:defRPr sz="4650" b="1">
                <a:solidFill>
                  <a:srgbClr val="18324B"/>
                </a:solidFill>
                <a:latin typeface="Arial"/>
                <a:ea typeface="Arial"/>
                <a:cs typeface="Arial"/>
              </a:defRPr>
            </a:pPr>
            <a:r>
              <a:rPr sz="4650" b="1">
                <a:solidFill>
                  <a:srgbClr val="18324B"/>
                </a:solidFill>
                <a:latin typeface="Arial"/>
                <a:ea typeface="Arial"/>
                <a:cs typeface="Arial"/>
              </a:rPr>
              <a:t>T2D-MAS</a:t>
            </a:r>
          </a:p>
        </p:txBody>
      </p:sp>
      <p:sp>
        <p:nvSpPr>
          <p:cNvPr id="3" name="">
            <a:extLst xmlns:a="http://schemas.openxmlformats.org/drawingml/2006/main">
              <a:ext uri="{FF2B5EF4-FFF2-40B4-BE49-F238E27FC236}">
                <a16:creationId xmlns:a16="http://schemas.microsoft.com/office/drawing/2014/main" id="{A1554F79-9C24-45F9-8A10-059E23C06C03}"/>
              </a:ext>
            </a:extLst>
          </p:cNvPr>
          <p:cNvSpPr>
            <a:spLocks xmlns:a="http://schemas.openxmlformats.org/drawingml/2006/main" noGrp="1"/>
          </p:cNvSpPr>
          <p:nvPr/>
        </p:nvSpPr>
        <p:spPr>
          <a:xfrm xmlns:a="http://schemas.openxmlformats.org/drawingml/2006/main">
            <a:off x="742950" y="1676400"/>
            <a:ext cx="942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a:solidFill>
                  <a:srgbClr val="2D7A78"/>
                </a:solidFill>
                <a:latin typeface="Arial"/>
                <a:ea typeface="Arial"/>
                <a:cs typeface="Arial"/>
              </a:defRPr>
            </a:pPr>
            <a:r>
              <a:rPr sz="2700" b="1">
                <a:solidFill>
                  <a:srgbClr val="2D7A78"/>
                </a:solidFill>
                <a:latin typeface="Arial"/>
                <a:ea typeface="Arial"/>
                <a:cs typeface="Arial"/>
              </a:rPr>
              <a:t>From software ticket to deployment</a:t>
            </a:r>
          </a:p>
        </p:txBody>
      </p:sp>
      <p:sp>
        <p:nvSpPr>
          <p:cNvPr id="4" name="">
            <a:extLst xmlns:a="http://schemas.openxmlformats.org/drawingml/2006/main">
              <a:ext uri="{FF2B5EF4-FFF2-40B4-BE49-F238E27FC236}">
                <a16:creationId xmlns:a16="http://schemas.microsoft.com/office/drawing/2014/main" id="{899315F8-C1D1-4DB2-BBF5-BB52B8013025}"/>
              </a:ext>
            </a:extLst>
          </p:cNvPr>
          <p:cNvSpPr>
            <a:spLocks xmlns:a="http://schemas.openxmlformats.org/drawingml/2006/main" noGrp="1"/>
          </p:cNvSpPr>
          <p:nvPr/>
        </p:nvSpPr>
        <p:spPr>
          <a:xfrm xmlns:a="http://schemas.openxmlformats.org/drawingml/2006/main">
            <a:off x="762000" y="2457450"/>
            <a:ext cx="904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2E4357"/>
                </a:solidFill>
                <a:latin typeface="Arial"/>
                <a:ea typeface="Arial"/>
                <a:cs typeface="Arial"/>
              </a:defRPr>
            </a:pPr>
            <a:r>
              <a:rPr sz="2025" b="0">
                <a:solidFill>
                  <a:srgbClr val="2E4357"/>
                </a:solidFill>
                <a:latin typeface="Arial"/>
                <a:ea typeface="Arial"/>
                <a:cs typeface="Arial"/>
              </a:rPr>
              <a:t>What the prototype does, how its agents differ, and what the experiment shows</a:t>
            </a:r>
          </a:p>
        </p:txBody>
      </p:sp>
      <p:sp>
        <p:nvSpPr>
          <p:cNvPr id="5" name="">
            <a:extLst xmlns:a="http://schemas.openxmlformats.org/drawingml/2006/main">
              <a:ext uri="{FF2B5EF4-FFF2-40B4-BE49-F238E27FC236}">
                <a16:creationId xmlns:a16="http://schemas.microsoft.com/office/drawing/2014/main" id="{189F7110-F90E-4CB4-A317-06A51DF9FF06}"/>
              </a:ext>
            </a:extLst>
          </p:cNvPr>
          <p:cNvSpPr>
            <a:spLocks xmlns:a="http://schemas.openxmlformats.org/drawingml/2006/main" noGrp="1"/>
          </p:cNvSpPr>
          <p:nvPr/>
        </p:nvSpPr>
        <p:spPr>
          <a:xfrm xmlns:a="http://schemas.openxmlformats.org/drawingml/2006/main">
            <a:off x="762000" y="3600450"/>
            <a:ext cx="4905375" cy="19050"/>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2647C2A-3BE3-4D8C-8EB6-732B1543C198}"/>
              </a:ext>
            </a:extLst>
          </p:cNvPr>
          <p:cNvSpPr>
            <a:spLocks xmlns:a="http://schemas.openxmlformats.org/drawingml/2006/main" noGrp="1"/>
          </p:cNvSpPr>
          <p:nvPr/>
        </p:nvSpPr>
        <p:spPr>
          <a:xfrm xmlns:a="http://schemas.openxmlformats.org/drawingml/2006/main">
            <a:off x="762000" y="3829050"/>
            <a:ext cx="742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Agent Cerdas Enterprise  ·  Project 1</a:t>
            </a:r>
          </a:p>
        </p:txBody>
      </p:sp>
      <p:sp>
        <p:nvSpPr>
          <p:cNvPr id="7" name="">
            <a:extLst xmlns:a="http://schemas.openxmlformats.org/drawingml/2006/main">
              <a:ext uri="{FF2B5EF4-FFF2-40B4-BE49-F238E27FC236}">
                <a16:creationId xmlns:a16="http://schemas.microsoft.com/office/drawing/2014/main" id="{842543E1-2D7E-475B-9BA6-D20A87AFDCC9}"/>
              </a:ext>
            </a:extLst>
          </p:cNvPr>
          <p:cNvSpPr>
            <a:spLocks xmlns:a="http://schemas.openxmlformats.org/drawingml/2006/main" noGrp="1"/>
          </p:cNvSpPr>
          <p:nvPr/>
        </p:nvSpPr>
        <p:spPr>
          <a:xfrm xmlns:a="http://schemas.openxmlformats.org/drawingml/2006/main">
            <a:off x="762000" y="4229100"/>
            <a:ext cx="742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Code walkthrough + original design intent</a:t>
            </a:r>
          </a:p>
        </p:txBody>
      </p:sp>
      <p:sp>
        <p:nvSpPr>
          <p:cNvPr id="8" name="">
            <a:extLst xmlns:a="http://schemas.openxmlformats.org/drawingml/2006/main">
              <a:ext uri="{FF2B5EF4-FFF2-40B4-BE49-F238E27FC236}">
                <a16:creationId xmlns:a16="http://schemas.microsoft.com/office/drawing/2014/main" id="{6B8DE574-39A9-4DCB-95C2-208BC6D80DE8}"/>
              </a:ext>
            </a:extLst>
          </p:cNvPr>
          <p:cNvSpPr>
            <a:spLocks xmlns:a="http://schemas.openxmlformats.org/drawingml/2006/main" noGrp="1"/>
          </p:cNvSpPr>
          <p:nvPr/>
        </p:nvSpPr>
        <p:spPr>
          <a:xfrm xmlns:a="http://schemas.openxmlformats.org/drawingml/2006/main">
            <a:off x="762000" y="5200650"/>
            <a:ext cx="10191750" cy="628650"/>
          </a:xfrm>
          <a:prstGeom xmlns:a="http://schemas.openxmlformats.org/drawingml/2006/main" prst="roundRect">
            <a:avLst>
              <a:gd name="adj" fmla="val 24242"/>
            </a:avLst>
          </a:prstGeom>
          <a:solidFill xmlns:a="http://schemas.openxmlformats.org/drawingml/2006/main">
            <a:srgbClr val="DDEFEA"/>
          </a:solidFill>
          <a:ln xmlns:a="http://schemas.openxmlformats.org/drawingml/2006/main" w="9525">
            <a:noFill/>
          </a:ln>
        </p:spPr>
      </p:sp>
      <p:sp>
        <p:nvSpPr>
          <p:cNvPr id="9" name="">
            <a:extLst xmlns:a="http://schemas.openxmlformats.org/drawingml/2006/main">
              <a:ext uri="{FF2B5EF4-FFF2-40B4-BE49-F238E27FC236}">
                <a16:creationId xmlns:a16="http://schemas.microsoft.com/office/drawing/2014/main" id="{8495F086-D935-41B1-8219-7BC01C67F51E}"/>
              </a:ext>
            </a:extLst>
          </p:cNvPr>
          <p:cNvSpPr>
            <a:spLocks xmlns:a="http://schemas.openxmlformats.org/drawingml/2006/main" noGrp="1"/>
          </p:cNvSpPr>
          <p:nvPr/>
        </p:nvSpPr>
        <p:spPr>
          <a:xfrm xmlns:a="http://schemas.openxmlformats.org/drawingml/2006/main">
            <a:off x="981075" y="5324475"/>
            <a:ext cx="9734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8324B"/>
                </a:solidFill>
                <a:latin typeface="Arial"/>
                <a:ea typeface="Arial"/>
                <a:cs typeface="Arial"/>
              </a:defRPr>
            </a:pPr>
            <a:r>
              <a:rPr sz="1725" b="1">
                <a:solidFill>
                  <a:srgbClr val="18324B"/>
                </a:solidFill>
                <a:latin typeface="Arial"/>
                <a:ea typeface="Arial"/>
                <a:cs typeface="Arial"/>
              </a:rPr>
              <a:t>Key distinction: A0–A3 are benchmark configurations, not four agent roles.</a:t>
            </a:r>
          </a:p>
        </p:txBody>
      </p:sp>
    </p:spTree>
    <p:extLst>
      <p:ext uri="{BB962C8B-B14F-4D97-AF65-F5344CB8AC3E}">
        <p14:creationId xmlns:p14="http://schemas.microsoft.com/office/powerpoint/2010/main" val="1615159237"/>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61D3AB6-961D-4EBA-BE6E-BA8D1BB07585}"/>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project targets four delivery bottlenecks</a:t>
            </a:r>
          </a:p>
        </p:txBody>
      </p:sp>
      <p:sp>
        <p:nvSpPr>
          <p:cNvPr id="2" name="">
            <a:extLst xmlns:a="http://schemas.openxmlformats.org/drawingml/2006/main">
              <a:ext uri="{FF2B5EF4-FFF2-40B4-BE49-F238E27FC236}">
                <a16:creationId xmlns:a16="http://schemas.microsoft.com/office/drawing/2014/main" id="{34217F40-C5B4-4F42-9005-7C101DA75B79}"/>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9CC397E-2543-46EB-81A7-E426547412D3}"/>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Original problem statement from the project report and idea document</a:t>
            </a:r>
          </a:p>
        </p:txBody>
      </p:sp>
      <p:sp>
        <p:nvSpPr>
          <p:cNvPr id="4" name="">
            <a:extLst xmlns:a="http://schemas.openxmlformats.org/drawingml/2006/main">
              <a:ext uri="{FF2B5EF4-FFF2-40B4-BE49-F238E27FC236}">
                <a16:creationId xmlns:a16="http://schemas.microsoft.com/office/drawing/2014/main" id="{17125A55-64FC-403C-9688-CCD3EF3AEF76}"/>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9F4F62E4-FF32-4A63-B37B-7AE39B9B0699}"/>
              </a:ext>
            </a:extLst>
          </p:cNvPr>
          <p:cNvSpPr>
            <a:spLocks xmlns:a="http://schemas.openxmlformats.org/drawingml/2006/main" noGrp="1"/>
          </p:cNvSpPr>
          <p:nvPr/>
        </p:nvSpPr>
        <p:spPr>
          <a:xfrm xmlns:a="http://schemas.openxmlformats.org/drawingml/2006/main">
            <a:off x="714375" y="1876425"/>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981C00F-634D-4049-A182-5DC0700F41BD}"/>
              </a:ext>
            </a:extLst>
          </p:cNvPr>
          <p:cNvSpPr>
            <a:spLocks xmlns:a="http://schemas.openxmlformats.org/drawingml/2006/main" noGrp="1"/>
          </p:cNvSpPr>
          <p:nvPr/>
        </p:nvSpPr>
        <p:spPr>
          <a:xfrm xmlns:a="http://schemas.openxmlformats.org/drawingml/2006/main">
            <a:off x="962025" y="1790700"/>
            <a:ext cx="4943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Manual triage slows resolution</a:t>
            </a:r>
          </a:p>
        </p:txBody>
      </p:sp>
      <p:sp>
        <p:nvSpPr>
          <p:cNvPr id="7" name="">
            <a:extLst xmlns:a="http://schemas.openxmlformats.org/drawingml/2006/main">
              <a:ext uri="{FF2B5EF4-FFF2-40B4-BE49-F238E27FC236}">
                <a16:creationId xmlns:a16="http://schemas.microsoft.com/office/drawing/2014/main" id="{1FB145A1-7059-4E9C-89B9-8BE9A6C6D47E}"/>
              </a:ext>
            </a:extLst>
          </p:cNvPr>
          <p:cNvSpPr>
            <a:spLocks xmlns:a="http://schemas.openxmlformats.org/drawingml/2006/main" noGrp="1"/>
          </p:cNvSpPr>
          <p:nvPr/>
        </p:nvSpPr>
        <p:spPr>
          <a:xfrm xmlns:a="http://schemas.openxmlformats.org/drawingml/2006/main">
            <a:off x="962025" y="2095500"/>
            <a:ext cx="494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Severity, category and team routing depend on people reading each ticket.</a:t>
            </a:r>
          </a:p>
        </p:txBody>
      </p:sp>
      <p:sp>
        <p:nvSpPr>
          <p:cNvPr id="8" name="">
            <a:extLst xmlns:a="http://schemas.openxmlformats.org/drawingml/2006/main">
              <a:ext uri="{FF2B5EF4-FFF2-40B4-BE49-F238E27FC236}">
                <a16:creationId xmlns:a16="http://schemas.microsoft.com/office/drawing/2014/main" id="{799AF482-EDD4-465A-A0F5-45051CF55B6A}"/>
              </a:ext>
            </a:extLst>
          </p:cNvPr>
          <p:cNvSpPr>
            <a:spLocks xmlns:a="http://schemas.openxmlformats.org/drawingml/2006/main" noGrp="1"/>
          </p:cNvSpPr>
          <p:nvPr/>
        </p:nvSpPr>
        <p:spPr>
          <a:xfrm xmlns:a="http://schemas.openxmlformats.org/drawingml/2006/main">
            <a:off x="714375" y="2943225"/>
            <a:ext cx="114300" cy="114300"/>
          </a:xfrm>
          <a:prstGeom xmlns:a="http://schemas.openxmlformats.org/drawingml/2006/main" prst="ellipse">
            <a:avLst/>
          </a:prstGeom>
          <a:solidFill xmlns:a="http://schemas.openxmlformats.org/drawingml/2006/main">
            <a:srgbClr val="3B6FA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6A3E676-7709-4DA1-A3F8-EF8415D71108}"/>
              </a:ext>
            </a:extLst>
          </p:cNvPr>
          <p:cNvSpPr>
            <a:spLocks xmlns:a="http://schemas.openxmlformats.org/drawingml/2006/main" noGrp="1"/>
          </p:cNvSpPr>
          <p:nvPr/>
        </p:nvSpPr>
        <p:spPr>
          <a:xfrm xmlns:a="http://schemas.openxmlformats.org/drawingml/2006/main">
            <a:off x="962025" y="2857500"/>
            <a:ext cx="4943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Duplicate reports create repeated work</a:t>
            </a:r>
          </a:p>
        </p:txBody>
      </p:sp>
      <p:sp>
        <p:nvSpPr>
          <p:cNvPr id="10" name="">
            <a:extLst xmlns:a="http://schemas.openxmlformats.org/drawingml/2006/main">
              <a:ext uri="{FF2B5EF4-FFF2-40B4-BE49-F238E27FC236}">
                <a16:creationId xmlns:a16="http://schemas.microsoft.com/office/drawing/2014/main" id="{9B5DC884-39C2-4FE1-BC7A-AD7352B018B8}"/>
              </a:ext>
            </a:extLst>
          </p:cNvPr>
          <p:cNvSpPr>
            <a:spLocks xmlns:a="http://schemas.openxmlformats.org/drawingml/2006/main" noGrp="1"/>
          </p:cNvSpPr>
          <p:nvPr/>
        </p:nvSpPr>
        <p:spPr>
          <a:xfrm xmlns:a="http://schemas.openxmlformats.org/drawingml/2006/main">
            <a:off x="962025" y="3162300"/>
            <a:ext cx="494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Similar incidents can be phrased differently, so keyword matching misses them.</a:t>
            </a:r>
          </a:p>
        </p:txBody>
      </p:sp>
      <p:sp>
        <p:nvSpPr>
          <p:cNvPr id="11" name="">
            <a:extLst xmlns:a="http://schemas.openxmlformats.org/drawingml/2006/main">
              <a:ext uri="{FF2B5EF4-FFF2-40B4-BE49-F238E27FC236}">
                <a16:creationId xmlns:a16="http://schemas.microsoft.com/office/drawing/2014/main" id="{64D4F093-11F9-40AE-AC17-09F08BB6F926}"/>
              </a:ext>
            </a:extLst>
          </p:cNvPr>
          <p:cNvSpPr>
            <a:spLocks xmlns:a="http://schemas.openxmlformats.org/drawingml/2006/main" noGrp="1"/>
          </p:cNvSpPr>
          <p:nvPr/>
        </p:nvSpPr>
        <p:spPr>
          <a:xfrm xmlns:a="http://schemas.openxmlformats.org/drawingml/2006/main">
            <a:off x="6381750" y="1876425"/>
            <a:ext cx="114300" cy="114300"/>
          </a:xfrm>
          <a:prstGeom xmlns:a="http://schemas.openxmlformats.org/drawingml/2006/main" prst="ellipse">
            <a:avLst/>
          </a:prstGeom>
          <a:solidFill xmlns:a="http://schemas.openxmlformats.org/drawingml/2006/main">
            <a:srgbClr val="B77A2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139BB0E-18CF-4689-898A-619BB1AC4A75}"/>
              </a:ext>
            </a:extLst>
          </p:cNvPr>
          <p:cNvSpPr>
            <a:spLocks xmlns:a="http://schemas.openxmlformats.org/drawingml/2006/main" noGrp="1"/>
          </p:cNvSpPr>
          <p:nvPr/>
        </p:nvSpPr>
        <p:spPr>
          <a:xfrm xmlns:a="http://schemas.openxmlformats.org/drawingml/2006/main">
            <a:off x="6629400" y="1790700"/>
            <a:ext cx="4848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Approvals become queues</a:t>
            </a:r>
          </a:p>
        </p:txBody>
      </p:sp>
      <p:sp>
        <p:nvSpPr>
          <p:cNvPr id="13" name="">
            <a:extLst xmlns:a="http://schemas.openxmlformats.org/drawingml/2006/main">
              <a:ext uri="{FF2B5EF4-FFF2-40B4-BE49-F238E27FC236}">
                <a16:creationId xmlns:a16="http://schemas.microsoft.com/office/drawing/2014/main" id="{D7EBB7FF-D316-4900-85F2-AB566EB1986B}"/>
              </a:ext>
            </a:extLst>
          </p:cNvPr>
          <p:cNvSpPr>
            <a:spLocks xmlns:a="http://schemas.openxmlformats.org/drawingml/2006/main" noGrp="1"/>
          </p:cNvSpPr>
          <p:nvPr/>
        </p:nvSpPr>
        <p:spPr>
          <a:xfrm xmlns:a="http://schemas.openxmlformats.org/drawingml/2006/main">
            <a:off x="6629400" y="2095500"/>
            <a:ext cx="4848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Human review is essential for risky actions, but reviewers need useful context.</a:t>
            </a:r>
          </a:p>
        </p:txBody>
      </p:sp>
      <p:sp>
        <p:nvSpPr>
          <p:cNvPr id="14" name="">
            <a:extLst xmlns:a="http://schemas.openxmlformats.org/drawingml/2006/main">
              <a:ext uri="{FF2B5EF4-FFF2-40B4-BE49-F238E27FC236}">
                <a16:creationId xmlns:a16="http://schemas.microsoft.com/office/drawing/2014/main" id="{0FEC1FDE-3102-4649-A304-ADDA80A56172}"/>
              </a:ext>
            </a:extLst>
          </p:cNvPr>
          <p:cNvSpPr>
            <a:spLocks xmlns:a="http://schemas.openxmlformats.org/drawingml/2006/main" noGrp="1"/>
          </p:cNvSpPr>
          <p:nvPr/>
        </p:nvSpPr>
        <p:spPr>
          <a:xfrm xmlns:a="http://schemas.openxmlformats.org/drawingml/2006/main">
            <a:off x="6381750" y="2943225"/>
            <a:ext cx="114300" cy="114300"/>
          </a:xfrm>
          <a:prstGeom xmlns:a="http://schemas.openxmlformats.org/drawingml/2006/main" prst="ellipse">
            <a:avLst/>
          </a:prstGeom>
          <a:solidFill xmlns:a="http://schemas.openxmlformats.org/drawingml/2006/main">
            <a:srgbClr val="B6534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A511F6B-EB56-497A-AEDC-E11539BF6EED}"/>
              </a:ext>
            </a:extLst>
          </p:cNvPr>
          <p:cNvSpPr>
            <a:spLocks xmlns:a="http://schemas.openxmlformats.org/drawingml/2006/main" noGrp="1"/>
          </p:cNvSpPr>
          <p:nvPr/>
        </p:nvSpPr>
        <p:spPr>
          <a:xfrm xmlns:a="http://schemas.openxmlformats.org/drawingml/2006/main">
            <a:off x="6629400" y="2857500"/>
            <a:ext cx="4848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Quality varies between tickets</a:t>
            </a:r>
          </a:p>
        </p:txBody>
      </p:sp>
      <p:sp>
        <p:nvSpPr>
          <p:cNvPr id="16" name="">
            <a:extLst xmlns:a="http://schemas.openxmlformats.org/drawingml/2006/main">
              <a:ext uri="{FF2B5EF4-FFF2-40B4-BE49-F238E27FC236}">
                <a16:creationId xmlns:a16="http://schemas.microsoft.com/office/drawing/2014/main" id="{075C3B01-56C6-46A6-82B9-34A8C2D285E4}"/>
              </a:ext>
            </a:extLst>
          </p:cNvPr>
          <p:cNvSpPr>
            <a:spLocks xmlns:a="http://schemas.openxmlformats.org/drawingml/2006/main" noGrp="1"/>
          </p:cNvSpPr>
          <p:nvPr/>
        </p:nvSpPr>
        <p:spPr>
          <a:xfrm xmlns:a="http://schemas.openxmlformats.org/drawingml/2006/main">
            <a:off x="6629400" y="3162300"/>
            <a:ext cx="4848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Reproduction steps, acceptance criteria and release notes can be incomplete.</a:t>
            </a:r>
          </a:p>
        </p:txBody>
      </p:sp>
      <p:sp>
        <p:nvSpPr>
          <p:cNvPr id="17" name="">
            <a:extLst xmlns:a="http://schemas.openxmlformats.org/drawingml/2006/main">
              <a:ext uri="{FF2B5EF4-FFF2-40B4-BE49-F238E27FC236}">
                <a16:creationId xmlns:a16="http://schemas.microsoft.com/office/drawing/2014/main" id="{759A6AEE-BF14-44F7-873E-83D04416B081}"/>
              </a:ext>
            </a:extLst>
          </p:cNvPr>
          <p:cNvSpPr>
            <a:spLocks xmlns:a="http://schemas.openxmlformats.org/drawingml/2006/main" noGrp="1"/>
          </p:cNvSpPr>
          <p:nvPr/>
        </p:nvSpPr>
        <p:spPr>
          <a:xfrm xmlns:a="http://schemas.openxmlformats.org/drawingml/2006/main">
            <a:off x="714375" y="4219575"/>
            <a:ext cx="1076325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9525">
            <a:solidFill>
              <a:srgbClr val="D7E0E9"/>
            </a:solidFill>
          </a:ln>
        </p:spPr>
      </p:sp>
      <p:sp>
        <p:nvSpPr>
          <p:cNvPr id="18" name="">
            <a:extLst xmlns:a="http://schemas.openxmlformats.org/drawingml/2006/main">
              <a:ext uri="{FF2B5EF4-FFF2-40B4-BE49-F238E27FC236}">
                <a16:creationId xmlns:a16="http://schemas.microsoft.com/office/drawing/2014/main" id="{D262C18F-93C6-4C3E-8838-03FEF00F8884}"/>
              </a:ext>
            </a:extLst>
          </p:cNvPr>
          <p:cNvSpPr>
            <a:spLocks xmlns:a="http://schemas.openxmlformats.org/drawingml/2006/main" noGrp="1"/>
          </p:cNvSpPr>
          <p:nvPr/>
        </p:nvSpPr>
        <p:spPr>
          <a:xfrm xmlns:a="http://schemas.openxmlformats.org/drawingml/2006/main">
            <a:off x="952500" y="4391025"/>
            <a:ext cx="1238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Goal</a:t>
            </a:r>
          </a:p>
        </p:txBody>
      </p:sp>
      <p:sp>
        <p:nvSpPr>
          <p:cNvPr id="19" name="">
            <a:extLst xmlns:a="http://schemas.openxmlformats.org/drawingml/2006/main">
              <a:ext uri="{FF2B5EF4-FFF2-40B4-BE49-F238E27FC236}">
                <a16:creationId xmlns:a16="http://schemas.microsoft.com/office/drawing/2014/main" id="{DDC01356-233B-4E7E-A8B7-C627AB3D3CD8}"/>
              </a:ext>
            </a:extLst>
          </p:cNvPr>
          <p:cNvSpPr>
            <a:spLocks xmlns:a="http://schemas.openxmlformats.org/drawingml/2006/main" noGrp="1"/>
          </p:cNvSpPr>
          <p:nvPr/>
        </p:nvSpPr>
        <p:spPr>
          <a:xfrm xmlns:a="http://schemas.openxmlformats.org/drawingml/2006/main">
            <a:off x="952500" y="4752975"/>
            <a:ext cx="10077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9506"/>
          </a:bodyPr>
          <a:lstStyle xmlns:a="http://schemas.openxmlformats.org/drawingml/2006/main"/>
          <a:p xmlns:a="http://schemas.openxmlformats.org/drawingml/2006/main">
            <a:pPr algn="l">
              <a:defRPr sz="2025" b="1">
                <a:solidFill>
                  <a:srgbClr val="18324B"/>
                </a:solidFill>
                <a:latin typeface="Arial"/>
                <a:ea typeface="Arial"/>
                <a:cs typeface="Arial"/>
              </a:defRPr>
            </a:pPr>
            <a:r>
              <a:rPr sz="2025" b="1">
                <a:solidFill>
                  <a:srgbClr val="18324B"/>
                </a:solidFill>
                <a:latin typeface="Arial"/>
                <a:ea typeface="Arial"/>
                <a:cs typeface="Arial"/>
              </a:rPr>
              <a:t>Coordinate specialized software agents from user feedback through deployment, while keeping people in control of high-risk decisions.</a:t>
            </a:r>
          </a:p>
        </p:txBody>
      </p:sp>
    </p:spTree>
    <p:extLst>
      <p:ext uri="{BB962C8B-B14F-4D97-AF65-F5344CB8AC3E}">
        <p14:creationId xmlns:p14="http://schemas.microsoft.com/office/powerpoint/2010/main" val="833492856"/>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2CE753E-AC17-49FF-AD40-24809C3EF1D5}"/>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Every stage now runs; real systems are simulated</a:t>
            </a:r>
          </a:p>
        </p:txBody>
      </p:sp>
      <p:sp>
        <p:nvSpPr>
          <p:cNvPr id="2" name="">
            <a:extLst xmlns:a="http://schemas.openxmlformats.org/drawingml/2006/main">
              <a:ext uri="{FF2B5EF4-FFF2-40B4-BE49-F238E27FC236}">
                <a16:creationId xmlns:a16="http://schemas.microsoft.com/office/drawing/2014/main" id="{BDB90944-8442-4428-A93F-403E28A5EF66}"/>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6C9E76-6A46-4FB9-9DA3-2156FE427696}"/>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Use this distinction when interpreting every capability and result</a:t>
            </a:r>
          </a:p>
        </p:txBody>
      </p:sp>
      <p:sp>
        <p:nvSpPr>
          <p:cNvPr id="4" name="">
            <a:extLst xmlns:a="http://schemas.openxmlformats.org/drawingml/2006/main">
              <a:ext uri="{FF2B5EF4-FFF2-40B4-BE49-F238E27FC236}">
                <a16:creationId xmlns:a16="http://schemas.microsoft.com/office/drawing/2014/main" id="{F0E668E7-F589-4826-872C-C51E65F22996}"/>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8DC09D58-49CE-450D-BB65-8E3C23A24908}"/>
              </a:ext>
            </a:extLst>
          </p:cNvPr>
          <p:cNvSpPr>
            <a:spLocks xmlns:a="http://schemas.openxmlformats.org/drawingml/2006/main" noGrp="1"/>
          </p:cNvSpPr>
          <p:nvPr/>
        </p:nvSpPr>
        <p:spPr>
          <a:xfrm xmlns:a="http://schemas.openxmlformats.org/drawingml/2006/main">
            <a:off x="781050" y="173355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2D7A78"/>
                </a:solidFill>
                <a:latin typeface="Arial"/>
                <a:ea typeface="Arial"/>
                <a:cs typeface="Arial"/>
              </a:defRPr>
            </a:pPr>
            <a:r>
              <a:rPr sz="1650" b="1">
                <a:solidFill>
                  <a:srgbClr val="2D7A78"/>
                </a:solidFill>
                <a:latin typeface="Arial"/>
                <a:ea typeface="Arial"/>
                <a:cs typeface="Arial"/>
              </a:rPr>
              <a:t>ORIGINAL IDEA</a:t>
            </a:r>
          </a:p>
        </p:txBody>
      </p:sp>
      <p:sp>
        <p:nvSpPr>
          <p:cNvPr id="6" name="">
            <a:extLst xmlns:a="http://schemas.openxmlformats.org/drawingml/2006/main">
              <a:ext uri="{FF2B5EF4-FFF2-40B4-BE49-F238E27FC236}">
                <a16:creationId xmlns:a16="http://schemas.microsoft.com/office/drawing/2014/main" id="{E081C0DA-0817-460F-84F9-C324E1B59B65}"/>
              </a:ext>
            </a:extLst>
          </p:cNvPr>
          <p:cNvSpPr>
            <a:spLocks xmlns:a="http://schemas.openxmlformats.org/drawingml/2006/main" noGrp="1"/>
          </p:cNvSpPr>
          <p:nvPr/>
        </p:nvSpPr>
        <p:spPr>
          <a:xfrm xmlns:a="http://schemas.openxmlformats.org/drawingml/2006/main">
            <a:off x="781050" y="21240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250" b="1">
                <a:solidFill>
                  <a:srgbClr val="18324B"/>
                </a:solidFill>
                <a:latin typeface="Arial"/>
                <a:ea typeface="Arial"/>
                <a:cs typeface="Arial"/>
              </a:defRPr>
            </a:pPr>
            <a:r>
              <a:rPr sz="2250" b="1">
                <a:solidFill>
                  <a:srgbClr val="18324B"/>
                </a:solidFill>
                <a:latin typeface="Arial"/>
                <a:ea typeface="Arial"/>
                <a:cs typeface="Arial"/>
              </a:rPr>
              <a:t>A coordinated delivery team</a:t>
            </a:r>
          </a:p>
        </p:txBody>
      </p:sp>
      <p:sp>
        <p:nvSpPr>
          <p:cNvPr id="7" name="">
            <a:extLst xmlns:a="http://schemas.openxmlformats.org/drawingml/2006/main">
              <a:ext uri="{FF2B5EF4-FFF2-40B4-BE49-F238E27FC236}">
                <a16:creationId xmlns:a16="http://schemas.microsoft.com/office/drawing/2014/main" id="{A784070A-81FE-45CA-A157-574F3B8F11DC}"/>
              </a:ext>
            </a:extLst>
          </p:cNvPr>
          <p:cNvSpPr>
            <a:spLocks xmlns:a="http://schemas.openxmlformats.org/drawingml/2006/main" noGrp="1"/>
          </p:cNvSpPr>
          <p:nvPr/>
        </p:nvSpPr>
        <p:spPr>
          <a:xfrm xmlns:a="http://schemas.openxmlformats.org/drawingml/2006/main">
            <a:off x="781050" y="2686050"/>
            <a:ext cx="4810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2E4357"/>
                </a:solidFill>
                <a:latin typeface="Arial"/>
                <a:ea typeface="Arial"/>
                <a:cs typeface="Arial"/>
              </a:defRPr>
            </a:pPr>
            <a:r>
              <a:rPr sz="1725" b="0">
                <a:solidFill>
                  <a:srgbClr val="2E4357"/>
                </a:solidFill>
                <a:latin typeface="Arial"/>
                <a:ea typeface="Arial"/>
                <a:cs typeface="Arial"/>
              </a:rPr>
              <a:t>Specialist agents handle triage, investigation, planning, implementation, QA, deployment and monitoring. ML, deep learning, LLMs and feedback loops support the full lifecycle.</a:t>
            </a:r>
          </a:p>
        </p:txBody>
      </p:sp>
      <p:sp>
        <p:nvSpPr>
          <p:cNvPr id="8" name="">
            <a:extLst xmlns:a="http://schemas.openxmlformats.org/drawingml/2006/main">
              <a:ext uri="{FF2B5EF4-FFF2-40B4-BE49-F238E27FC236}">
                <a16:creationId xmlns:a16="http://schemas.microsoft.com/office/drawing/2014/main" id="{6B690796-C3F7-49D2-AEAD-67D369932A9D}"/>
              </a:ext>
            </a:extLst>
          </p:cNvPr>
          <p:cNvSpPr>
            <a:spLocks xmlns:a="http://schemas.openxmlformats.org/drawingml/2006/main" noGrp="1"/>
          </p:cNvSpPr>
          <p:nvPr/>
        </p:nvSpPr>
        <p:spPr>
          <a:xfrm xmlns:a="http://schemas.openxmlformats.org/drawingml/2006/main">
            <a:off x="6286500" y="17335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3B6FA5"/>
                </a:solidFill>
                <a:latin typeface="Arial"/>
                <a:ea typeface="Arial"/>
                <a:cs typeface="Arial"/>
              </a:defRPr>
            </a:pPr>
            <a:r>
              <a:rPr sz="1650" b="1">
                <a:solidFill>
                  <a:srgbClr val="3B6FA5"/>
                </a:solidFill>
                <a:latin typeface="Arial"/>
                <a:ea typeface="Arial"/>
                <a:cs typeface="Arial"/>
              </a:rPr>
              <a:t>WORKING REPOSITORY</a:t>
            </a:r>
          </a:p>
        </p:txBody>
      </p:sp>
      <p:sp>
        <p:nvSpPr>
          <p:cNvPr id="9" name="">
            <a:extLst xmlns:a="http://schemas.openxmlformats.org/drawingml/2006/main">
              <a:ext uri="{FF2B5EF4-FFF2-40B4-BE49-F238E27FC236}">
                <a16:creationId xmlns:a16="http://schemas.microsoft.com/office/drawing/2014/main" id="{155D5A1F-5751-4249-A0C9-982E97D7BEFB}"/>
              </a:ext>
            </a:extLst>
          </p:cNvPr>
          <p:cNvSpPr>
            <a:spLocks xmlns:a="http://schemas.openxmlformats.org/drawingml/2006/main" noGrp="1"/>
          </p:cNvSpPr>
          <p:nvPr/>
        </p:nvSpPr>
        <p:spPr>
          <a:xfrm xmlns:a="http://schemas.openxmlformats.org/drawingml/2006/main">
            <a:off x="6286500" y="21240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250" b="1">
                <a:solidFill>
                  <a:srgbClr val="18324B"/>
                </a:solidFill>
                <a:latin typeface="Arial"/>
                <a:ea typeface="Arial"/>
                <a:cs typeface="Arial"/>
              </a:defRPr>
            </a:pPr>
            <a:r>
              <a:rPr sz="2250" b="1">
                <a:solidFill>
                  <a:srgbClr val="18324B"/>
                </a:solidFill>
                <a:latin typeface="Arial"/>
                <a:ea typeface="Arial"/>
                <a:cs typeface="Arial"/>
              </a:rPr>
              <a:t>Nine agents, end to end</a:t>
            </a:r>
          </a:p>
        </p:txBody>
      </p:sp>
      <p:sp>
        <p:nvSpPr>
          <p:cNvPr id="10" name="">
            <a:extLst xmlns:a="http://schemas.openxmlformats.org/drawingml/2006/main">
              <a:ext uri="{FF2B5EF4-FFF2-40B4-BE49-F238E27FC236}">
                <a16:creationId xmlns:a16="http://schemas.microsoft.com/office/drawing/2014/main" id="{82B54255-0B6D-4A1C-8790-7B0C8BB32883}"/>
              </a:ext>
            </a:extLst>
          </p:cNvPr>
          <p:cNvSpPr>
            <a:spLocks xmlns:a="http://schemas.openxmlformats.org/drawingml/2006/main" noGrp="1"/>
          </p:cNvSpPr>
          <p:nvPr/>
        </p:nvSpPr>
        <p:spPr>
          <a:xfrm xmlns:a="http://schemas.openxmlformats.org/drawingml/2006/main">
            <a:off x="6286500" y="2686050"/>
            <a:ext cx="5000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E4357"/>
                </a:solidFill>
                <a:latin typeface="Arial"/>
                <a:ea typeface="Arial"/>
                <a:cs typeface="Arial"/>
              </a:defRPr>
            </a:pPr>
            <a:r>
              <a:rPr sz="1650" b="0">
                <a:solidFill>
                  <a:srgbClr val="2E4357"/>
                </a:solidFill>
                <a:latin typeface="Arial"/>
                <a:ea typeface="Arial"/>
                <a:cs typeface="Arial"/>
              </a:rPr>
              <a:t>Real: feedback masking, duplicate search, triage, the Contract Net auction, mobile trips to six data nodes, six gates and the audit log. Simulated with seeds: project board, repository, CI, deployment and telemetry.</a:t>
            </a:r>
          </a:p>
        </p:txBody>
      </p:sp>
      <p:sp>
        <p:nvSpPr>
          <p:cNvPr id="11" name="">
            <a:extLst xmlns:a="http://schemas.openxmlformats.org/drawingml/2006/main">
              <a:ext uri="{FF2B5EF4-FFF2-40B4-BE49-F238E27FC236}">
                <a16:creationId xmlns:a16="http://schemas.microsoft.com/office/drawing/2014/main" id="{3D2A1F39-FE46-4B90-8CCA-ECDEDCCB26AF}"/>
              </a:ext>
            </a:extLst>
          </p:cNvPr>
          <p:cNvSpPr>
            <a:spLocks xmlns:a="http://schemas.openxmlformats.org/drawingml/2006/main" noGrp="1"/>
          </p:cNvSpPr>
          <p:nvPr/>
        </p:nvSpPr>
        <p:spPr>
          <a:xfrm xmlns:a="http://schemas.openxmlformats.org/drawingml/2006/main">
            <a:off x="5943600" y="1714500"/>
            <a:ext cx="9525" cy="3143250"/>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2F4A9B9-9207-4EE0-8B1D-510F092B938C}"/>
              </a:ext>
            </a:extLst>
          </p:cNvPr>
          <p:cNvSpPr>
            <a:spLocks xmlns:a="http://schemas.openxmlformats.org/drawingml/2006/main" noGrp="1"/>
          </p:cNvSpPr>
          <p:nvPr/>
        </p:nvSpPr>
        <p:spPr>
          <a:xfrm xmlns:a="http://schemas.openxmlformats.org/drawingml/2006/main">
            <a:off x="781050" y="4895850"/>
            <a:ext cx="10525125" cy="781050"/>
          </a:xfrm>
          <a:prstGeom xmlns:a="http://schemas.openxmlformats.org/drawingml/2006/main" prst="roundRect">
            <a:avLst>
              <a:gd name="adj" fmla="val 19512"/>
            </a:avLst>
          </a:prstGeom>
          <a:solidFill xmlns:a="http://schemas.openxmlformats.org/drawingml/2006/main">
            <a:srgbClr val="F7EEDC"/>
          </a:solidFill>
          <a:ln xmlns:a="http://schemas.openxmlformats.org/drawingml/2006/main" w="9525">
            <a:noFill/>
          </a:ln>
        </p:spPr>
      </p:sp>
      <p:sp>
        <p:nvSpPr>
          <p:cNvPr id="13" name="">
            <a:extLst xmlns:a="http://schemas.openxmlformats.org/drawingml/2006/main">
              <a:ext uri="{FF2B5EF4-FFF2-40B4-BE49-F238E27FC236}">
                <a16:creationId xmlns:a16="http://schemas.microsoft.com/office/drawing/2014/main" id="{3BF0E66C-230F-428A-8747-D039733158E7}"/>
              </a:ext>
            </a:extLst>
          </p:cNvPr>
          <p:cNvSpPr>
            <a:spLocks xmlns:a="http://schemas.openxmlformats.org/drawingml/2006/main" noGrp="1"/>
          </p:cNvSpPr>
          <p:nvPr/>
        </p:nvSpPr>
        <p:spPr>
          <a:xfrm xmlns:a="http://schemas.openxmlformats.org/drawingml/2006/main">
            <a:off x="1000125" y="5038725"/>
            <a:ext cx="10096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OpenRouter (free models only) is optional for triage and reviewer notes. The benchmark stays deterministic; model proposals cannot approve gated actions.</a:t>
            </a:r>
          </a:p>
        </p:txBody>
      </p:sp>
    </p:spTree>
    <p:extLst>
      <p:ext uri="{BB962C8B-B14F-4D97-AF65-F5344CB8AC3E}">
        <p14:creationId xmlns:p14="http://schemas.microsoft.com/office/powerpoint/2010/main" val="1736108140"/>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8CAED77-3B58-4A8B-8E79-7852F8C2C41D}"/>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An agent is a role with a controlled action loop</a:t>
            </a:r>
          </a:p>
        </p:txBody>
      </p:sp>
      <p:sp>
        <p:nvSpPr>
          <p:cNvPr id="2" name="">
            <a:extLst xmlns:a="http://schemas.openxmlformats.org/drawingml/2006/main">
              <a:ext uri="{FF2B5EF4-FFF2-40B4-BE49-F238E27FC236}">
                <a16:creationId xmlns:a16="http://schemas.microsoft.com/office/drawing/2014/main" id="{027B925F-F4B4-4BE9-A339-FA0F88ED4F02}"/>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9033AAC-F206-459F-852C-F062ABE7AF01}"/>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The design assigns work to specialists; the code defines a shared five-part contract</a:t>
            </a:r>
          </a:p>
        </p:txBody>
      </p:sp>
      <p:sp>
        <p:nvSpPr>
          <p:cNvPr id="4" name="">
            <a:extLst xmlns:a="http://schemas.openxmlformats.org/drawingml/2006/main">
              <a:ext uri="{FF2B5EF4-FFF2-40B4-BE49-F238E27FC236}">
                <a16:creationId xmlns:a16="http://schemas.microsoft.com/office/drawing/2014/main" id="{C7CD330A-0BC0-423C-9248-D9E1B964C118}"/>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F50C2B29-9290-4B55-921F-3B2637A2FCF6}"/>
              </a:ext>
            </a:extLst>
          </p:cNvPr>
          <p:cNvSpPr>
            <a:spLocks xmlns:a="http://schemas.openxmlformats.org/drawingml/2006/main" noGrp="1"/>
          </p:cNvSpPr>
          <p:nvPr/>
        </p:nvSpPr>
        <p:spPr>
          <a:xfrm xmlns:a="http://schemas.openxmlformats.org/drawingml/2006/main">
            <a:off x="619125" y="2066925"/>
            <a:ext cx="17526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7E0E9"/>
            </a:solidFill>
          </a:ln>
        </p:spPr>
      </p:sp>
      <p:sp>
        <p:nvSpPr>
          <p:cNvPr id="6" name="">
            <a:extLst xmlns:a="http://schemas.openxmlformats.org/drawingml/2006/main">
              <a:ext uri="{FF2B5EF4-FFF2-40B4-BE49-F238E27FC236}">
                <a16:creationId xmlns:a16="http://schemas.microsoft.com/office/drawing/2014/main" id="{7ED4EA9B-F308-49D5-A701-96718D848ACC}"/>
              </a:ext>
            </a:extLst>
          </p:cNvPr>
          <p:cNvSpPr>
            <a:spLocks xmlns:a="http://schemas.openxmlformats.org/drawingml/2006/main" noGrp="1"/>
          </p:cNvSpPr>
          <p:nvPr/>
        </p:nvSpPr>
        <p:spPr>
          <a:xfrm xmlns:a="http://schemas.openxmlformats.org/drawingml/2006/main">
            <a:off x="771525" y="2171700"/>
            <a:ext cx="295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2D7A78"/>
                </a:solidFill>
                <a:latin typeface="Arial"/>
                <a:ea typeface="Arial"/>
                <a:cs typeface="Arial"/>
              </a:defRPr>
            </a:pPr>
            <a:r>
              <a:rPr sz="1350" b="1">
                <a:solidFill>
                  <a:srgbClr val="2D7A78"/>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72958A93-1505-4FC5-8E0D-F72E8BF6DB0E}"/>
              </a:ext>
            </a:extLst>
          </p:cNvPr>
          <p:cNvSpPr>
            <a:spLocks xmlns:a="http://schemas.openxmlformats.org/drawingml/2006/main" noGrp="1"/>
          </p:cNvSpPr>
          <p:nvPr/>
        </p:nvSpPr>
        <p:spPr>
          <a:xfrm xmlns:a="http://schemas.openxmlformats.org/drawingml/2006/main">
            <a:off x="762000" y="2514600"/>
            <a:ext cx="1466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826"/>
          </a:bodyPr>
          <a:lstStyle xmlns:a="http://schemas.openxmlformats.org/drawingml/2006/main"/>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Perceive</a:t>
            </a:r>
          </a:p>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input</a:t>
            </a:r>
          </a:p>
        </p:txBody>
      </p:sp>
      <p:sp>
        <p:nvSpPr>
          <p:cNvPr id="8" name="">
            <a:extLst xmlns:a="http://schemas.openxmlformats.org/drawingml/2006/main">
              <a:ext uri="{FF2B5EF4-FFF2-40B4-BE49-F238E27FC236}">
                <a16:creationId xmlns:a16="http://schemas.microsoft.com/office/drawing/2014/main" id="{06EE8A53-B8B3-4C22-BBFF-F78DA2918240}"/>
              </a:ext>
            </a:extLst>
          </p:cNvPr>
          <p:cNvSpPr>
            <a:spLocks xmlns:a="http://schemas.openxmlformats.org/drawingml/2006/main" noGrp="1"/>
          </p:cNvSpPr>
          <p:nvPr/>
        </p:nvSpPr>
        <p:spPr>
          <a:xfrm xmlns:a="http://schemas.openxmlformats.org/drawingml/2006/main">
            <a:off x="2466975" y="2352675"/>
            <a:ext cx="3524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8235"/>
          </a:bodyPr>
          <a:lstStyle xmlns:a="http://schemas.openxmlformats.org/drawingml/2006/main"/>
          <a:p xmlns:a="http://schemas.openxmlformats.org/drawingml/2006/main">
            <a:pPr algn="ctr">
              <a:defRPr sz="2550" b="1">
                <a:solidFill>
                  <a:srgbClr val="617487"/>
                </a:solidFill>
                <a:latin typeface="Arial"/>
                <a:ea typeface="Arial"/>
                <a:cs typeface="Arial"/>
              </a:defRPr>
            </a:pPr>
            <a:r>
              <a:rPr sz="2550" b="1">
                <a:solidFill>
                  <a:srgbClr val="617487"/>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436C8F3F-25DB-4AA6-8951-61FC200720C7}"/>
              </a:ext>
            </a:extLst>
          </p:cNvPr>
          <p:cNvSpPr>
            <a:spLocks xmlns:a="http://schemas.openxmlformats.org/drawingml/2006/main" noGrp="1"/>
          </p:cNvSpPr>
          <p:nvPr/>
        </p:nvSpPr>
        <p:spPr>
          <a:xfrm xmlns:a="http://schemas.openxmlformats.org/drawingml/2006/main">
            <a:off x="2914650" y="2066925"/>
            <a:ext cx="17526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7E0E9"/>
            </a:solidFill>
          </a:ln>
        </p:spPr>
      </p:sp>
      <p:sp>
        <p:nvSpPr>
          <p:cNvPr id="10" name="">
            <a:extLst xmlns:a="http://schemas.openxmlformats.org/drawingml/2006/main">
              <a:ext uri="{FF2B5EF4-FFF2-40B4-BE49-F238E27FC236}">
                <a16:creationId xmlns:a16="http://schemas.microsoft.com/office/drawing/2014/main" id="{B5205597-5BC8-4062-A9BB-3D71E70E1A46}"/>
              </a:ext>
            </a:extLst>
          </p:cNvPr>
          <p:cNvSpPr>
            <a:spLocks xmlns:a="http://schemas.openxmlformats.org/drawingml/2006/main" noGrp="1"/>
          </p:cNvSpPr>
          <p:nvPr/>
        </p:nvSpPr>
        <p:spPr>
          <a:xfrm xmlns:a="http://schemas.openxmlformats.org/drawingml/2006/main">
            <a:off x="3067050" y="2171700"/>
            <a:ext cx="295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2D7A78"/>
                </a:solidFill>
                <a:latin typeface="Arial"/>
                <a:ea typeface="Arial"/>
                <a:cs typeface="Arial"/>
              </a:defRPr>
            </a:pPr>
            <a:r>
              <a:rPr sz="1350" b="1">
                <a:solidFill>
                  <a:srgbClr val="2D7A78"/>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79115107-470E-4EC2-A54E-7F8463DADBE4}"/>
              </a:ext>
            </a:extLst>
          </p:cNvPr>
          <p:cNvSpPr>
            <a:spLocks xmlns:a="http://schemas.openxmlformats.org/drawingml/2006/main" noGrp="1"/>
          </p:cNvSpPr>
          <p:nvPr/>
        </p:nvSpPr>
        <p:spPr>
          <a:xfrm xmlns:a="http://schemas.openxmlformats.org/drawingml/2006/main">
            <a:off x="3057525" y="2514600"/>
            <a:ext cx="1466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826"/>
          </a:bodyPr>
          <a:lstStyle xmlns:a="http://schemas.openxmlformats.org/drawingml/2006/main"/>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Remember</a:t>
            </a:r>
          </a:p>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small state</a:t>
            </a:r>
          </a:p>
        </p:txBody>
      </p:sp>
      <p:sp>
        <p:nvSpPr>
          <p:cNvPr id="12" name="">
            <a:extLst xmlns:a="http://schemas.openxmlformats.org/drawingml/2006/main">
              <a:ext uri="{FF2B5EF4-FFF2-40B4-BE49-F238E27FC236}">
                <a16:creationId xmlns:a16="http://schemas.microsoft.com/office/drawing/2014/main" id="{D65AF3A6-6D08-41BA-91EE-118264538E4C}"/>
              </a:ext>
            </a:extLst>
          </p:cNvPr>
          <p:cNvSpPr>
            <a:spLocks xmlns:a="http://schemas.openxmlformats.org/drawingml/2006/main" noGrp="1"/>
          </p:cNvSpPr>
          <p:nvPr/>
        </p:nvSpPr>
        <p:spPr>
          <a:xfrm xmlns:a="http://schemas.openxmlformats.org/drawingml/2006/main">
            <a:off x="4762500" y="2352675"/>
            <a:ext cx="3524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8235"/>
          </a:bodyPr>
          <a:lstStyle xmlns:a="http://schemas.openxmlformats.org/drawingml/2006/main"/>
          <a:p xmlns:a="http://schemas.openxmlformats.org/drawingml/2006/main">
            <a:pPr algn="ctr">
              <a:defRPr sz="2550" b="1">
                <a:solidFill>
                  <a:srgbClr val="617487"/>
                </a:solidFill>
                <a:latin typeface="Arial"/>
                <a:ea typeface="Arial"/>
                <a:cs typeface="Arial"/>
              </a:defRPr>
            </a:pPr>
            <a:r>
              <a:rPr sz="2550" b="1">
                <a:solidFill>
                  <a:srgbClr val="617487"/>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ECF2D618-E989-4CE7-8EEF-8F7E97C68E97}"/>
              </a:ext>
            </a:extLst>
          </p:cNvPr>
          <p:cNvSpPr>
            <a:spLocks xmlns:a="http://schemas.openxmlformats.org/drawingml/2006/main" noGrp="1"/>
          </p:cNvSpPr>
          <p:nvPr/>
        </p:nvSpPr>
        <p:spPr>
          <a:xfrm xmlns:a="http://schemas.openxmlformats.org/drawingml/2006/main">
            <a:off x="5210175" y="2066925"/>
            <a:ext cx="17526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7E0E9"/>
            </a:solidFill>
          </a:ln>
        </p:spPr>
      </p:sp>
      <p:sp>
        <p:nvSpPr>
          <p:cNvPr id="14" name="">
            <a:extLst xmlns:a="http://schemas.openxmlformats.org/drawingml/2006/main">
              <a:ext uri="{FF2B5EF4-FFF2-40B4-BE49-F238E27FC236}">
                <a16:creationId xmlns:a16="http://schemas.microsoft.com/office/drawing/2014/main" id="{FBC3C0A7-B9CE-4679-A1D9-C94320302FAD}"/>
              </a:ext>
            </a:extLst>
          </p:cNvPr>
          <p:cNvSpPr>
            <a:spLocks xmlns:a="http://schemas.openxmlformats.org/drawingml/2006/main" noGrp="1"/>
          </p:cNvSpPr>
          <p:nvPr/>
        </p:nvSpPr>
        <p:spPr>
          <a:xfrm xmlns:a="http://schemas.openxmlformats.org/drawingml/2006/main">
            <a:off x="5362575" y="2171700"/>
            <a:ext cx="295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2D7A78"/>
                </a:solidFill>
                <a:latin typeface="Arial"/>
                <a:ea typeface="Arial"/>
                <a:cs typeface="Arial"/>
              </a:defRPr>
            </a:pPr>
            <a:r>
              <a:rPr sz="1350" b="1">
                <a:solidFill>
                  <a:srgbClr val="2D7A78"/>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23D7FDD0-19EB-47FC-82F7-B4D34561F7D4}"/>
              </a:ext>
            </a:extLst>
          </p:cNvPr>
          <p:cNvSpPr>
            <a:spLocks xmlns:a="http://schemas.openxmlformats.org/drawingml/2006/main" noGrp="1"/>
          </p:cNvSpPr>
          <p:nvPr/>
        </p:nvSpPr>
        <p:spPr>
          <a:xfrm xmlns:a="http://schemas.openxmlformats.org/drawingml/2006/main">
            <a:off x="5353050" y="2514600"/>
            <a:ext cx="1466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826"/>
          </a:bodyPr>
          <a:lstStyle xmlns:a="http://schemas.openxmlformats.org/drawingml/2006/main"/>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Reason</a:t>
            </a:r>
          </a:p>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proposal</a:t>
            </a:r>
          </a:p>
        </p:txBody>
      </p:sp>
      <p:sp>
        <p:nvSpPr>
          <p:cNvPr id="16" name="">
            <a:extLst xmlns:a="http://schemas.openxmlformats.org/drawingml/2006/main">
              <a:ext uri="{FF2B5EF4-FFF2-40B4-BE49-F238E27FC236}">
                <a16:creationId xmlns:a16="http://schemas.microsoft.com/office/drawing/2014/main" id="{97B63EB4-832F-46A9-A952-55E5F3315949}"/>
              </a:ext>
            </a:extLst>
          </p:cNvPr>
          <p:cNvSpPr>
            <a:spLocks xmlns:a="http://schemas.openxmlformats.org/drawingml/2006/main" noGrp="1"/>
          </p:cNvSpPr>
          <p:nvPr/>
        </p:nvSpPr>
        <p:spPr>
          <a:xfrm xmlns:a="http://schemas.openxmlformats.org/drawingml/2006/main">
            <a:off x="7058025" y="2352675"/>
            <a:ext cx="3524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8235"/>
          </a:bodyPr>
          <a:lstStyle xmlns:a="http://schemas.openxmlformats.org/drawingml/2006/main"/>
          <a:p xmlns:a="http://schemas.openxmlformats.org/drawingml/2006/main">
            <a:pPr algn="ctr">
              <a:defRPr sz="2550" b="1">
                <a:solidFill>
                  <a:srgbClr val="617487"/>
                </a:solidFill>
                <a:latin typeface="Arial"/>
                <a:ea typeface="Arial"/>
                <a:cs typeface="Arial"/>
              </a:defRPr>
            </a:pPr>
            <a:r>
              <a:rPr sz="2550" b="1">
                <a:solidFill>
                  <a:srgbClr val="617487"/>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90F09426-D3DE-46CE-8C0F-F62E3D106E48}"/>
              </a:ext>
            </a:extLst>
          </p:cNvPr>
          <p:cNvSpPr>
            <a:spLocks xmlns:a="http://schemas.openxmlformats.org/drawingml/2006/main" noGrp="1"/>
          </p:cNvSpPr>
          <p:nvPr/>
        </p:nvSpPr>
        <p:spPr>
          <a:xfrm xmlns:a="http://schemas.openxmlformats.org/drawingml/2006/main">
            <a:off x="7505700" y="2066925"/>
            <a:ext cx="1752600" cy="1066800"/>
          </a:xfrm>
          <a:prstGeom xmlns:a="http://schemas.openxmlformats.org/drawingml/2006/main" prst="roundRect">
            <a:avLst>
              <a:gd name="adj" fmla="val 14286"/>
            </a:avLst>
          </a:prstGeom>
          <a:solidFill xmlns:a="http://schemas.openxmlformats.org/drawingml/2006/main">
            <a:srgbClr val="DDEFEA"/>
          </a:solidFill>
          <a:ln xmlns:a="http://schemas.openxmlformats.org/drawingml/2006/main" w="9525">
            <a:solidFill>
              <a:srgbClr val="D7E0E9"/>
            </a:solidFill>
          </a:ln>
        </p:spPr>
      </p:sp>
      <p:sp>
        <p:nvSpPr>
          <p:cNvPr id="18" name="">
            <a:extLst xmlns:a="http://schemas.openxmlformats.org/drawingml/2006/main">
              <a:ext uri="{FF2B5EF4-FFF2-40B4-BE49-F238E27FC236}">
                <a16:creationId xmlns:a16="http://schemas.microsoft.com/office/drawing/2014/main" id="{55172C38-24D2-4F9F-8F6E-D3B5B29B5119}"/>
              </a:ext>
            </a:extLst>
          </p:cNvPr>
          <p:cNvSpPr>
            <a:spLocks xmlns:a="http://schemas.openxmlformats.org/drawingml/2006/main" noGrp="1"/>
          </p:cNvSpPr>
          <p:nvPr/>
        </p:nvSpPr>
        <p:spPr>
          <a:xfrm xmlns:a="http://schemas.openxmlformats.org/drawingml/2006/main">
            <a:off x="7658100" y="2171700"/>
            <a:ext cx="295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2D7A78"/>
                </a:solidFill>
                <a:latin typeface="Arial"/>
                <a:ea typeface="Arial"/>
                <a:cs typeface="Arial"/>
              </a:defRPr>
            </a:pPr>
            <a:r>
              <a:rPr sz="1350" b="1">
                <a:solidFill>
                  <a:srgbClr val="2D7A78"/>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D2B3D8AF-1E8A-4528-867A-F3CC66D60BA3}"/>
              </a:ext>
            </a:extLst>
          </p:cNvPr>
          <p:cNvSpPr>
            <a:spLocks xmlns:a="http://schemas.openxmlformats.org/drawingml/2006/main" noGrp="1"/>
          </p:cNvSpPr>
          <p:nvPr/>
        </p:nvSpPr>
        <p:spPr>
          <a:xfrm xmlns:a="http://schemas.openxmlformats.org/drawingml/2006/main">
            <a:off x="7648575" y="2514600"/>
            <a:ext cx="1466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826"/>
          </a:bodyPr>
          <a:lstStyle xmlns:a="http://schemas.openxmlformats.org/drawingml/2006/main"/>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Act</a:t>
            </a:r>
          </a:p>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behind gate</a:t>
            </a:r>
          </a:p>
        </p:txBody>
      </p:sp>
      <p:sp>
        <p:nvSpPr>
          <p:cNvPr id="20" name="">
            <a:extLst xmlns:a="http://schemas.openxmlformats.org/drawingml/2006/main">
              <a:ext uri="{FF2B5EF4-FFF2-40B4-BE49-F238E27FC236}">
                <a16:creationId xmlns:a16="http://schemas.microsoft.com/office/drawing/2014/main" id="{722A164D-1533-477B-85C3-5DCED1BC5A4E}"/>
              </a:ext>
            </a:extLst>
          </p:cNvPr>
          <p:cNvSpPr>
            <a:spLocks xmlns:a="http://schemas.openxmlformats.org/drawingml/2006/main" noGrp="1"/>
          </p:cNvSpPr>
          <p:nvPr/>
        </p:nvSpPr>
        <p:spPr>
          <a:xfrm xmlns:a="http://schemas.openxmlformats.org/drawingml/2006/main">
            <a:off x="9353550" y="2352675"/>
            <a:ext cx="3524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8235"/>
          </a:bodyPr>
          <a:lstStyle xmlns:a="http://schemas.openxmlformats.org/drawingml/2006/main"/>
          <a:p xmlns:a="http://schemas.openxmlformats.org/drawingml/2006/main">
            <a:pPr algn="ctr">
              <a:defRPr sz="2550" b="1">
                <a:solidFill>
                  <a:srgbClr val="617487"/>
                </a:solidFill>
                <a:latin typeface="Arial"/>
                <a:ea typeface="Arial"/>
                <a:cs typeface="Arial"/>
              </a:defRPr>
            </a:pPr>
            <a:r>
              <a:rPr sz="2550" b="1">
                <a:solidFill>
                  <a:srgbClr val="617487"/>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1274A52C-DEFA-440D-B261-6F2D633EABEC}"/>
              </a:ext>
            </a:extLst>
          </p:cNvPr>
          <p:cNvSpPr>
            <a:spLocks xmlns:a="http://schemas.openxmlformats.org/drawingml/2006/main" noGrp="1"/>
          </p:cNvSpPr>
          <p:nvPr/>
        </p:nvSpPr>
        <p:spPr>
          <a:xfrm xmlns:a="http://schemas.openxmlformats.org/drawingml/2006/main">
            <a:off x="9801225" y="2066925"/>
            <a:ext cx="17526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7E0E9"/>
            </a:solidFill>
          </a:ln>
        </p:spPr>
      </p:sp>
      <p:sp>
        <p:nvSpPr>
          <p:cNvPr id="22" name="">
            <a:extLst xmlns:a="http://schemas.openxmlformats.org/drawingml/2006/main">
              <a:ext uri="{FF2B5EF4-FFF2-40B4-BE49-F238E27FC236}">
                <a16:creationId xmlns:a16="http://schemas.microsoft.com/office/drawing/2014/main" id="{04D380B4-2E4F-498E-BAA0-BA222ABD98F8}"/>
              </a:ext>
            </a:extLst>
          </p:cNvPr>
          <p:cNvSpPr>
            <a:spLocks xmlns:a="http://schemas.openxmlformats.org/drawingml/2006/main" noGrp="1"/>
          </p:cNvSpPr>
          <p:nvPr/>
        </p:nvSpPr>
        <p:spPr>
          <a:xfrm xmlns:a="http://schemas.openxmlformats.org/drawingml/2006/main">
            <a:off x="9953625" y="2171700"/>
            <a:ext cx="295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2D7A78"/>
                </a:solidFill>
                <a:latin typeface="Arial"/>
                <a:ea typeface="Arial"/>
                <a:cs typeface="Arial"/>
              </a:defRPr>
            </a:pPr>
            <a:r>
              <a:rPr sz="1350" b="1">
                <a:solidFill>
                  <a:srgbClr val="2D7A78"/>
                </a:solidFill>
                <a:latin typeface="Arial"/>
                <a:ea typeface="Arial"/>
                <a:cs typeface="Arial"/>
              </a:rPr>
              <a:t>5</a:t>
            </a:r>
          </a:p>
        </p:txBody>
      </p:sp>
      <p:sp>
        <p:nvSpPr>
          <p:cNvPr id="23" name="">
            <a:extLst xmlns:a="http://schemas.openxmlformats.org/drawingml/2006/main">
              <a:ext uri="{FF2B5EF4-FFF2-40B4-BE49-F238E27FC236}">
                <a16:creationId xmlns:a16="http://schemas.microsoft.com/office/drawing/2014/main" id="{B56C2DF8-BC30-4A82-AAD2-C85FF6AE3708}"/>
              </a:ext>
            </a:extLst>
          </p:cNvPr>
          <p:cNvSpPr>
            <a:spLocks xmlns:a="http://schemas.openxmlformats.org/drawingml/2006/main" noGrp="1"/>
          </p:cNvSpPr>
          <p:nvPr/>
        </p:nvSpPr>
        <p:spPr>
          <a:xfrm xmlns:a="http://schemas.openxmlformats.org/drawingml/2006/main">
            <a:off x="9944100" y="2514600"/>
            <a:ext cx="1466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0567"/>
          </a:bodyPr>
          <a:lstStyle xmlns:a="http://schemas.openxmlformats.org/drawingml/2006/main"/>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Report</a:t>
            </a:r>
          </a:p>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auditable result</a:t>
            </a:r>
          </a:p>
        </p:txBody>
      </p:sp>
      <p:sp>
        <p:nvSpPr>
          <p:cNvPr id="24" name="">
            <a:extLst xmlns:a="http://schemas.openxmlformats.org/drawingml/2006/main">
              <a:ext uri="{FF2B5EF4-FFF2-40B4-BE49-F238E27FC236}">
                <a16:creationId xmlns:a16="http://schemas.microsoft.com/office/drawing/2014/main" id="{D627D206-4FB1-48FE-AFE8-386357261735}"/>
              </a:ext>
            </a:extLst>
          </p:cNvPr>
          <p:cNvSpPr>
            <a:spLocks xmlns:a="http://schemas.openxmlformats.org/drawingml/2006/main" noGrp="1"/>
          </p:cNvSpPr>
          <p:nvPr/>
        </p:nvSpPr>
        <p:spPr>
          <a:xfrm xmlns:a="http://schemas.openxmlformats.org/drawingml/2006/main">
            <a:off x="695325" y="371475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8324B"/>
                </a:solidFill>
                <a:latin typeface="Arial"/>
                <a:ea typeface="Arial"/>
                <a:cs typeface="Arial"/>
              </a:defRPr>
            </a:pPr>
            <a:r>
              <a:rPr sz="1725" b="1">
                <a:solidFill>
                  <a:srgbClr val="18324B"/>
                </a:solidFill>
                <a:latin typeface="Arial"/>
                <a:ea typeface="Arial"/>
                <a:cs typeface="Arial"/>
              </a:rPr>
              <a:t>Roles in the delivery team</a:t>
            </a:r>
          </a:p>
        </p:txBody>
      </p:sp>
      <p:sp>
        <p:nvSpPr>
          <p:cNvPr id="25" name="">
            <a:extLst xmlns:a="http://schemas.openxmlformats.org/drawingml/2006/main">
              <a:ext uri="{FF2B5EF4-FFF2-40B4-BE49-F238E27FC236}">
                <a16:creationId xmlns:a16="http://schemas.microsoft.com/office/drawing/2014/main" id="{B2CE1EED-CF73-4750-9679-B171759E99D2}"/>
              </a:ext>
            </a:extLst>
          </p:cNvPr>
          <p:cNvSpPr>
            <a:spLocks xmlns:a="http://schemas.openxmlformats.org/drawingml/2006/main" noGrp="1"/>
          </p:cNvSpPr>
          <p:nvPr/>
        </p:nvSpPr>
        <p:spPr>
          <a:xfrm xmlns:a="http://schemas.openxmlformats.org/drawingml/2006/main">
            <a:off x="695325" y="4114800"/>
            <a:ext cx="10334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2E4357"/>
                </a:solidFill>
                <a:latin typeface="Arial"/>
                <a:ea typeface="Arial"/>
                <a:cs typeface="Arial"/>
              </a:defRPr>
            </a:pPr>
            <a:r>
              <a:rPr sz="1725" b="0">
                <a:solidFill>
                  <a:srgbClr val="2E4357"/>
                </a:solidFill>
                <a:latin typeface="Arial"/>
                <a:ea typeface="Arial"/>
                <a:cs typeface="Arial"/>
              </a:rPr>
              <a:t>Scouts read feedback, visit the data nodes and watch releases. Brokers check duplicates, judge impact and run the squad auction. Workers investigate, plan, draft, test and release. Security runs six gates; a person approves, asks for changes or rejects.</a:t>
            </a:r>
          </a:p>
        </p:txBody>
      </p:sp>
      <p:sp>
        <p:nvSpPr>
          <p:cNvPr id="26" name="">
            <a:extLst xmlns:a="http://schemas.openxmlformats.org/drawingml/2006/main">
              <a:ext uri="{FF2B5EF4-FFF2-40B4-BE49-F238E27FC236}">
                <a16:creationId xmlns:a16="http://schemas.microsoft.com/office/drawing/2014/main" id="{16E5537D-5212-42B8-9665-5BD0EA525E3D}"/>
              </a:ext>
            </a:extLst>
          </p:cNvPr>
          <p:cNvSpPr>
            <a:spLocks xmlns:a="http://schemas.openxmlformats.org/drawingml/2006/main" noGrp="1"/>
          </p:cNvSpPr>
          <p:nvPr/>
        </p:nvSpPr>
        <p:spPr>
          <a:xfrm xmlns:a="http://schemas.openxmlformats.org/drawingml/2006/main">
            <a:off x="695325" y="5314950"/>
            <a:ext cx="10353675" cy="647700"/>
          </a:xfrm>
          <a:prstGeom xmlns:a="http://schemas.openxmlformats.org/drawingml/2006/main" prst="roundRect">
            <a:avLst>
              <a:gd name="adj" fmla="val 20588"/>
            </a:avLst>
          </a:prstGeom>
          <a:solidFill xmlns:a="http://schemas.openxmlformats.org/drawingml/2006/main">
            <a:srgbClr val="E3ECF7"/>
          </a:solidFill>
          <a:ln xmlns:a="http://schemas.openxmlformats.org/drawingml/2006/main" w="9525">
            <a:noFill/>
          </a:ln>
        </p:spPr>
      </p:sp>
      <p:sp>
        <p:nvSpPr>
          <p:cNvPr id="27" name="">
            <a:extLst xmlns:a="http://schemas.openxmlformats.org/drawingml/2006/main">
              <a:ext uri="{FF2B5EF4-FFF2-40B4-BE49-F238E27FC236}">
                <a16:creationId xmlns:a16="http://schemas.microsoft.com/office/drawing/2014/main" id="{BD4D1F16-BE59-4510-A107-1CECF395061B}"/>
              </a:ext>
            </a:extLst>
          </p:cNvPr>
          <p:cNvSpPr>
            <a:spLocks xmlns:a="http://schemas.openxmlformats.org/drawingml/2006/main" noGrp="1"/>
          </p:cNvSpPr>
          <p:nvPr/>
        </p:nvSpPr>
        <p:spPr>
          <a:xfrm xmlns:a="http://schemas.openxmlformats.org/drawingml/2006/main">
            <a:off x="904875" y="5467350"/>
            <a:ext cx="996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980"/>
          </a:bodyPr>
          <a:lstStyle xmlns:a="http://schemas.openxmlformats.org/drawingml/2006/main"/>
          <a:p xmlns:a="http://schemas.openxmlformats.org/drawingml/2006/main">
            <a:pPr algn="l">
              <a:defRPr sz="1725" b="1">
                <a:solidFill>
                  <a:srgbClr val="18324B"/>
                </a:solidFill>
                <a:latin typeface="Arial"/>
                <a:ea typeface="Arial"/>
                <a:cs typeface="Arial"/>
              </a:defRPr>
            </a:pPr>
            <a:r>
              <a:rPr sz="1725" b="1">
                <a:solidFill>
                  <a:srgbClr val="18324B"/>
                </a:solidFill>
                <a:latin typeface="Arial"/>
                <a:ea typeface="Arial"/>
                <a:cs typeface="Arial"/>
              </a:rPr>
              <a:t>A role describes responsibility. Mobility describes where an agent runs. A0–A3 describe benchmark architectures.</a:t>
            </a:r>
          </a:p>
        </p:txBody>
      </p:sp>
    </p:spTree>
    <p:extLst>
      <p:ext uri="{BB962C8B-B14F-4D97-AF65-F5344CB8AC3E}">
        <p14:creationId xmlns:p14="http://schemas.microsoft.com/office/powerpoint/2010/main" val="575156968"/>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8A97A877-A54B-4FD4-8EA5-1D6984C5A7E9}"/>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A0–A3 change the coordination architecture</a:t>
            </a:r>
          </a:p>
        </p:txBody>
      </p:sp>
      <p:sp>
        <p:nvSpPr>
          <p:cNvPr id="2" name="">
            <a:extLst xmlns:a="http://schemas.openxmlformats.org/drawingml/2006/main">
              <a:ext uri="{FF2B5EF4-FFF2-40B4-BE49-F238E27FC236}">
                <a16:creationId xmlns:a16="http://schemas.microsoft.com/office/drawing/2014/main" id="{38A1A8FD-5839-43A3-9A24-3405401377A6}"/>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3893B70-A18D-422B-A776-24D2A4EB35F0}"/>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All four arms use the same seeded synthetic tickets and five seeds</a:t>
            </a:r>
          </a:p>
        </p:txBody>
      </p:sp>
      <p:sp>
        <p:nvSpPr>
          <p:cNvPr id="4" name="">
            <a:extLst xmlns:a="http://schemas.openxmlformats.org/drawingml/2006/main">
              <a:ext uri="{FF2B5EF4-FFF2-40B4-BE49-F238E27FC236}">
                <a16:creationId xmlns:a16="http://schemas.microsoft.com/office/drawing/2014/main" id="{C0875A15-C0B2-4BFB-A85A-4257826B713E}"/>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A9A63173-F884-4A20-A034-DE1881CC9E4B}"/>
              </a:ext>
            </a:extLst>
          </p:cNvPr>
          <p:cNvSpPr>
            <a:spLocks xmlns:a="http://schemas.openxmlformats.org/drawingml/2006/main" noGrp="1"/>
          </p:cNvSpPr>
          <p:nvPr/>
        </p:nvSpPr>
        <p:spPr>
          <a:xfrm xmlns:a="http://schemas.openxmlformats.org/drawingml/2006/main">
            <a:off x="723900" y="1695450"/>
            <a:ext cx="1666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617487"/>
                </a:solidFill>
                <a:latin typeface="Arial"/>
                <a:ea typeface="Arial"/>
                <a:cs typeface="Arial"/>
              </a:defRPr>
            </a:pPr>
            <a:r>
              <a:rPr sz="1575" b="1">
                <a:solidFill>
                  <a:srgbClr val="617487"/>
                </a:solidFill>
                <a:latin typeface="Arial"/>
                <a:ea typeface="Arial"/>
                <a:cs typeface="Arial"/>
              </a:rPr>
              <a:t>ARM</a:t>
            </a:r>
          </a:p>
        </p:txBody>
      </p:sp>
      <p:sp>
        <p:nvSpPr>
          <p:cNvPr id="6" name="">
            <a:extLst xmlns:a="http://schemas.openxmlformats.org/drawingml/2006/main">
              <a:ext uri="{FF2B5EF4-FFF2-40B4-BE49-F238E27FC236}">
                <a16:creationId xmlns:a16="http://schemas.microsoft.com/office/drawing/2014/main" id="{F84EF21B-E5BE-4915-A6DD-548C3E7C9099}"/>
              </a:ext>
            </a:extLst>
          </p:cNvPr>
          <p:cNvSpPr>
            <a:spLocks xmlns:a="http://schemas.openxmlformats.org/drawingml/2006/main" noGrp="1"/>
          </p:cNvSpPr>
          <p:nvPr/>
        </p:nvSpPr>
        <p:spPr>
          <a:xfrm xmlns:a="http://schemas.openxmlformats.org/drawingml/2006/main">
            <a:off x="2800350" y="16954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2D7A78"/>
                </a:solidFill>
                <a:latin typeface="Arial"/>
                <a:ea typeface="Arial"/>
                <a:cs typeface="Arial"/>
              </a:defRPr>
            </a:pPr>
            <a:r>
              <a:rPr sz="1575" b="1">
                <a:solidFill>
                  <a:srgbClr val="2D7A78"/>
                </a:solidFill>
                <a:latin typeface="Arial"/>
                <a:ea typeface="Arial"/>
                <a:cs typeface="Arial"/>
              </a:rPr>
              <a:t>A0</a:t>
            </a:r>
          </a:p>
        </p:txBody>
      </p:sp>
      <p:sp>
        <p:nvSpPr>
          <p:cNvPr id="7" name="">
            <a:extLst xmlns:a="http://schemas.openxmlformats.org/drawingml/2006/main">
              <a:ext uri="{FF2B5EF4-FFF2-40B4-BE49-F238E27FC236}">
                <a16:creationId xmlns:a16="http://schemas.microsoft.com/office/drawing/2014/main" id="{49044DE4-610D-46FC-A42A-369A2312EA74}"/>
              </a:ext>
            </a:extLst>
          </p:cNvPr>
          <p:cNvSpPr>
            <a:spLocks xmlns:a="http://schemas.openxmlformats.org/drawingml/2006/main" noGrp="1"/>
          </p:cNvSpPr>
          <p:nvPr/>
        </p:nvSpPr>
        <p:spPr>
          <a:xfrm xmlns:a="http://schemas.openxmlformats.org/drawingml/2006/main">
            <a:off x="4953000" y="16954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2D7A78"/>
                </a:solidFill>
                <a:latin typeface="Arial"/>
                <a:ea typeface="Arial"/>
                <a:cs typeface="Arial"/>
              </a:defRPr>
            </a:pPr>
            <a:r>
              <a:rPr sz="1575" b="1">
                <a:solidFill>
                  <a:srgbClr val="2D7A78"/>
                </a:solidFill>
                <a:latin typeface="Arial"/>
                <a:ea typeface="Arial"/>
                <a:cs typeface="Arial"/>
              </a:rPr>
              <a:t>A1</a:t>
            </a:r>
          </a:p>
        </p:txBody>
      </p:sp>
      <p:sp>
        <p:nvSpPr>
          <p:cNvPr id="8" name="">
            <a:extLst xmlns:a="http://schemas.openxmlformats.org/drawingml/2006/main">
              <a:ext uri="{FF2B5EF4-FFF2-40B4-BE49-F238E27FC236}">
                <a16:creationId xmlns:a16="http://schemas.microsoft.com/office/drawing/2014/main" id="{6D3DD475-442A-433C-BB4C-7CFFF8333588}"/>
              </a:ext>
            </a:extLst>
          </p:cNvPr>
          <p:cNvSpPr>
            <a:spLocks xmlns:a="http://schemas.openxmlformats.org/drawingml/2006/main" noGrp="1"/>
          </p:cNvSpPr>
          <p:nvPr/>
        </p:nvSpPr>
        <p:spPr>
          <a:xfrm xmlns:a="http://schemas.openxmlformats.org/drawingml/2006/main">
            <a:off x="7296150" y="16954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2D7A78"/>
                </a:solidFill>
                <a:latin typeface="Arial"/>
                <a:ea typeface="Arial"/>
                <a:cs typeface="Arial"/>
              </a:defRPr>
            </a:pPr>
            <a:r>
              <a:rPr sz="1575" b="1">
                <a:solidFill>
                  <a:srgbClr val="2D7A78"/>
                </a:solidFill>
                <a:latin typeface="Arial"/>
                <a:ea typeface="Arial"/>
                <a:cs typeface="Arial"/>
              </a:rPr>
              <a:t>A2</a:t>
            </a:r>
          </a:p>
        </p:txBody>
      </p:sp>
      <p:sp>
        <p:nvSpPr>
          <p:cNvPr id="9" name="">
            <a:extLst xmlns:a="http://schemas.openxmlformats.org/drawingml/2006/main">
              <a:ext uri="{FF2B5EF4-FFF2-40B4-BE49-F238E27FC236}">
                <a16:creationId xmlns:a16="http://schemas.microsoft.com/office/drawing/2014/main" id="{5B509793-9451-4CFD-ADA7-E576572AAF7F}"/>
              </a:ext>
            </a:extLst>
          </p:cNvPr>
          <p:cNvSpPr>
            <a:spLocks xmlns:a="http://schemas.openxmlformats.org/drawingml/2006/main" noGrp="1"/>
          </p:cNvSpPr>
          <p:nvPr/>
        </p:nvSpPr>
        <p:spPr>
          <a:xfrm xmlns:a="http://schemas.openxmlformats.org/drawingml/2006/main">
            <a:off x="9620250" y="16954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2D7A78"/>
                </a:solidFill>
                <a:latin typeface="Arial"/>
                <a:ea typeface="Arial"/>
                <a:cs typeface="Arial"/>
              </a:defRPr>
            </a:pPr>
            <a:r>
              <a:rPr sz="1575" b="1">
                <a:solidFill>
                  <a:srgbClr val="2D7A78"/>
                </a:solidFill>
                <a:latin typeface="Arial"/>
                <a:ea typeface="Arial"/>
                <a:cs typeface="Arial"/>
              </a:rPr>
              <a:t>A3</a:t>
            </a:r>
          </a:p>
        </p:txBody>
      </p:sp>
      <p:sp>
        <p:nvSpPr>
          <p:cNvPr id="10" name="">
            <a:extLst xmlns:a="http://schemas.openxmlformats.org/drawingml/2006/main">
              <a:ext uri="{FF2B5EF4-FFF2-40B4-BE49-F238E27FC236}">
                <a16:creationId xmlns:a16="http://schemas.microsoft.com/office/drawing/2014/main" id="{6922B3D7-97E6-40DF-A3C2-0A3309341188}"/>
              </a:ext>
            </a:extLst>
          </p:cNvPr>
          <p:cNvSpPr>
            <a:spLocks xmlns:a="http://schemas.openxmlformats.org/drawingml/2006/main" noGrp="1"/>
          </p:cNvSpPr>
          <p:nvPr/>
        </p:nvSpPr>
        <p:spPr>
          <a:xfrm xmlns:a="http://schemas.openxmlformats.org/drawingml/2006/main">
            <a:off x="723900" y="2066925"/>
            <a:ext cx="10744200" cy="19050"/>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259B624-86DD-48FE-B972-C21D2F1BC7A5}"/>
              </a:ext>
            </a:extLst>
          </p:cNvPr>
          <p:cNvSpPr>
            <a:spLocks xmlns:a="http://schemas.openxmlformats.org/drawingml/2006/main" noGrp="1"/>
          </p:cNvSpPr>
          <p:nvPr/>
        </p:nvSpPr>
        <p:spPr>
          <a:xfrm xmlns:a="http://schemas.openxmlformats.org/drawingml/2006/main">
            <a:off x="723900" y="22098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Architecture</a:t>
            </a:r>
          </a:p>
        </p:txBody>
      </p:sp>
      <p:sp>
        <p:nvSpPr>
          <p:cNvPr id="12" name="">
            <a:extLst xmlns:a="http://schemas.openxmlformats.org/drawingml/2006/main">
              <a:ext uri="{FF2B5EF4-FFF2-40B4-BE49-F238E27FC236}">
                <a16:creationId xmlns:a16="http://schemas.microsoft.com/office/drawing/2014/main" id="{EBAD8D47-546F-4A68-AC22-7AE8CDD58EF2}"/>
              </a:ext>
            </a:extLst>
          </p:cNvPr>
          <p:cNvSpPr>
            <a:spLocks xmlns:a="http://schemas.openxmlformats.org/drawingml/2006/main" noGrp="1"/>
          </p:cNvSpPr>
          <p:nvPr/>
        </p:nvSpPr>
        <p:spPr>
          <a:xfrm xmlns:a="http://schemas.openxmlformats.org/drawingml/2006/main">
            <a:off x="2800350" y="22098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Rules, one process</a:t>
            </a:r>
          </a:p>
        </p:txBody>
      </p:sp>
      <p:sp>
        <p:nvSpPr>
          <p:cNvPr id="13" name="">
            <a:extLst xmlns:a="http://schemas.openxmlformats.org/drawingml/2006/main">
              <a:ext uri="{FF2B5EF4-FFF2-40B4-BE49-F238E27FC236}">
                <a16:creationId xmlns:a16="http://schemas.microsoft.com/office/drawing/2014/main" id="{611AA7EA-FC3E-40EF-A150-BF8F3879706F}"/>
              </a:ext>
            </a:extLst>
          </p:cNvPr>
          <p:cNvSpPr>
            <a:spLocks xmlns:a="http://schemas.openxmlformats.org/drawingml/2006/main" noGrp="1"/>
          </p:cNvSpPr>
          <p:nvPr/>
        </p:nvSpPr>
        <p:spPr>
          <a:xfrm xmlns:a="http://schemas.openxmlformats.org/drawingml/2006/main">
            <a:off x="4953000" y="22098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One agent</a:t>
            </a:r>
          </a:p>
        </p:txBody>
      </p:sp>
      <p:sp>
        <p:nvSpPr>
          <p:cNvPr id="14" name="">
            <a:extLst xmlns:a="http://schemas.openxmlformats.org/drawingml/2006/main">
              <a:ext uri="{FF2B5EF4-FFF2-40B4-BE49-F238E27FC236}">
                <a16:creationId xmlns:a16="http://schemas.microsoft.com/office/drawing/2014/main" id="{80F010A3-DB69-488F-AA27-BB3E87B1A55E}"/>
              </a:ext>
            </a:extLst>
          </p:cNvPr>
          <p:cNvSpPr>
            <a:spLocks xmlns:a="http://schemas.openxmlformats.org/drawingml/2006/main" noGrp="1"/>
          </p:cNvSpPr>
          <p:nvPr/>
        </p:nvSpPr>
        <p:spPr>
          <a:xfrm xmlns:a="http://schemas.openxmlformats.org/drawingml/2006/main">
            <a:off x="7296150" y="22098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Multiple static agents</a:t>
            </a:r>
          </a:p>
        </p:txBody>
      </p:sp>
      <p:sp>
        <p:nvSpPr>
          <p:cNvPr id="15" name="">
            <a:extLst xmlns:a="http://schemas.openxmlformats.org/drawingml/2006/main">
              <a:ext uri="{FF2B5EF4-FFF2-40B4-BE49-F238E27FC236}">
                <a16:creationId xmlns:a16="http://schemas.microsoft.com/office/drawing/2014/main" id="{704AA819-8F2E-4663-9563-B1B51085D615}"/>
              </a:ext>
            </a:extLst>
          </p:cNvPr>
          <p:cNvSpPr>
            <a:spLocks xmlns:a="http://schemas.openxmlformats.org/drawingml/2006/main" noGrp="1"/>
          </p:cNvSpPr>
          <p:nvPr/>
        </p:nvSpPr>
        <p:spPr>
          <a:xfrm xmlns:a="http://schemas.openxmlformats.org/drawingml/2006/main">
            <a:off x="9620250" y="22098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Multi-agent + mobile agent</a:t>
            </a:r>
          </a:p>
        </p:txBody>
      </p:sp>
      <p:sp>
        <p:nvSpPr>
          <p:cNvPr id="16" name="">
            <a:extLst xmlns:a="http://schemas.openxmlformats.org/drawingml/2006/main">
              <a:ext uri="{FF2B5EF4-FFF2-40B4-BE49-F238E27FC236}">
                <a16:creationId xmlns:a16="http://schemas.microsoft.com/office/drawing/2014/main" id="{31AFD48E-9A39-47DA-8D09-5610D2322655}"/>
              </a:ext>
            </a:extLst>
          </p:cNvPr>
          <p:cNvSpPr>
            <a:spLocks xmlns:a="http://schemas.openxmlformats.org/drawingml/2006/main" noGrp="1"/>
          </p:cNvSpPr>
          <p:nvPr/>
        </p:nvSpPr>
        <p:spPr>
          <a:xfrm xmlns:a="http://schemas.openxmlformats.org/drawingml/2006/main">
            <a:off x="723900" y="2752725"/>
            <a:ext cx="1074420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B9AC635-BE10-4D60-B774-1D73E9B76EF2}"/>
              </a:ext>
            </a:extLst>
          </p:cNvPr>
          <p:cNvSpPr>
            <a:spLocks xmlns:a="http://schemas.openxmlformats.org/drawingml/2006/main" noGrp="1"/>
          </p:cNvSpPr>
          <p:nvPr/>
        </p:nvSpPr>
        <p:spPr>
          <a:xfrm xmlns:a="http://schemas.openxmlformats.org/drawingml/2006/main">
            <a:off x="723900" y="28384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Coordination</a:t>
            </a:r>
          </a:p>
        </p:txBody>
      </p:sp>
      <p:sp>
        <p:nvSpPr>
          <p:cNvPr id="18" name="">
            <a:extLst xmlns:a="http://schemas.openxmlformats.org/drawingml/2006/main">
              <a:ext uri="{FF2B5EF4-FFF2-40B4-BE49-F238E27FC236}">
                <a16:creationId xmlns:a16="http://schemas.microsoft.com/office/drawing/2014/main" id="{1404AF47-2AB1-4D54-9C2D-A8CEE23FEB29}"/>
              </a:ext>
            </a:extLst>
          </p:cNvPr>
          <p:cNvSpPr>
            <a:spLocks xmlns:a="http://schemas.openxmlformats.org/drawingml/2006/main" noGrp="1"/>
          </p:cNvSpPr>
          <p:nvPr/>
        </p:nvSpPr>
        <p:spPr>
          <a:xfrm xmlns:a="http://schemas.openxmlformats.org/drawingml/2006/main">
            <a:off x="2800350" y="28384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No agent messages</a:t>
            </a:r>
          </a:p>
        </p:txBody>
      </p:sp>
      <p:sp>
        <p:nvSpPr>
          <p:cNvPr id="19" name="">
            <a:extLst xmlns:a="http://schemas.openxmlformats.org/drawingml/2006/main">
              <a:ext uri="{FF2B5EF4-FFF2-40B4-BE49-F238E27FC236}">
                <a16:creationId xmlns:a16="http://schemas.microsoft.com/office/drawing/2014/main" id="{DFCE51AD-C354-43CF-A88F-C01BE738BEEC}"/>
              </a:ext>
            </a:extLst>
          </p:cNvPr>
          <p:cNvSpPr>
            <a:spLocks xmlns:a="http://schemas.openxmlformats.org/drawingml/2006/main" noGrp="1"/>
          </p:cNvSpPr>
          <p:nvPr/>
        </p:nvSpPr>
        <p:spPr>
          <a:xfrm xmlns:a="http://schemas.openxmlformats.org/drawingml/2006/main">
            <a:off x="4953000" y="28384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One agent loop</a:t>
            </a:r>
          </a:p>
        </p:txBody>
      </p:sp>
      <p:sp>
        <p:nvSpPr>
          <p:cNvPr id="20" name="">
            <a:extLst xmlns:a="http://schemas.openxmlformats.org/drawingml/2006/main">
              <a:ext uri="{FF2B5EF4-FFF2-40B4-BE49-F238E27FC236}">
                <a16:creationId xmlns:a16="http://schemas.microsoft.com/office/drawing/2014/main" id="{91CC0886-210E-4EDB-A833-3933A3C932CB}"/>
              </a:ext>
            </a:extLst>
          </p:cNvPr>
          <p:cNvSpPr>
            <a:spLocks xmlns:a="http://schemas.openxmlformats.org/drawingml/2006/main" noGrp="1"/>
          </p:cNvSpPr>
          <p:nvPr/>
        </p:nvSpPr>
        <p:spPr>
          <a:xfrm xmlns:a="http://schemas.openxmlformats.org/drawingml/2006/main">
            <a:off x="7296150" y="28384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Agent messages between roles</a:t>
            </a:r>
          </a:p>
        </p:txBody>
      </p:sp>
      <p:sp>
        <p:nvSpPr>
          <p:cNvPr id="21" name="">
            <a:extLst xmlns:a="http://schemas.openxmlformats.org/drawingml/2006/main">
              <a:ext uri="{FF2B5EF4-FFF2-40B4-BE49-F238E27FC236}">
                <a16:creationId xmlns:a16="http://schemas.microsoft.com/office/drawing/2014/main" id="{3BE1C376-08B4-40FD-849E-38868C70B91A}"/>
              </a:ext>
            </a:extLst>
          </p:cNvPr>
          <p:cNvSpPr>
            <a:spLocks xmlns:a="http://schemas.openxmlformats.org/drawingml/2006/main" noGrp="1"/>
          </p:cNvSpPr>
          <p:nvPr/>
        </p:nvSpPr>
        <p:spPr>
          <a:xfrm xmlns:a="http://schemas.openxmlformats.org/drawingml/2006/main">
            <a:off x="9620250" y="28384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Messages + signed bundle to node</a:t>
            </a:r>
          </a:p>
        </p:txBody>
      </p:sp>
      <p:sp>
        <p:nvSpPr>
          <p:cNvPr id="22" name="">
            <a:extLst xmlns:a="http://schemas.openxmlformats.org/drawingml/2006/main">
              <a:ext uri="{FF2B5EF4-FFF2-40B4-BE49-F238E27FC236}">
                <a16:creationId xmlns:a16="http://schemas.microsoft.com/office/drawing/2014/main" id="{59998CEF-E5BB-4617-9886-F2F092DD3E4A}"/>
              </a:ext>
            </a:extLst>
          </p:cNvPr>
          <p:cNvSpPr>
            <a:spLocks xmlns:a="http://schemas.openxmlformats.org/drawingml/2006/main" noGrp="1"/>
          </p:cNvSpPr>
          <p:nvPr/>
        </p:nvSpPr>
        <p:spPr>
          <a:xfrm xmlns:a="http://schemas.openxmlformats.org/drawingml/2006/main">
            <a:off x="723900" y="3381375"/>
            <a:ext cx="1074420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AC4F7A8-1988-42E5-B6B4-72E8696F1D17}"/>
              </a:ext>
            </a:extLst>
          </p:cNvPr>
          <p:cNvSpPr>
            <a:spLocks xmlns:a="http://schemas.openxmlformats.org/drawingml/2006/main" noGrp="1"/>
          </p:cNvSpPr>
          <p:nvPr/>
        </p:nvSpPr>
        <p:spPr>
          <a:xfrm xmlns:a="http://schemas.openxmlformats.org/drawingml/2006/main">
            <a:off x="723900" y="34671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Work location</a:t>
            </a:r>
          </a:p>
        </p:txBody>
      </p:sp>
      <p:sp>
        <p:nvSpPr>
          <p:cNvPr id="24" name="">
            <a:extLst xmlns:a="http://schemas.openxmlformats.org/drawingml/2006/main">
              <a:ext uri="{FF2B5EF4-FFF2-40B4-BE49-F238E27FC236}">
                <a16:creationId xmlns:a16="http://schemas.microsoft.com/office/drawing/2014/main" id="{AE4B599D-5E03-48EE-BCC8-DC337E975319}"/>
              </a:ext>
            </a:extLst>
          </p:cNvPr>
          <p:cNvSpPr>
            <a:spLocks xmlns:a="http://schemas.openxmlformats.org/drawingml/2006/main" noGrp="1"/>
          </p:cNvSpPr>
          <p:nvPr/>
        </p:nvSpPr>
        <p:spPr>
          <a:xfrm xmlns:a="http://schemas.openxmlformats.org/drawingml/2006/main">
            <a:off x="2800350" y="34671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Central process</a:t>
            </a:r>
          </a:p>
        </p:txBody>
      </p:sp>
      <p:sp>
        <p:nvSpPr>
          <p:cNvPr id="25" name="">
            <a:extLst xmlns:a="http://schemas.openxmlformats.org/drawingml/2006/main">
              <a:ext uri="{FF2B5EF4-FFF2-40B4-BE49-F238E27FC236}">
                <a16:creationId xmlns:a16="http://schemas.microsoft.com/office/drawing/2014/main" id="{A5194BD9-CD8A-478B-A9EE-27762C642D0E}"/>
              </a:ext>
            </a:extLst>
          </p:cNvPr>
          <p:cNvSpPr>
            <a:spLocks xmlns:a="http://schemas.openxmlformats.org/drawingml/2006/main" noGrp="1"/>
          </p:cNvSpPr>
          <p:nvPr/>
        </p:nvSpPr>
        <p:spPr>
          <a:xfrm xmlns:a="http://schemas.openxmlformats.org/drawingml/2006/main">
            <a:off x="4953000" y="34671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Central process</a:t>
            </a:r>
          </a:p>
        </p:txBody>
      </p:sp>
      <p:sp>
        <p:nvSpPr>
          <p:cNvPr id="26" name="">
            <a:extLst xmlns:a="http://schemas.openxmlformats.org/drawingml/2006/main">
              <a:ext uri="{FF2B5EF4-FFF2-40B4-BE49-F238E27FC236}">
                <a16:creationId xmlns:a16="http://schemas.microsoft.com/office/drawing/2014/main" id="{70371F68-A67C-4C5B-BD03-4241E1519891}"/>
              </a:ext>
            </a:extLst>
          </p:cNvPr>
          <p:cNvSpPr>
            <a:spLocks xmlns:a="http://schemas.openxmlformats.org/drawingml/2006/main" noGrp="1"/>
          </p:cNvSpPr>
          <p:nvPr/>
        </p:nvSpPr>
        <p:spPr>
          <a:xfrm xmlns:a="http://schemas.openxmlformats.org/drawingml/2006/main">
            <a:off x="7296150" y="34671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Agents run centrally</a:t>
            </a:r>
          </a:p>
        </p:txBody>
      </p:sp>
      <p:sp>
        <p:nvSpPr>
          <p:cNvPr id="27" name="">
            <a:extLst xmlns:a="http://schemas.openxmlformats.org/drawingml/2006/main">
              <a:ext uri="{FF2B5EF4-FFF2-40B4-BE49-F238E27FC236}">
                <a16:creationId xmlns:a16="http://schemas.microsoft.com/office/drawing/2014/main" id="{11694078-3E39-4F31-B833-2590CE17BCCE}"/>
              </a:ext>
            </a:extLst>
          </p:cNvPr>
          <p:cNvSpPr>
            <a:spLocks xmlns:a="http://schemas.openxmlformats.org/drawingml/2006/main" noGrp="1"/>
          </p:cNvSpPr>
          <p:nvPr/>
        </p:nvSpPr>
        <p:spPr>
          <a:xfrm xmlns:a="http://schemas.openxmlformats.org/drawingml/2006/main">
            <a:off x="9620250" y="34671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Serialized mobile bundle at investigation</a:t>
            </a:r>
          </a:p>
        </p:txBody>
      </p:sp>
      <p:sp>
        <p:nvSpPr>
          <p:cNvPr id="28" name="">
            <a:extLst xmlns:a="http://schemas.openxmlformats.org/drawingml/2006/main">
              <a:ext uri="{FF2B5EF4-FFF2-40B4-BE49-F238E27FC236}">
                <a16:creationId xmlns:a16="http://schemas.microsoft.com/office/drawing/2014/main" id="{67BF28EC-DC8F-4767-B0A6-E245B257A9BF}"/>
              </a:ext>
            </a:extLst>
          </p:cNvPr>
          <p:cNvSpPr>
            <a:spLocks xmlns:a="http://schemas.openxmlformats.org/drawingml/2006/main" noGrp="1"/>
          </p:cNvSpPr>
          <p:nvPr/>
        </p:nvSpPr>
        <p:spPr>
          <a:xfrm xmlns:a="http://schemas.openxmlformats.org/drawingml/2006/main">
            <a:off x="723900" y="4010025"/>
            <a:ext cx="1074420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B4DD382-4D45-4AAA-8B7E-CE98A25447C0}"/>
              </a:ext>
            </a:extLst>
          </p:cNvPr>
          <p:cNvSpPr>
            <a:spLocks xmlns:a="http://schemas.openxmlformats.org/drawingml/2006/main" noGrp="1"/>
          </p:cNvSpPr>
          <p:nvPr/>
        </p:nvSpPr>
        <p:spPr>
          <a:xfrm xmlns:a="http://schemas.openxmlformats.org/drawingml/2006/main">
            <a:off x="723900" y="40957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Measured mean bytes / ticket</a:t>
            </a:r>
          </a:p>
        </p:txBody>
      </p:sp>
      <p:sp>
        <p:nvSpPr>
          <p:cNvPr id="30" name="">
            <a:extLst xmlns:a="http://schemas.openxmlformats.org/drawingml/2006/main">
              <a:ext uri="{FF2B5EF4-FFF2-40B4-BE49-F238E27FC236}">
                <a16:creationId xmlns:a16="http://schemas.microsoft.com/office/drawing/2014/main" id="{A1BA94B7-1D64-445E-AB3C-AA3E5CC262FD}"/>
              </a:ext>
            </a:extLst>
          </p:cNvPr>
          <p:cNvSpPr>
            <a:spLocks xmlns:a="http://schemas.openxmlformats.org/drawingml/2006/main" noGrp="1"/>
          </p:cNvSpPr>
          <p:nvPr/>
        </p:nvSpPr>
        <p:spPr>
          <a:xfrm xmlns:a="http://schemas.openxmlformats.org/drawingml/2006/main">
            <a:off x="2800350" y="40957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0</a:t>
            </a:r>
          </a:p>
        </p:txBody>
      </p:sp>
      <p:sp>
        <p:nvSpPr>
          <p:cNvPr id="31" name="">
            <a:extLst xmlns:a="http://schemas.openxmlformats.org/drawingml/2006/main">
              <a:ext uri="{FF2B5EF4-FFF2-40B4-BE49-F238E27FC236}">
                <a16:creationId xmlns:a16="http://schemas.microsoft.com/office/drawing/2014/main" id="{AA602B82-0390-4EB4-9D82-BBCB484EFA36}"/>
              </a:ext>
            </a:extLst>
          </p:cNvPr>
          <p:cNvSpPr>
            <a:spLocks xmlns:a="http://schemas.openxmlformats.org/drawingml/2006/main" noGrp="1"/>
          </p:cNvSpPr>
          <p:nvPr/>
        </p:nvSpPr>
        <p:spPr>
          <a:xfrm xmlns:a="http://schemas.openxmlformats.org/drawingml/2006/main">
            <a:off x="4953000" y="40957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1,778</a:t>
            </a:r>
          </a:p>
        </p:txBody>
      </p:sp>
      <p:sp>
        <p:nvSpPr>
          <p:cNvPr id="32" name="">
            <a:extLst xmlns:a="http://schemas.openxmlformats.org/drawingml/2006/main">
              <a:ext uri="{FF2B5EF4-FFF2-40B4-BE49-F238E27FC236}">
                <a16:creationId xmlns:a16="http://schemas.microsoft.com/office/drawing/2014/main" id="{BF1BCB26-F107-4A32-A9A5-5446DD8BD957}"/>
              </a:ext>
            </a:extLst>
          </p:cNvPr>
          <p:cNvSpPr>
            <a:spLocks xmlns:a="http://schemas.openxmlformats.org/drawingml/2006/main" noGrp="1"/>
          </p:cNvSpPr>
          <p:nvPr/>
        </p:nvSpPr>
        <p:spPr>
          <a:xfrm xmlns:a="http://schemas.openxmlformats.org/drawingml/2006/main">
            <a:off x="7296150" y="40957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3,556</a:t>
            </a:r>
          </a:p>
        </p:txBody>
      </p:sp>
      <p:sp>
        <p:nvSpPr>
          <p:cNvPr id="33" name="">
            <a:extLst xmlns:a="http://schemas.openxmlformats.org/drawingml/2006/main">
              <a:ext uri="{FF2B5EF4-FFF2-40B4-BE49-F238E27FC236}">
                <a16:creationId xmlns:a16="http://schemas.microsoft.com/office/drawing/2014/main" id="{A9E17F67-C2EF-43E8-88B7-6DACBF8CE6B0}"/>
              </a:ext>
            </a:extLst>
          </p:cNvPr>
          <p:cNvSpPr>
            <a:spLocks xmlns:a="http://schemas.openxmlformats.org/drawingml/2006/main" noGrp="1"/>
          </p:cNvSpPr>
          <p:nvPr/>
        </p:nvSpPr>
        <p:spPr>
          <a:xfrm xmlns:a="http://schemas.openxmlformats.org/drawingml/2006/main">
            <a:off x="9620250" y="40957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4,161</a:t>
            </a:r>
          </a:p>
        </p:txBody>
      </p:sp>
      <p:sp>
        <p:nvSpPr>
          <p:cNvPr id="34" name="">
            <a:extLst xmlns:a="http://schemas.openxmlformats.org/drawingml/2006/main">
              <a:ext uri="{FF2B5EF4-FFF2-40B4-BE49-F238E27FC236}">
                <a16:creationId xmlns:a16="http://schemas.microsoft.com/office/drawing/2014/main" id="{85ABD480-8CDB-4D95-9BD0-028D4B794F3B}"/>
              </a:ext>
            </a:extLst>
          </p:cNvPr>
          <p:cNvSpPr>
            <a:spLocks xmlns:a="http://schemas.openxmlformats.org/drawingml/2006/main" noGrp="1"/>
          </p:cNvSpPr>
          <p:nvPr/>
        </p:nvSpPr>
        <p:spPr>
          <a:xfrm xmlns:a="http://schemas.openxmlformats.org/drawingml/2006/main">
            <a:off x="723900" y="4638675"/>
            <a:ext cx="1074420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9F237780-F416-471E-89BF-5568CBC4CAC2}"/>
              </a:ext>
            </a:extLst>
          </p:cNvPr>
          <p:cNvSpPr>
            <a:spLocks xmlns:a="http://schemas.openxmlformats.org/drawingml/2006/main" noGrp="1"/>
          </p:cNvSpPr>
          <p:nvPr/>
        </p:nvSpPr>
        <p:spPr>
          <a:xfrm xmlns:a="http://schemas.openxmlformats.org/drawingml/2006/main">
            <a:off x="723900" y="47244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Mean messages / ticket</a:t>
            </a:r>
          </a:p>
        </p:txBody>
      </p:sp>
      <p:sp>
        <p:nvSpPr>
          <p:cNvPr id="36" name="">
            <a:extLst xmlns:a="http://schemas.openxmlformats.org/drawingml/2006/main">
              <a:ext uri="{FF2B5EF4-FFF2-40B4-BE49-F238E27FC236}">
                <a16:creationId xmlns:a16="http://schemas.microsoft.com/office/drawing/2014/main" id="{D7E47EBC-E5B2-42DE-B3FA-0303B1BBE252}"/>
              </a:ext>
            </a:extLst>
          </p:cNvPr>
          <p:cNvSpPr>
            <a:spLocks xmlns:a="http://schemas.openxmlformats.org/drawingml/2006/main" noGrp="1"/>
          </p:cNvSpPr>
          <p:nvPr/>
        </p:nvSpPr>
        <p:spPr>
          <a:xfrm xmlns:a="http://schemas.openxmlformats.org/drawingml/2006/main">
            <a:off x="2800350" y="47244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0</a:t>
            </a:r>
          </a:p>
        </p:txBody>
      </p:sp>
      <p:sp>
        <p:nvSpPr>
          <p:cNvPr id="37" name="">
            <a:extLst xmlns:a="http://schemas.openxmlformats.org/drawingml/2006/main">
              <a:ext uri="{FF2B5EF4-FFF2-40B4-BE49-F238E27FC236}">
                <a16:creationId xmlns:a16="http://schemas.microsoft.com/office/drawing/2014/main" id="{F1BC17D5-0147-46D7-9BC9-5F36938B86C7}"/>
              </a:ext>
            </a:extLst>
          </p:cNvPr>
          <p:cNvSpPr>
            <a:spLocks xmlns:a="http://schemas.openxmlformats.org/drawingml/2006/main" noGrp="1"/>
          </p:cNvSpPr>
          <p:nvPr/>
        </p:nvSpPr>
        <p:spPr>
          <a:xfrm xmlns:a="http://schemas.openxmlformats.org/drawingml/2006/main">
            <a:off x="4953000" y="47244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6</a:t>
            </a:r>
          </a:p>
        </p:txBody>
      </p:sp>
      <p:sp>
        <p:nvSpPr>
          <p:cNvPr id="38" name="">
            <a:extLst xmlns:a="http://schemas.openxmlformats.org/drawingml/2006/main">
              <a:ext uri="{FF2B5EF4-FFF2-40B4-BE49-F238E27FC236}">
                <a16:creationId xmlns:a16="http://schemas.microsoft.com/office/drawing/2014/main" id="{F5AA5DAB-BE54-4632-A965-9302A835C75D}"/>
              </a:ext>
            </a:extLst>
          </p:cNvPr>
          <p:cNvSpPr>
            <a:spLocks xmlns:a="http://schemas.openxmlformats.org/drawingml/2006/main" noGrp="1"/>
          </p:cNvSpPr>
          <p:nvPr/>
        </p:nvSpPr>
        <p:spPr>
          <a:xfrm xmlns:a="http://schemas.openxmlformats.org/drawingml/2006/main">
            <a:off x="7296150" y="47244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12</a:t>
            </a:r>
          </a:p>
        </p:txBody>
      </p:sp>
      <p:sp>
        <p:nvSpPr>
          <p:cNvPr id="39" name="">
            <a:extLst xmlns:a="http://schemas.openxmlformats.org/drawingml/2006/main">
              <a:ext uri="{FF2B5EF4-FFF2-40B4-BE49-F238E27FC236}">
                <a16:creationId xmlns:a16="http://schemas.microsoft.com/office/drawing/2014/main" id="{ACA62EC3-EC31-454F-B585-6F55F3E74CEE}"/>
              </a:ext>
            </a:extLst>
          </p:cNvPr>
          <p:cNvSpPr>
            <a:spLocks xmlns:a="http://schemas.openxmlformats.org/drawingml/2006/main" noGrp="1"/>
          </p:cNvSpPr>
          <p:nvPr/>
        </p:nvSpPr>
        <p:spPr>
          <a:xfrm xmlns:a="http://schemas.openxmlformats.org/drawingml/2006/main">
            <a:off x="9620250" y="47244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13</a:t>
            </a:r>
          </a:p>
        </p:txBody>
      </p:sp>
      <p:sp>
        <p:nvSpPr>
          <p:cNvPr id="40" name="">
            <a:extLst xmlns:a="http://schemas.openxmlformats.org/drawingml/2006/main">
              <a:ext uri="{FF2B5EF4-FFF2-40B4-BE49-F238E27FC236}">
                <a16:creationId xmlns:a16="http://schemas.microsoft.com/office/drawing/2014/main" id="{7D97A575-642E-4072-8EAD-F3308F961AD7}"/>
              </a:ext>
            </a:extLst>
          </p:cNvPr>
          <p:cNvSpPr>
            <a:spLocks xmlns:a="http://schemas.openxmlformats.org/drawingml/2006/main" noGrp="1"/>
          </p:cNvSpPr>
          <p:nvPr/>
        </p:nvSpPr>
        <p:spPr>
          <a:xfrm xmlns:a="http://schemas.openxmlformats.org/drawingml/2006/main">
            <a:off x="723900" y="5562600"/>
            <a:ext cx="10744200" cy="438150"/>
          </a:xfrm>
          <a:prstGeom xmlns:a="http://schemas.openxmlformats.org/drawingml/2006/main" prst="roundRect">
            <a:avLst>
              <a:gd name="adj" fmla="val 26087"/>
            </a:avLst>
          </a:prstGeom>
          <a:solidFill xmlns:a="http://schemas.openxmlformats.org/drawingml/2006/main">
            <a:srgbClr val="DDEFEA"/>
          </a:solidFill>
          <a:ln xmlns:a="http://schemas.openxmlformats.org/drawingml/2006/main" w="9525">
            <a:noFill/>
          </a:ln>
        </p:spPr>
      </p:sp>
      <p:sp>
        <p:nvSpPr>
          <p:cNvPr id="41" name="">
            <a:extLst xmlns:a="http://schemas.openxmlformats.org/drawingml/2006/main">
              <a:ext uri="{FF2B5EF4-FFF2-40B4-BE49-F238E27FC236}">
                <a16:creationId xmlns:a16="http://schemas.microsoft.com/office/drawing/2014/main" id="{6110E5B4-7DF1-49B8-AF6F-0D3641A0D3F0}"/>
              </a:ext>
            </a:extLst>
          </p:cNvPr>
          <p:cNvSpPr>
            <a:spLocks xmlns:a="http://schemas.openxmlformats.org/drawingml/2006/main" noGrp="1"/>
          </p:cNvSpPr>
          <p:nvPr/>
        </p:nvSpPr>
        <p:spPr>
          <a:xfrm xmlns:a="http://schemas.openxmlformats.org/drawingml/2006/main">
            <a:off x="895350" y="5638800"/>
            <a:ext cx="10382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18324B"/>
                </a:solidFill>
                <a:latin typeface="Arial"/>
                <a:ea typeface="Arial"/>
                <a:cs typeface="Arial"/>
              </a:defRPr>
            </a:pPr>
            <a:r>
              <a:rPr sz="1425" b="1">
                <a:solidFill>
                  <a:srgbClr val="18324B"/>
                </a:solidFill>
                <a:latin typeface="Arial"/>
                <a:ea typeface="Arial"/>
                <a:cs typeface="Arial"/>
              </a:rPr>
              <a:t>The dashboard's Run a ticket path and its node trips are separate from the A0–A3 benchmark.</a:t>
            </a:r>
          </a:p>
        </p:txBody>
      </p:sp>
    </p:spTree>
    <p:extLst>
      <p:ext uri="{BB962C8B-B14F-4D97-AF65-F5344CB8AC3E}">
        <p14:creationId xmlns:p14="http://schemas.microsoft.com/office/powerpoint/2010/main" val="223237520"/>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99DDEEA-8751-4DE9-8988-64D7089A7A1B}"/>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Run a ticket: nine agents from feedback to release</a:t>
            </a:r>
          </a:p>
        </p:txBody>
      </p:sp>
      <p:sp>
        <p:nvSpPr>
          <p:cNvPr id="2" name="">
            <a:extLst xmlns:a="http://schemas.openxmlformats.org/drawingml/2006/main">
              <a:ext uri="{FF2B5EF4-FFF2-40B4-BE49-F238E27FC236}">
                <a16:creationId xmlns:a16="http://schemas.microsoft.com/office/drawing/2014/main" id="{7C3971BA-4E31-43B5-98D3-16AC66905564}"/>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045A33-0FC5-4F13-8985-01DBCC073F3C}"/>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Real decisions and gates; the repository, CI, deploys and telemetry are seeded simulators</a:t>
            </a:r>
          </a:p>
        </p:txBody>
      </p:sp>
      <p:sp>
        <p:nvSpPr>
          <p:cNvPr id="4" name="">
            <a:extLst xmlns:a="http://schemas.openxmlformats.org/drawingml/2006/main">
              <a:ext uri="{FF2B5EF4-FFF2-40B4-BE49-F238E27FC236}">
                <a16:creationId xmlns:a16="http://schemas.microsoft.com/office/drawing/2014/main" id="{046E2906-9708-4BF9-B750-D3B9E24E1D26}"/>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9D1C9D54-96C0-4FB5-9AAD-16341AF215EC}"/>
              </a:ext>
            </a:extLst>
          </p:cNvPr>
          <p:cNvSpPr>
            <a:spLocks xmlns:a="http://schemas.openxmlformats.org/drawingml/2006/main" noGrp="1"/>
          </p:cNvSpPr>
          <p:nvPr/>
        </p:nvSpPr>
        <p:spPr>
          <a:xfrm xmlns:a="http://schemas.openxmlformats.org/drawingml/2006/main">
            <a:off x="704850" y="18859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6" name="">
            <a:extLst xmlns:a="http://schemas.openxmlformats.org/drawingml/2006/main">
              <a:ext uri="{FF2B5EF4-FFF2-40B4-BE49-F238E27FC236}">
                <a16:creationId xmlns:a16="http://schemas.microsoft.com/office/drawing/2014/main" id="{C5208094-6726-4B5A-B1BE-113F3CF72B9F}"/>
              </a:ext>
            </a:extLst>
          </p:cNvPr>
          <p:cNvSpPr>
            <a:spLocks xmlns:a="http://schemas.openxmlformats.org/drawingml/2006/main" noGrp="1"/>
          </p:cNvSpPr>
          <p:nvPr/>
        </p:nvSpPr>
        <p:spPr>
          <a:xfrm xmlns:a="http://schemas.openxmlformats.org/drawingml/2006/main">
            <a:off x="876300" y="20002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1 Feedback capture</a:t>
            </a:r>
          </a:p>
        </p:txBody>
      </p:sp>
      <p:sp>
        <p:nvSpPr>
          <p:cNvPr id="7" name="">
            <a:extLst xmlns:a="http://schemas.openxmlformats.org/drawingml/2006/main">
              <a:ext uri="{FF2B5EF4-FFF2-40B4-BE49-F238E27FC236}">
                <a16:creationId xmlns:a16="http://schemas.microsoft.com/office/drawing/2014/main" id="{FFC2E6F6-5CAB-44E7-A158-A3776095934F}"/>
              </a:ext>
            </a:extLst>
          </p:cNvPr>
          <p:cNvSpPr>
            <a:spLocks xmlns:a="http://schemas.openxmlformats.org/drawingml/2006/main" noGrp="1"/>
          </p:cNvSpPr>
          <p:nvPr/>
        </p:nvSpPr>
        <p:spPr>
          <a:xfrm xmlns:a="http://schemas.openxmlformats.org/drawingml/2006/main">
            <a:off x="876300" y="23717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Mask PII · language · version</a:t>
            </a:r>
          </a:p>
        </p:txBody>
      </p:sp>
      <p:sp>
        <p:nvSpPr>
          <p:cNvPr id="8" name="">
            <a:extLst xmlns:a="http://schemas.openxmlformats.org/drawingml/2006/main">
              <a:ext uri="{FF2B5EF4-FFF2-40B4-BE49-F238E27FC236}">
                <a16:creationId xmlns:a16="http://schemas.microsoft.com/office/drawing/2014/main" id="{9EAC88E5-458C-4CCB-A5FF-EC72A345EB51}"/>
              </a:ext>
            </a:extLst>
          </p:cNvPr>
          <p:cNvSpPr>
            <a:spLocks xmlns:a="http://schemas.openxmlformats.org/drawingml/2006/main" noGrp="1"/>
          </p:cNvSpPr>
          <p:nvPr/>
        </p:nvSpPr>
        <p:spPr>
          <a:xfrm xmlns:a="http://schemas.openxmlformats.org/drawingml/2006/main">
            <a:off x="4362450" y="18859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9" name="">
            <a:extLst xmlns:a="http://schemas.openxmlformats.org/drawingml/2006/main">
              <a:ext uri="{FF2B5EF4-FFF2-40B4-BE49-F238E27FC236}">
                <a16:creationId xmlns:a16="http://schemas.microsoft.com/office/drawing/2014/main" id="{2D87D9E6-96EA-4636-8FC4-265676E27301}"/>
              </a:ext>
            </a:extLst>
          </p:cNvPr>
          <p:cNvSpPr>
            <a:spLocks xmlns:a="http://schemas.openxmlformats.org/drawingml/2006/main" noGrp="1"/>
          </p:cNvSpPr>
          <p:nvPr/>
        </p:nvSpPr>
        <p:spPr>
          <a:xfrm xmlns:a="http://schemas.openxmlformats.org/drawingml/2006/main">
            <a:off x="4533900" y="20002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2 Triage</a:t>
            </a:r>
          </a:p>
        </p:txBody>
      </p:sp>
      <p:sp>
        <p:nvSpPr>
          <p:cNvPr id="10" name="">
            <a:extLst xmlns:a="http://schemas.openxmlformats.org/drawingml/2006/main">
              <a:ext uri="{FF2B5EF4-FFF2-40B4-BE49-F238E27FC236}">
                <a16:creationId xmlns:a16="http://schemas.microsoft.com/office/drawing/2014/main" id="{A801B1D2-BD0B-4936-BED6-419C0EBD5FB8}"/>
              </a:ext>
            </a:extLst>
          </p:cNvPr>
          <p:cNvSpPr>
            <a:spLocks xmlns:a="http://schemas.openxmlformats.org/drawingml/2006/main" noGrp="1"/>
          </p:cNvSpPr>
          <p:nvPr/>
        </p:nvSpPr>
        <p:spPr>
          <a:xfrm xmlns:a="http://schemas.openxmlformats.org/drawingml/2006/main">
            <a:off x="4533900" y="23717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Duplicates · severity · gate</a:t>
            </a:r>
          </a:p>
        </p:txBody>
      </p:sp>
      <p:sp>
        <p:nvSpPr>
          <p:cNvPr id="11" name="">
            <a:extLst xmlns:a="http://schemas.openxmlformats.org/drawingml/2006/main">
              <a:ext uri="{FF2B5EF4-FFF2-40B4-BE49-F238E27FC236}">
                <a16:creationId xmlns:a16="http://schemas.microsoft.com/office/drawing/2014/main" id="{C5FD53C8-79AE-4A3E-903C-6B81D9FB05CC}"/>
              </a:ext>
            </a:extLst>
          </p:cNvPr>
          <p:cNvSpPr>
            <a:spLocks xmlns:a="http://schemas.openxmlformats.org/drawingml/2006/main" noGrp="1"/>
          </p:cNvSpPr>
          <p:nvPr/>
        </p:nvSpPr>
        <p:spPr>
          <a:xfrm xmlns:a="http://schemas.openxmlformats.org/drawingml/2006/main">
            <a:off x="8020050" y="18859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12" name="">
            <a:extLst xmlns:a="http://schemas.openxmlformats.org/drawingml/2006/main">
              <a:ext uri="{FF2B5EF4-FFF2-40B4-BE49-F238E27FC236}">
                <a16:creationId xmlns:a16="http://schemas.microsoft.com/office/drawing/2014/main" id="{A8A102DA-73A2-4D52-959D-9289C608A7E8}"/>
              </a:ext>
            </a:extLst>
          </p:cNvPr>
          <p:cNvSpPr>
            <a:spLocks xmlns:a="http://schemas.openxmlformats.org/drawingml/2006/main" noGrp="1"/>
          </p:cNvSpPr>
          <p:nvPr/>
        </p:nvSpPr>
        <p:spPr>
          <a:xfrm xmlns:a="http://schemas.openxmlformats.org/drawingml/2006/main">
            <a:off x="8191500" y="20002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3 Assignment</a:t>
            </a:r>
          </a:p>
        </p:txBody>
      </p:sp>
      <p:sp>
        <p:nvSpPr>
          <p:cNvPr id="13" name="">
            <a:extLst xmlns:a="http://schemas.openxmlformats.org/drawingml/2006/main">
              <a:ext uri="{FF2B5EF4-FFF2-40B4-BE49-F238E27FC236}">
                <a16:creationId xmlns:a16="http://schemas.microsoft.com/office/drawing/2014/main" id="{1769FD18-5485-4D6D-B73E-2113A8386169}"/>
              </a:ext>
            </a:extLst>
          </p:cNvPr>
          <p:cNvSpPr>
            <a:spLocks xmlns:a="http://schemas.openxmlformats.org/drawingml/2006/main" noGrp="1"/>
          </p:cNvSpPr>
          <p:nvPr/>
        </p:nvSpPr>
        <p:spPr>
          <a:xfrm xmlns:a="http://schemas.openxmlformats.org/drawingml/2006/main">
            <a:off x="8191500" y="23717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Contract Net: three squads bid</a:t>
            </a:r>
          </a:p>
        </p:txBody>
      </p:sp>
      <p:sp>
        <p:nvSpPr>
          <p:cNvPr id="14" name="">
            <a:extLst xmlns:a="http://schemas.openxmlformats.org/drawingml/2006/main">
              <a:ext uri="{FF2B5EF4-FFF2-40B4-BE49-F238E27FC236}">
                <a16:creationId xmlns:a16="http://schemas.microsoft.com/office/drawing/2014/main" id="{0FA70536-ED68-475A-9A27-9CD6C8CE4B49}"/>
              </a:ext>
            </a:extLst>
          </p:cNvPr>
          <p:cNvSpPr>
            <a:spLocks xmlns:a="http://schemas.openxmlformats.org/drawingml/2006/main" noGrp="1"/>
          </p:cNvSpPr>
          <p:nvPr/>
        </p:nvSpPr>
        <p:spPr>
          <a:xfrm xmlns:a="http://schemas.openxmlformats.org/drawingml/2006/main">
            <a:off x="704850" y="31051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15" name="">
            <a:extLst xmlns:a="http://schemas.openxmlformats.org/drawingml/2006/main">
              <a:ext uri="{FF2B5EF4-FFF2-40B4-BE49-F238E27FC236}">
                <a16:creationId xmlns:a16="http://schemas.microsoft.com/office/drawing/2014/main" id="{40ADB697-A3B7-41F2-941C-128540E0E246}"/>
              </a:ext>
            </a:extLst>
          </p:cNvPr>
          <p:cNvSpPr>
            <a:spLocks xmlns:a="http://schemas.openxmlformats.org/drawingml/2006/main" noGrp="1"/>
          </p:cNvSpPr>
          <p:nvPr/>
        </p:nvSpPr>
        <p:spPr>
          <a:xfrm xmlns:a="http://schemas.openxmlformats.org/drawingml/2006/main">
            <a:off x="876300" y="32194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4 Investigation</a:t>
            </a:r>
          </a:p>
        </p:txBody>
      </p:sp>
      <p:sp>
        <p:nvSpPr>
          <p:cNvPr id="16" name="">
            <a:extLst xmlns:a="http://schemas.openxmlformats.org/drawingml/2006/main">
              <a:ext uri="{FF2B5EF4-FFF2-40B4-BE49-F238E27FC236}">
                <a16:creationId xmlns:a16="http://schemas.microsoft.com/office/drawing/2014/main" id="{F9140B9B-5874-4DDA-B738-FE917D866A40}"/>
              </a:ext>
            </a:extLst>
          </p:cNvPr>
          <p:cNvSpPr>
            <a:spLocks xmlns:a="http://schemas.openxmlformats.org/drawingml/2006/main" noGrp="1"/>
          </p:cNvSpPr>
          <p:nvPr/>
        </p:nvSpPr>
        <p:spPr>
          <a:xfrm xmlns:a="http://schemas.openxmlformats.org/drawingml/2006/main">
            <a:off x="876300" y="35909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6 node trips · suspect ranking</a:t>
            </a:r>
          </a:p>
        </p:txBody>
      </p:sp>
      <p:sp>
        <p:nvSpPr>
          <p:cNvPr id="17" name="">
            <a:extLst xmlns:a="http://schemas.openxmlformats.org/drawingml/2006/main">
              <a:ext uri="{FF2B5EF4-FFF2-40B4-BE49-F238E27FC236}">
                <a16:creationId xmlns:a16="http://schemas.microsoft.com/office/drawing/2014/main" id="{D4D0E4B0-3CBD-493F-8AA8-3D6FF716B4E0}"/>
              </a:ext>
            </a:extLst>
          </p:cNvPr>
          <p:cNvSpPr>
            <a:spLocks xmlns:a="http://schemas.openxmlformats.org/drawingml/2006/main" noGrp="1"/>
          </p:cNvSpPr>
          <p:nvPr/>
        </p:nvSpPr>
        <p:spPr>
          <a:xfrm xmlns:a="http://schemas.openxmlformats.org/drawingml/2006/main">
            <a:off x="4362450" y="31051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18" name="">
            <a:extLst xmlns:a="http://schemas.openxmlformats.org/drawingml/2006/main">
              <a:ext uri="{FF2B5EF4-FFF2-40B4-BE49-F238E27FC236}">
                <a16:creationId xmlns:a16="http://schemas.microsoft.com/office/drawing/2014/main" id="{5EB7F355-7748-4319-8A9F-5E61BD1B9A74}"/>
              </a:ext>
            </a:extLst>
          </p:cNvPr>
          <p:cNvSpPr>
            <a:spLocks xmlns:a="http://schemas.openxmlformats.org/drawingml/2006/main" noGrp="1"/>
          </p:cNvSpPr>
          <p:nvPr/>
        </p:nvSpPr>
        <p:spPr>
          <a:xfrm xmlns:a="http://schemas.openxmlformats.org/drawingml/2006/main">
            <a:off x="4533900" y="32194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5 Planning</a:t>
            </a:r>
          </a:p>
        </p:txBody>
      </p:sp>
      <p:sp>
        <p:nvSpPr>
          <p:cNvPr id="19" name="">
            <a:extLst xmlns:a="http://schemas.openxmlformats.org/drawingml/2006/main">
              <a:ext uri="{FF2B5EF4-FFF2-40B4-BE49-F238E27FC236}">
                <a16:creationId xmlns:a16="http://schemas.microsoft.com/office/drawing/2014/main" id="{83F7AE59-5AF0-4801-9768-6790199207A9}"/>
              </a:ext>
            </a:extLst>
          </p:cNvPr>
          <p:cNvSpPr>
            <a:spLocks xmlns:a="http://schemas.openxmlformats.org/drawingml/2006/main" noGrp="1"/>
          </p:cNvSpPr>
          <p:nvPr/>
        </p:nvSpPr>
        <p:spPr>
          <a:xfrm xmlns:a="http://schemas.openxmlformats.org/drawingml/2006/main">
            <a:off x="4533900" y="35909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Subtasks · Given/When/Then</a:t>
            </a:r>
          </a:p>
        </p:txBody>
      </p:sp>
      <p:sp>
        <p:nvSpPr>
          <p:cNvPr id="20" name="">
            <a:extLst xmlns:a="http://schemas.openxmlformats.org/drawingml/2006/main">
              <a:ext uri="{FF2B5EF4-FFF2-40B4-BE49-F238E27FC236}">
                <a16:creationId xmlns:a16="http://schemas.microsoft.com/office/drawing/2014/main" id="{E2890F1D-EC71-49BC-A62E-FB240110B5C7}"/>
              </a:ext>
            </a:extLst>
          </p:cNvPr>
          <p:cNvSpPr>
            <a:spLocks xmlns:a="http://schemas.openxmlformats.org/drawingml/2006/main" noGrp="1"/>
          </p:cNvSpPr>
          <p:nvPr/>
        </p:nvSpPr>
        <p:spPr>
          <a:xfrm xmlns:a="http://schemas.openxmlformats.org/drawingml/2006/main">
            <a:off x="8020050" y="31051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21" name="">
            <a:extLst xmlns:a="http://schemas.openxmlformats.org/drawingml/2006/main">
              <a:ext uri="{FF2B5EF4-FFF2-40B4-BE49-F238E27FC236}">
                <a16:creationId xmlns:a16="http://schemas.microsoft.com/office/drawing/2014/main" id="{34F626F6-D2F0-41A2-98BB-08F1370768EA}"/>
              </a:ext>
            </a:extLst>
          </p:cNvPr>
          <p:cNvSpPr>
            <a:spLocks xmlns:a="http://schemas.openxmlformats.org/drawingml/2006/main" noGrp="1"/>
          </p:cNvSpPr>
          <p:nvPr/>
        </p:nvSpPr>
        <p:spPr>
          <a:xfrm xmlns:a="http://schemas.openxmlformats.org/drawingml/2006/main">
            <a:off x="8191500" y="32194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6 Implementation</a:t>
            </a:r>
          </a:p>
        </p:txBody>
      </p:sp>
      <p:sp>
        <p:nvSpPr>
          <p:cNvPr id="22" name="">
            <a:extLst xmlns:a="http://schemas.openxmlformats.org/drawingml/2006/main">
              <a:ext uri="{FF2B5EF4-FFF2-40B4-BE49-F238E27FC236}">
                <a16:creationId xmlns:a16="http://schemas.microsoft.com/office/drawing/2014/main" id="{CCE4587F-F377-4799-B2E4-2E37AE35137C}"/>
              </a:ext>
            </a:extLst>
          </p:cNvPr>
          <p:cNvSpPr>
            <a:spLocks xmlns:a="http://schemas.openxmlformats.org/drawingml/2006/main" noGrp="1"/>
          </p:cNvSpPr>
          <p:nvPr/>
        </p:nvSpPr>
        <p:spPr>
          <a:xfrm xmlns:a="http://schemas.openxmlformats.org/drawingml/2006/main">
            <a:off x="8191500" y="35909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Draft PR · secret scan</a:t>
            </a:r>
          </a:p>
        </p:txBody>
      </p:sp>
      <p:sp>
        <p:nvSpPr>
          <p:cNvPr id="23" name="">
            <a:extLst xmlns:a="http://schemas.openxmlformats.org/drawingml/2006/main">
              <a:ext uri="{FF2B5EF4-FFF2-40B4-BE49-F238E27FC236}">
                <a16:creationId xmlns:a16="http://schemas.microsoft.com/office/drawing/2014/main" id="{32CFA6B3-1F40-4BA0-AA7C-FA0342EA1109}"/>
              </a:ext>
            </a:extLst>
          </p:cNvPr>
          <p:cNvSpPr>
            <a:spLocks xmlns:a="http://schemas.openxmlformats.org/drawingml/2006/main" noGrp="1"/>
          </p:cNvSpPr>
          <p:nvPr/>
        </p:nvSpPr>
        <p:spPr>
          <a:xfrm xmlns:a="http://schemas.openxmlformats.org/drawingml/2006/main">
            <a:off x="704850" y="43243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24" name="">
            <a:extLst xmlns:a="http://schemas.openxmlformats.org/drawingml/2006/main">
              <a:ext uri="{FF2B5EF4-FFF2-40B4-BE49-F238E27FC236}">
                <a16:creationId xmlns:a16="http://schemas.microsoft.com/office/drawing/2014/main" id="{25A6415A-5DF6-47BF-936A-374C78A851E3}"/>
              </a:ext>
            </a:extLst>
          </p:cNvPr>
          <p:cNvSpPr>
            <a:spLocks xmlns:a="http://schemas.openxmlformats.org/drawingml/2006/main" noGrp="1"/>
          </p:cNvSpPr>
          <p:nvPr/>
        </p:nvSpPr>
        <p:spPr>
          <a:xfrm xmlns:a="http://schemas.openxmlformats.org/drawingml/2006/main">
            <a:off x="876300" y="44386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7 QA</a:t>
            </a:r>
          </a:p>
        </p:txBody>
      </p:sp>
      <p:sp>
        <p:nvSpPr>
          <p:cNvPr id="25" name="">
            <a:extLst xmlns:a="http://schemas.openxmlformats.org/drawingml/2006/main">
              <a:ext uri="{FF2B5EF4-FFF2-40B4-BE49-F238E27FC236}">
                <a16:creationId xmlns:a16="http://schemas.microsoft.com/office/drawing/2014/main" id="{6220C3F7-9F2B-4EAE-80C0-2B2BEC718852}"/>
              </a:ext>
            </a:extLst>
          </p:cNvPr>
          <p:cNvSpPr>
            <a:spLocks xmlns:a="http://schemas.openxmlformats.org/drawingml/2006/main" noGrp="1"/>
          </p:cNvSpPr>
          <p:nvPr/>
        </p:nvSpPr>
        <p:spPr>
          <a:xfrm xmlns:a="http://schemas.openxmlformats.org/drawingml/2006/main">
            <a:off x="876300" y="48101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About 100 of 3,400 tests · NAPFD</a:t>
            </a:r>
          </a:p>
        </p:txBody>
      </p:sp>
      <p:sp>
        <p:nvSpPr>
          <p:cNvPr id="26" name="">
            <a:extLst xmlns:a="http://schemas.openxmlformats.org/drawingml/2006/main">
              <a:ext uri="{FF2B5EF4-FFF2-40B4-BE49-F238E27FC236}">
                <a16:creationId xmlns:a16="http://schemas.microsoft.com/office/drawing/2014/main" id="{964BB661-4B46-446E-9DF8-18E3591A2700}"/>
              </a:ext>
            </a:extLst>
          </p:cNvPr>
          <p:cNvSpPr>
            <a:spLocks xmlns:a="http://schemas.openxmlformats.org/drawingml/2006/main" noGrp="1"/>
          </p:cNvSpPr>
          <p:nvPr/>
        </p:nvSpPr>
        <p:spPr>
          <a:xfrm xmlns:a="http://schemas.openxmlformats.org/drawingml/2006/main">
            <a:off x="4362450" y="43243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27" name="">
            <a:extLst xmlns:a="http://schemas.openxmlformats.org/drawingml/2006/main">
              <a:ext uri="{FF2B5EF4-FFF2-40B4-BE49-F238E27FC236}">
                <a16:creationId xmlns:a16="http://schemas.microsoft.com/office/drawing/2014/main" id="{11276230-473F-4408-993E-A97F3FA98042}"/>
              </a:ext>
            </a:extLst>
          </p:cNvPr>
          <p:cNvSpPr>
            <a:spLocks xmlns:a="http://schemas.openxmlformats.org/drawingml/2006/main" noGrp="1"/>
          </p:cNvSpPr>
          <p:nvPr/>
        </p:nvSpPr>
        <p:spPr>
          <a:xfrm xmlns:a="http://schemas.openxmlformats.org/drawingml/2006/main">
            <a:off x="4533900" y="44386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8 Deployment</a:t>
            </a:r>
          </a:p>
        </p:txBody>
      </p:sp>
      <p:sp>
        <p:nvSpPr>
          <p:cNvPr id="28" name="">
            <a:extLst xmlns:a="http://schemas.openxmlformats.org/drawingml/2006/main">
              <a:ext uri="{FF2B5EF4-FFF2-40B4-BE49-F238E27FC236}">
                <a16:creationId xmlns:a16="http://schemas.microsoft.com/office/drawing/2014/main" id="{0280C06C-3811-4A5F-A674-4CC6660A149E}"/>
              </a:ext>
            </a:extLst>
          </p:cNvPr>
          <p:cNvSpPr>
            <a:spLocks xmlns:a="http://schemas.openxmlformats.org/drawingml/2006/main" noGrp="1"/>
          </p:cNvSpPr>
          <p:nvPr/>
        </p:nvSpPr>
        <p:spPr>
          <a:xfrm xmlns:a="http://schemas.openxmlformats.org/drawingml/2006/main">
            <a:off x="4533900" y="48101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Risk score → 5% canary → release</a:t>
            </a:r>
          </a:p>
        </p:txBody>
      </p:sp>
      <p:sp>
        <p:nvSpPr>
          <p:cNvPr id="29" name="">
            <a:extLst xmlns:a="http://schemas.openxmlformats.org/drawingml/2006/main">
              <a:ext uri="{FF2B5EF4-FFF2-40B4-BE49-F238E27FC236}">
                <a16:creationId xmlns:a16="http://schemas.microsoft.com/office/drawing/2014/main" id="{C15CE840-7F6A-48EE-A210-54142388F7E2}"/>
              </a:ext>
            </a:extLst>
          </p:cNvPr>
          <p:cNvSpPr>
            <a:spLocks xmlns:a="http://schemas.openxmlformats.org/drawingml/2006/main" noGrp="1"/>
          </p:cNvSpPr>
          <p:nvPr/>
        </p:nvSpPr>
        <p:spPr>
          <a:xfrm xmlns:a="http://schemas.openxmlformats.org/drawingml/2006/main">
            <a:off x="8020050" y="43243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30" name="">
            <a:extLst xmlns:a="http://schemas.openxmlformats.org/drawingml/2006/main">
              <a:ext uri="{FF2B5EF4-FFF2-40B4-BE49-F238E27FC236}">
                <a16:creationId xmlns:a16="http://schemas.microsoft.com/office/drawing/2014/main" id="{3FD0F3D3-95DE-4257-A697-F445A828DE07}"/>
              </a:ext>
            </a:extLst>
          </p:cNvPr>
          <p:cNvSpPr>
            <a:spLocks xmlns:a="http://schemas.openxmlformats.org/drawingml/2006/main" noGrp="1"/>
          </p:cNvSpPr>
          <p:nvPr/>
        </p:nvSpPr>
        <p:spPr>
          <a:xfrm xmlns:a="http://schemas.openxmlformats.org/drawingml/2006/main">
            <a:off x="8191500" y="44386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9 Monitoring</a:t>
            </a:r>
          </a:p>
        </p:txBody>
      </p:sp>
      <p:sp>
        <p:nvSpPr>
          <p:cNvPr id="31" name="">
            <a:extLst xmlns:a="http://schemas.openxmlformats.org/drawingml/2006/main">
              <a:ext uri="{FF2B5EF4-FFF2-40B4-BE49-F238E27FC236}">
                <a16:creationId xmlns:a16="http://schemas.microsoft.com/office/drawing/2014/main" id="{79BFAA91-32F0-44FB-8A5A-6A88B49F56D1}"/>
              </a:ext>
            </a:extLst>
          </p:cNvPr>
          <p:cNvSpPr>
            <a:spLocks xmlns:a="http://schemas.openxmlformats.org/drawingml/2006/main" noGrp="1"/>
          </p:cNvSpPr>
          <p:nvPr/>
        </p:nvSpPr>
        <p:spPr>
          <a:xfrm xmlns:a="http://schemas.openxmlformats.org/drawingml/2006/main">
            <a:off x="8191500" y="48101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SLO check → follow-up ticket</a:t>
            </a:r>
          </a:p>
        </p:txBody>
      </p:sp>
      <p:sp>
        <p:nvSpPr>
          <p:cNvPr id="32" name="">
            <a:extLst xmlns:a="http://schemas.openxmlformats.org/drawingml/2006/main">
              <a:ext uri="{FF2B5EF4-FFF2-40B4-BE49-F238E27FC236}">
                <a16:creationId xmlns:a16="http://schemas.microsoft.com/office/drawing/2014/main" id="{EA8D2101-DFAD-4153-84D8-DC37E67D6A5D}"/>
              </a:ext>
            </a:extLst>
          </p:cNvPr>
          <p:cNvSpPr>
            <a:spLocks xmlns:a="http://schemas.openxmlformats.org/drawingml/2006/main" noGrp="1"/>
          </p:cNvSpPr>
          <p:nvPr/>
        </p:nvSpPr>
        <p:spPr>
          <a:xfrm xmlns:a="http://schemas.openxmlformats.org/drawingml/2006/main">
            <a:off x="704850" y="5581650"/>
            <a:ext cx="10315575" cy="457200"/>
          </a:xfrm>
          <a:prstGeom xmlns:a="http://schemas.openxmlformats.org/drawingml/2006/main" prst="roundRect">
            <a:avLst>
              <a:gd name="adj" fmla="val 25000"/>
            </a:avLst>
          </a:prstGeom>
          <a:solidFill xmlns:a="http://schemas.openxmlformats.org/drawingml/2006/main">
            <a:srgbClr val="F7EEDC"/>
          </a:solidFill>
          <a:ln xmlns:a="http://schemas.openxmlformats.org/drawingml/2006/main" w="9525">
            <a:noFill/>
          </a:ln>
        </p:spPr>
      </p:sp>
      <p:sp>
        <p:nvSpPr>
          <p:cNvPr id="33" name="">
            <a:extLst xmlns:a="http://schemas.openxmlformats.org/drawingml/2006/main">
              <a:ext uri="{FF2B5EF4-FFF2-40B4-BE49-F238E27FC236}">
                <a16:creationId xmlns:a16="http://schemas.microsoft.com/office/drawing/2014/main" id="{7C4506F9-16F8-4122-BD40-457C27372CDC}"/>
              </a:ext>
            </a:extLst>
          </p:cNvPr>
          <p:cNvSpPr>
            <a:spLocks xmlns:a="http://schemas.openxmlformats.org/drawingml/2006/main" noGrp="1"/>
          </p:cNvSpPr>
          <p:nvPr/>
        </p:nvSpPr>
        <p:spPr>
          <a:xfrm xmlns:a="http://schemas.openxmlformats.org/drawingml/2006/main">
            <a:off x="895350" y="5657850"/>
            <a:ext cx="9982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Merge and release always wait for a person; four more gates stop only when their rule fires.</a:t>
            </a:r>
          </a:p>
        </p:txBody>
      </p:sp>
    </p:spTree>
    <p:extLst>
      <p:ext uri="{BB962C8B-B14F-4D97-AF65-F5344CB8AC3E}">
        <p14:creationId xmlns:p14="http://schemas.microsoft.com/office/powerpoint/2010/main" val="982019882"/>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2393F86-5446-46D9-ABED-F464B9B22404}"/>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Example: one flash-sale complaint, end to end</a:t>
            </a:r>
          </a:p>
        </p:txBody>
      </p:sp>
      <p:sp>
        <p:nvSpPr>
          <p:cNvPr id="2" name="">
            <a:extLst xmlns:a="http://schemas.openxmlformats.org/drawingml/2006/main">
              <a:ext uri="{FF2B5EF4-FFF2-40B4-BE49-F238E27FC236}">
                <a16:creationId xmlns:a16="http://schemas.microsoft.com/office/drawing/2014/main" id="{428960F0-4902-4B95-A9FE-F79844B56F79}"/>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5C6A1FA-4027-4042-949C-D756A6248EE5}"/>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FB-001, a casual Indonesian crash report, waits for a person at triage, merge and release</a:t>
            </a:r>
          </a:p>
        </p:txBody>
      </p:sp>
      <p:sp>
        <p:nvSpPr>
          <p:cNvPr id="4" name="">
            <a:extLst xmlns:a="http://schemas.openxmlformats.org/drawingml/2006/main">
              <a:ext uri="{FF2B5EF4-FFF2-40B4-BE49-F238E27FC236}">
                <a16:creationId xmlns:a16="http://schemas.microsoft.com/office/drawing/2014/main" id="{D0FB416A-519E-49AB-AFF8-9688C0139CD1}"/>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7EB1C997-1B09-49B9-B328-38B9BA28AE3E}"/>
              </a:ext>
            </a:extLst>
          </p:cNvPr>
          <p:cNvSpPr>
            <a:spLocks xmlns:a="http://schemas.openxmlformats.org/drawingml/2006/main" noGrp="1"/>
          </p:cNvSpPr>
          <p:nvPr/>
        </p:nvSpPr>
        <p:spPr>
          <a:xfrm xmlns:a="http://schemas.openxmlformats.org/drawingml/2006/main">
            <a:off x="723900" y="17526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6" name="">
            <a:extLst xmlns:a="http://schemas.openxmlformats.org/drawingml/2006/main">
              <a:ext uri="{FF2B5EF4-FFF2-40B4-BE49-F238E27FC236}">
                <a16:creationId xmlns:a16="http://schemas.microsoft.com/office/drawing/2014/main" id="{A5FEC183-CBC5-4423-9FE8-78C5A81886AB}"/>
              </a:ext>
            </a:extLst>
          </p:cNvPr>
          <p:cNvSpPr>
            <a:spLocks xmlns:a="http://schemas.openxmlformats.org/drawingml/2006/main" noGrp="1"/>
          </p:cNvSpPr>
          <p:nvPr/>
        </p:nvSpPr>
        <p:spPr>
          <a:xfrm xmlns:a="http://schemas.openxmlformats.org/drawingml/2006/main">
            <a:off x="876300" y="18669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1 · Intake</a:t>
            </a:r>
          </a:p>
        </p:txBody>
      </p:sp>
      <p:sp>
        <p:nvSpPr>
          <p:cNvPr id="7" name="">
            <a:extLst xmlns:a="http://schemas.openxmlformats.org/drawingml/2006/main">
              <a:ext uri="{FF2B5EF4-FFF2-40B4-BE49-F238E27FC236}">
                <a16:creationId xmlns:a16="http://schemas.microsoft.com/office/drawing/2014/main" id="{CF3F24DB-C5A9-432B-B0D2-2FD56BE400A8}"/>
              </a:ext>
            </a:extLst>
          </p:cNvPr>
          <p:cNvSpPr>
            <a:spLocks xmlns:a="http://schemas.openxmlformats.org/drawingml/2006/main" noGrp="1"/>
          </p:cNvSpPr>
          <p:nvPr/>
        </p:nvSpPr>
        <p:spPr>
          <a:xfrm xmlns:a="http://schemas.openxmlformats.org/drawingml/2006/main">
            <a:off x="876300" y="22193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Indonesian report, PII masked</a:t>
            </a:r>
          </a:p>
        </p:txBody>
      </p:sp>
      <p:sp>
        <p:nvSpPr>
          <p:cNvPr id="8" name="">
            <a:extLst xmlns:a="http://schemas.openxmlformats.org/drawingml/2006/main">
              <a:ext uri="{FF2B5EF4-FFF2-40B4-BE49-F238E27FC236}">
                <a16:creationId xmlns:a16="http://schemas.microsoft.com/office/drawing/2014/main" id="{3B585882-7BDE-48B2-94A8-E8CC20C2C829}"/>
              </a:ext>
            </a:extLst>
          </p:cNvPr>
          <p:cNvSpPr>
            <a:spLocks xmlns:a="http://schemas.openxmlformats.org/drawingml/2006/main" noGrp="1"/>
          </p:cNvSpPr>
          <p:nvPr/>
        </p:nvSpPr>
        <p:spPr>
          <a:xfrm xmlns:a="http://schemas.openxmlformats.org/drawingml/2006/main">
            <a:off x="4305300" y="1752600"/>
            <a:ext cx="3314700" cy="876300"/>
          </a:xfrm>
          <a:prstGeom xmlns:a="http://schemas.openxmlformats.org/drawingml/2006/main" prst="roundRect">
            <a:avLst>
              <a:gd name="adj" fmla="val 15217"/>
            </a:avLst>
          </a:prstGeom>
          <a:solidFill xmlns:a="http://schemas.openxmlformats.org/drawingml/2006/main">
            <a:srgbClr val="F7EEDC"/>
          </a:solidFill>
          <a:ln xmlns:a="http://schemas.openxmlformats.org/drawingml/2006/main" w="9525">
            <a:solidFill>
              <a:srgbClr val="B77A28"/>
            </a:solidFill>
          </a:ln>
        </p:spPr>
      </p:sp>
      <p:sp>
        <p:nvSpPr>
          <p:cNvPr id="9" name="">
            <a:extLst xmlns:a="http://schemas.openxmlformats.org/drawingml/2006/main">
              <a:ext uri="{FF2B5EF4-FFF2-40B4-BE49-F238E27FC236}">
                <a16:creationId xmlns:a16="http://schemas.microsoft.com/office/drawing/2014/main" id="{7779B73A-DF57-4235-96CF-527CB4BBBD48}"/>
              </a:ext>
            </a:extLst>
          </p:cNvPr>
          <p:cNvSpPr>
            <a:spLocks xmlns:a="http://schemas.openxmlformats.org/drawingml/2006/main" noGrp="1"/>
          </p:cNvSpPr>
          <p:nvPr/>
        </p:nvSpPr>
        <p:spPr>
          <a:xfrm xmlns:a="http://schemas.openxmlformats.org/drawingml/2006/main">
            <a:off x="4457700" y="18669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B77A28"/>
                </a:solidFill>
                <a:latin typeface="Arial"/>
                <a:ea typeface="Arial"/>
                <a:cs typeface="Arial"/>
              </a:defRPr>
            </a:pPr>
            <a:r>
              <a:rPr sz="1575" b="1">
                <a:solidFill>
                  <a:srgbClr val="B77A28"/>
                </a:solidFill>
                <a:latin typeface="Arial"/>
                <a:ea typeface="Arial"/>
                <a:cs typeface="Arial"/>
              </a:rPr>
              <a:t>2 · Triage</a:t>
            </a:r>
          </a:p>
        </p:txBody>
      </p:sp>
      <p:sp>
        <p:nvSpPr>
          <p:cNvPr id="10" name="">
            <a:extLst xmlns:a="http://schemas.openxmlformats.org/drawingml/2006/main">
              <a:ext uri="{FF2B5EF4-FFF2-40B4-BE49-F238E27FC236}">
                <a16:creationId xmlns:a16="http://schemas.microsoft.com/office/drawing/2014/main" id="{AD78F43E-5435-4BEB-A892-BCF440CFC50E}"/>
              </a:ext>
            </a:extLst>
          </p:cNvPr>
          <p:cNvSpPr>
            <a:spLocks xmlns:a="http://schemas.openxmlformats.org/drawingml/2006/main" noGrp="1"/>
          </p:cNvSpPr>
          <p:nvPr/>
        </p:nvSpPr>
        <p:spPr>
          <a:xfrm xmlns:a="http://schemas.openxmlformats.org/drawingml/2006/main">
            <a:off x="4457700" y="22193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Critical · 0.84 confidence</a:t>
            </a:r>
          </a:p>
        </p:txBody>
      </p:sp>
      <p:sp>
        <p:nvSpPr>
          <p:cNvPr id="11" name="">
            <a:extLst xmlns:a="http://schemas.openxmlformats.org/drawingml/2006/main">
              <a:ext uri="{FF2B5EF4-FFF2-40B4-BE49-F238E27FC236}">
                <a16:creationId xmlns:a16="http://schemas.microsoft.com/office/drawing/2014/main" id="{1DD7BD6C-E719-4760-857E-CBC59D249AA4}"/>
              </a:ext>
            </a:extLst>
          </p:cNvPr>
          <p:cNvSpPr>
            <a:spLocks xmlns:a="http://schemas.openxmlformats.org/drawingml/2006/main" noGrp="1"/>
          </p:cNvSpPr>
          <p:nvPr/>
        </p:nvSpPr>
        <p:spPr>
          <a:xfrm xmlns:a="http://schemas.openxmlformats.org/drawingml/2006/main">
            <a:off x="7886700" y="17526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12" name="">
            <a:extLst xmlns:a="http://schemas.openxmlformats.org/drawingml/2006/main">
              <a:ext uri="{FF2B5EF4-FFF2-40B4-BE49-F238E27FC236}">
                <a16:creationId xmlns:a16="http://schemas.microsoft.com/office/drawing/2014/main" id="{F8E67903-B9DE-47E4-9A9E-86398235BA8B}"/>
              </a:ext>
            </a:extLst>
          </p:cNvPr>
          <p:cNvSpPr>
            <a:spLocks xmlns:a="http://schemas.openxmlformats.org/drawingml/2006/main" noGrp="1"/>
          </p:cNvSpPr>
          <p:nvPr/>
        </p:nvSpPr>
        <p:spPr>
          <a:xfrm xmlns:a="http://schemas.openxmlformats.org/drawingml/2006/main">
            <a:off x="8039100" y="18669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3 · Assign</a:t>
            </a:r>
          </a:p>
        </p:txBody>
      </p:sp>
      <p:sp>
        <p:nvSpPr>
          <p:cNvPr id="13" name="">
            <a:extLst xmlns:a="http://schemas.openxmlformats.org/drawingml/2006/main">
              <a:ext uri="{FF2B5EF4-FFF2-40B4-BE49-F238E27FC236}">
                <a16:creationId xmlns:a16="http://schemas.microsoft.com/office/drawing/2014/main" id="{334CF8AA-E90C-41C0-AB03-2ABFCD8AE880}"/>
              </a:ext>
            </a:extLst>
          </p:cNvPr>
          <p:cNvSpPr>
            <a:spLocks xmlns:a="http://schemas.openxmlformats.org/drawingml/2006/main" noGrp="1"/>
          </p:cNvSpPr>
          <p:nvPr/>
        </p:nvSpPr>
        <p:spPr>
          <a:xfrm xmlns:a="http://schemas.openxmlformats.org/drawingml/2006/main">
            <a:off x="8039100" y="22193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Payments squad wins (U = 0.87)</a:t>
            </a:r>
          </a:p>
        </p:txBody>
      </p:sp>
      <p:sp>
        <p:nvSpPr>
          <p:cNvPr id="14" name="">
            <a:extLst xmlns:a="http://schemas.openxmlformats.org/drawingml/2006/main">
              <a:ext uri="{FF2B5EF4-FFF2-40B4-BE49-F238E27FC236}">
                <a16:creationId xmlns:a16="http://schemas.microsoft.com/office/drawing/2014/main" id="{C981E4FF-9D4E-445B-B1EC-4688AAAFCD49}"/>
              </a:ext>
            </a:extLst>
          </p:cNvPr>
          <p:cNvSpPr>
            <a:spLocks xmlns:a="http://schemas.openxmlformats.org/drawingml/2006/main" noGrp="1"/>
          </p:cNvSpPr>
          <p:nvPr/>
        </p:nvSpPr>
        <p:spPr>
          <a:xfrm xmlns:a="http://schemas.openxmlformats.org/drawingml/2006/main">
            <a:off x="723900" y="28575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15" name="">
            <a:extLst xmlns:a="http://schemas.openxmlformats.org/drawingml/2006/main">
              <a:ext uri="{FF2B5EF4-FFF2-40B4-BE49-F238E27FC236}">
                <a16:creationId xmlns:a16="http://schemas.microsoft.com/office/drawing/2014/main" id="{A2EABA9A-A8FF-4400-BF3A-80C328C036AC}"/>
              </a:ext>
            </a:extLst>
          </p:cNvPr>
          <p:cNvSpPr>
            <a:spLocks xmlns:a="http://schemas.openxmlformats.org/drawingml/2006/main" noGrp="1"/>
          </p:cNvSpPr>
          <p:nvPr/>
        </p:nvSpPr>
        <p:spPr>
          <a:xfrm xmlns:a="http://schemas.openxmlformats.org/drawingml/2006/main">
            <a:off x="876300" y="29718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4 · Investigate</a:t>
            </a:r>
          </a:p>
        </p:txBody>
      </p:sp>
      <p:sp>
        <p:nvSpPr>
          <p:cNvPr id="16" name="">
            <a:extLst xmlns:a="http://schemas.openxmlformats.org/drawingml/2006/main">
              <a:ext uri="{FF2B5EF4-FFF2-40B4-BE49-F238E27FC236}">
                <a16:creationId xmlns:a16="http://schemas.microsoft.com/office/drawing/2014/main" id="{9A4C2026-4DC3-41A0-AE37-CCA7239C255C}"/>
              </a:ext>
            </a:extLst>
          </p:cNvPr>
          <p:cNvSpPr>
            <a:spLocks xmlns:a="http://schemas.openxmlformats.org/drawingml/2006/main" noGrp="1"/>
          </p:cNvSpPr>
          <p:nvPr/>
        </p:nvSpPr>
        <p:spPr>
          <a:xfrm xmlns:a="http://schemas.openxmlformats.org/drawingml/2006/main">
            <a:off x="876300" y="33242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6 nodes · payment-db first</a:t>
            </a:r>
          </a:p>
        </p:txBody>
      </p:sp>
      <p:sp>
        <p:nvSpPr>
          <p:cNvPr id="17" name="">
            <a:extLst xmlns:a="http://schemas.openxmlformats.org/drawingml/2006/main">
              <a:ext uri="{FF2B5EF4-FFF2-40B4-BE49-F238E27FC236}">
                <a16:creationId xmlns:a16="http://schemas.microsoft.com/office/drawing/2014/main" id="{C428E642-8293-43F7-9671-A64478F4A553}"/>
              </a:ext>
            </a:extLst>
          </p:cNvPr>
          <p:cNvSpPr>
            <a:spLocks xmlns:a="http://schemas.openxmlformats.org/drawingml/2006/main" noGrp="1"/>
          </p:cNvSpPr>
          <p:nvPr/>
        </p:nvSpPr>
        <p:spPr>
          <a:xfrm xmlns:a="http://schemas.openxmlformats.org/drawingml/2006/main">
            <a:off x="4305300" y="28575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18" name="">
            <a:extLst xmlns:a="http://schemas.openxmlformats.org/drawingml/2006/main">
              <a:ext uri="{FF2B5EF4-FFF2-40B4-BE49-F238E27FC236}">
                <a16:creationId xmlns:a16="http://schemas.microsoft.com/office/drawing/2014/main" id="{E11A6C4C-B771-49AA-9D9F-6B19B5325D46}"/>
              </a:ext>
            </a:extLst>
          </p:cNvPr>
          <p:cNvSpPr>
            <a:spLocks xmlns:a="http://schemas.openxmlformats.org/drawingml/2006/main" noGrp="1"/>
          </p:cNvSpPr>
          <p:nvPr/>
        </p:nvSpPr>
        <p:spPr>
          <a:xfrm xmlns:a="http://schemas.openxmlformats.org/drawingml/2006/main">
            <a:off x="4457700" y="29718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5 · Plan</a:t>
            </a:r>
          </a:p>
        </p:txBody>
      </p:sp>
      <p:sp>
        <p:nvSpPr>
          <p:cNvPr id="19" name="">
            <a:extLst xmlns:a="http://schemas.openxmlformats.org/drawingml/2006/main">
              <a:ext uri="{FF2B5EF4-FFF2-40B4-BE49-F238E27FC236}">
                <a16:creationId xmlns:a16="http://schemas.microsoft.com/office/drawing/2014/main" id="{3AB9DAFB-24DA-4C04-B3A6-7A1270C87E6B}"/>
              </a:ext>
            </a:extLst>
          </p:cNvPr>
          <p:cNvSpPr>
            <a:spLocks xmlns:a="http://schemas.openxmlformats.org/drawingml/2006/main" noGrp="1"/>
          </p:cNvSpPr>
          <p:nvPr/>
        </p:nvSpPr>
        <p:spPr>
          <a:xfrm xmlns:a="http://schemas.openxmlformats.org/drawingml/2006/main">
            <a:off x="4457700" y="33242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Subtasks + Given/When/Then</a:t>
            </a:r>
          </a:p>
        </p:txBody>
      </p:sp>
      <p:sp>
        <p:nvSpPr>
          <p:cNvPr id="20" name="">
            <a:extLst xmlns:a="http://schemas.openxmlformats.org/drawingml/2006/main">
              <a:ext uri="{FF2B5EF4-FFF2-40B4-BE49-F238E27FC236}">
                <a16:creationId xmlns:a16="http://schemas.microsoft.com/office/drawing/2014/main" id="{BC17D3D1-D13D-475E-BA53-FDD90175701B}"/>
              </a:ext>
            </a:extLst>
          </p:cNvPr>
          <p:cNvSpPr>
            <a:spLocks xmlns:a="http://schemas.openxmlformats.org/drawingml/2006/main" noGrp="1"/>
          </p:cNvSpPr>
          <p:nvPr/>
        </p:nvSpPr>
        <p:spPr>
          <a:xfrm xmlns:a="http://schemas.openxmlformats.org/drawingml/2006/main">
            <a:off x="7886700" y="28575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21" name="">
            <a:extLst xmlns:a="http://schemas.openxmlformats.org/drawingml/2006/main">
              <a:ext uri="{FF2B5EF4-FFF2-40B4-BE49-F238E27FC236}">
                <a16:creationId xmlns:a16="http://schemas.microsoft.com/office/drawing/2014/main" id="{EBDB9397-CD13-4BF0-8226-AACEA4D4CA4C}"/>
              </a:ext>
            </a:extLst>
          </p:cNvPr>
          <p:cNvSpPr>
            <a:spLocks xmlns:a="http://schemas.openxmlformats.org/drawingml/2006/main" noGrp="1"/>
          </p:cNvSpPr>
          <p:nvPr/>
        </p:nvSpPr>
        <p:spPr>
          <a:xfrm xmlns:a="http://schemas.openxmlformats.org/drawingml/2006/main">
            <a:off x="8039100" y="29718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6 · Implement</a:t>
            </a:r>
          </a:p>
        </p:txBody>
      </p:sp>
      <p:sp>
        <p:nvSpPr>
          <p:cNvPr id="22" name="">
            <a:extLst xmlns:a="http://schemas.openxmlformats.org/drawingml/2006/main">
              <a:ext uri="{FF2B5EF4-FFF2-40B4-BE49-F238E27FC236}">
                <a16:creationId xmlns:a16="http://schemas.microsoft.com/office/drawing/2014/main" id="{B9B2C7CB-A686-4D50-86C6-60F445AAB8E3}"/>
              </a:ext>
            </a:extLst>
          </p:cNvPr>
          <p:cNvSpPr>
            <a:spLocks xmlns:a="http://schemas.openxmlformats.org/drawingml/2006/main" noGrp="1"/>
          </p:cNvSpPr>
          <p:nvPr/>
        </p:nvSpPr>
        <p:spPr>
          <a:xfrm xmlns:a="http://schemas.openxmlformats.org/drawingml/2006/main">
            <a:off x="8039100" y="33242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Draft PR passes secret scan</a:t>
            </a:r>
          </a:p>
        </p:txBody>
      </p:sp>
      <p:sp>
        <p:nvSpPr>
          <p:cNvPr id="23" name="">
            <a:extLst xmlns:a="http://schemas.openxmlformats.org/drawingml/2006/main">
              <a:ext uri="{FF2B5EF4-FFF2-40B4-BE49-F238E27FC236}">
                <a16:creationId xmlns:a16="http://schemas.microsoft.com/office/drawing/2014/main" id="{E790E104-1843-4EFB-8B91-6EAB350B56B6}"/>
              </a:ext>
            </a:extLst>
          </p:cNvPr>
          <p:cNvSpPr>
            <a:spLocks xmlns:a="http://schemas.openxmlformats.org/drawingml/2006/main" noGrp="1"/>
          </p:cNvSpPr>
          <p:nvPr/>
        </p:nvSpPr>
        <p:spPr>
          <a:xfrm xmlns:a="http://schemas.openxmlformats.org/drawingml/2006/main">
            <a:off x="723900" y="39624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24" name="">
            <a:extLst xmlns:a="http://schemas.openxmlformats.org/drawingml/2006/main">
              <a:ext uri="{FF2B5EF4-FFF2-40B4-BE49-F238E27FC236}">
                <a16:creationId xmlns:a16="http://schemas.microsoft.com/office/drawing/2014/main" id="{70D20166-B308-4030-A29B-ECE63A4F2261}"/>
              </a:ext>
            </a:extLst>
          </p:cNvPr>
          <p:cNvSpPr>
            <a:spLocks xmlns:a="http://schemas.openxmlformats.org/drawingml/2006/main" noGrp="1"/>
          </p:cNvSpPr>
          <p:nvPr/>
        </p:nvSpPr>
        <p:spPr>
          <a:xfrm xmlns:a="http://schemas.openxmlformats.org/drawingml/2006/main">
            <a:off x="876300" y="40767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7 · QA</a:t>
            </a:r>
          </a:p>
        </p:txBody>
      </p:sp>
      <p:sp>
        <p:nvSpPr>
          <p:cNvPr id="25" name="">
            <a:extLst xmlns:a="http://schemas.openxmlformats.org/drawingml/2006/main">
              <a:ext uri="{FF2B5EF4-FFF2-40B4-BE49-F238E27FC236}">
                <a16:creationId xmlns:a16="http://schemas.microsoft.com/office/drawing/2014/main" id="{18F78FBA-C227-4509-A96B-F7F9708D0F04}"/>
              </a:ext>
            </a:extLst>
          </p:cNvPr>
          <p:cNvSpPr>
            <a:spLocks xmlns:a="http://schemas.openxmlformats.org/drawingml/2006/main" noGrp="1"/>
          </p:cNvSpPr>
          <p:nvPr/>
        </p:nvSpPr>
        <p:spPr>
          <a:xfrm xmlns:a="http://schemas.openxmlformats.org/drawingml/2006/main">
            <a:off x="876300" y="44291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About 100 tests; merge review</a:t>
            </a:r>
          </a:p>
        </p:txBody>
      </p:sp>
      <p:sp>
        <p:nvSpPr>
          <p:cNvPr id="26" name="">
            <a:extLst xmlns:a="http://schemas.openxmlformats.org/drawingml/2006/main">
              <a:ext uri="{FF2B5EF4-FFF2-40B4-BE49-F238E27FC236}">
                <a16:creationId xmlns:a16="http://schemas.microsoft.com/office/drawing/2014/main" id="{D029F7DF-B0EB-4170-835F-AD4433E83A2B}"/>
              </a:ext>
            </a:extLst>
          </p:cNvPr>
          <p:cNvSpPr>
            <a:spLocks xmlns:a="http://schemas.openxmlformats.org/drawingml/2006/main" noGrp="1"/>
          </p:cNvSpPr>
          <p:nvPr/>
        </p:nvSpPr>
        <p:spPr>
          <a:xfrm xmlns:a="http://schemas.openxmlformats.org/drawingml/2006/main">
            <a:off x="4305300" y="39624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27" name="">
            <a:extLst xmlns:a="http://schemas.openxmlformats.org/drawingml/2006/main">
              <a:ext uri="{FF2B5EF4-FFF2-40B4-BE49-F238E27FC236}">
                <a16:creationId xmlns:a16="http://schemas.microsoft.com/office/drawing/2014/main" id="{35460C64-C86B-446A-BB4C-A40B178BBF0F}"/>
              </a:ext>
            </a:extLst>
          </p:cNvPr>
          <p:cNvSpPr>
            <a:spLocks xmlns:a="http://schemas.openxmlformats.org/drawingml/2006/main" noGrp="1"/>
          </p:cNvSpPr>
          <p:nvPr/>
        </p:nvSpPr>
        <p:spPr>
          <a:xfrm xmlns:a="http://schemas.openxmlformats.org/drawingml/2006/main">
            <a:off x="4457700" y="40767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8 · Deploy</a:t>
            </a:r>
          </a:p>
        </p:txBody>
      </p:sp>
      <p:sp>
        <p:nvSpPr>
          <p:cNvPr id="28" name="">
            <a:extLst xmlns:a="http://schemas.openxmlformats.org/drawingml/2006/main">
              <a:ext uri="{FF2B5EF4-FFF2-40B4-BE49-F238E27FC236}">
                <a16:creationId xmlns:a16="http://schemas.microsoft.com/office/drawing/2014/main" id="{8B98BCD5-C232-4A06-922C-77D53173E1C7}"/>
              </a:ext>
            </a:extLst>
          </p:cNvPr>
          <p:cNvSpPr>
            <a:spLocks xmlns:a="http://schemas.openxmlformats.org/drawingml/2006/main" noGrp="1"/>
          </p:cNvSpPr>
          <p:nvPr/>
        </p:nvSpPr>
        <p:spPr>
          <a:xfrm xmlns:a="http://schemas.openxmlformats.org/drawingml/2006/main">
            <a:off x="4457700" y="44291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Canary, then release sign-off</a:t>
            </a:r>
          </a:p>
        </p:txBody>
      </p:sp>
      <p:sp>
        <p:nvSpPr>
          <p:cNvPr id="29" name="">
            <a:extLst xmlns:a="http://schemas.openxmlformats.org/drawingml/2006/main">
              <a:ext uri="{FF2B5EF4-FFF2-40B4-BE49-F238E27FC236}">
                <a16:creationId xmlns:a16="http://schemas.microsoft.com/office/drawing/2014/main" id="{A1DA0938-DE27-4C81-B3A2-49BBC2F58778}"/>
              </a:ext>
            </a:extLst>
          </p:cNvPr>
          <p:cNvSpPr>
            <a:spLocks xmlns:a="http://schemas.openxmlformats.org/drawingml/2006/main" noGrp="1"/>
          </p:cNvSpPr>
          <p:nvPr/>
        </p:nvSpPr>
        <p:spPr>
          <a:xfrm xmlns:a="http://schemas.openxmlformats.org/drawingml/2006/main">
            <a:off x="7886700" y="39624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30" name="">
            <a:extLst xmlns:a="http://schemas.openxmlformats.org/drawingml/2006/main">
              <a:ext uri="{FF2B5EF4-FFF2-40B4-BE49-F238E27FC236}">
                <a16:creationId xmlns:a16="http://schemas.microsoft.com/office/drawing/2014/main" id="{B2BC6EDE-C114-4AD8-BADF-813C977BF784}"/>
              </a:ext>
            </a:extLst>
          </p:cNvPr>
          <p:cNvSpPr>
            <a:spLocks xmlns:a="http://schemas.openxmlformats.org/drawingml/2006/main" noGrp="1"/>
          </p:cNvSpPr>
          <p:nvPr/>
        </p:nvSpPr>
        <p:spPr>
          <a:xfrm xmlns:a="http://schemas.openxmlformats.org/drawingml/2006/main">
            <a:off x="8039100" y="40767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9 · Monitor</a:t>
            </a:r>
          </a:p>
        </p:txBody>
      </p:sp>
      <p:sp>
        <p:nvSpPr>
          <p:cNvPr id="31" name="">
            <a:extLst xmlns:a="http://schemas.openxmlformats.org/drawingml/2006/main">
              <a:ext uri="{FF2B5EF4-FFF2-40B4-BE49-F238E27FC236}">
                <a16:creationId xmlns:a16="http://schemas.microsoft.com/office/drawing/2014/main" id="{D0878AC6-08B9-45D7-A131-3E7496EE0C2B}"/>
              </a:ext>
            </a:extLst>
          </p:cNvPr>
          <p:cNvSpPr>
            <a:spLocks xmlns:a="http://schemas.openxmlformats.org/drawingml/2006/main" noGrp="1"/>
          </p:cNvSpPr>
          <p:nvPr/>
        </p:nvSpPr>
        <p:spPr>
          <a:xfrm xmlns:a="http://schemas.openxmlformats.org/drawingml/2006/main">
            <a:off x="8039100" y="44291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Healthy vs SLO; ticket closed</a:t>
            </a:r>
          </a:p>
        </p:txBody>
      </p:sp>
      <p:sp>
        <p:nvSpPr>
          <p:cNvPr id="32" name="">
            <a:extLst xmlns:a="http://schemas.openxmlformats.org/drawingml/2006/main">
              <a:ext uri="{FF2B5EF4-FFF2-40B4-BE49-F238E27FC236}">
                <a16:creationId xmlns:a16="http://schemas.microsoft.com/office/drawing/2014/main" id="{A8C09ACF-093E-4ACF-AE21-4A41AF586976}"/>
              </a:ext>
            </a:extLst>
          </p:cNvPr>
          <p:cNvSpPr>
            <a:spLocks xmlns:a="http://schemas.openxmlformats.org/drawingml/2006/main" noGrp="1"/>
          </p:cNvSpPr>
          <p:nvPr/>
        </p:nvSpPr>
        <p:spPr>
          <a:xfrm xmlns:a="http://schemas.openxmlformats.org/drawingml/2006/main">
            <a:off x="723900" y="5219700"/>
            <a:ext cx="10744200" cy="638175"/>
          </a:xfrm>
          <a:prstGeom xmlns:a="http://schemas.openxmlformats.org/drawingml/2006/main" prst="roundRect">
            <a:avLst>
              <a:gd name="adj" fmla="val 20896"/>
            </a:avLst>
          </a:prstGeom>
          <a:solidFill xmlns:a="http://schemas.openxmlformats.org/drawingml/2006/main">
            <a:srgbClr val="DDEFEA"/>
          </a:solidFill>
          <a:ln xmlns:a="http://schemas.openxmlformats.org/drawingml/2006/main" w="9525">
            <a:noFill/>
          </a:ln>
        </p:spPr>
      </p:sp>
      <p:sp>
        <p:nvSpPr>
          <p:cNvPr id="33" name="">
            <a:extLst xmlns:a="http://schemas.openxmlformats.org/drawingml/2006/main">
              <a:ext uri="{FF2B5EF4-FFF2-40B4-BE49-F238E27FC236}">
                <a16:creationId xmlns:a16="http://schemas.microsoft.com/office/drawing/2014/main" id="{948E7F8B-B700-4BEB-907E-8B72E0EB832C}"/>
              </a:ext>
            </a:extLst>
          </p:cNvPr>
          <p:cNvSpPr>
            <a:spLocks xmlns:a="http://schemas.openxmlformats.org/drawingml/2006/main" noGrp="1"/>
          </p:cNvSpPr>
          <p:nvPr/>
        </p:nvSpPr>
        <p:spPr>
          <a:xfrm xmlns:a="http://schemas.openxmlformats.org/drawingml/2006/main">
            <a:off x="914400" y="5353050"/>
            <a:ext cx="10353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7500"/>
          </a:bodyPr>
          <a:lstStyle xmlns:a="http://schemas.openxmlformats.org/drawingml/2006/main"/>
          <a:p xmlns:a="http://schemas.openxmlformats.org/drawingml/2006/main">
            <a:pPr algn="l">
              <a:defRPr sz="1500" b="1">
                <a:solidFill>
                  <a:srgbClr val="18324B"/>
                </a:solidFill>
                <a:latin typeface="Arial"/>
                <a:ea typeface="Arial"/>
                <a:cs typeface="Arial"/>
              </a:defRPr>
            </a:pPr>
            <a:r>
              <a:rPr sz="1500" b="1">
                <a:solidFill>
                  <a:srgbClr val="18324B"/>
                </a:solidFill>
                <a:latin typeface="Arial"/>
                <a:ea typeface="Arial"/>
                <a:cs typeface="Arial"/>
              </a:rPr>
              <a:t>Critical risk (1.0) is above R_max = 0.60, so triage waits for a person; merge and release always do. A repost of the complaint (FB-002) scores 0.956 and is auto-linked.</a:t>
            </a:r>
          </a:p>
        </p:txBody>
      </p:sp>
    </p:spTree>
    <p:extLst>
      <p:ext uri="{BB962C8B-B14F-4D97-AF65-F5344CB8AC3E}">
        <p14:creationId xmlns:p14="http://schemas.microsoft.com/office/powerpoint/2010/main" val="259779441"/>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E6DC866-9CF1-48D3-A648-05BAF73D0513}"/>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AI integration is hybrid, with a bounded optional LLM</a:t>
            </a:r>
          </a:p>
        </p:txBody>
      </p:sp>
      <p:sp>
        <p:nvSpPr>
          <p:cNvPr id="2" name="">
            <a:extLst xmlns:a="http://schemas.openxmlformats.org/drawingml/2006/main">
              <a:ext uri="{FF2B5EF4-FFF2-40B4-BE49-F238E27FC236}">
                <a16:creationId xmlns:a16="http://schemas.microsoft.com/office/drawing/2014/main" id="{B8D91146-FEB1-4827-9DC0-B37C635F025B}"/>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FF7088A-1AF0-47DA-A879-7176AE3187A0}"/>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The interactive path, benchmark and separate ML modules use different methods</a:t>
            </a:r>
          </a:p>
        </p:txBody>
      </p:sp>
      <p:sp>
        <p:nvSpPr>
          <p:cNvPr id="4" name="">
            <a:extLst xmlns:a="http://schemas.openxmlformats.org/drawingml/2006/main">
              <a:ext uri="{FF2B5EF4-FFF2-40B4-BE49-F238E27FC236}">
                <a16:creationId xmlns:a16="http://schemas.microsoft.com/office/drawing/2014/main" id="{753F05F9-F68B-4B01-9A8B-1BEEE40A84D7}"/>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A4B785F6-8556-495A-92F4-707F88E9D363}"/>
              </a:ext>
            </a:extLst>
          </p:cNvPr>
          <p:cNvSpPr>
            <a:spLocks xmlns:a="http://schemas.openxmlformats.org/drawingml/2006/main" noGrp="1"/>
          </p:cNvSpPr>
          <p:nvPr/>
        </p:nvSpPr>
        <p:spPr>
          <a:xfrm xmlns:a="http://schemas.openxmlformats.org/drawingml/2006/main">
            <a:off x="742950" y="1695450"/>
            <a:ext cx="66675" cy="60007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D1FE898-5FF8-4856-AB42-DABFC19A1EF7}"/>
              </a:ext>
            </a:extLst>
          </p:cNvPr>
          <p:cNvSpPr>
            <a:spLocks xmlns:a="http://schemas.openxmlformats.org/drawingml/2006/main" noGrp="1"/>
          </p:cNvSpPr>
          <p:nvPr/>
        </p:nvSpPr>
        <p:spPr>
          <a:xfrm xmlns:a="http://schemas.openxmlformats.org/drawingml/2006/main">
            <a:off x="962025" y="16478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Severity triage</a:t>
            </a:r>
          </a:p>
        </p:txBody>
      </p:sp>
      <p:sp>
        <p:nvSpPr>
          <p:cNvPr id="7" name="">
            <a:extLst xmlns:a="http://schemas.openxmlformats.org/drawingml/2006/main">
              <a:ext uri="{FF2B5EF4-FFF2-40B4-BE49-F238E27FC236}">
                <a16:creationId xmlns:a16="http://schemas.microsoft.com/office/drawing/2014/main" id="{FAD9DF32-43C5-4AC0-AD90-C2FD42C63D9C}"/>
              </a:ext>
            </a:extLst>
          </p:cNvPr>
          <p:cNvSpPr>
            <a:spLocks xmlns:a="http://schemas.openxmlformats.org/drawingml/2006/main" noGrp="1"/>
          </p:cNvSpPr>
          <p:nvPr/>
        </p:nvSpPr>
        <p:spPr>
          <a:xfrm xmlns:a="http://schemas.openxmlformats.org/drawingml/2006/main">
            <a:off x="3171825" y="1647825"/>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English and Indonesian rules by default. An optional free OpenRouter model proposes severity; its confidence is capped at 0.69, so a person still reviews.</a:t>
            </a:r>
          </a:p>
        </p:txBody>
      </p:sp>
      <p:sp>
        <p:nvSpPr>
          <p:cNvPr id="8" name="">
            <a:extLst xmlns:a="http://schemas.openxmlformats.org/drawingml/2006/main">
              <a:ext uri="{FF2B5EF4-FFF2-40B4-BE49-F238E27FC236}">
                <a16:creationId xmlns:a16="http://schemas.microsoft.com/office/drawing/2014/main" id="{A2651C17-D35B-4C57-A9F8-FA419ECFE1E3}"/>
              </a:ext>
            </a:extLst>
          </p:cNvPr>
          <p:cNvSpPr>
            <a:spLocks xmlns:a="http://schemas.openxmlformats.org/drawingml/2006/main" noGrp="1"/>
          </p:cNvSpPr>
          <p:nvPr/>
        </p:nvSpPr>
        <p:spPr>
          <a:xfrm xmlns:a="http://schemas.openxmlformats.org/drawingml/2006/main">
            <a:off x="962025" y="2343150"/>
            <a:ext cx="10315575"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2F53FAB-ECEA-4CBD-9309-5F929136E7BC}"/>
              </a:ext>
            </a:extLst>
          </p:cNvPr>
          <p:cNvSpPr>
            <a:spLocks xmlns:a="http://schemas.openxmlformats.org/drawingml/2006/main" noGrp="1"/>
          </p:cNvSpPr>
          <p:nvPr/>
        </p:nvSpPr>
        <p:spPr>
          <a:xfrm xmlns:a="http://schemas.openxmlformats.org/drawingml/2006/main">
            <a:off x="742950" y="2524125"/>
            <a:ext cx="66675" cy="600075"/>
          </a:xfrm>
          <a:prstGeom xmlns:a="http://schemas.openxmlformats.org/drawingml/2006/main" prst="rect">
            <a:avLst/>
          </a:prstGeom>
          <a:solidFill xmlns:a="http://schemas.openxmlformats.org/drawingml/2006/main">
            <a:srgbClr val="3B6FA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B6542AC-D224-49E1-8925-208572D0C623}"/>
              </a:ext>
            </a:extLst>
          </p:cNvPr>
          <p:cNvSpPr>
            <a:spLocks xmlns:a="http://schemas.openxmlformats.org/drawingml/2006/main" noGrp="1"/>
          </p:cNvSpPr>
          <p:nvPr/>
        </p:nvSpPr>
        <p:spPr>
          <a:xfrm xmlns:a="http://schemas.openxmlformats.org/drawingml/2006/main">
            <a:off x="962025" y="24765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Review feedback</a:t>
            </a:r>
          </a:p>
        </p:txBody>
      </p:sp>
      <p:sp>
        <p:nvSpPr>
          <p:cNvPr id="11" name="">
            <a:extLst xmlns:a="http://schemas.openxmlformats.org/drawingml/2006/main">
              <a:ext uri="{FF2B5EF4-FFF2-40B4-BE49-F238E27FC236}">
                <a16:creationId xmlns:a16="http://schemas.microsoft.com/office/drawing/2014/main" id="{3E8B01F1-3A7B-4735-9DF5-458D0E1D88EA}"/>
              </a:ext>
            </a:extLst>
          </p:cNvPr>
          <p:cNvSpPr>
            <a:spLocks xmlns:a="http://schemas.openxmlformats.org/drawingml/2006/main" noGrp="1"/>
          </p:cNvSpPr>
          <p:nvPr/>
        </p:nvSpPr>
        <p:spPr>
          <a:xfrm xmlns:a="http://schemas.openxmlformats.org/drawingml/2006/main">
            <a:off x="3171825" y="2476500"/>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Optional OpenRouter structures a note into changes, constraints and evidence. It can ask for clarification; reviewer decisions stay human.</a:t>
            </a:r>
          </a:p>
        </p:txBody>
      </p:sp>
      <p:sp>
        <p:nvSpPr>
          <p:cNvPr id="12" name="">
            <a:extLst xmlns:a="http://schemas.openxmlformats.org/drawingml/2006/main">
              <a:ext uri="{FF2B5EF4-FFF2-40B4-BE49-F238E27FC236}">
                <a16:creationId xmlns:a16="http://schemas.microsoft.com/office/drawing/2014/main" id="{CB1F3DB6-D62C-4E2B-B9A6-2FA0BD732617}"/>
              </a:ext>
            </a:extLst>
          </p:cNvPr>
          <p:cNvSpPr>
            <a:spLocks xmlns:a="http://schemas.openxmlformats.org/drawingml/2006/main" noGrp="1"/>
          </p:cNvSpPr>
          <p:nvPr/>
        </p:nvSpPr>
        <p:spPr>
          <a:xfrm xmlns:a="http://schemas.openxmlformats.org/drawingml/2006/main">
            <a:off x="962025" y="3171825"/>
            <a:ext cx="10315575"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5819011-4368-4089-87FD-E953C34AD56F}"/>
              </a:ext>
            </a:extLst>
          </p:cNvPr>
          <p:cNvSpPr>
            <a:spLocks xmlns:a="http://schemas.openxmlformats.org/drawingml/2006/main" noGrp="1"/>
          </p:cNvSpPr>
          <p:nvPr/>
        </p:nvSpPr>
        <p:spPr>
          <a:xfrm xmlns:a="http://schemas.openxmlformats.org/drawingml/2006/main">
            <a:off x="742950" y="3352800"/>
            <a:ext cx="66675" cy="600075"/>
          </a:xfrm>
          <a:prstGeom xmlns:a="http://schemas.openxmlformats.org/drawingml/2006/main" prst="rect">
            <a:avLst/>
          </a:prstGeom>
          <a:solidFill xmlns:a="http://schemas.openxmlformats.org/drawingml/2006/main">
            <a:srgbClr val="B77A2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F2B2212-AF28-4E6C-B693-DEC93E8C704C}"/>
              </a:ext>
            </a:extLst>
          </p:cNvPr>
          <p:cNvSpPr>
            <a:spLocks xmlns:a="http://schemas.openxmlformats.org/drawingml/2006/main" noGrp="1"/>
          </p:cNvSpPr>
          <p:nvPr/>
        </p:nvSpPr>
        <p:spPr>
          <a:xfrm xmlns:a="http://schemas.openxmlformats.org/drawingml/2006/main">
            <a:off x="962025" y="33051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Duplicate search</a:t>
            </a:r>
          </a:p>
        </p:txBody>
      </p:sp>
      <p:sp>
        <p:nvSpPr>
          <p:cNvPr id="15" name="">
            <a:extLst xmlns:a="http://schemas.openxmlformats.org/drawingml/2006/main">
              <a:ext uri="{FF2B5EF4-FFF2-40B4-BE49-F238E27FC236}">
                <a16:creationId xmlns:a16="http://schemas.microsoft.com/office/drawing/2014/main" id="{453B555E-F4A4-4C0E-B620-35FEB4E9D85B}"/>
              </a:ext>
            </a:extLst>
          </p:cNvPr>
          <p:cNvSpPr>
            <a:spLocks xmlns:a="http://schemas.openxmlformats.org/drawingml/2006/main" noGrp="1"/>
          </p:cNvSpPr>
          <p:nvPr/>
        </p:nvSpPr>
        <p:spPr>
          <a:xfrm xmlns:a="http://schemas.openxmlformats.org/drawingml/2006/main">
            <a:off x="3171825" y="3305175"/>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Live TF-IDF cosine over character n-grams. It reproduces the idea's A/B ≈ 0.994 (linked) and A/C ≈ 0.119 (new ticket).</a:t>
            </a:r>
          </a:p>
        </p:txBody>
      </p:sp>
      <p:sp>
        <p:nvSpPr>
          <p:cNvPr id="16" name="">
            <a:extLst xmlns:a="http://schemas.openxmlformats.org/drawingml/2006/main">
              <a:ext uri="{FF2B5EF4-FFF2-40B4-BE49-F238E27FC236}">
                <a16:creationId xmlns:a16="http://schemas.microsoft.com/office/drawing/2014/main" id="{32327033-40A5-4338-A1F1-40B318EC49D7}"/>
              </a:ext>
            </a:extLst>
          </p:cNvPr>
          <p:cNvSpPr>
            <a:spLocks xmlns:a="http://schemas.openxmlformats.org/drawingml/2006/main" noGrp="1"/>
          </p:cNvSpPr>
          <p:nvPr/>
        </p:nvSpPr>
        <p:spPr>
          <a:xfrm xmlns:a="http://schemas.openxmlformats.org/drawingml/2006/main">
            <a:off x="962025" y="4000500"/>
            <a:ext cx="10315575"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362F06A-06D1-4BCF-BC20-E9B25B189A63}"/>
              </a:ext>
            </a:extLst>
          </p:cNvPr>
          <p:cNvSpPr>
            <a:spLocks xmlns:a="http://schemas.openxmlformats.org/drawingml/2006/main" noGrp="1"/>
          </p:cNvSpPr>
          <p:nvPr/>
        </p:nvSpPr>
        <p:spPr>
          <a:xfrm xmlns:a="http://schemas.openxmlformats.org/drawingml/2006/main">
            <a:off x="742950" y="4181475"/>
            <a:ext cx="66675" cy="600075"/>
          </a:xfrm>
          <a:prstGeom xmlns:a="http://schemas.openxmlformats.org/drawingml/2006/main" prst="rect">
            <a:avLst/>
          </a:prstGeom>
          <a:solidFill xmlns:a="http://schemas.openxmlformats.org/drawingml/2006/main">
            <a:srgbClr val="B6534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2585E67-31A8-4BC8-8E51-4A5E1A08EE82}"/>
              </a:ext>
            </a:extLst>
          </p:cNvPr>
          <p:cNvSpPr>
            <a:spLocks xmlns:a="http://schemas.openxmlformats.org/drawingml/2006/main" noGrp="1"/>
          </p:cNvSpPr>
          <p:nvPr/>
        </p:nvSpPr>
        <p:spPr>
          <a:xfrm xmlns:a="http://schemas.openxmlformats.org/drawingml/2006/main">
            <a:off x="962025" y="41338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Separate models</a:t>
            </a:r>
          </a:p>
        </p:txBody>
      </p:sp>
      <p:sp>
        <p:nvSpPr>
          <p:cNvPr id="19" name="">
            <a:extLst xmlns:a="http://schemas.openxmlformats.org/drawingml/2006/main">
              <a:ext uri="{FF2B5EF4-FFF2-40B4-BE49-F238E27FC236}">
                <a16:creationId xmlns:a16="http://schemas.microsoft.com/office/drawing/2014/main" id="{B83996F6-9946-4069-8A86-E8406FE608D5}"/>
              </a:ext>
            </a:extLst>
          </p:cNvPr>
          <p:cNvSpPr>
            <a:spLocks xmlns:a="http://schemas.openxmlformats.org/drawingml/2006/main" noGrp="1"/>
          </p:cNvSpPr>
          <p:nvPr/>
        </p:nvSpPr>
        <p:spPr>
          <a:xfrm xmlns:a="http://schemas.openxmlformats.org/drawingml/2006/main">
            <a:off x="3171825" y="4133850"/>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Benchmark: TF-IDF + calibrated LinearSVC. Offline: MiniLM + FAISS, DistilBERT, trained GraphSAGE. Live: the GraphSAGE-mean reference ranking.</a:t>
            </a:r>
          </a:p>
        </p:txBody>
      </p:sp>
      <p:sp>
        <p:nvSpPr>
          <p:cNvPr id="20" name="">
            <a:extLst xmlns:a="http://schemas.openxmlformats.org/drawingml/2006/main">
              <a:ext uri="{FF2B5EF4-FFF2-40B4-BE49-F238E27FC236}">
                <a16:creationId xmlns:a16="http://schemas.microsoft.com/office/drawing/2014/main" id="{699C7B23-F217-45E1-B907-04795CB5A964}"/>
              </a:ext>
            </a:extLst>
          </p:cNvPr>
          <p:cNvSpPr>
            <a:spLocks xmlns:a="http://schemas.openxmlformats.org/drawingml/2006/main" noGrp="1"/>
          </p:cNvSpPr>
          <p:nvPr/>
        </p:nvSpPr>
        <p:spPr>
          <a:xfrm xmlns:a="http://schemas.openxmlformats.org/drawingml/2006/main">
            <a:off x="962025" y="4829175"/>
            <a:ext cx="10315575"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3755F23-1A41-48FE-8D73-48DA5DFEAF42}"/>
              </a:ext>
            </a:extLst>
          </p:cNvPr>
          <p:cNvSpPr>
            <a:spLocks xmlns:a="http://schemas.openxmlformats.org/drawingml/2006/main" noGrp="1"/>
          </p:cNvSpPr>
          <p:nvPr/>
        </p:nvSpPr>
        <p:spPr>
          <a:xfrm xmlns:a="http://schemas.openxmlformats.org/drawingml/2006/main">
            <a:off x="742950" y="5010150"/>
            <a:ext cx="66675" cy="600075"/>
          </a:xfrm>
          <a:prstGeom xmlns:a="http://schemas.openxmlformats.org/drawingml/2006/main" prst="rect">
            <a:avLst/>
          </a:prstGeom>
          <a:solidFill xmlns:a="http://schemas.openxmlformats.org/drawingml/2006/main">
            <a:srgbClr val="4B806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9D7A88D-5FB6-4F77-A977-AF1D6022675B}"/>
              </a:ext>
            </a:extLst>
          </p:cNvPr>
          <p:cNvSpPr>
            <a:spLocks xmlns:a="http://schemas.openxmlformats.org/drawingml/2006/main" noGrp="1"/>
          </p:cNvSpPr>
          <p:nvPr/>
        </p:nvSpPr>
        <p:spPr>
          <a:xfrm xmlns:a="http://schemas.openxmlformats.org/drawingml/2006/main">
            <a:off x="962025" y="49625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Separate policies</a:t>
            </a:r>
          </a:p>
        </p:txBody>
      </p:sp>
      <p:sp>
        <p:nvSpPr>
          <p:cNvPr id="23" name="">
            <a:extLst xmlns:a="http://schemas.openxmlformats.org/drawingml/2006/main">
              <a:ext uri="{FF2B5EF4-FFF2-40B4-BE49-F238E27FC236}">
                <a16:creationId xmlns:a16="http://schemas.microsoft.com/office/drawing/2014/main" id="{43BCB5AA-B1DB-48C8-85DC-6DE92230AA23}"/>
              </a:ext>
            </a:extLst>
          </p:cNvPr>
          <p:cNvSpPr>
            <a:spLocks xmlns:a="http://schemas.openxmlformats.org/drawingml/2006/main" noGrp="1"/>
          </p:cNvSpPr>
          <p:nvPr/>
        </p:nvSpPr>
        <p:spPr>
          <a:xfrm xmlns:a="http://schemas.openxmlformats.org/drawingml/2006/main">
            <a:off x="3171825" y="4962525"/>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Contract Net assigns squads. PPO/DQN stay offline in CI/canary simulations. No code-writing model; CI and deploys are seeded simulators.</a:t>
            </a:r>
          </a:p>
        </p:txBody>
      </p:sp>
      <p:sp>
        <p:nvSpPr>
          <p:cNvPr id="24" name="">
            <a:extLst xmlns:a="http://schemas.openxmlformats.org/drawingml/2006/main">
              <a:ext uri="{FF2B5EF4-FFF2-40B4-BE49-F238E27FC236}">
                <a16:creationId xmlns:a16="http://schemas.microsoft.com/office/drawing/2014/main" id="{17821931-8296-4BE4-B2F9-3A259FF162ED}"/>
              </a:ext>
            </a:extLst>
          </p:cNvPr>
          <p:cNvSpPr>
            <a:spLocks xmlns:a="http://schemas.openxmlformats.org/drawingml/2006/main" noGrp="1"/>
          </p:cNvSpPr>
          <p:nvPr/>
        </p:nvSpPr>
        <p:spPr>
          <a:xfrm xmlns:a="http://schemas.openxmlformats.org/drawingml/2006/main">
            <a:off x="742950" y="5934075"/>
            <a:ext cx="10525125" cy="361950"/>
          </a:xfrm>
          <a:prstGeom xmlns:a="http://schemas.openxmlformats.org/drawingml/2006/main" prst="roundRect">
            <a:avLst>
              <a:gd name="adj" fmla="val 26316"/>
            </a:avLst>
          </a:prstGeom>
          <a:solidFill xmlns:a="http://schemas.openxmlformats.org/drawingml/2006/main">
            <a:srgbClr val="F7E6E3"/>
          </a:solidFill>
          <a:ln xmlns:a="http://schemas.openxmlformats.org/drawingml/2006/main" w="9525">
            <a:noFill/>
          </a:ln>
        </p:spPr>
      </p:sp>
      <p:sp>
        <p:nvSpPr>
          <p:cNvPr id="25" name="">
            <a:extLst xmlns:a="http://schemas.openxmlformats.org/drawingml/2006/main">
              <a:ext uri="{FF2B5EF4-FFF2-40B4-BE49-F238E27FC236}">
                <a16:creationId xmlns:a16="http://schemas.microsoft.com/office/drawing/2014/main" id="{E4745376-2D94-49C5-BA9F-35F97D07EADF}"/>
              </a:ext>
            </a:extLst>
          </p:cNvPr>
          <p:cNvSpPr>
            <a:spLocks xmlns:a="http://schemas.openxmlformats.org/drawingml/2006/main" noGrp="1"/>
          </p:cNvSpPr>
          <p:nvPr/>
        </p:nvSpPr>
        <p:spPr>
          <a:xfrm xmlns:a="http://schemas.openxmlformats.org/drawingml/2006/main">
            <a:off x="895350" y="5981700"/>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Benchmark: no hosted LLM. Dashboard runs: an optional free OpenRouter model when a key is set.</a:t>
            </a:r>
          </a:p>
        </p:txBody>
      </p:sp>
    </p:spTree>
    <p:extLst>
      <p:ext uri="{BB962C8B-B14F-4D97-AF65-F5344CB8AC3E}">
        <p14:creationId xmlns:p14="http://schemas.microsoft.com/office/powerpoint/2010/main" val="651337253"/>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BDB818E-C094-4545-9B2A-B66E8F58E8A2}"/>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A2 vs A3: static and mobile execution</a:t>
            </a:r>
          </a:p>
        </p:txBody>
      </p:sp>
      <p:sp>
        <p:nvSpPr>
          <p:cNvPr id="2" name="">
            <a:extLst xmlns:a="http://schemas.openxmlformats.org/drawingml/2006/main">
              <a:ext uri="{FF2B5EF4-FFF2-40B4-BE49-F238E27FC236}">
                <a16:creationId xmlns:a16="http://schemas.microsoft.com/office/drawing/2014/main" id="{67508313-3CDA-4C4A-A2E1-642B65507F00}"/>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C4FF3AC-AE23-4277-B5A6-DC5E0ADDC8C1}"/>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Mobility is about moving a signed agent to the data, not adding another role</a:t>
            </a:r>
          </a:p>
        </p:txBody>
      </p:sp>
      <p:sp>
        <p:nvSpPr>
          <p:cNvPr id="4" name="">
            <a:extLst xmlns:a="http://schemas.openxmlformats.org/drawingml/2006/main">
              <a:ext uri="{FF2B5EF4-FFF2-40B4-BE49-F238E27FC236}">
                <a16:creationId xmlns:a16="http://schemas.microsoft.com/office/drawing/2014/main" id="{18C85992-69A9-47FB-A886-0CA2E59838ED}"/>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0C11159C-2DE9-4056-8174-0387BA2C5492}"/>
              </a:ext>
            </a:extLst>
          </p:cNvPr>
          <p:cNvSpPr>
            <a:spLocks xmlns:a="http://schemas.openxmlformats.org/drawingml/2006/main" noGrp="1"/>
          </p:cNvSpPr>
          <p:nvPr/>
        </p:nvSpPr>
        <p:spPr>
          <a:xfrm xmlns:a="http://schemas.openxmlformats.org/drawingml/2006/main">
            <a:off x="857250" y="1809750"/>
            <a:ext cx="4143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3B6FA5"/>
                </a:solidFill>
                <a:latin typeface="Arial"/>
                <a:ea typeface="Arial"/>
                <a:cs typeface="Arial"/>
              </a:defRPr>
            </a:pPr>
            <a:r>
              <a:rPr sz="1875" b="1">
                <a:solidFill>
                  <a:srgbClr val="3B6FA5"/>
                </a:solidFill>
                <a:latin typeface="Arial"/>
                <a:ea typeface="Arial"/>
                <a:cs typeface="Arial"/>
              </a:rPr>
              <a:t>A2  ·  STATIC</a:t>
            </a:r>
          </a:p>
        </p:txBody>
      </p:sp>
      <p:sp>
        <p:nvSpPr>
          <p:cNvPr id="6" name="">
            <a:extLst xmlns:a="http://schemas.openxmlformats.org/drawingml/2006/main">
              <a:ext uri="{FF2B5EF4-FFF2-40B4-BE49-F238E27FC236}">
                <a16:creationId xmlns:a16="http://schemas.microsoft.com/office/drawing/2014/main" id="{B03FF794-0F71-4EC3-AA65-508687B358DB}"/>
              </a:ext>
            </a:extLst>
          </p:cNvPr>
          <p:cNvSpPr>
            <a:spLocks xmlns:a="http://schemas.openxmlformats.org/drawingml/2006/main" noGrp="1"/>
          </p:cNvSpPr>
          <p:nvPr/>
        </p:nvSpPr>
        <p:spPr>
          <a:xfrm xmlns:a="http://schemas.openxmlformats.org/drawingml/2006/main">
            <a:off x="857250" y="2333625"/>
            <a:ext cx="45339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2E4357"/>
                </a:solidFill>
                <a:latin typeface="Arial"/>
                <a:ea typeface="Arial"/>
                <a:cs typeface="Arial"/>
              </a:defRPr>
            </a:pPr>
            <a:r>
              <a:rPr sz="1800" b="0">
                <a:solidFill>
                  <a:srgbClr val="2E4357"/>
                </a:solidFill>
                <a:latin typeface="Arial"/>
                <a:ea typeface="Arial"/>
                <a:cs typeface="Arial"/>
              </a:rPr>
              <a:t>Agents execute centrally. The node sends data or evidence back to the coordinator.</a:t>
            </a:r>
          </a:p>
        </p:txBody>
      </p:sp>
      <p:sp>
        <p:nvSpPr>
          <p:cNvPr id="7" name="">
            <a:extLst xmlns:a="http://schemas.openxmlformats.org/drawingml/2006/main">
              <a:ext uri="{FF2B5EF4-FFF2-40B4-BE49-F238E27FC236}">
                <a16:creationId xmlns:a16="http://schemas.microsoft.com/office/drawing/2014/main" id="{AACEF4B0-9F17-4D07-AE64-AF97436333D7}"/>
              </a:ext>
            </a:extLst>
          </p:cNvPr>
          <p:cNvSpPr>
            <a:spLocks xmlns:a="http://schemas.openxmlformats.org/drawingml/2006/main" noGrp="1"/>
          </p:cNvSpPr>
          <p:nvPr/>
        </p:nvSpPr>
        <p:spPr>
          <a:xfrm xmlns:a="http://schemas.openxmlformats.org/drawingml/2006/main">
            <a:off x="6400800" y="18097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2D7A78"/>
                </a:solidFill>
                <a:latin typeface="Arial"/>
                <a:ea typeface="Arial"/>
                <a:cs typeface="Arial"/>
              </a:defRPr>
            </a:pPr>
            <a:r>
              <a:rPr sz="1875" b="1">
                <a:solidFill>
                  <a:srgbClr val="2D7A78"/>
                </a:solidFill>
                <a:latin typeface="Arial"/>
                <a:ea typeface="Arial"/>
                <a:cs typeface="Arial"/>
              </a:rPr>
              <a:t>A3  ·  MOBILE</a:t>
            </a:r>
          </a:p>
        </p:txBody>
      </p:sp>
      <p:sp>
        <p:nvSpPr>
          <p:cNvPr id="8" name="">
            <a:extLst xmlns:a="http://schemas.openxmlformats.org/drawingml/2006/main">
              <a:ext uri="{FF2B5EF4-FFF2-40B4-BE49-F238E27FC236}">
                <a16:creationId xmlns:a16="http://schemas.microsoft.com/office/drawing/2014/main" id="{9355D7F4-7AB0-4572-8ED6-497CDE4CE477}"/>
              </a:ext>
            </a:extLst>
          </p:cNvPr>
          <p:cNvSpPr>
            <a:spLocks xmlns:a="http://schemas.openxmlformats.org/drawingml/2006/main" noGrp="1"/>
          </p:cNvSpPr>
          <p:nvPr/>
        </p:nvSpPr>
        <p:spPr>
          <a:xfrm xmlns:a="http://schemas.openxmlformats.org/drawingml/2006/main">
            <a:off x="6400800" y="2333625"/>
            <a:ext cx="4714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2E4357"/>
                </a:solidFill>
                <a:latin typeface="Arial"/>
                <a:ea typeface="Arial"/>
                <a:cs typeface="Arial"/>
              </a:defRPr>
            </a:pPr>
            <a:r>
              <a:rPr sz="1800" b="0">
                <a:solidFill>
                  <a:srgbClr val="2E4357"/>
                </a:solidFill>
                <a:latin typeface="Arial"/>
                <a:ea typeface="Arial"/>
                <a:cs typeface="Arial"/>
              </a:rPr>
              <a:t>A signed bundle runs at a node. The node keeps raw data local and returns allowlisted aggregates.</a:t>
            </a:r>
          </a:p>
        </p:txBody>
      </p:sp>
      <p:sp>
        <p:nvSpPr>
          <p:cNvPr id="9" name="">
            <a:extLst xmlns:a="http://schemas.openxmlformats.org/drawingml/2006/main">
              <a:ext uri="{FF2B5EF4-FFF2-40B4-BE49-F238E27FC236}">
                <a16:creationId xmlns:a16="http://schemas.microsoft.com/office/drawing/2014/main" id="{829B6303-741B-4426-B57E-2D0588C0A44A}"/>
              </a:ext>
            </a:extLst>
          </p:cNvPr>
          <p:cNvSpPr>
            <a:spLocks xmlns:a="http://schemas.openxmlformats.org/drawingml/2006/main" noGrp="1"/>
          </p:cNvSpPr>
          <p:nvPr/>
        </p:nvSpPr>
        <p:spPr>
          <a:xfrm xmlns:a="http://schemas.openxmlformats.org/drawingml/2006/main">
            <a:off x="5943600" y="1743075"/>
            <a:ext cx="9525" cy="239077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02EC34E-805D-4E12-8B5C-712E7B502854}"/>
              </a:ext>
            </a:extLst>
          </p:cNvPr>
          <p:cNvSpPr>
            <a:spLocks xmlns:a="http://schemas.openxmlformats.org/drawingml/2006/main" noGrp="1"/>
          </p:cNvSpPr>
          <p:nvPr/>
        </p:nvSpPr>
        <p:spPr>
          <a:xfrm xmlns:a="http://schemas.openxmlformats.org/drawingml/2006/main">
            <a:off x="857250" y="368617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Example exchange</a:t>
            </a:r>
          </a:p>
        </p:txBody>
      </p:sp>
      <p:sp>
        <p:nvSpPr>
          <p:cNvPr id="11" name="">
            <a:extLst xmlns:a="http://schemas.openxmlformats.org/drawingml/2006/main">
              <a:ext uri="{FF2B5EF4-FFF2-40B4-BE49-F238E27FC236}">
                <a16:creationId xmlns:a16="http://schemas.microsoft.com/office/drawing/2014/main" id="{6ED1A5BA-3AFC-4651-949D-A6B1B4949879}"/>
              </a:ext>
            </a:extLst>
          </p:cNvPr>
          <p:cNvSpPr>
            <a:spLocks xmlns:a="http://schemas.openxmlformats.org/drawingml/2006/main" noGrp="1"/>
          </p:cNvSpPr>
          <p:nvPr/>
        </p:nvSpPr>
        <p:spPr>
          <a:xfrm xmlns:a="http://schemas.openxmlformats.org/drawingml/2006/main">
            <a:off x="857250" y="4095750"/>
            <a:ext cx="2914650" cy="790575"/>
          </a:xfrm>
          <a:prstGeom xmlns:a="http://schemas.openxmlformats.org/drawingml/2006/main" prst="roundRect">
            <a:avLst>
              <a:gd name="adj" fmla="val 16867"/>
            </a:avLst>
          </a:prstGeom>
          <a:solidFill xmlns:a="http://schemas.openxmlformats.org/drawingml/2006/main">
            <a:srgbClr val="E3ECF7"/>
          </a:solidFill>
          <a:ln xmlns:a="http://schemas.openxmlformats.org/drawingml/2006/main" w="9525">
            <a:noFill/>
          </a:ln>
        </p:spPr>
      </p:sp>
      <p:sp>
        <p:nvSpPr>
          <p:cNvPr id="12" name="">
            <a:extLst xmlns:a="http://schemas.openxmlformats.org/drawingml/2006/main">
              <a:ext uri="{FF2B5EF4-FFF2-40B4-BE49-F238E27FC236}">
                <a16:creationId xmlns:a16="http://schemas.microsoft.com/office/drawing/2014/main" id="{1EE517B5-90F7-4AAA-9B6C-A41A641FB541}"/>
              </a:ext>
            </a:extLst>
          </p:cNvPr>
          <p:cNvSpPr>
            <a:spLocks xmlns:a="http://schemas.openxmlformats.org/drawingml/2006/main" noGrp="1"/>
          </p:cNvSpPr>
          <p:nvPr/>
        </p:nvSpPr>
        <p:spPr>
          <a:xfrm xmlns:a="http://schemas.openxmlformats.org/drawingml/2006/main">
            <a:off x="1038225" y="4305300"/>
            <a:ext cx="2552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212"/>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Static agent → sends query</a:t>
            </a:r>
          </a:p>
        </p:txBody>
      </p:sp>
      <p:sp>
        <p:nvSpPr>
          <p:cNvPr id="13" name="">
            <a:extLst xmlns:a="http://schemas.openxmlformats.org/drawingml/2006/main">
              <a:ext uri="{FF2B5EF4-FFF2-40B4-BE49-F238E27FC236}">
                <a16:creationId xmlns:a16="http://schemas.microsoft.com/office/drawing/2014/main" id="{18B35366-FF2B-4A9B-A75D-59503578C431}"/>
              </a:ext>
            </a:extLst>
          </p:cNvPr>
          <p:cNvSpPr>
            <a:spLocks xmlns:a="http://schemas.openxmlformats.org/drawingml/2006/main" noGrp="1"/>
          </p:cNvSpPr>
          <p:nvPr/>
        </p:nvSpPr>
        <p:spPr>
          <a:xfrm xmlns:a="http://schemas.openxmlformats.org/drawingml/2006/main">
            <a:off x="4467225" y="4095750"/>
            <a:ext cx="2914650" cy="790575"/>
          </a:xfrm>
          <a:prstGeom xmlns:a="http://schemas.openxmlformats.org/drawingml/2006/main" prst="roundRect">
            <a:avLst>
              <a:gd name="adj" fmla="val 16867"/>
            </a:avLst>
          </a:prstGeom>
          <a:solidFill xmlns:a="http://schemas.openxmlformats.org/drawingml/2006/main">
            <a:srgbClr val="DDEFEA"/>
          </a:solidFill>
          <a:ln xmlns:a="http://schemas.openxmlformats.org/drawingml/2006/main" w="9525">
            <a:noFill/>
          </a:ln>
        </p:spPr>
      </p:sp>
      <p:sp>
        <p:nvSpPr>
          <p:cNvPr id="14" name="">
            <a:extLst xmlns:a="http://schemas.openxmlformats.org/drawingml/2006/main">
              <a:ext uri="{FF2B5EF4-FFF2-40B4-BE49-F238E27FC236}">
                <a16:creationId xmlns:a16="http://schemas.microsoft.com/office/drawing/2014/main" id="{9F876634-F719-4AFD-9004-ED37CBA40114}"/>
              </a:ext>
            </a:extLst>
          </p:cNvPr>
          <p:cNvSpPr>
            <a:spLocks xmlns:a="http://schemas.openxmlformats.org/drawingml/2006/main" noGrp="1"/>
          </p:cNvSpPr>
          <p:nvPr/>
        </p:nvSpPr>
        <p:spPr>
          <a:xfrm xmlns:a="http://schemas.openxmlformats.org/drawingml/2006/main">
            <a:off x="4648200" y="4305300"/>
            <a:ext cx="2552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Mobile bundle → node</a:t>
            </a:r>
          </a:p>
        </p:txBody>
      </p:sp>
      <p:sp>
        <p:nvSpPr>
          <p:cNvPr id="15" name="">
            <a:extLst xmlns:a="http://schemas.openxmlformats.org/drawingml/2006/main">
              <a:ext uri="{FF2B5EF4-FFF2-40B4-BE49-F238E27FC236}">
                <a16:creationId xmlns:a16="http://schemas.microsoft.com/office/drawing/2014/main" id="{A12B7403-0C44-413B-AC60-2F5B6BD1FE26}"/>
              </a:ext>
            </a:extLst>
          </p:cNvPr>
          <p:cNvSpPr>
            <a:spLocks xmlns:a="http://schemas.openxmlformats.org/drawingml/2006/main" noGrp="1"/>
          </p:cNvSpPr>
          <p:nvPr/>
        </p:nvSpPr>
        <p:spPr>
          <a:xfrm xmlns:a="http://schemas.openxmlformats.org/drawingml/2006/main">
            <a:off x="8077200" y="4095750"/>
            <a:ext cx="2914650" cy="790575"/>
          </a:xfrm>
          <a:prstGeom xmlns:a="http://schemas.openxmlformats.org/drawingml/2006/main" prst="roundRect">
            <a:avLst>
              <a:gd name="adj" fmla="val 16867"/>
            </a:avLst>
          </a:prstGeom>
          <a:solidFill xmlns:a="http://schemas.openxmlformats.org/drawingml/2006/main">
            <a:srgbClr val="FFFFFF"/>
          </a:solidFill>
          <a:ln xmlns:a="http://schemas.openxmlformats.org/drawingml/2006/main" w="9525">
            <a:solidFill>
              <a:srgbClr val="D7E0E9"/>
            </a:solidFill>
          </a:ln>
        </p:spPr>
      </p:sp>
      <p:sp>
        <p:nvSpPr>
          <p:cNvPr id="16" name="">
            <a:extLst xmlns:a="http://schemas.openxmlformats.org/drawingml/2006/main">
              <a:ext uri="{FF2B5EF4-FFF2-40B4-BE49-F238E27FC236}">
                <a16:creationId xmlns:a16="http://schemas.microsoft.com/office/drawing/2014/main" id="{8DA006C6-394E-41C3-88B6-C7208B2395C7}"/>
              </a:ext>
            </a:extLst>
          </p:cNvPr>
          <p:cNvSpPr>
            <a:spLocks xmlns:a="http://schemas.openxmlformats.org/drawingml/2006/main" noGrp="1"/>
          </p:cNvSpPr>
          <p:nvPr/>
        </p:nvSpPr>
        <p:spPr>
          <a:xfrm xmlns:a="http://schemas.openxmlformats.org/drawingml/2006/main">
            <a:off x="8258175" y="4305300"/>
            <a:ext cx="2552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Aggregate → coordinator</a:t>
            </a:r>
          </a:p>
        </p:txBody>
      </p:sp>
      <p:sp>
        <p:nvSpPr>
          <p:cNvPr id="17" name="">
            <a:extLst xmlns:a="http://schemas.openxmlformats.org/drawingml/2006/main">
              <a:ext uri="{FF2B5EF4-FFF2-40B4-BE49-F238E27FC236}">
                <a16:creationId xmlns:a16="http://schemas.microsoft.com/office/drawing/2014/main" id="{A7DA27AF-A4DD-45FF-9650-C3203DA9B1A4}"/>
              </a:ext>
            </a:extLst>
          </p:cNvPr>
          <p:cNvSpPr>
            <a:spLocks xmlns:a="http://schemas.openxmlformats.org/drawingml/2006/main" noGrp="1"/>
          </p:cNvSpPr>
          <p:nvPr/>
        </p:nvSpPr>
        <p:spPr>
          <a:xfrm xmlns:a="http://schemas.openxmlformats.org/drawingml/2006/main">
            <a:off x="857250" y="5286375"/>
            <a:ext cx="1013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E4357"/>
                </a:solidFill>
                <a:latin typeface="Arial"/>
                <a:ea typeface="Arial"/>
                <a:cs typeface="Arial"/>
              </a:defRPr>
            </a:pPr>
            <a:r>
              <a:rPr sz="1650" b="0">
                <a:solidFill>
                  <a:srgbClr val="2E4357"/>
                </a:solidFill>
                <a:latin typeface="Arial"/>
                <a:ea typeface="Arial"/>
                <a:cs typeface="Arial"/>
              </a:rPr>
              <a:t>In the dashboard, Scout-Log makes these trips during investigation: Ed25519-signed bundles, an egress allowlist and a 42 MB break-even per node. A3 adds bundle bytes in the benchmark.</a:t>
            </a:r>
          </a:p>
        </p:txBody>
      </p:sp>
    </p:spTree>
    <p:extLst>
      <p:ext uri="{BB962C8B-B14F-4D97-AF65-F5344CB8AC3E}">
        <p14:creationId xmlns:p14="http://schemas.microsoft.com/office/powerpoint/2010/main" val="434207328"/>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FFE5914-1700-4D9E-9032-577E90EBF67F}"/>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benchmark result set is synthetic</a:t>
            </a:r>
          </a:p>
        </p:txBody>
      </p:sp>
      <p:sp>
        <p:nvSpPr>
          <p:cNvPr id="2" name="">
            <a:extLst xmlns:a="http://schemas.openxmlformats.org/drawingml/2006/main">
              <a:ext uri="{FF2B5EF4-FFF2-40B4-BE49-F238E27FC236}">
                <a16:creationId xmlns:a16="http://schemas.microsoft.com/office/drawing/2014/main" id="{DB53838D-E399-4CC3-A9BF-548B94949DBE}"/>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7711D33-1EFE-4900-B89E-EF598BD8E4AC}"/>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The repository can load public bug data, but the reported A0–A3 experiment used generated tickets</a:t>
            </a:r>
          </a:p>
        </p:txBody>
      </p:sp>
      <p:sp>
        <p:nvSpPr>
          <p:cNvPr id="4" name="">
            <a:extLst xmlns:a="http://schemas.openxmlformats.org/drawingml/2006/main">
              <a:ext uri="{FF2B5EF4-FFF2-40B4-BE49-F238E27FC236}">
                <a16:creationId xmlns:a16="http://schemas.microsoft.com/office/drawing/2014/main" id="{2BC7CF9D-F2B9-42EA-AE84-B1B6781EE1CC}"/>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74EEC2A1-B605-4A36-A898-11BB447756D0}"/>
              </a:ext>
            </a:extLst>
          </p:cNvPr>
          <p:cNvSpPr>
            <a:spLocks xmlns:a="http://schemas.openxmlformats.org/drawingml/2006/main" noGrp="1"/>
          </p:cNvSpPr>
          <p:nvPr/>
        </p:nvSpPr>
        <p:spPr>
          <a:xfrm xmlns:a="http://schemas.openxmlformats.org/drawingml/2006/main">
            <a:off x="762000" y="1743075"/>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A0–A3 benchmark</a:t>
            </a:r>
          </a:p>
        </p:txBody>
      </p:sp>
      <p:sp>
        <p:nvSpPr>
          <p:cNvPr id="6" name="">
            <a:extLst xmlns:a="http://schemas.openxmlformats.org/drawingml/2006/main">
              <a:ext uri="{FF2B5EF4-FFF2-40B4-BE49-F238E27FC236}">
                <a16:creationId xmlns:a16="http://schemas.microsoft.com/office/drawing/2014/main" id="{646A18CA-1FBA-40ED-B1E2-73CDE7191053}"/>
              </a:ext>
            </a:extLst>
          </p:cNvPr>
          <p:cNvSpPr>
            <a:spLocks xmlns:a="http://schemas.openxmlformats.org/drawingml/2006/main" noGrp="1"/>
          </p:cNvSpPr>
          <p:nvPr/>
        </p:nvSpPr>
        <p:spPr>
          <a:xfrm xmlns:a="http://schemas.openxmlformats.org/drawingml/2006/main">
            <a:off x="762000" y="2190750"/>
            <a:ext cx="4800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2E4357"/>
                </a:solidFill>
                <a:latin typeface="Arial"/>
                <a:ea typeface="Arial"/>
                <a:cs typeface="Arial"/>
              </a:defRPr>
            </a:pPr>
            <a:r>
              <a:rPr sz="1725" b="0">
                <a:solidFill>
                  <a:srgbClr val="2E4357"/>
                </a:solidFill>
                <a:latin typeface="Arial"/>
                <a:ea typeface="Arial"/>
                <a:cs typeface="Arial"/>
              </a:rPr>
              <a:t>500 tickets per arm: 100 generated tickets × 5 seeds (42–46). Version: synthetic-eval-v1. The same generated cases feed all four arms.</a:t>
            </a:r>
          </a:p>
        </p:txBody>
      </p:sp>
      <p:sp>
        <p:nvSpPr>
          <p:cNvPr id="7" name="">
            <a:extLst xmlns:a="http://schemas.openxmlformats.org/drawingml/2006/main">
              <a:ext uri="{FF2B5EF4-FFF2-40B4-BE49-F238E27FC236}">
                <a16:creationId xmlns:a16="http://schemas.microsoft.com/office/drawing/2014/main" id="{08D0D60D-B1AD-447E-9014-7C760984D5A4}"/>
              </a:ext>
            </a:extLst>
          </p:cNvPr>
          <p:cNvSpPr>
            <a:spLocks xmlns:a="http://schemas.openxmlformats.org/drawingml/2006/main" noGrp="1"/>
          </p:cNvSpPr>
          <p:nvPr/>
        </p:nvSpPr>
        <p:spPr>
          <a:xfrm xmlns:a="http://schemas.openxmlformats.org/drawingml/2006/main">
            <a:off x="762000" y="3609975"/>
            <a:ext cx="3810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Ticket fields</a:t>
            </a:r>
          </a:p>
        </p:txBody>
      </p:sp>
      <p:sp>
        <p:nvSpPr>
          <p:cNvPr id="8" name="">
            <a:extLst xmlns:a="http://schemas.openxmlformats.org/drawingml/2006/main">
              <a:ext uri="{FF2B5EF4-FFF2-40B4-BE49-F238E27FC236}">
                <a16:creationId xmlns:a16="http://schemas.microsoft.com/office/drawing/2014/main" id="{D71A5D69-6342-40F9-9A92-AC94119F4E83}"/>
              </a:ext>
            </a:extLst>
          </p:cNvPr>
          <p:cNvSpPr>
            <a:spLocks xmlns:a="http://schemas.openxmlformats.org/drawingml/2006/main" noGrp="1"/>
          </p:cNvSpPr>
          <p:nvPr/>
        </p:nvSpPr>
        <p:spPr>
          <a:xfrm xmlns:a="http://schemas.openxmlformats.org/drawingml/2006/main">
            <a:off x="762000" y="40195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E4357"/>
                </a:solidFill>
                <a:latin typeface="Arial"/>
                <a:ea typeface="Arial"/>
                <a:cs typeface="Arial"/>
              </a:defRPr>
            </a:pPr>
            <a:r>
              <a:rPr sz="1575" b="0">
                <a:solidFill>
                  <a:srgbClr val="2E4357"/>
                </a:solidFill>
                <a:latin typeface="Arial"/>
                <a:ea typeface="Arial"/>
                <a:cs typeface="Arial"/>
              </a:rPr>
              <a:t>ID · title · body · component · severity · creation time · duplicate link · fault label</a:t>
            </a:r>
          </a:p>
        </p:txBody>
      </p:sp>
      <p:sp>
        <p:nvSpPr>
          <p:cNvPr id="9" name="">
            <a:extLst xmlns:a="http://schemas.openxmlformats.org/drawingml/2006/main">
              <a:ext uri="{FF2B5EF4-FFF2-40B4-BE49-F238E27FC236}">
                <a16:creationId xmlns:a16="http://schemas.microsoft.com/office/drawing/2014/main" id="{3D6A2E62-8E3F-47D5-8C39-69C115F50169}"/>
              </a:ext>
            </a:extLst>
          </p:cNvPr>
          <p:cNvSpPr>
            <a:spLocks xmlns:a="http://schemas.openxmlformats.org/drawingml/2006/main" noGrp="1"/>
          </p:cNvSpPr>
          <p:nvPr/>
        </p:nvSpPr>
        <p:spPr>
          <a:xfrm xmlns:a="http://schemas.openxmlformats.org/drawingml/2006/main">
            <a:off x="5981700" y="1724025"/>
            <a:ext cx="9525" cy="35147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B5C45B1-3CA6-4C47-B3D4-A38347EA8E20}"/>
              </a:ext>
            </a:extLst>
          </p:cNvPr>
          <p:cNvSpPr>
            <a:spLocks xmlns:a="http://schemas.openxmlformats.org/drawingml/2006/main" noGrp="1"/>
          </p:cNvSpPr>
          <p:nvPr/>
        </p:nvSpPr>
        <p:spPr>
          <a:xfrm xmlns:a="http://schemas.openxmlformats.org/drawingml/2006/main">
            <a:off x="6515100" y="1743075"/>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3B6FA5"/>
                </a:solidFill>
                <a:latin typeface="Arial"/>
                <a:ea typeface="Arial"/>
                <a:cs typeface="Arial"/>
              </a:defRPr>
            </a:pPr>
            <a:r>
              <a:rPr sz="1725" b="1">
                <a:solidFill>
                  <a:srgbClr val="3B6FA5"/>
                </a:solidFill>
                <a:latin typeface="Arial"/>
                <a:ea typeface="Arial"/>
                <a:cs typeface="Arial"/>
              </a:rPr>
              <a:t>Optional source datasets</a:t>
            </a:r>
          </a:p>
        </p:txBody>
      </p:sp>
      <p:sp>
        <p:nvSpPr>
          <p:cNvPr id="11" name="">
            <a:extLst xmlns:a="http://schemas.openxmlformats.org/drawingml/2006/main">
              <a:ext uri="{FF2B5EF4-FFF2-40B4-BE49-F238E27FC236}">
                <a16:creationId xmlns:a16="http://schemas.microsoft.com/office/drawing/2014/main" id="{0D0F47A3-9B18-4904-B1AD-2846E83E8845}"/>
              </a:ext>
            </a:extLst>
          </p:cNvPr>
          <p:cNvSpPr>
            <a:spLocks xmlns:a="http://schemas.openxmlformats.org/drawingml/2006/main" noGrp="1"/>
          </p:cNvSpPr>
          <p:nvPr/>
        </p:nvSpPr>
        <p:spPr>
          <a:xfrm xmlns:a="http://schemas.openxmlformats.org/drawingml/2006/main">
            <a:off x="6515100" y="2190750"/>
            <a:ext cx="48196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E4357"/>
                </a:solidFill>
                <a:latin typeface="Arial"/>
                <a:ea typeface="Arial"/>
                <a:cs typeface="Arial"/>
              </a:defRPr>
            </a:pPr>
            <a:r>
              <a:rPr sz="1650" b="0">
                <a:solidFill>
                  <a:srgbClr val="2E4357"/>
                </a:solidFill>
                <a:latin typeface="Arial"/>
                <a:ea typeface="Arial"/>
                <a:cs typeface="Arial"/>
              </a:rPr>
              <a:t>Loaders support GitBugs and Eclipse/Mozilla issue exports. Preprocessing masks common PII patterns, collapses repeated stack-trace lines and creates chronological 70/10/20 train, validation and test splits.</a:t>
            </a:r>
          </a:p>
        </p:txBody>
      </p:sp>
      <p:sp>
        <p:nvSpPr>
          <p:cNvPr id="12" name="">
            <a:extLst xmlns:a="http://schemas.openxmlformats.org/drawingml/2006/main">
              <a:ext uri="{FF2B5EF4-FFF2-40B4-BE49-F238E27FC236}">
                <a16:creationId xmlns:a16="http://schemas.microsoft.com/office/drawing/2014/main" id="{72B0454C-62BC-4027-A1F5-A613901CB092}"/>
              </a:ext>
            </a:extLst>
          </p:cNvPr>
          <p:cNvSpPr>
            <a:spLocks xmlns:a="http://schemas.openxmlformats.org/drawingml/2006/main" noGrp="1"/>
          </p:cNvSpPr>
          <p:nvPr/>
        </p:nvSpPr>
        <p:spPr>
          <a:xfrm xmlns:a="http://schemas.openxmlformats.org/drawingml/2006/main">
            <a:off x="6515100" y="4000500"/>
            <a:ext cx="3810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Interpretation</a:t>
            </a:r>
          </a:p>
        </p:txBody>
      </p:sp>
      <p:sp>
        <p:nvSpPr>
          <p:cNvPr id="13" name="">
            <a:extLst xmlns:a="http://schemas.openxmlformats.org/drawingml/2006/main">
              <a:ext uri="{FF2B5EF4-FFF2-40B4-BE49-F238E27FC236}">
                <a16:creationId xmlns:a16="http://schemas.microsoft.com/office/drawing/2014/main" id="{E808EBC5-F7DA-4177-8EB9-AAC3FDE48FF7}"/>
              </a:ext>
            </a:extLst>
          </p:cNvPr>
          <p:cNvSpPr>
            <a:spLocks xmlns:a="http://schemas.openxmlformats.org/drawingml/2006/main" noGrp="1"/>
          </p:cNvSpPr>
          <p:nvPr/>
        </p:nvSpPr>
        <p:spPr>
          <a:xfrm xmlns:a="http://schemas.openxmlformats.org/drawingml/2006/main">
            <a:off x="6515100" y="4400550"/>
            <a:ext cx="48387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E4357"/>
                </a:solidFill>
                <a:latin typeface="Arial"/>
                <a:ea typeface="Arial"/>
                <a:cs typeface="Arial"/>
              </a:defRPr>
            </a:pPr>
            <a:r>
              <a:rPr sz="1575" b="0">
                <a:solidFill>
                  <a:srgbClr val="2E4357"/>
                </a:solidFill>
                <a:latin typeface="Arial"/>
                <a:ea typeface="Arial"/>
                <a:cs typeface="Arial"/>
              </a:rPr>
              <a:t>Benchmark split: first 70% train, final 30% evaluate. General data loader split is 70/10/20. DORA-style outcomes are simulated; token use is estimated.</a:t>
            </a:r>
          </a:p>
        </p:txBody>
      </p:sp>
    </p:spTree>
    <p:extLst>
      <p:ext uri="{BB962C8B-B14F-4D97-AF65-F5344CB8AC3E}">
        <p14:creationId xmlns:p14="http://schemas.microsoft.com/office/powerpoint/2010/main" val="1764579755"/>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F1B64DC6-7253-449C-AD0E-4BBE4A11FE13}"/>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A1–A3 improve synthetic retrieval and fault ordering</a:t>
            </a:r>
          </a:p>
        </p:txBody>
      </p:sp>
      <p:sp>
        <p:nvSpPr>
          <p:cNvPr id="2" name="">
            <a:extLst xmlns:a="http://schemas.openxmlformats.org/drawingml/2006/main">
              <a:ext uri="{FF2B5EF4-FFF2-40B4-BE49-F238E27FC236}">
                <a16:creationId xmlns:a16="http://schemas.microsoft.com/office/drawing/2014/main" id="{861E7178-0A4C-4FFB-8634-760779DB6A44}"/>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F8A87C8-873E-4CBA-9943-10D362330AD9}"/>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Run cited in the report · 500 generated tickets per arm · host timings are only workload proxies</a:t>
            </a:r>
          </a:p>
        </p:txBody>
      </p:sp>
      <p:sp>
        <p:nvSpPr>
          <p:cNvPr id="4" name="">
            <a:extLst xmlns:a="http://schemas.openxmlformats.org/drawingml/2006/main">
              <a:ext uri="{FF2B5EF4-FFF2-40B4-BE49-F238E27FC236}">
                <a16:creationId xmlns:a16="http://schemas.microsoft.com/office/drawing/2014/main" id="{FA568F16-420C-49DF-99FF-B726BD51DC9B}"/>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652EB071-B652-4F2E-8896-CC7B057944DB}"/>
              </a:ext>
            </a:extLst>
          </p:cNvPr>
          <p:cNvSpPr>
            <a:spLocks xmlns:a="http://schemas.openxmlformats.org/drawingml/2006/main" noGrp="1"/>
          </p:cNvSpPr>
          <p:nvPr/>
        </p:nvSpPr>
        <p:spPr>
          <a:xfrm xmlns:a="http://schemas.openxmlformats.org/drawingml/2006/main">
            <a:off x="762000" y="171450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617487"/>
                </a:solidFill>
                <a:latin typeface="Arial"/>
                <a:ea typeface="Arial"/>
                <a:cs typeface="Arial"/>
              </a:defRPr>
            </a:pPr>
            <a:r>
              <a:rPr sz="1500" b="1">
                <a:solidFill>
                  <a:srgbClr val="617487"/>
                </a:solidFill>
                <a:latin typeface="Arial"/>
                <a:ea typeface="Arial"/>
                <a:cs typeface="Arial"/>
              </a:rPr>
              <a:t>Metric</a:t>
            </a:r>
          </a:p>
        </p:txBody>
      </p:sp>
      <p:sp>
        <p:nvSpPr>
          <p:cNvPr id="6" name="">
            <a:extLst xmlns:a="http://schemas.openxmlformats.org/drawingml/2006/main">
              <a:ext uri="{FF2B5EF4-FFF2-40B4-BE49-F238E27FC236}">
                <a16:creationId xmlns:a16="http://schemas.microsoft.com/office/drawing/2014/main" id="{F207E25C-A822-4045-82D0-39DCA714A124}"/>
              </a:ext>
            </a:extLst>
          </p:cNvPr>
          <p:cNvSpPr>
            <a:spLocks xmlns:a="http://schemas.openxmlformats.org/drawingml/2006/main" noGrp="1"/>
          </p:cNvSpPr>
          <p:nvPr/>
        </p:nvSpPr>
        <p:spPr>
          <a:xfrm xmlns:a="http://schemas.openxmlformats.org/drawingml/2006/main">
            <a:off x="2933700" y="17145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2D7A78"/>
                </a:solidFill>
                <a:latin typeface="Arial"/>
                <a:ea typeface="Arial"/>
                <a:cs typeface="Arial"/>
              </a:defRPr>
            </a:pPr>
            <a:r>
              <a:rPr sz="1500" b="1">
                <a:solidFill>
                  <a:srgbClr val="2D7A78"/>
                </a:solidFill>
                <a:latin typeface="Arial"/>
                <a:ea typeface="Arial"/>
                <a:cs typeface="Arial"/>
              </a:rPr>
              <a:t>A0</a:t>
            </a:r>
          </a:p>
        </p:txBody>
      </p:sp>
      <p:sp>
        <p:nvSpPr>
          <p:cNvPr id="7" name="">
            <a:extLst xmlns:a="http://schemas.openxmlformats.org/drawingml/2006/main">
              <a:ext uri="{FF2B5EF4-FFF2-40B4-BE49-F238E27FC236}">
                <a16:creationId xmlns:a16="http://schemas.microsoft.com/office/drawing/2014/main" id="{57B596AC-F504-4BB2-970C-C17D40F27DA0}"/>
              </a:ext>
            </a:extLst>
          </p:cNvPr>
          <p:cNvSpPr>
            <a:spLocks xmlns:a="http://schemas.openxmlformats.org/drawingml/2006/main" noGrp="1"/>
          </p:cNvSpPr>
          <p:nvPr/>
        </p:nvSpPr>
        <p:spPr>
          <a:xfrm xmlns:a="http://schemas.openxmlformats.org/drawingml/2006/main">
            <a:off x="4905375" y="17145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2D7A78"/>
                </a:solidFill>
                <a:latin typeface="Arial"/>
                <a:ea typeface="Arial"/>
                <a:cs typeface="Arial"/>
              </a:defRPr>
            </a:pPr>
            <a:r>
              <a:rPr sz="1500" b="1">
                <a:solidFill>
                  <a:srgbClr val="2D7A78"/>
                </a:solidFill>
                <a:latin typeface="Arial"/>
                <a:ea typeface="Arial"/>
                <a:cs typeface="Arial"/>
              </a:rPr>
              <a:t>A1</a:t>
            </a:r>
          </a:p>
        </p:txBody>
      </p:sp>
      <p:sp>
        <p:nvSpPr>
          <p:cNvPr id="8" name="">
            <a:extLst xmlns:a="http://schemas.openxmlformats.org/drawingml/2006/main">
              <a:ext uri="{FF2B5EF4-FFF2-40B4-BE49-F238E27FC236}">
                <a16:creationId xmlns:a16="http://schemas.microsoft.com/office/drawing/2014/main" id="{C65A897C-B141-4C6E-85FF-228F19603CAC}"/>
              </a:ext>
            </a:extLst>
          </p:cNvPr>
          <p:cNvSpPr>
            <a:spLocks xmlns:a="http://schemas.openxmlformats.org/drawingml/2006/main" noGrp="1"/>
          </p:cNvSpPr>
          <p:nvPr/>
        </p:nvSpPr>
        <p:spPr>
          <a:xfrm xmlns:a="http://schemas.openxmlformats.org/drawingml/2006/main">
            <a:off x="7000875" y="17145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2D7A78"/>
                </a:solidFill>
                <a:latin typeface="Arial"/>
                <a:ea typeface="Arial"/>
                <a:cs typeface="Arial"/>
              </a:defRPr>
            </a:pPr>
            <a:r>
              <a:rPr sz="1500" b="1">
                <a:solidFill>
                  <a:srgbClr val="2D7A78"/>
                </a:solidFill>
                <a:latin typeface="Arial"/>
                <a:ea typeface="Arial"/>
                <a:cs typeface="Arial"/>
              </a:rPr>
              <a:t>A2</a:t>
            </a:r>
          </a:p>
        </p:txBody>
      </p:sp>
      <p:sp>
        <p:nvSpPr>
          <p:cNvPr id="9" name="">
            <a:extLst xmlns:a="http://schemas.openxmlformats.org/drawingml/2006/main">
              <a:ext uri="{FF2B5EF4-FFF2-40B4-BE49-F238E27FC236}">
                <a16:creationId xmlns:a16="http://schemas.microsoft.com/office/drawing/2014/main" id="{55BADC01-8475-44A9-AFF1-303634CAA65C}"/>
              </a:ext>
            </a:extLst>
          </p:cNvPr>
          <p:cNvSpPr>
            <a:spLocks xmlns:a="http://schemas.openxmlformats.org/drawingml/2006/main" noGrp="1"/>
          </p:cNvSpPr>
          <p:nvPr/>
        </p:nvSpPr>
        <p:spPr>
          <a:xfrm xmlns:a="http://schemas.openxmlformats.org/drawingml/2006/main">
            <a:off x="9067800" y="17145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2D7A78"/>
                </a:solidFill>
                <a:latin typeface="Arial"/>
                <a:ea typeface="Arial"/>
                <a:cs typeface="Arial"/>
              </a:defRPr>
            </a:pPr>
            <a:r>
              <a:rPr sz="1500" b="1">
                <a:solidFill>
                  <a:srgbClr val="2D7A78"/>
                </a:solidFill>
                <a:latin typeface="Arial"/>
                <a:ea typeface="Arial"/>
                <a:cs typeface="Arial"/>
              </a:rPr>
              <a:t>A3</a:t>
            </a:r>
          </a:p>
        </p:txBody>
      </p:sp>
      <p:sp>
        <p:nvSpPr>
          <p:cNvPr id="10" name="">
            <a:extLst xmlns:a="http://schemas.openxmlformats.org/drawingml/2006/main">
              <a:ext uri="{FF2B5EF4-FFF2-40B4-BE49-F238E27FC236}">
                <a16:creationId xmlns:a16="http://schemas.microsoft.com/office/drawing/2014/main" id="{90BB090A-2ED4-4BDE-863A-4EE3E8F1316B}"/>
              </a:ext>
            </a:extLst>
          </p:cNvPr>
          <p:cNvSpPr>
            <a:spLocks xmlns:a="http://schemas.openxmlformats.org/drawingml/2006/main" noGrp="1"/>
          </p:cNvSpPr>
          <p:nvPr/>
        </p:nvSpPr>
        <p:spPr>
          <a:xfrm xmlns:a="http://schemas.openxmlformats.org/drawingml/2006/main">
            <a:off x="762000" y="2076450"/>
            <a:ext cx="10648950" cy="19050"/>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F713DA9-A6C0-4B72-92B0-2D2D4BDD1C4A}"/>
              </a:ext>
            </a:extLst>
          </p:cNvPr>
          <p:cNvSpPr>
            <a:spLocks xmlns:a="http://schemas.openxmlformats.org/drawingml/2006/main" noGrp="1"/>
          </p:cNvSpPr>
          <p:nvPr/>
        </p:nvSpPr>
        <p:spPr>
          <a:xfrm xmlns:a="http://schemas.openxmlformats.org/drawingml/2006/main">
            <a:off x="762000" y="2171700"/>
            <a:ext cx="200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Mean wall time / ticket</a:t>
            </a:r>
          </a:p>
        </p:txBody>
      </p:sp>
      <p:sp>
        <p:nvSpPr>
          <p:cNvPr id="12" name="">
            <a:extLst xmlns:a="http://schemas.openxmlformats.org/drawingml/2006/main">
              <a:ext uri="{FF2B5EF4-FFF2-40B4-BE49-F238E27FC236}">
                <a16:creationId xmlns:a16="http://schemas.microsoft.com/office/drawing/2014/main" id="{EB7377F3-C640-4BA3-9419-869283010426}"/>
              </a:ext>
            </a:extLst>
          </p:cNvPr>
          <p:cNvSpPr>
            <a:spLocks xmlns:a="http://schemas.openxmlformats.org/drawingml/2006/main" noGrp="1"/>
          </p:cNvSpPr>
          <p:nvPr/>
        </p:nvSpPr>
        <p:spPr>
          <a:xfrm xmlns:a="http://schemas.openxmlformats.org/drawingml/2006/main">
            <a:off x="2933700" y="21717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0.102 ms</a:t>
            </a:r>
          </a:p>
        </p:txBody>
      </p:sp>
      <p:sp>
        <p:nvSpPr>
          <p:cNvPr id="13" name="">
            <a:extLst xmlns:a="http://schemas.openxmlformats.org/drawingml/2006/main">
              <a:ext uri="{FF2B5EF4-FFF2-40B4-BE49-F238E27FC236}">
                <a16:creationId xmlns:a16="http://schemas.microsoft.com/office/drawing/2014/main" id="{84163C12-40BC-4D85-81E1-4383C211000D}"/>
              </a:ext>
            </a:extLst>
          </p:cNvPr>
          <p:cNvSpPr>
            <a:spLocks xmlns:a="http://schemas.openxmlformats.org/drawingml/2006/main" noGrp="1"/>
          </p:cNvSpPr>
          <p:nvPr/>
        </p:nvSpPr>
        <p:spPr>
          <a:xfrm xmlns:a="http://schemas.openxmlformats.org/drawingml/2006/main">
            <a:off x="4905375" y="21717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0.155 ms</a:t>
            </a:r>
          </a:p>
        </p:txBody>
      </p:sp>
      <p:sp>
        <p:nvSpPr>
          <p:cNvPr id="14" name="">
            <a:extLst xmlns:a="http://schemas.openxmlformats.org/drawingml/2006/main">
              <a:ext uri="{FF2B5EF4-FFF2-40B4-BE49-F238E27FC236}">
                <a16:creationId xmlns:a16="http://schemas.microsoft.com/office/drawing/2014/main" id="{E42FE4F9-B386-4A85-9FDA-AD7E7BA6B902}"/>
              </a:ext>
            </a:extLst>
          </p:cNvPr>
          <p:cNvSpPr>
            <a:spLocks xmlns:a="http://schemas.openxmlformats.org/drawingml/2006/main" noGrp="1"/>
          </p:cNvSpPr>
          <p:nvPr/>
        </p:nvSpPr>
        <p:spPr>
          <a:xfrm xmlns:a="http://schemas.openxmlformats.org/drawingml/2006/main">
            <a:off x="7000875" y="21717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0.184 ms</a:t>
            </a:r>
          </a:p>
        </p:txBody>
      </p:sp>
      <p:sp>
        <p:nvSpPr>
          <p:cNvPr id="15" name="">
            <a:extLst xmlns:a="http://schemas.openxmlformats.org/drawingml/2006/main">
              <a:ext uri="{FF2B5EF4-FFF2-40B4-BE49-F238E27FC236}">
                <a16:creationId xmlns:a16="http://schemas.microsoft.com/office/drawing/2014/main" id="{D17B377E-B5DE-45B3-B68E-AE951F43F9BD}"/>
              </a:ext>
            </a:extLst>
          </p:cNvPr>
          <p:cNvSpPr>
            <a:spLocks xmlns:a="http://schemas.openxmlformats.org/drawingml/2006/main" noGrp="1"/>
          </p:cNvSpPr>
          <p:nvPr/>
        </p:nvSpPr>
        <p:spPr>
          <a:xfrm xmlns:a="http://schemas.openxmlformats.org/drawingml/2006/main">
            <a:off x="9067800" y="21717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0.198 ms</a:t>
            </a:r>
          </a:p>
        </p:txBody>
      </p:sp>
      <p:sp>
        <p:nvSpPr>
          <p:cNvPr id="16" name="">
            <a:extLst xmlns:a="http://schemas.openxmlformats.org/drawingml/2006/main">
              <a:ext uri="{FF2B5EF4-FFF2-40B4-BE49-F238E27FC236}">
                <a16:creationId xmlns:a16="http://schemas.microsoft.com/office/drawing/2014/main" id="{3D2715A6-E74A-429B-BF59-E3571F8787F4}"/>
              </a:ext>
            </a:extLst>
          </p:cNvPr>
          <p:cNvSpPr>
            <a:spLocks xmlns:a="http://schemas.openxmlformats.org/drawingml/2006/main" noGrp="1"/>
          </p:cNvSpPr>
          <p:nvPr/>
        </p:nvSpPr>
        <p:spPr>
          <a:xfrm xmlns:a="http://schemas.openxmlformats.org/drawingml/2006/main">
            <a:off x="762000" y="2571750"/>
            <a:ext cx="1064895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50D727F-29CF-42F9-8C01-B3AC4C6B78A8}"/>
              </a:ext>
            </a:extLst>
          </p:cNvPr>
          <p:cNvSpPr>
            <a:spLocks xmlns:a="http://schemas.openxmlformats.org/drawingml/2006/main" noGrp="1"/>
          </p:cNvSpPr>
          <p:nvPr/>
        </p:nvSpPr>
        <p:spPr>
          <a:xfrm xmlns:a="http://schemas.openxmlformats.org/drawingml/2006/main">
            <a:off x="762000" y="2638425"/>
            <a:ext cx="200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Network bytes / ticket</a:t>
            </a:r>
          </a:p>
        </p:txBody>
      </p:sp>
      <p:sp>
        <p:nvSpPr>
          <p:cNvPr id="18" name="">
            <a:extLst xmlns:a="http://schemas.openxmlformats.org/drawingml/2006/main">
              <a:ext uri="{FF2B5EF4-FFF2-40B4-BE49-F238E27FC236}">
                <a16:creationId xmlns:a16="http://schemas.microsoft.com/office/drawing/2014/main" id="{839FCA89-8A5F-4E7A-8877-268D993E30F8}"/>
              </a:ext>
            </a:extLst>
          </p:cNvPr>
          <p:cNvSpPr>
            <a:spLocks xmlns:a="http://schemas.openxmlformats.org/drawingml/2006/main" noGrp="1"/>
          </p:cNvSpPr>
          <p:nvPr/>
        </p:nvSpPr>
        <p:spPr>
          <a:xfrm xmlns:a="http://schemas.openxmlformats.org/drawingml/2006/main">
            <a:off x="2933700" y="26384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a:t>
            </a:r>
          </a:p>
        </p:txBody>
      </p:sp>
      <p:sp>
        <p:nvSpPr>
          <p:cNvPr id="19" name="">
            <a:extLst xmlns:a="http://schemas.openxmlformats.org/drawingml/2006/main">
              <a:ext uri="{FF2B5EF4-FFF2-40B4-BE49-F238E27FC236}">
                <a16:creationId xmlns:a16="http://schemas.microsoft.com/office/drawing/2014/main" id="{0E8E35A6-9489-4ABB-98F1-F0FD060CF7F2}"/>
              </a:ext>
            </a:extLst>
          </p:cNvPr>
          <p:cNvSpPr>
            <a:spLocks xmlns:a="http://schemas.openxmlformats.org/drawingml/2006/main" noGrp="1"/>
          </p:cNvSpPr>
          <p:nvPr/>
        </p:nvSpPr>
        <p:spPr>
          <a:xfrm xmlns:a="http://schemas.openxmlformats.org/drawingml/2006/main">
            <a:off x="4905375" y="26384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1,778</a:t>
            </a:r>
          </a:p>
        </p:txBody>
      </p:sp>
      <p:sp>
        <p:nvSpPr>
          <p:cNvPr id="20" name="">
            <a:extLst xmlns:a="http://schemas.openxmlformats.org/drawingml/2006/main">
              <a:ext uri="{FF2B5EF4-FFF2-40B4-BE49-F238E27FC236}">
                <a16:creationId xmlns:a16="http://schemas.microsoft.com/office/drawing/2014/main" id="{9ADC0E78-2135-4C1B-BAFC-14E629BCFC51}"/>
              </a:ext>
            </a:extLst>
          </p:cNvPr>
          <p:cNvSpPr>
            <a:spLocks xmlns:a="http://schemas.openxmlformats.org/drawingml/2006/main" noGrp="1"/>
          </p:cNvSpPr>
          <p:nvPr/>
        </p:nvSpPr>
        <p:spPr>
          <a:xfrm xmlns:a="http://schemas.openxmlformats.org/drawingml/2006/main">
            <a:off x="7000875" y="26384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3,556</a:t>
            </a:r>
          </a:p>
        </p:txBody>
      </p:sp>
      <p:sp>
        <p:nvSpPr>
          <p:cNvPr id="21" name="">
            <a:extLst xmlns:a="http://schemas.openxmlformats.org/drawingml/2006/main">
              <a:ext uri="{FF2B5EF4-FFF2-40B4-BE49-F238E27FC236}">
                <a16:creationId xmlns:a16="http://schemas.microsoft.com/office/drawing/2014/main" id="{4D2AB67A-3B70-4825-B71D-37D87130E35F}"/>
              </a:ext>
            </a:extLst>
          </p:cNvPr>
          <p:cNvSpPr>
            <a:spLocks xmlns:a="http://schemas.openxmlformats.org/drawingml/2006/main" noGrp="1"/>
          </p:cNvSpPr>
          <p:nvPr/>
        </p:nvSpPr>
        <p:spPr>
          <a:xfrm xmlns:a="http://schemas.openxmlformats.org/drawingml/2006/main">
            <a:off x="9067800" y="26384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4,161</a:t>
            </a:r>
          </a:p>
        </p:txBody>
      </p:sp>
      <p:sp>
        <p:nvSpPr>
          <p:cNvPr id="22" name="">
            <a:extLst xmlns:a="http://schemas.openxmlformats.org/drawingml/2006/main">
              <a:ext uri="{FF2B5EF4-FFF2-40B4-BE49-F238E27FC236}">
                <a16:creationId xmlns:a16="http://schemas.microsoft.com/office/drawing/2014/main" id="{41B8BBA8-9F3B-4C01-A496-9508287C9695}"/>
              </a:ext>
            </a:extLst>
          </p:cNvPr>
          <p:cNvSpPr>
            <a:spLocks xmlns:a="http://schemas.openxmlformats.org/drawingml/2006/main" noGrp="1"/>
          </p:cNvSpPr>
          <p:nvPr/>
        </p:nvSpPr>
        <p:spPr>
          <a:xfrm xmlns:a="http://schemas.openxmlformats.org/drawingml/2006/main">
            <a:off x="762000" y="3038475"/>
            <a:ext cx="1064895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CABC0D9-F346-4DF9-9945-476A7BC2520D}"/>
              </a:ext>
            </a:extLst>
          </p:cNvPr>
          <p:cNvSpPr>
            <a:spLocks xmlns:a="http://schemas.openxmlformats.org/drawingml/2006/main" noGrp="1"/>
          </p:cNvSpPr>
          <p:nvPr/>
        </p:nvSpPr>
        <p:spPr>
          <a:xfrm xmlns:a="http://schemas.openxmlformats.org/drawingml/2006/main">
            <a:off x="762000" y="3105150"/>
            <a:ext cx="200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Duplicate Recall@5</a:t>
            </a:r>
          </a:p>
        </p:txBody>
      </p:sp>
      <p:sp>
        <p:nvSpPr>
          <p:cNvPr id="24" name="">
            <a:extLst xmlns:a="http://schemas.openxmlformats.org/drawingml/2006/main">
              <a:ext uri="{FF2B5EF4-FFF2-40B4-BE49-F238E27FC236}">
                <a16:creationId xmlns:a16="http://schemas.microsoft.com/office/drawing/2014/main" id="{02F11BEF-B5BF-44D8-B69D-5A00E3CA20D2}"/>
              </a:ext>
            </a:extLst>
          </p:cNvPr>
          <p:cNvSpPr>
            <a:spLocks xmlns:a="http://schemas.openxmlformats.org/drawingml/2006/main" noGrp="1"/>
          </p:cNvSpPr>
          <p:nvPr/>
        </p:nvSpPr>
        <p:spPr>
          <a:xfrm xmlns:a="http://schemas.openxmlformats.org/drawingml/2006/main">
            <a:off x="2933700" y="31051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0.429</a:t>
            </a:r>
          </a:p>
        </p:txBody>
      </p:sp>
      <p:sp>
        <p:nvSpPr>
          <p:cNvPr id="25" name="">
            <a:extLst xmlns:a="http://schemas.openxmlformats.org/drawingml/2006/main">
              <a:ext uri="{FF2B5EF4-FFF2-40B4-BE49-F238E27FC236}">
                <a16:creationId xmlns:a16="http://schemas.microsoft.com/office/drawing/2014/main" id="{0EAFF685-DB7C-4501-B363-45620C8E0D0A}"/>
              </a:ext>
            </a:extLst>
          </p:cNvPr>
          <p:cNvSpPr>
            <a:spLocks xmlns:a="http://schemas.openxmlformats.org/drawingml/2006/main" noGrp="1"/>
          </p:cNvSpPr>
          <p:nvPr/>
        </p:nvSpPr>
        <p:spPr>
          <a:xfrm xmlns:a="http://schemas.openxmlformats.org/drawingml/2006/main">
            <a:off x="4905375" y="31051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1.000</a:t>
            </a:r>
          </a:p>
        </p:txBody>
      </p:sp>
      <p:sp>
        <p:nvSpPr>
          <p:cNvPr id="26" name="">
            <a:extLst xmlns:a="http://schemas.openxmlformats.org/drawingml/2006/main">
              <a:ext uri="{FF2B5EF4-FFF2-40B4-BE49-F238E27FC236}">
                <a16:creationId xmlns:a16="http://schemas.microsoft.com/office/drawing/2014/main" id="{7212FDA9-F501-4E99-AE4E-672E73003041}"/>
              </a:ext>
            </a:extLst>
          </p:cNvPr>
          <p:cNvSpPr>
            <a:spLocks xmlns:a="http://schemas.openxmlformats.org/drawingml/2006/main" noGrp="1"/>
          </p:cNvSpPr>
          <p:nvPr/>
        </p:nvSpPr>
        <p:spPr>
          <a:xfrm xmlns:a="http://schemas.openxmlformats.org/drawingml/2006/main">
            <a:off x="7000875" y="31051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1.000</a:t>
            </a:r>
          </a:p>
        </p:txBody>
      </p:sp>
      <p:sp>
        <p:nvSpPr>
          <p:cNvPr id="27" name="">
            <a:extLst xmlns:a="http://schemas.openxmlformats.org/drawingml/2006/main">
              <a:ext uri="{FF2B5EF4-FFF2-40B4-BE49-F238E27FC236}">
                <a16:creationId xmlns:a16="http://schemas.microsoft.com/office/drawing/2014/main" id="{ADF6F8B5-6539-4096-A932-3B19483602E7}"/>
              </a:ext>
            </a:extLst>
          </p:cNvPr>
          <p:cNvSpPr>
            <a:spLocks xmlns:a="http://schemas.openxmlformats.org/drawingml/2006/main" noGrp="1"/>
          </p:cNvSpPr>
          <p:nvPr/>
        </p:nvSpPr>
        <p:spPr>
          <a:xfrm xmlns:a="http://schemas.openxmlformats.org/drawingml/2006/main">
            <a:off x="9067800" y="31051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1.000</a:t>
            </a:r>
          </a:p>
        </p:txBody>
      </p:sp>
      <p:sp>
        <p:nvSpPr>
          <p:cNvPr id="28" name="">
            <a:extLst xmlns:a="http://schemas.openxmlformats.org/drawingml/2006/main">
              <a:ext uri="{FF2B5EF4-FFF2-40B4-BE49-F238E27FC236}">
                <a16:creationId xmlns:a16="http://schemas.microsoft.com/office/drawing/2014/main" id="{7398BB5D-D992-455D-982C-5F9CA4B6D33A}"/>
              </a:ext>
            </a:extLst>
          </p:cNvPr>
          <p:cNvSpPr>
            <a:spLocks xmlns:a="http://schemas.openxmlformats.org/drawingml/2006/main" noGrp="1"/>
          </p:cNvSpPr>
          <p:nvPr/>
        </p:nvSpPr>
        <p:spPr>
          <a:xfrm xmlns:a="http://schemas.openxmlformats.org/drawingml/2006/main">
            <a:off x="762000" y="3505200"/>
            <a:ext cx="1064895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D498362-4B82-4F2E-8C05-078CB4503385}"/>
              </a:ext>
            </a:extLst>
          </p:cNvPr>
          <p:cNvSpPr>
            <a:spLocks xmlns:a="http://schemas.openxmlformats.org/drawingml/2006/main" noGrp="1"/>
          </p:cNvSpPr>
          <p:nvPr/>
        </p:nvSpPr>
        <p:spPr>
          <a:xfrm xmlns:a="http://schemas.openxmlformats.org/drawingml/2006/main">
            <a:off x="762000" y="3571875"/>
            <a:ext cx="200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Duplicate MAP</a:t>
            </a:r>
          </a:p>
        </p:txBody>
      </p:sp>
      <p:sp>
        <p:nvSpPr>
          <p:cNvPr id="30" name="">
            <a:extLst xmlns:a="http://schemas.openxmlformats.org/drawingml/2006/main">
              <a:ext uri="{FF2B5EF4-FFF2-40B4-BE49-F238E27FC236}">
                <a16:creationId xmlns:a16="http://schemas.microsoft.com/office/drawing/2014/main" id="{758108E1-B682-4FBF-A3AE-B03E7B5DBB7C}"/>
              </a:ext>
            </a:extLst>
          </p:cNvPr>
          <p:cNvSpPr>
            <a:spLocks xmlns:a="http://schemas.openxmlformats.org/drawingml/2006/main" noGrp="1"/>
          </p:cNvSpPr>
          <p:nvPr/>
        </p:nvSpPr>
        <p:spPr>
          <a:xfrm xmlns:a="http://schemas.openxmlformats.org/drawingml/2006/main">
            <a:off x="2933700" y="357187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0.242</a:t>
            </a:r>
          </a:p>
        </p:txBody>
      </p:sp>
      <p:sp>
        <p:nvSpPr>
          <p:cNvPr id="31" name="">
            <a:extLst xmlns:a="http://schemas.openxmlformats.org/drawingml/2006/main">
              <a:ext uri="{FF2B5EF4-FFF2-40B4-BE49-F238E27FC236}">
                <a16:creationId xmlns:a16="http://schemas.microsoft.com/office/drawing/2014/main" id="{1734885B-9349-422D-9F4A-40D73DF6EFA4}"/>
              </a:ext>
            </a:extLst>
          </p:cNvPr>
          <p:cNvSpPr>
            <a:spLocks xmlns:a="http://schemas.openxmlformats.org/drawingml/2006/main" noGrp="1"/>
          </p:cNvSpPr>
          <p:nvPr/>
        </p:nvSpPr>
        <p:spPr>
          <a:xfrm xmlns:a="http://schemas.openxmlformats.org/drawingml/2006/main">
            <a:off x="4905375" y="357187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0.680</a:t>
            </a:r>
          </a:p>
        </p:txBody>
      </p:sp>
      <p:sp>
        <p:nvSpPr>
          <p:cNvPr id="32" name="">
            <a:extLst xmlns:a="http://schemas.openxmlformats.org/drawingml/2006/main">
              <a:ext uri="{FF2B5EF4-FFF2-40B4-BE49-F238E27FC236}">
                <a16:creationId xmlns:a16="http://schemas.microsoft.com/office/drawing/2014/main" id="{C037687F-CEE2-4CB8-B0ED-2013463AD492}"/>
              </a:ext>
            </a:extLst>
          </p:cNvPr>
          <p:cNvSpPr>
            <a:spLocks xmlns:a="http://schemas.openxmlformats.org/drawingml/2006/main" noGrp="1"/>
          </p:cNvSpPr>
          <p:nvPr/>
        </p:nvSpPr>
        <p:spPr>
          <a:xfrm xmlns:a="http://schemas.openxmlformats.org/drawingml/2006/main">
            <a:off x="7000875" y="357187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0.687</a:t>
            </a:r>
          </a:p>
        </p:txBody>
      </p:sp>
      <p:sp>
        <p:nvSpPr>
          <p:cNvPr id="33" name="">
            <a:extLst xmlns:a="http://schemas.openxmlformats.org/drawingml/2006/main">
              <a:ext uri="{FF2B5EF4-FFF2-40B4-BE49-F238E27FC236}">
                <a16:creationId xmlns:a16="http://schemas.microsoft.com/office/drawing/2014/main" id="{096A18D3-7AAB-4FA0-9B5E-E03946355388}"/>
              </a:ext>
            </a:extLst>
          </p:cNvPr>
          <p:cNvSpPr>
            <a:spLocks xmlns:a="http://schemas.openxmlformats.org/drawingml/2006/main" noGrp="1"/>
          </p:cNvSpPr>
          <p:nvPr/>
        </p:nvSpPr>
        <p:spPr>
          <a:xfrm xmlns:a="http://schemas.openxmlformats.org/drawingml/2006/main">
            <a:off x="9067800" y="357187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0.685</a:t>
            </a:r>
          </a:p>
        </p:txBody>
      </p:sp>
      <p:sp>
        <p:nvSpPr>
          <p:cNvPr id="34" name="">
            <a:extLst xmlns:a="http://schemas.openxmlformats.org/drawingml/2006/main">
              <a:ext uri="{FF2B5EF4-FFF2-40B4-BE49-F238E27FC236}">
                <a16:creationId xmlns:a16="http://schemas.microsoft.com/office/drawing/2014/main" id="{EB095325-19A6-4B6C-87AE-6F21ABCB4EDD}"/>
              </a:ext>
            </a:extLst>
          </p:cNvPr>
          <p:cNvSpPr>
            <a:spLocks xmlns:a="http://schemas.openxmlformats.org/drawingml/2006/main" noGrp="1"/>
          </p:cNvSpPr>
          <p:nvPr/>
        </p:nvSpPr>
        <p:spPr>
          <a:xfrm xmlns:a="http://schemas.openxmlformats.org/drawingml/2006/main">
            <a:off x="762000" y="3971925"/>
            <a:ext cx="1064895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D43D2A2B-B3C8-455F-B0A5-2AC0151F15D8}"/>
              </a:ext>
            </a:extLst>
          </p:cNvPr>
          <p:cNvSpPr>
            <a:spLocks xmlns:a="http://schemas.openxmlformats.org/drawingml/2006/main" noGrp="1"/>
          </p:cNvSpPr>
          <p:nvPr/>
        </p:nvSpPr>
        <p:spPr>
          <a:xfrm xmlns:a="http://schemas.openxmlformats.org/drawingml/2006/main">
            <a:off x="762000" y="4038600"/>
            <a:ext cx="200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Severity macro-F1</a:t>
            </a:r>
          </a:p>
        </p:txBody>
      </p:sp>
      <p:sp>
        <p:nvSpPr>
          <p:cNvPr id="36" name="">
            <a:extLst xmlns:a="http://schemas.openxmlformats.org/drawingml/2006/main">
              <a:ext uri="{FF2B5EF4-FFF2-40B4-BE49-F238E27FC236}">
                <a16:creationId xmlns:a16="http://schemas.microsoft.com/office/drawing/2014/main" id="{5FAF06C6-2025-4710-B4F3-84F294D630BD}"/>
              </a:ext>
            </a:extLst>
          </p:cNvPr>
          <p:cNvSpPr>
            <a:spLocks xmlns:a="http://schemas.openxmlformats.org/drawingml/2006/main" noGrp="1"/>
          </p:cNvSpPr>
          <p:nvPr/>
        </p:nvSpPr>
        <p:spPr>
          <a:xfrm xmlns:a="http://schemas.openxmlformats.org/drawingml/2006/main">
            <a:off x="2933700" y="40386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1.000</a:t>
            </a:r>
          </a:p>
        </p:txBody>
      </p:sp>
      <p:sp>
        <p:nvSpPr>
          <p:cNvPr id="37" name="">
            <a:extLst xmlns:a="http://schemas.openxmlformats.org/drawingml/2006/main">
              <a:ext uri="{FF2B5EF4-FFF2-40B4-BE49-F238E27FC236}">
                <a16:creationId xmlns:a16="http://schemas.microsoft.com/office/drawing/2014/main" id="{1D81ABD2-3960-4300-BBDA-93B45572CCDF}"/>
              </a:ext>
            </a:extLst>
          </p:cNvPr>
          <p:cNvSpPr>
            <a:spLocks xmlns:a="http://schemas.openxmlformats.org/drawingml/2006/main" noGrp="1"/>
          </p:cNvSpPr>
          <p:nvPr/>
        </p:nvSpPr>
        <p:spPr>
          <a:xfrm xmlns:a="http://schemas.openxmlformats.org/drawingml/2006/main">
            <a:off x="4905375" y="40386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1.000</a:t>
            </a:r>
          </a:p>
        </p:txBody>
      </p:sp>
      <p:sp>
        <p:nvSpPr>
          <p:cNvPr id="38" name="">
            <a:extLst xmlns:a="http://schemas.openxmlformats.org/drawingml/2006/main">
              <a:ext uri="{FF2B5EF4-FFF2-40B4-BE49-F238E27FC236}">
                <a16:creationId xmlns:a16="http://schemas.microsoft.com/office/drawing/2014/main" id="{F15B69E8-1605-4AF7-83E8-8FBB09B8BF11}"/>
              </a:ext>
            </a:extLst>
          </p:cNvPr>
          <p:cNvSpPr>
            <a:spLocks xmlns:a="http://schemas.openxmlformats.org/drawingml/2006/main" noGrp="1"/>
          </p:cNvSpPr>
          <p:nvPr/>
        </p:nvSpPr>
        <p:spPr>
          <a:xfrm xmlns:a="http://schemas.openxmlformats.org/drawingml/2006/main">
            <a:off x="7000875" y="40386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1.000</a:t>
            </a:r>
          </a:p>
        </p:txBody>
      </p:sp>
      <p:sp>
        <p:nvSpPr>
          <p:cNvPr id="39" name="">
            <a:extLst xmlns:a="http://schemas.openxmlformats.org/drawingml/2006/main">
              <a:ext uri="{FF2B5EF4-FFF2-40B4-BE49-F238E27FC236}">
                <a16:creationId xmlns:a16="http://schemas.microsoft.com/office/drawing/2014/main" id="{2082B58B-58E4-4D1B-9D1D-DB4DE0DC49D4}"/>
              </a:ext>
            </a:extLst>
          </p:cNvPr>
          <p:cNvSpPr>
            <a:spLocks xmlns:a="http://schemas.openxmlformats.org/drawingml/2006/main" noGrp="1"/>
          </p:cNvSpPr>
          <p:nvPr/>
        </p:nvSpPr>
        <p:spPr>
          <a:xfrm xmlns:a="http://schemas.openxmlformats.org/drawingml/2006/main">
            <a:off x="9067800" y="40386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1.000</a:t>
            </a:r>
          </a:p>
        </p:txBody>
      </p:sp>
      <p:sp>
        <p:nvSpPr>
          <p:cNvPr id="40" name="">
            <a:extLst xmlns:a="http://schemas.openxmlformats.org/drawingml/2006/main">
              <a:ext uri="{FF2B5EF4-FFF2-40B4-BE49-F238E27FC236}">
                <a16:creationId xmlns:a16="http://schemas.microsoft.com/office/drawing/2014/main" id="{5B283042-E558-4C54-9119-414023A951D4}"/>
              </a:ext>
            </a:extLst>
          </p:cNvPr>
          <p:cNvSpPr>
            <a:spLocks xmlns:a="http://schemas.openxmlformats.org/drawingml/2006/main" noGrp="1"/>
          </p:cNvSpPr>
          <p:nvPr/>
        </p:nvSpPr>
        <p:spPr>
          <a:xfrm xmlns:a="http://schemas.openxmlformats.org/drawingml/2006/main">
            <a:off x="762000" y="4438650"/>
            <a:ext cx="1064895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34C77FC-5942-4113-852A-0BDD5B843266}"/>
              </a:ext>
            </a:extLst>
          </p:cNvPr>
          <p:cNvSpPr>
            <a:spLocks xmlns:a="http://schemas.openxmlformats.org/drawingml/2006/main" noGrp="1"/>
          </p:cNvSpPr>
          <p:nvPr/>
        </p:nvSpPr>
        <p:spPr>
          <a:xfrm xmlns:a="http://schemas.openxmlformats.org/drawingml/2006/main">
            <a:off x="762000" y="4505325"/>
            <a:ext cx="200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Fault ordering NAPFD</a:t>
            </a:r>
          </a:p>
        </p:txBody>
      </p:sp>
      <p:sp>
        <p:nvSpPr>
          <p:cNvPr id="42" name="">
            <a:extLst xmlns:a="http://schemas.openxmlformats.org/drawingml/2006/main">
              <a:ext uri="{FF2B5EF4-FFF2-40B4-BE49-F238E27FC236}">
                <a16:creationId xmlns:a16="http://schemas.microsoft.com/office/drawing/2014/main" id="{49913DC2-8CEB-4C6C-9942-093DF06A5D6D}"/>
              </a:ext>
            </a:extLst>
          </p:cNvPr>
          <p:cNvSpPr>
            <a:spLocks xmlns:a="http://schemas.openxmlformats.org/drawingml/2006/main" noGrp="1"/>
          </p:cNvSpPr>
          <p:nvPr/>
        </p:nvSpPr>
        <p:spPr>
          <a:xfrm xmlns:a="http://schemas.openxmlformats.org/drawingml/2006/main">
            <a:off x="2933700" y="45053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0.490</a:t>
            </a:r>
          </a:p>
        </p:txBody>
      </p:sp>
      <p:sp>
        <p:nvSpPr>
          <p:cNvPr id="43" name="">
            <a:extLst xmlns:a="http://schemas.openxmlformats.org/drawingml/2006/main">
              <a:ext uri="{FF2B5EF4-FFF2-40B4-BE49-F238E27FC236}">
                <a16:creationId xmlns:a16="http://schemas.microsoft.com/office/drawing/2014/main" id="{E8306712-4BA0-4CDF-A4D7-B4160F03315A}"/>
              </a:ext>
            </a:extLst>
          </p:cNvPr>
          <p:cNvSpPr>
            <a:spLocks xmlns:a="http://schemas.openxmlformats.org/drawingml/2006/main" noGrp="1"/>
          </p:cNvSpPr>
          <p:nvPr/>
        </p:nvSpPr>
        <p:spPr>
          <a:xfrm xmlns:a="http://schemas.openxmlformats.org/drawingml/2006/main">
            <a:off x="4905375" y="45053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0.750</a:t>
            </a:r>
          </a:p>
        </p:txBody>
      </p:sp>
      <p:sp>
        <p:nvSpPr>
          <p:cNvPr id="44" name="">
            <a:extLst xmlns:a="http://schemas.openxmlformats.org/drawingml/2006/main">
              <a:ext uri="{FF2B5EF4-FFF2-40B4-BE49-F238E27FC236}">
                <a16:creationId xmlns:a16="http://schemas.microsoft.com/office/drawing/2014/main" id="{F27FF5EB-BD93-414B-8D19-674321F2BB78}"/>
              </a:ext>
            </a:extLst>
          </p:cNvPr>
          <p:cNvSpPr>
            <a:spLocks xmlns:a="http://schemas.openxmlformats.org/drawingml/2006/main" noGrp="1"/>
          </p:cNvSpPr>
          <p:nvPr/>
        </p:nvSpPr>
        <p:spPr>
          <a:xfrm xmlns:a="http://schemas.openxmlformats.org/drawingml/2006/main">
            <a:off x="7000875" y="45053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0.750</a:t>
            </a:r>
          </a:p>
        </p:txBody>
      </p:sp>
      <p:sp>
        <p:nvSpPr>
          <p:cNvPr id="45" name="">
            <a:extLst xmlns:a="http://schemas.openxmlformats.org/drawingml/2006/main">
              <a:ext uri="{FF2B5EF4-FFF2-40B4-BE49-F238E27FC236}">
                <a16:creationId xmlns:a16="http://schemas.microsoft.com/office/drawing/2014/main" id="{74E9ED60-F6D2-4252-BAF0-5BCA51C11888}"/>
              </a:ext>
            </a:extLst>
          </p:cNvPr>
          <p:cNvSpPr>
            <a:spLocks xmlns:a="http://schemas.openxmlformats.org/drawingml/2006/main" noGrp="1"/>
          </p:cNvSpPr>
          <p:nvPr/>
        </p:nvSpPr>
        <p:spPr>
          <a:xfrm xmlns:a="http://schemas.openxmlformats.org/drawingml/2006/main">
            <a:off x="9067800" y="45053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0.750</a:t>
            </a:r>
          </a:p>
        </p:txBody>
      </p:sp>
      <p:sp>
        <p:nvSpPr>
          <p:cNvPr id="46" name="">
            <a:extLst xmlns:a="http://schemas.openxmlformats.org/drawingml/2006/main">
              <a:ext uri="{FF2B5EF4-FFF2-40B4-BE49-F238E27FC236}">
                <a16:creationId xmlns:a16="http://schemas.microsoft.com/office/drawing/2014/main" id="{6DCFCE76-3B03-44EB-BBDF-02D05DDE275B}"/>
              </a:ext>
            </a:extLst>
          </p:cNvPr>
          <p:cNvSpPr>
            <a:spLocks xmlns:a="http://schemas.openxmlformats.org/drawingml/2006/main" noGrp="1"/>
          </p:cNvSpPr>
          <p:nvPr/>
        </p:nvSpPr>
        <p:spPr>
          <a:xfrm xmlns:a="http://schemas.openxmlformats.org/drawingml/2006/main">
            <a:off x="762000" y="4905375"/>
            <a:ext cx="1064895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00BA606-385A-4C9F-822C-035C3BEBE6EC}"/>
              </a:ext>
            </a:extLst>
          </p:cNvPr>
          <p:cNvSpPr>
            <a:spLocks xmlns:a="http://schemas.openxmlformats.org/drawingml/2006/main" noGrp="1"/>
          </p:cNvSpPr>
          <p:nvPr/>
        </p:nvSpPr>
        <p:spPr>
          <a:xfrm xmlns:a="http://schemas.openxmlformats.org/drawingml/2006/main">
            <a:off x="762000" y="4972050"/>
            <a:ext cx="200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Simulated rollback rate</a:t>
            </a:r>
          </a:p>
        </p:txBody>
      </p:sp>
      <p:sp>
        <p:nvSpPr>
          <p:cNvPr id="48" name="">
            <a:extLst xmlns:a="http://schemas.openxmlformats.org/drawingml/2006/main">
              <a:ext uri="{FF2B5EF4-FFF2-40B4-BE49-F238E27FC236}">
                <a16:creationId xmlns:a16="http://schemas.microsoft.com/office/drawing/2014/main" id="{70594525-1776-4E79-832A-D78D05990993}"/>
              </a:ext>
            </a:extLst>
          </p:cNvPr>
          <p:cNvSpPr>
            <a:spLocks xmlns:a="http://schemas.openxmlformats.org/drawingml/2006/main" noGrp="1"/>
          </p:cNvSpPr>
          <p:nvPr/>
        </p:nvSpPr>
        <p:spPr>
          <a:xfrm xmlns:a="http://schemas.openxmlformats.org/drawingml/2006/main">
            <a:off x="2933700" y="49720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5.6%</a:t>
            </a:r>
          </a:p>
        </p:txBody>
      </p:sp>
      <p:sp>
        <p:nvSpPr>
          <p:cNvPr id="49" name="">
            <a:extLst xmlns:a="http://schemas.openxmlformats.org/drawingml/2006/main">
              <a:ext uri="{FF2B5EF4-FFF2-40B4-BE49-F238E27FC236}">
                <a16:creationId xmlns:a16="http://schemas.microsoft.com/office/drawing/2014/main" id="{D1B678AC-6251-4EC6-B5B4-A0472694494B}"/>
              </a:ext>
            </a:extLst>
          </p:cNvPr>
          <p:cNvSpPr>
            <a:spLocks xmlns:a="http://schemas.openxmlformats.org/drawingml/2006/main" noGrp="1"/>
          </p:cNvSpPr>
          <p:nvPr/>
        </p:nvSpPr>
        <p:spPr>
          <a:xfrm xmlns:a="http://schemas.openxmlformats.org/drawingml/2006/main">
            <a:off x="4905375" y="49720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5.4%</a:t>
            </a:r>
          </a:p>
        </p:txBody>
      </p:sp>
      <p:sp>
        <p:nvSpPr>
          <p:cNvPr id="50" name="">
            <a:extLst xmlns:a="http://schemas.openxmlformats.org/drawingml/2006/main">
              <a:ext uri="{FF2B5EF4-FFF2-40B4-BE49-F238E27FC236}">
                <a16:creationId xmlns:a16="http://schemas.microsoft.com/office/drawing/2014/main" id="{C9ACDD8D-FF2C-4A36-825E-983BC239BB5B}"/>
              </a:ext>
            </a:extLst>
          </p:cNvPr>
          <p:cNvSpPr>
            <a:spLocks xmlns:a="http://schemas.openxmlformats.org/drawingml/2006/main" noGrp="1"/>
          </p:cNvSpPr>
          <p:nvPr/>
        </p:nvSpPr>
        <p:spPr>
          <a:xfrm xmlns:a="http://schemas.openxmlformats.org/drawingml/2006/main">
            <a:off x="7000875" y="49720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5.8%</a:t>
            </a:r>
          </a:p>
        </p:txBody>
      </p:sp>
      <p:sp>
        <p:nvSpPr>
          <p:cNvPr id="51" name="">
            <a:extLst xmlns:a="http://schemas.openxmlformats.org/drawingml/2006/main">
              <a:ext uri="{FF2B5EF4-FFF2-40B4-BE49-F238E27FC236}">
                <a16:creationId xmlns:a16="http://schemas.microsoft.com/office/drawing/2014/main" id="{A8D697DF-C35F-417D-BD5F-EB4C55C48B84}"/>
              </a:ext>
            </a:extLst>
          </p:cNvPr>
          <p:cNvSpPr>
            <a:spLocks xmlns:a="http://schemas.openxmlformats.org/drawingml/2006/main" noGrp="1"/>
          </p:cNvSpPr>
          <p:nvPr/>
        </p:nvSpPr>
        <p:spPr>
          <a:xfrm xmlns:a="http://schemas.openxmlformats.org/drawingml/2006/main">
            <a:off x="9067800" y="49720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7.4%</a:t>
            </a:r>
          </a:p>
        </p:txBody>
      </p:sp>
      <p:sp>
        <p:nvSpPr>
          <p:cNvPr id="52" name="">
            <a:extLst xmlns:a="http://schemas.openxmlformats.org/drawingml/2006/main">
              <a:ext uri="{FF2B5EF4-FFF2-40B4-BE49-F238E27FC236}">
                <a16:creationId xmlns:a16="http://schemas.microsoft.com/office/drawing/2014/main" id="{CA751499-753A-4E2D-AEE5-505B6DFFDCB8}"/>
              </a:ext>
            </a:extLst>
          </p:cNvPr>
          <p:cNvSpPr>
            <a:spLocks xmlns:a="http://schemas.openxmlformats.org/drawingml/2006/main" noGrp="1"/>
          </p:cNvSpPr>
          <p:nvPr/>
        </p:nvSpPr>
        <p:spPr>
          <a:xfrm xmlns:a="http://schemas.openxmlformats.org/drawingml/2006/main">
            <a:off x="762000" y="5543550"/>
            <a:ext cx="10648950" cy="552450"/>
          </a:xfrm>
          <a:prstGeom xmlns:a="http://schemas.openxmlformats.org/drawingml/2006/main" prst="roundRect">
            <a:avLst>
              <a:gd name="adj" fmla="val 20690"/>
            </a:avLst>
          </a:prstGeom>
          <a:solidFill xmlns:a="http://schemas.openxmlformats.org/drawingml/2006/main">
            <a:srgbClr val="DDEFEA"/>
          </a:solidFill>
          <a:ln xmlns:a="http://schemas.openxmlformats.org/drawingml/2006/main" w="9525">
            <a:noFill/>
          </a:ln>
        </p:spPr>
      </p:sp>
      <p:sp>
        <p:nvSpPr>
          <p:cNvPr id="53" name="">
            <a:extLst xmlns:a="http://schemas.openxmlformats.org/drawingml/2006/main">
              <a:ext uri="{FF2B5EF4-FFF2-40B4-BE49-F238E27FC236}">
                <a16:creationId xmlns:a16="http://schemas.microsoft.com/office/drawing/2014/main" id="{45692644-1FEF-4B30-A881-A07CE8C16B21}"/>
              </a:ext>
            </a:extLst>
          </p:cNvPr>
          <p:cNvSpPr>
            <a:spLocks xmlns:a="http://schemas.openxmlformats.org/drawingml/2006/main" noGrp="1"/>
          </p:cNvSpPr>
          <p:nvPr/>
        </p:nvSpPr>
        <p:spPr>
          <a:xfrm xmlns:a="http://schemas.openxmlformats.org/drawingml/2006/main">
            <a:off x="923925" y="563880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18324B"/>
                </a:solidFill>
                <a:latin typeface="Arial"/>
                <a:ea typeface="Arial"/>
                <a:cs typeface="Arial"/>
              </a:defRPr>
            </a:pPr>
            <a:r>
              <a:rPr sz="1425" b="1">
                <a:solidFill>
                  <a:srgbClr val="18324B"/>
                </a:solidFill>
                <a:latin typeface="Arial"/>
                <a:ea typeface="Arial"/>
                <a:cs typeface="Arial"/>
              </a:rPr>
              <a:t>A3 adds the most bytes and has the highest rollback rate. All arms reach F1 = 1.0 on distinctive synthetic labels.</a:t>
            </a:r>
          </a:p>
        </p:txBody>
      </p:sp>
    </p:spTree>
    <p:extLst>
      <p:ext uri="{BB962C8B-B14F-4D97-AF65-F5344CB8AC3E}">
        <p14:creationId xmlns:p14="http://schemas.microsoft.com/office/powerpoint/2010/main" val="1625687327"/>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1280FB5-F061-437E-83B3-A8D16E0AE1E1}"/>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Treat these as classroom results, not field evidence</a:t>
            </a:r>
          </a:p>
        </p:txBody>
      </p:sp>
      <p:sp>
        <p:nvSpPr>
          <p:cNvPr id="2" name="">
            <a:extLst xmlns:a="http://schemas.openxmlformats.org/drawingml/2006/main">
              <a:ext uri="{FF2B5EF4-FFF2-40B4-BE49-F238E27FC236}">
                <a16:creationId xmlns:a16="http://schemas.microsoft.com/office/drawing/2014/main" id="{2261F4F4-F7D4-439C-888A-C32364F990A2}"/>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D505081-28E7-4F41-B0AB-4CC1EE29C20E}"/>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Seeded results support discussion of trade-offs; they do not validate business impact</a:t>
            </a:r>
          </a:p>
        </p:txBody>
      </p:sp>
      <p:sp>
        <p:nvSpPr>
          <p:cNvPr id="4" name="">
            <a:extLst xmlns:a="http://schemas.openxmlformats.org/drawingml/2006/main">
              <a:ext uri="{FF2B5EF4-FFF2-40B4-BE49-F238E27FC236}">
                <a16:creationId xmlns:a16="http://schemas.microsoft.com/office/drawing/2014/main" id="{3AB9C9ED-9376-4BB4-8103-5202BC325927}"/>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CEFA0C99-AE0E-4E08-A420-2E67EBE9AFF8}"/>
              </a:ext>
            </a:extLst>
          </p:cNvPr>
          <p:cNvSpPr>
            <a:spLocks xmlns:a="http://schemas.openxmlformats.org/drawingml/2006/main" noGrp="1"/>
          </p:cNvSpPr>
          <p:nvPr/>
        </p:nvSpPr>
        <p:spPr>
          <a:xfrm xmlns:a="http://schemas.openxmlformats.org/drawingml/2006/main">
            <a:off x="762000" y="1924050"/>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5F5B97F-3EE7-42FF-B466-EB8409B813CB}"/>
              </a:ext>
            </a:extLst>
          </p:cNvPr>
          <p:cNvSpPr>
            <a:spLocks xmlns:a="http://schemas.openxmlformats.org/drawingml/2006/main" noGrp="1"/>
          </p:cNvSpPr>
          <p:nvPr/>
        </p:nvSpPr>
        <p:spPr>
          <a:xfrm xmlns:a="http://schemas.openxmlformats.org/drawingml/2006/main">
            <a:off x="1009650" y="1838325"/>
            <a:ext cx="4800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Wall time differed in this run</a:t>
            </a:r>
          </a:p>
        </p:txBody>
      </p:sp>
      <p:sp>
        <p:nvSpPr>
          <p:cNvPr id="7" name="">
            <a:extLst xmlns:a="http://schemas.openxmlformats.org/drawingml/2006/main">
              <a:ext uri="{FF2B5EF4-FFF2-40B4-BE49-F238E27FC236}">
                <a16:creationId xmlns:a16="http://schemas.microsoft.com/office/drawing/2014/main" id="{2CBFCCC3-0F70-432B-873B-A8C4D63618C2}"/>
              </a:ext>
            </a:extLst>
          </p:cNvPr>
          <p:cNvSpPr>
            <a:spLocks xmlns:a="http://schemas.openxmlformats.org/drawingml/2006/main" noGrp="1"/>
          </p:cNvSpPr>
          <p:nvPr/>
        </p:nvSpPr>
        <p:spPr>
          <a:xfrm xmlns:a="http://schemas.openxmlformats.org/drawingml/2006/main">
            <a:off x="1009650" y="2143125"/>
            <a:ext cx="480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Friedman omnibus p = 0.0136 across five seeds. Values remain tiny CPU-proxy timings, not service latency.</a:t>
            </a:r>
          </a:p>
        </p:txBody>
      </p:sp>
      <p:sp>
        <p:nvSpPr>
          <p:cNvPr id="8" name="">
            <a:extLst xmlns:a="http://schemas.openxmlformats.org/drawingml/2006/main">
              <a:ext uri="{FF2B5EF4-FFF2-40B4-BE49-F238E27FC236}">
                <a16:creationId xmlns:a16="http://schemas.microsoft.com/office/drawing/2014/main" id="{6F13F4B4-7259-4FF0-A217-2821C49ABBD8}"/>
              </a:ext>
            </a:extLst>
          </p:cNvPr>
          <p:cNvSpPr>
            <a:spLocks xmlns:a="http://schemas.openxmlformats.org/drawingml/2006/main" noGrp="1"/>
          </p:cNvSpPr>
          <p:nvPr/>
        </p:nvSpPr>
        <p:spPr>
          <a:xfrm xmlns:a="http://schemas.openxmlformats.org/drawingml/2006/main">
            <a:off x="762000" y="3228975"/>
            <a:ext cx="114300" cy="114300"/>
          </a:xfrm>
          <a:prstGeom xmlns:a="http://schemas.openxmlformats.org/drawingml/2006/main" prst="ellipse">
            <a:avLst/>
          </a:prstGeom>
          <a:solidFill xmlns:a="http://schemas.openxmlformats.org/drawingml/2006/main">
            <a:srgbClr val="3B6FA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C3C03EE-1E7F-4A6D-8ACB-AFE34458E51D}"/>
              </a:ext>
            </a:extLst>
          </p:cNvPr>
          <p:cNvSpPr>
            <a:spLocks xmlns:a="http://schemas.openxmlformats.org/drawingml/2006/main" noGrp="1"/>
          </p:cNvSpPr>
          <p:nvPr/>
        </p:nvSpPr>
        <p:spPr>
          <a:xfrm xmlns:a="http://schemas.openxmlformats.org/drawingml/2006/main">
            <a:off x="1009650" y="3143250"/>
            <a:ext cx="4800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Network bytes also differed</a:t>
            </a:r>
          </a:p>
        </p:txBody>
      </p:sp>
      <p:sp>
        <p:nvSpPr>
          <p:cNvPr id="10" name="">
            <a:extLst xmlns:a="http://schemas.openxmlformats.org/drawingml/2006/main">
              <a:ext uri="{FF2B5EF4-FFF2-40B4-BE49-F238E27FC236}">
                <a16:creationId xmlns:a16="http://schemas.microsoft.com/office/drawing/2014/main" id="{05E065BF-EEBB-4095-9B4D-4246C0D2CDD4}"/>
              </a:ext>
            </a:extLst>
          </p:cNvPr>
          <p:cNvSpPr>
            <a:spLocks xmlns:a="http://schemas.openxmlformats.org/drawingml/2006/main" noGrp="1"/>
          </p:cNvSpPr>
          <p:nvPr/>
        </p:nvSpPr>
        <p:spPr>
          <a:xfrm xmlns:a="http://schemas.openxmlformats.org/drawingml/2006/main">
            <a:off x="1009650" y="3448050"/>
            <a:ext cx="480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Friedman omnibus p = 0.0018. CPU (p = 0.926) and rollback (p = 0.604) were not significant.</a:t>
            </a:r>
          </a:p>
        </p:txBody>
      </p:sp>
      <p:sp>
        <p:nvSpPr>
          <p:cNvPr id="11" name="">
            <a:extLst xmlns:a="http://schemas.openxmlformats.org/drawingml/2006/main">
              <a:ext uri="{FF2B5EF4-FFF2-40B4-BE49-F238E27FC236}">
                <a16:creationId xmlns:a16="http://schemas.microsoft.com/office/drawing/2014/main" id="{A1048A6E-12FF-448F-8E25-E887E72709B7}"/>
              </a:ext>
            </a:extLst>
          </p:cNvPr>
          <p:cNvSpPr>
            <a:spLocks xmlns:a="http://schemas.openxmlformats.org/drawingml/2006/main" noGrp="1"/>
          </p:cNvSpPr>
          <p:nvPr/>
        </p:nvSpPr>
        <p:spPr>
          <a:xfrm xmlns:a="http://schemas.openxmlformats.org/drawingml/2006/main">
            <a:off x="6429375" y="1924050"/>
            <a:ext cx="114300" cy="114300"/>
          </a:xfrm>
          <a:prstGeom xmlns:a="http://schemas.openxmlformats.org/drawingml/2006/main" prst="ellipse">
            <a:avLst/>
          </a:prstGeom>
          <a:solidFill xmlns:a="http://schemas.openxmlformats.org/drawingml/2006/main">
            <a:srgbClr val="4B806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2BBD595-6512-4B7E-9AA3-999448041431}"/>
              </a:ext>
            </a:extLst>
          </p:cNvPr>
          <p:cNvSpPr>
            <a:spLocks xmlns:a="http://schemas.openxmlformats.org/drawingml/2006/main" noGrp="1"/>
          </p:cNvSpPr>
          <p:nvPr/>
        </p:nvSpPr>
        <p:spPr>
          <a:xfrm xmlns:a="http://schemas.openxmlformats.org/drawingml/2006/main">
            <a:off x="6677025" y="1838325"/>
            <a:ext cx="4610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Policy gates held in this run</a:t>
            </a:r>
          </a:p>
        </p:txBody>
      </p:sp>
      <p:sp>
        <p:nvSpPr>
          <p:cNvPr id="13" name="">
            <a:extLst xmlns:a="http://schemas.openxmlformats.org/drawingml/2006/main">
              <a:ext uri="{FF2B5EF4-FFF2-40B4-BE49-F238E27FC236}">
                <a16:creationId xmlns:a16="http://schemas.microsoft.com/office/drawing/2014/main" id="{F3313FCC-EE07-4C91-911C-E5C0E110DAFF}"/>
              </a:ext>
            </a:extLst>
          </p:cNvPr>
          <p:cNvSpPr>
            <a:spLocks xmlns:a="http://schemas.openxmlformats.org/drawingml/2006/main" noGrp="1"/>
          </p:cNvSpPr>
          <p:nvPr/>
        </p:nvSpPr>
        <p:spPr>
          <a:xfrm xmlns:a="http://schemas.openxmlformats.org/drawingml/2006/main">
            <a:off x="6677025" y="2143125"/>
            <a:ext cx="461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20/20 synthetic injections blocked; zero unapproved full releases. A3 had 11 approved simulated releases.</a:t>
            </a:r>
          </a:p>
        </p:txBody>
      </p:sp>
      <p:sp>
        <p:nvSpPr>
          <p:cNvPr id="14" name="">
            <a:extLst xmlns:a="http://schemas.openxmlformats.org/drawingml/2006/main">
              <a:ext uri="{FF2B5EF4-FFF2-40B4-BE49-F238E27FC236}">
                <a16:creationId xmlns:a16="http://schemas.microsoft.com/office/drawing/2014/main" id="{72C34162-49A2-4D5F-BA60-B63B7F7D7D32}"/>
              </a:ext>
            </a:extLst>
          </p:cNvPr>
          <p:cNvSpPr>
            <a:spLocks xmlns:a="http://schemas.openxmlformats.org/drawingml/2006/main" noGrp="1"/>
          </p:cNvSpPr>
          <p:nvPr/>
        </p:nvSpPr>
        <p:spPr>
          <a:xfrm xmlns:a="http://schemas.openxmlformats.org/drawingml/2006/main">
            <a:off x="6429375" y="3228975"/>
            <a:ext cx="114300" cy="114300"/>
          </a:xfrm>
          <a:prstGeom xmlns:a="http://schemas.openxmlformats.org/drawingml/2006/main" prst="ellipse">
            <a:avLst/>
          </a:prstGeom>
          <a:solidFill xmlns:a="http://schemas.openxmlformats.org/drawingml/2006/main">
            <a:srgbClr val="B77A2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C2E342D-9EBE-4303-96D4-F610018ED070}"/>
              </a:ext>
            </a:extLst>
          </p:cNvPr>
          <p:cNvSpPr>
            <a:spLocks xmlns:a="http://schemas.openxmlformats.org/drawingml/2006/main" noGrp="1"/>
          </p:cNvSpPr>
          <p:nvPr/>
        </p:nvSpPr>
        <p:spPr>
          <a:xfrm xmlns:a="http://schemas.openxmlformats.org/drawingml/2006/main">
            <a:off x="6677025" y="3143250"/>
            <a:ext cx="4610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No field productivity claim</a:t>
            </a:r>
          </a:p>
        </p:txBody>
      </p:sp>
      <p:sp>
        <p:nvSpPr>
          <p:cNvPr id="16" name="">
            <a:extLst xmlns:a="http://schemas.openxmlformats.org/drawingml/2006/main">
              <a:ext uri="{FF2B5EF4-FFF2-40B4-BE49-F238E27FC236}">
                <a16:creationId xmlns:a16="http://schemas.microsoft.com/office/drawing/2014/main" id="{6D8EB48F-3E23-43DE-ADB2-C9670F8DDC10}"/>
              </a:ext>
            </a:extLst>
          </p:cNvPr>
          <p:cNvSpPr>
            <a:spLocks xmlns:a="http://schemas.openxmlformats.org/drawingml/2006/main" noGrp="1"/>
          </p:cNvSpPr>
          <p:nvPr/>
        </p:nvSpPr>
        <p:spPr>
          <a:xfrm xmlns:a="http://schemas.openxmlformats.org/drawingml/2006/main">
            <a:off x="6677025" y="3448050"/>
            <a:ext cx="461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387"/>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The harness runs no LLM API, Redis, real CI or production deployment. DORA-style outcomes are simulated.</a:t>
            </a:r>
          </a:p>
        </p:txBody>
      </p:sp>
      <p:sp>
        <p:nvSpPr>
          <p:cNvPr id="17" name="">
            <a:extLst xmlns:a="http://schemas.openxmlformats.org/drawingml/2006/main">
              <a:ext uri="{FF2B5EF4-FFF2-40B4-BE49-F238E27FC236}">
                <a16:creationId xmlns:a16="http://schemas.microsoft.com/office/drawing/2014/main" id="{BCD3C0AF-1EDF-4805-BD09-5C5BBE03FEB5}"/>
              </a:ext>
            </a:extLst>
          </p:cNvPr>
          <p:cNvSpPr>
            <a:spLocks xmlns:a="http://schemas.openxmlformats.org/drawingml/2006/main" noGrp="1"/>
          </p:cNvSpPr>
          <p:nvPr/>
        </p:nvSpPr>
        <p:spPr>
          <a:xfrm xmlns:a="http://schemas.openxmlformats.org/drawingml/2006/main">
            <a:off x="762000" y="4810125"/>
            <a:ext cx="10620375" cy="904875"/>
          </a:xfrm>
          <a:prstGeom xmlns:a="http://schemas.openxmlformats.org/drawingml/2006/main" prst="roundRect">
            <a:avLst>
              <a:gd name="adj" fmla="val 16842"/>
            </a:avLst>
          </a:prstGeom>
          <a:solidFill xmlns:a="http://schemas.openxmlformats.org/drawingml/2006/main">
            <a:srgbClr val="FFFFFF"/>
          </a:solidFill>
          <a:ln xmlns:a="http://schemas.openxmlformats.org/drawingml/2006/main" w="9525">
            <a:solidFill>
              <a:srgbClr val="D7E0E9"/>
            </a:solidFill>
          </a:ln>
        </p:spPr>
      </p:sp>
      <p:sp>
        <p:nvSpPr>
          <p:cNvPr id="18" name="">
            <a:extLst xmlns:a="http://schemas.openxmlformats.org/drawingml/2006/main">
              <a:ext uri="{FF2B5EF4-FFF2-40B4-BE49-F238E27FC236}">
                <a16:creationId xmlns:a16="http://schemas.microsoft.com/office/drawing/2014/main" id="{1D83A24E-6747-40A0-8FF6-DB3133C2A84A}"/>
              </a:ext>
            </a:extLst>
          </p:cNvPr>
          <p:cNvSpPr>
            <a:spLocks xmlns:a="http://schemas.openxmlformats.org/drawingml/2006/main" noGrp="1"/>
          </p:cNvSpPr>
          <p:nvPr/>
        </p:nvSpPr>
        <p:spPr>
          <a:xfrm xmlns:a="http://schemas.openxmlformats.org/drawingml/2006/main">
            <a:off x="952500" y="49625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2D7A78"/>
                </a:solidFill>
                <a:latin typeface="Arial"/>
                <a:ea typeface="Arial"/>
                <a:cs typeface="Arial"/>
              </a:defRPr>
            </a:pPr>
            <a:r>
              <a:rPr sz="1575" b="1">
                <a:solidFill>
                  <a:srgbClr val="2D7A78"/>
                </a:solidFill>
                <a:latin typeface="Arial"/>
                <a:ea typeface="Arial"/>
                <a:cs typeface="Arial"/>
              </a:rPr>
              <a:t>What the result actually says</a:t>
            </a:r>
          </a:p>
        </p:txBody>
      </p:sp>
      <p:sp>
        <p:nvSpPr>
          <p:cNvPr id="19" name="">
            <a:extLst xmlns:a="http://schemas.openxmlformats.org/drawingml/2006/main">
              <a:ext uri="{FF2B5EF4-FFF2-40B4-BE49-F238E27FC236}">
                <a16:creationId xmlns:a16="http://schemas.microsoft.com/office/drawing/2014/main" id="{81316D1C-CCFA-4D70-BFF0-6C5254CE885E}"/>
              </a:ext>
            </a:extLst>
          </p:cNvPr>
          <p:cNvSpPr>
            <a:spLocks xmlns:a="http://schemas.openxmlformats.org/drawingml/2006/main" noGrp="1"/>
          </p:cNvSpPr>
          <p:nvPr/>
        </p:nvSpPr>
        <p:spPr>
          <a:xfrm xmlns:a="http://schemas.openxmlformats.org/drawingml/2006/main">
            <a:off x="952500" y="5276850"/>
            <a:ext cx="1009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125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Coordination and mobility increase serialized work in this setup. Whether local execution is worth that cost depends on data locality and privacy requirements, which this benchmark does not quantify.</a:t>
            </a:r>
          </a:p>
        </p:txBody>
      </p:sp>
    </p:spTree>
    <p:extLst>
      <p:ext uri="{BB962C8B-B14F-4D97-AF65-F5344CB8AC3E}">
        <p14:creationId xmlns:p14="http://schemas.microsoft.com/office/powerpoint/2010/main" val="776140878"/>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1C32832-66A7-437A-BB95-3107E201C5A0}"/>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71765"/>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Conclusion: a useful architecture prototype, not an autonomous delivery system</a:t>
            </a:r>
          </a:p>
        </p:txBody>
      </p:sp>
      <p:sp>
        <p:nvSpPr>
          <p:cNvPr id="2" name="">
            <a:extLst xmlns:a="http://schemas.openxmlformats.org/drawingml/2006/main">
              <a:ext uri="{FF2B5EF4-FFF2-40B4-BE49-F238E27FC236}">
                <a16:creationId xmlns:a16="http://schemas.microsoft.com/office/drawing/2014/main" id="{ECCDC29F-ECDB-4269-B627-0A58C5B0DA1C}"/>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586F97C-16AE-4AAD-A555-5FE1458B881C}"/>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The implemented boundary is clear, and it gives the next evaluation a practical target</a:t>
            </a:r>
          </a:p>
        </p:txBody>
      </p:sp>
      <p:sp>
        <p:nvSpPr>
          <p:cNvPr id="4" name="">
            <a:extLst xmlns:a="http://schemas.openxmlformats.org/drawingml/2006/main">
              <a:ext uri="{FF2B5EF4-FFF2-40B4-BE49-F238E27FC236}">
                <a16:creationId xmlns:a16="http://schemas.microsoft.com/office/drawing/2014/main" id="{94DBAF58-6D10-422B-9F29-2AFD940EA763}"/>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3390264A-3DDD-4BAF-B3BE-0701781202C7}"/>
              </a:ext>
            </a:extLst>
          </p:cNvPr>
          <p:cNvSpPr>
            <a:spLocks xmlns:a="http://schemas.openxmlformats.org/drawingml/2006/main" noGrp="1"/>
          </p:cNvSpPr>
          <p:nvPr/>
        </p:nvSpPr>
        <p:spPr>
          <a:xfrm xmlns:a="http://schemas.openxmlformats.org/drawingml/2006/main">
            <a:off x="781050" y="1743075"/>
            <a:ext cx="4524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What works today</a:t>
            </a:r>
          </a:p>
        </p:txBody>
      </p:sp>
      <p:sp>
        <p:nvSpPr>
          <p:cNvPr id="6" name="">
            <a:extLst xmlns:a="http://schemas.openxmlformats.org/drawingml/2006/main">
              <a:ext uri="{FF2B5EF4-FFF2-40B4-BE49-F238E27FC236}">
                <a16:creationId xmlns:a16="http://schemas.microsoft.com/office/drawing/2014/main" id="{D3E934C6-5E1F-4235-94BD-3B141A15DFA4}"/>
              </a:ext>
            </a:extLst>
          </p:cNvPr>
          <p:cNvSpPr>
            <a:spLocks xmlns:a="http://schemas.openxmlformats.org/drawingml/2006/main" noGrp="1"/>
          </p:cNvSpPr>
          <p:nvPr/>
        </p:nvSpPr>
        <p:spPr>
          <a:xfrm xmlns:a="http://schemas.openxmlformats.org/drawingml/2006/main">
            <a:off x="781050" y="2190750"/>
            <a:ext cx="4762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54"/>
          </a:bodyPr>
          <a:lstStyle xmlns:a="http://schemas.openxmlformats.org/drawingml/2006/main"/>
          <a:p xmlns:a="http://schemas.openxmlformats.org/drawingml/2006/main">
            <a:pPr algn="l">
              <a:defRPr sz="1650" b="0">
                <a:solidFill>
                  <a:srgbClr val="2E4357"/>
                </a:solidFill>
                <a:latin typeface="Arial"/>
                <a:ea typeface="Arial"/>
                <a:cs typeface="Arial"/>
              </a:defRPr>
            </a:pPr>
            <a:r>
              <a:rPr sz="1650" b="0">
                <a:solidFill>
                  <a:srgbClr val="2E4357"/>
                </a:solidFill>
                <a:latin typeface="Arial"/>
                <a:ea typeface="Arial"/>
                <a:cs typeface="Arial"/>
              </a:rPr>
              <a:t>Nine agents take natural-language feedback to a monitored release: live duplicate search, a squad auction whose winner investigates, signed node trips, six gates and a monitoring loop.</a:t>
            </a:r>
          </a:p>
        </p:txBody>
      </p:sp>
      <p:sp>
        <p:nvSpPr>
          <p:cNvPr id="7" name="">
            <a:extLst xmlns:a="http://schemas.openxmlformats.org/drawingml/2006/main">
              <a:ext uri="{FF2B5EF4-FFF2-40B4-BE49-F238E27FC236}">
                <a16:creationId xmlns:a16="http://schemas.microsoft.com/office/drawing/2014/main" id="{36B42230-43FF-4800-A611-BFD740F39358}"/>
              </a:ext>
            </a:extLst>
          </p:cNvPr>
          <p:cNvSpPr>
            <a:spLocks xmlns:a="http://schemas.openxmlformats.org/drawingml/2006/main" noGrp="1"/>
          </p:cNvSpPr>
          <p:nvPr/>
        </p:nvSpPr>
        <p:spPr>
          <a:xfrm xmlns:a="http://schemas.openxmlformats.org/drawingml/2006/main">
            <a:off x="6457950" y="17430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3B6FA5"/>
                </a:solidFill>
                <a:latin typeface="Arial"/>
                <a:ea typeface="Arial"/>
                <a:cs typeface="Arial"/>
              </a:defRPr>
            </a:pPr>
            <a:r>
              <a:rPr sz="1725" b="1">
                <a:solidFill>
                  <a:srgbClr val="3B6FA5"/>
                </a:solidFill>
                <a:latin typeface="Arial"/>
                <a:ea typeface="Arial"/>
                <a:cs typeface="Arial"/>
              </a:rPr>
              <a:t>What the experiment shows</a:t>
            </a:r>
          </a:p>
        </p:txBody>
      </p:sp>
      <p:sp>
        <p:nvSpPr>
          <p:cNvPr id="8" name="">
            <a:extLst xmlns:a="http://schemas.openxmlformats.org/drawingml/2006/main">
              <a:ext uri="{FF2B5EF4-FFF2-40B4-BE49-F238E27FC236}">
                <a16:creationId xmlns:a16="http://schemas.microsoft.com/office/drawing/2014/main" id="{8B402F78-EF01-4D09-B5A4-DC6CF12799FE}"/>
              </a:ext>
            </a:extLst>
          </p:cNvPr>
          <p:cNvSpPr>
            <a:spLocks xmlns:a="http://schemas.openxmlformats.org/drawingml/2006/main" noGrp="1"/>
          </p:cNvSpPr>
          <p:nvPr/>
        </p:nvSpPr>
        <p:spPr>
          <a:xfrm xmlns:a="http://schemas.openxmlformats.org/drawingml/2006/main">
            <a:off x="6457950" y="2190750"/>
            <a:ext cx="4762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E4357"/>
                </a:solidFill>
                <a:latin typeface="Arial"/>
                <a:ea typeface="Arial"/>
                <a:cs typeface="Arial"/>
              </a:defRPr>
            </a:pPr>
            <a:r>
              <a:rPr sz="1650" b="0">
                <a:solidFill>
                  <a:srgbClr val="2E4357"/>
                </a:solidFill>
                <a:latin typeface="Arial"/>
                <a:ea typeface="Arial"/>
                <a:cs typeface="Arial"/>
              </a:rPr>
              <a:t>Agent arms improve duplicate retrieval and fault ordering in generated data. A3 adds transfer cost; the interactive dashboard is a different path, and real data locality is not measured.</a:t>
            </a:r>
          </a:p>
        </p:txBody>
      </p:sp>
      <p:sp>
        <p:nvSpPr>
          <p:cNvPr id="9" name="">
            <a:extLst xmlns:a="http://schemas.openxmlformats.org/drawingml/2006/main">
              <a:ext uri="{FF2B5EF4-FFF2-40B4-BE49-F238E27FC236}">
                <a16:creationId xmlns:a16="http://schemas.microsoft.com/office/drawing/2014/main" id="{D01DF412-3C4C-4776-A86B-61888DEB8F1F}"/>
              </a:ext>
            </a:extLst>
          </p:cNvPr>
          <p:cNvSpPr>
            <a:spLocks xmlns:a="http://schemas.openxmlformats.org/drawingml/2006/main" noGrp="1"/>
          </p:cNvSpPr>
          <p:nvPr/>
        </p:nvSpPr>
        <p:spPr>
          <a:xfrm xmlns:a="http://schemas.openxmlformats.org/drawingml/2006/main">
            <a:off x="781050" y="3771900"/>
            <a:ext cx="10439400" cy="19050"/>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5BD2617-A12B-4F31-834B-5966749C24E3}"/>
              </a:ext>
            </a:extLst>
          </p:cNvPr>
          <p:cNvSpPr>
            <a:spLocks xmlns:a="http://schemas.openxmlformats.org/drawingml/2006/main" noGrp="1"/>
          </p:cNvSpPr>
          <p:nvPr/>
        </p:nvSpPr>
        <p:spPr>
          <a:xfrm xmlns:a="http://schemas.openxmlformats.org/drawingml/2006/main">
            <a:off x="781050" y="4019550"/>
            <a:ext cx="2381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8324B"/>
                </a:solidFill>
                <a:latin typeface="Arial"/>
                <a:ea typeface="Arial"/>
                <a:cs typeface="Arial"/>
              </a:defRPr>
            </a:pPr>
            <a:r>
              <a:rPr sz="1725" b="1">
                <a:solidFill>
                  <a:srgbClr val="18324B"/>
                </a:solidFill>
                <a:latin typeface="Arial"/>
                <a:ea typeface="Arial"/>
                <a:cs typeface="Arial"/>
              </a:rPr>
              <a:t>Conclusion</a:t>
            </a:r>
          </a:p>
        </p:txBody>
      </p:sp>
      <p:sp>
        <p:nvSpPr>
          <p:cNvPr id="11" name="">
            <a:extLst xmlns:a="http://schemas.openxmlformats.org/drawingml/2006/main">
              <a:ext uri="{FF2B5EF4-FFF2-40B4-BE49-F238E27FC236}">
                <a16:creationId xmlns:a16="http://schemas.microsoft.com/office/drawing/2014/main" id="{7D29148E-3908-48E5-9A2F-8C0EDB3D5600}"/>
              </a:ext>
            </a:extLst>
          </p:cNvPr>
          <p:cNvSpPr>
            <a:spLocks xmlns:a="http://schemas.openxmlformats.org/drawingml/2006/main" noGrp="1"/>
          </p:cNvSpPr>
          <p:nvPr/>
        </p:nvSpPr>
        <p:spPr>
          <a:xfrm xmlns:a="http://schemas.openxmlformats.org/drawingml/2006/main">
            <a:off x="781050" y="4438650"/>
            <a:ext cx="1038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18324B"/>
                </a:solidFill>
                <a:latin typeface="Arial"/>
                <a:ea typeface="Arial"/>
                <a:cs typeface="Arial"/>
              </a:defRPr>
            </a:pPr>
            <a:r>
              <a:rPr sz="1800" b="1">
                <a:solidFill>
                  <a:srgbClr val="18324B"/>
                </a:solidFill>
                <a:latin typeface="Arial"/>
                <a:ea typeface="Arial"/>
                <a:cs typeface="Arial"/>
              </a:rPr>
              <a:t>T2D-MAS shows inspectable agent collaboration with people in control. Next, replace the simulators with a real repository, CI, release pipeline and telemetry, move the offline models into the live path, and evaluate on public data.</a:t>
            </a:r>
          </a:p>
        </p:txBody>
      </p:sp>
      <p:sp>
        <p:nvSpPr>
          <p:cNvPr id="12" name="">
            <a:extLst xmlns:a="http://schemas.openxmlformats.org/drawingml/2006/main">
              <a:ext uri="{FF2B5EF4-FFF2-40B4-BE49-F238E27FC236}">
                <a16:creationId xmlns:a16="http://schemas.microsoft.com/office/drawing/2014/main" id="{30032843-D2D2-4211-B2FD-52651AA51841}"/>
              </a:ext>
            </a:extLst>
          </p:cNvPr>
          <p:cNvSpPr>
            <a:spLocks xmlns:a="http://schemas.openxmlformats.org/drawingml/2006/main" noGrp="1"/>
          </p:cNvSpPr>
          <p:nvPr/>
        </p:nvSpPr>
        <p:spPr>
          <a:xfrm xmlns:a="http://schemas.openxmlformats.org/drawingml/2006/main">
            <a:off x="781050" y="5629275"/>
            <a:ext cx="10429875" cy="504825"/>
          </a:xfrm>
          <a:prstGeom xmlns:a="http://schemas.openxmlformats.org/drawingml/2006/main" prst="roundRect">
            <a:avLst>
              <a:gd name="adj" fmla="val 22642"/>
            </a:avLst>
          </a:prstGeom>
          <a:solidFill xmlns:a="http://schemas.openxmlformats.org/drawingml/2006/main">
            <a:srgbClr val="DDEFEA"/>
          </a:solidFill>
          <a:ln xmlns:a="http://schemas.openxmlformats.org/drawingml/2006/main" w="9525">
            <a:noFill/>
          </a:ln>
        </p:spPr>
      </p:sp>
      <p:sp>
        <p:nvSpPr>
          <p:cNvPr id="13" name="">
            <a:extLst xmlns:a="http://schemas.openxmlformats.org/drawingml/2006/main">
              <a:ext uri="{FF2B5EF4-FFF2-40B4-BE49-F238E27FC236}">
                <a16:creationId xmlns:a16="http://schemas.microsoft.com/office/drawing/2014/main" id="{47784837-C550-4235-8244-752AF5CAB464}"/>
              </a:ext>
            </a:extLst>
          </p:cNvPr>
          <p:cNvSpPr>
            <a:spLocks xmlns:a="http://schemas.openxmlformats.org/drawingml/2006/main" noGrp="1"/>
          </p:cNvSpPr>
          <p:nvPr/>
        </p:nvSpPr>
        <p:spPr>
          <a:xfrm xmlns:a="http://schemas.openxmlformats.org/drawingml/2006/main">
            <a:off x="962025" y="5715000"/>
            <a:ext cx="100869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Keep the boundary clear: models propose, humans decide, irreversible actions remain gated.</a:t>
            </a:r>
          </a:p>
        </p:txBody>
      </p:sp>
    </p:spTree>
    <p:extLst>
      <p:ext uri="{BB962C8B-B14F-4D97-AF65-F5344CB8AC3E}">
        <p14:creationId xmlns:p14="http://schemas.microsoft.com/office/powerpoint/2010/main" val="1367062079"/>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96ED38C-B7CA-4873-9A11-23F1B497E811}"/>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Sources and scope notes</a:t>
            </a:r>
          </a:p>
        </p:txBody>
      </p:sp>
      <p:sp>
        <p:nvSpPr>
          <p:cNvPr id="2" name="">
            <a:extLst xmlns:a="http://schemas.openxmlformats.org/drawingml/2006/main">
              <a:ext uri="{FF2B5EF4-FFF2-40B4-BE49-F238E27FC236}">
                <a16:creationId xmlns:a16="http://schemas.microsoft.com/office/drawing/2014/main" id="{039E7A3D-F8B4-446A-B46D-B180BF1038EE}"/>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99713B0-A85C-458D-991F-2A28D6E6D60F}"/>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Repository and supplied project documents checked for this deck</a:t>
            </a:r>
          </a:p>
        </p:txBody>
      </p:sp>
      <p:sp>
        <p:nvSpPr>
          <p:cNvPr id="4" name="">
            <a:extLst xmlns:a="http://schemas.openxmlformats.org/drawingml/2006/main">
              <a:ext uri="{FF2B5EF4-FFF2-40B4-BE49-F238E27FC236}">
                <a16:creationId xmlns:a16="http://schemas.microsoft.com/office/drawing/2014/main" id="{3ED7D06C-FBE7-447D-B109-0B480F9358BD}"/>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C2709B60-17F3-4FE6-87CD-721322CF825F}"/>
              </a:ext>
            </a:extLst>
          </p:cNvPr>
          <p:cNvSpPr>
            <a:spLocks xmlns:a="http://schemas.openxmlformats.org/drawingml/2006/main" noGrp="1"/>
          </p:cNvSpPr>
          <p:nvPr/>
        </p:nvSpPr>
        <p:spPr>
          <a:xfrm xmlns:a="http://schemas.openxmlformats.org/drawingml/2006/main">
            <a:off x="800100" y="1704975"/>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F967114-8182-4F12-B63A-B4C6AB0D6AA5}"/>
              </a:ext>
            </a:extLst>
          </p:cNvPr>
          <p:cNvSpPr>
            <a:spLocks xmlns:a="http://schemas.openxmlformats.org/drawingml/2006/main" noGrp="1"/>
          </p:cNvSpPr>
          <p:nvPr/>
        </p:nvSpPr>
        <p:spPr>
          <a:xfrm xmlns:a="http://schemas.openxmlformats.org/drawingml/2006/main">
            <a:off x="1057275" y="16192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Project 1 - Idea.pdf — original problem, illustrative cosine example, agent design and AI capability roadmap.</a:t>
            </a:r>
          </a:p>
        </p:txBody>
      </p:sp>
      <p:sp>
        <p:nvSpPr>
          <p:cNvPr id="7" name="">
            <a:extLst xmlns:a="http://schemas.openxmlformats.org/drawingml/2006/main">
              <a:ext uri="{FF2B5EF4-FFF2-40B4-BE49-F238E27FC236}">
                <a16:creationId xmlns:a16="http://schemas.microsoft.com/office/drawing/2014/main" id="{E0CFEEF8-8D2A-41F7-9AEF-4B0793F20F9B}"/>
              </a:ext>
            </a:extLst>
          </p:cNvPr>
          <p:cNvSpPr>
            <a:spLocks xmlns:a="http://schemas.openxmlformats.org/drawingml/2006/main" noGrp="1"/>
          </p:cNvSpPr>
          <p:nvPr/>
        </p:nvSpPr>
        <p:spPr>
          <a:xfrm xmlns:a="http://schemas.openxmlformats.org/drawingml/2006/main">
            <a:off x="800100" y="2314575"/>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D958DE1-35FA-4C5B-8132-4280C21B62FC}"/>
              </a:ext>
            </a:extLst>
          </p:cNvPr>
          <p:cNvSpPr>
            <a:spLocks xmlns:a="http://schemas.openxmlformats.org/drawingml/2006/main" noGrp="1"/>
          </p:cNvSpPr>
          <p:nvPr/>
        </p:nvSpPr>
        <p:spPr>
          <a:xfrm xmlns:a="http://schemas.openxmlformats.org/drawingml/2006/main">
            <a:off x="1057275" y="22288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Laporan_Proyek1_T2D-MAS_Final.pdf — expanded design, agent taxonomy, methods, intended workflow and the cited results (§9.4–9.5).</a:t>
            </a:r>
          </a:p>
        </p:txBody>
      </p:sp>
      <p:sp>
        <p:nvSpPr>
          <p:cNvPr id="9" name="">
            <a:extLst xmlns:a="http://schemas.openxmlformats.org/drawingml/2006/main">
              <a:ext uri="{FF2B5EF4-FFF2-40B4-BE49-F238E27FC236}">
                <a16:creationId xmlns:a16="http://schemas.microsoft.com/office/drawing/2014/main" id="{F6E0A543-ABED-4A56-B663-EDC8583F9903}"/>
              </a:ext>
            </a:extLst>
          </p:cNvPr>
          <p:cNvSpPr>
            <a:spLocks xmlns:a="http://schemas.openxmlformats.org/drawingml/2006/main" noGrp="1"/>
          </p:cNvSpPr>
          <p:nvPr/>
        </p:nvSpPr>
        <p:spPr>
          <a:xfrm xmlns:a="http://schemas.openxmlformats.org/drawingml/2006/main">
            <a:off x="800100" y="2924175"/>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FADE7E4-D64C-40D0-9161-E87814FCB6B6}"/>
              </a:ext>
            </a:extLst>
          </p:cNvPr>
          <p:cNvSpPr>
            <a:spLocks xmlns:a="http://schemas.openxmlformats.org/drawingml/2006/main" noGrp="1"/>
          </p:cNvSpPr>
          <p:nvPr/>
        </p:nvSpPr>
        <p:spPr>
          <a:xfrm xmlns:a="http://schemas.openxmlformats.org/drawingml/2006/main">
            <a:off x="1057275" y="28384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README.md; docs/AUDIT.md; docs/process_and_experiments.md; agents/AGENT_CATALOG.md — architecture, pipeline and what is real, simulated or not built.</a:t>
            </a:r>
          </a:p>
        </p:txBody>
      </p:sp>
      <p:sp>
        <p:nvSpPr>
          <p:cNvPr id="11" name="">
            <a:extLst xmlns:a="http://schemas.openxmlformats.org/drawingml/2006/main">
              <a:ext uri="{FF2B5EF4-FFF2-40B4-BE49-F238E27FC236}">
                <a16:creationId xmlns:a16="http://schemas.microsoft.com/office/drawing/2014/main" id="{E24D1118-4D77-404E-8BA6-051F3FD50DC6}"/>
              </a:ext>
            </a:extLst>
          </p:cNvPr>
          <p:cNvSpPr>
            <a:spLocks xmlns:a="http://schemas.openxmlformats.org/drawingml/2006/main" noGrp="1"/>
          </p:cNvSpPr>
          <p:nvPr/>
        </p:nvSpPr>
        <p:spPr>
          <a:xfrm xmlns:a="http://schemas.openxmlformats.org/drawingml/2006/main">
            <a:off x="800100" y="3533775"/>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F6AE19A-B768-410A-800A-B8512C2F4471}"/>
              </a:ext>
            </a:extLst>
          </p:cNvPr>
          <p:cNvSpPr>
            <a:spLocks xmlns:a="http://schemas.openxmlformats.org/drawingml/2006/main" noGrp="1"/>
          </p:cNvSpPr>
          <p:nvPr/>
        </p:nvSpPr>
        <p:spPr>
          <a:xfrm xmlns:a="http://schemas.openxmlformats.org/drawingml/2006/main">
            <a:off x="1057275" y="34480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agents/pipeline.py; scouts.py, brokers.py, workers.py; policy.py; severity_triage.py; deliverables/T2D-MAS-Live-Demo-Guide.md — the nine agents, their gates, optional OpenRouter and the demo walkthrough.</a:t>
            </a:r>
          </a:p>
        </p:txBody>
      </p:sp>
      <p:sp>
        <p:nvSpPr>
          <p:cNvPr id="13" name="">
            <a:extLst xmlns:a="http://schemas.openxmlformats.org/drawingml/2006/main">
              <a:ext uri="{FF2B5EF4-FFF2-40B4-BE49-F238E27FC236}">
                <a16:creationId xmlns:a16="http://schemas.microsoft.com/office/drawing/2014/main" id="{838D8572-747D-4C60-808A-4C8979E7E60E}"/>
              </a:ext>
            </a:extLst>
          </p:cNvPr>
          <p:cNvSpPr>
            <a:spLocks xmlns:a="http://schemas.openxmlformats.org/drawingml/2006/main" noGrp="1"/>
          </p:cNvSpPr>
          <p:nvPr/>
        </p:nvSpPr>
        <p:spPr>
          <a:xfrm xmlns:a="http://schemas.openxmlformats.org/drawingml/2006/main">
            <a:off x="800100" y="4143375"/>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E08031D-3C95-4A84-B174-34A69C6CB4BD}"/>
              </a:ext>
            </a:extLst>
          </p:cNvPr>
          <p:cNvSpPr>
            <a:spLocks xmlns:a="http://schemas.openxmlformats.org/drawingml/2006/main" noGrp="1"/>
          </p:cNvSpPr>
          <p:nvPr/>
        </p:nvSpPr>
        <p:spPr>
          <a:xfrm xmlns:a="http://schemas.openxmlformats.org/drawingml/2006/main">
            <a:off x="1057275" y="40576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eval/runner.py; eval/config.json; results/20260930T020846305626/summary.csv, statistical_tests.csv and security_injection_summary.csv — the benchmark outputs the report cites.</a:t>
            </a:r>
          </a:p>
        </p:txBody>
      </p:sp>
      <p:sp>
        <p:nvSpPr>
          <p:cNvPr id="15" name="">
            <a:extLst xmlns:a="http://schemas.openxmlformats.org/drawingml/2006/main">
              <a:ext uri="{FF2B5EF4-FFF2-40B4-BE49-F238E27FC236}">
                <a16:creationId xmlns:a16="http://schemas.microsoft.com/office/drawing/2014/main" id="{F20FAE17-A19F-4E0E-B82C-D6EAE221B48F}"/>
              </a:ext>
            </a:extLst>
          </p:cNvPr>
          <p:cNvSpPr>
            <a:spLocks xmlns:a="http://schemas.openxmlformats.org/drawingml/2006/main" noGrp="1"/>
          </p:cNvSpPr>
          <p:nvPr/>
        </p:nvSpPr>
        <p:spPr>
          <a:xfrm xmlns:a="http://schemas.openxmlformats.org/drawingml/2006/main">
            <a:off x="800100" y="4752975"/>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043781C-A435-4EE3-8229-508B75806CBD}"/>
              </a:ext>
            </a:extLst>
          </p:cNvPr>
          <p:cNvSpPr>
            <a:spLocks xmlns:a="http://schemas.openxmlformats.org/drawingml/2006/main" noGrp="1"/>
          </p:cNvSpPr>
          <p:nvPr/>
        </p:nvSpPr>
        <p:spPr>
          <a:xfrm xmlns:a="http://schemas.openxmlformats.org/drawingml/2006/main">
            <a:off x="1057275" y="46672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data/README.md; triage/README.md; rca/README.md; envs/README.md — dataset loaders and separate model/simulation modules.</a:t>
            </a:r>
          </a:p>
        </p:txBody>
      </p:sp>
      <p:sp>
        <p:nvSpPr>
          <p:cNvPr id="17" name="">
            <a:extLst xmlns:a="http://schemas.openxmlformats.org/drawingml/2006/main">
              <a:ext uri="{FF2B5EF4-FFF2-40B4-BE49-F238E27FC236}">
                <a16:creationId xmlns:a16="http://schemas.microsoft.com/office/drawing/2014/main" id="{FFD484F3-1498-4D68-90B4-8806A6B5B07F}"/>
              </a:ext>
            </a:extLst>
          </p:cNvPr>
          <p:cNvSpPr>
            <a:spLocks xmlns:a="http://schemas.openxmlformats.org/drawingml/2006/main" noGrp="1"/>
          </p:cNvSpPr>
          <p:nvPr/>
        </p:nvSpPr>
        <p:spPr>
          <a:xfrm xmlns:a="http://schemas.openxmlformats.org/drawingml/2006/main">
            <a:off x="800100" y="5905500"/>
            <a:ext cx="1033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4881"/>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A fresh run matches the cited CSVs on every non-timing value (eval.compare_runs). Timing, simulation and estimate labels remain explicit.</a:t>
            </a:r>
          </a:p>
        </p:txBody>
      </p:sp>
    </p:spTree>
    <p:extLst>
      <p:ext uri="{BB962C8B-B14F-4D97-AF65-F5344CB8AC3E}">
        <p14:creationId xmlns:p14="http://schemas.microsoft.com/office/powerpoint/2010/main" val="19191370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2026-09-30T02:19:52.0570000Z</dcterms:created>
  <dcterms:modified xsi:type="dcterms:W3CDTF">2026-09-30T02:19:52.0570000Z</dcterms:modified>
</coreProperties>
</file>