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271" r:id="rId21"/>
    <p:sldId id="259" r:id="rId8"/>
    <p:sldId id="260" r:id="rId9"/>
    <p:sldId id="261" r:id="rId10"/>
    <p:sldId id="272" r:id="rId22"/>
    <p:sldId id="262" r:id="rId11"/>
    <p:sldId id="273" r:id="rId23"/>
    <p:sldId id="263" r:id="rId12"/>
    <p:sldId id="264" r:id="rId13"/>
    <p:sldId id="274" r:id="rId24"/>
    <p:sldId id="265" r:id="rId14"/>
    <p:sldId id="266" r:id="rId15"/>
    <p:sldId id="275" r:id="rId25"/>
    <p:sldId id="267" r:id="rId16"/>
    <p:sldId id="268" r:id="rId17"/>
    <p:sldId id="269" r:id="rId18"/>
    <p:sldId id="270" r:id="rId19"/>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0" roundtripDataSignature="AMtx7mj1xvuATiT8QwnQQTNpSobCo04lP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9.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7.xml"/><Relationship Id="rId17" Type="http://schemas.openxmlformats.org/officeDocument/2006/relationships/slide" Target="slides/slide18.xml"/><Relationship Id="rId18" Type="http://schemas.openxmlformats.org/officeDocument/2006/relationships/slide" Target="slides/slide19.xml"/><Relationship Id="rId19" Type="http://schemas.openxmlformats.org/officeDocument/2006/relationships/slide" Target="slides/slide20.xml"/><Relationship Id="rId20" Type="http://customschemas.google.com/relationships/presentationmetadata" Target="metadata"/><Relationship Id="rId21" Type="http://schemas.openxmlformats.org/officeDocument/2006/relationships/slide" Target="slides/slide4.xml"/><Relationship Id="rId22" Type="http://schemas.openxmlformats.org/officeDocument/2006/relationships/slide" Target="slides/slide8.xml"/><Relationship Id="rId23" Type="http://schemas.openxmlformats.org/officeDocument/2006/relationships/slide" Target="slides/slide10.xml"/><Relationship Id="rId24" Type="http://schemas.openxmlformats.org/officeDocument/2006/relationships/slide" Target="slides/slide13.xml"/><Relationship Id="rId25"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50" b="1">
                <a:solidFill>
                  <a:srgbClr val="01416B"/>
                </a:solidFill>
                <a:latin typeface="Arial"/>
              </a:rPr>
              <a:t>Quality (higher is better)</a:t>
            </a:r>
          </a:p>
        </c:rich>
      </c:tx>
      <c:layout/>
      <c:overlay val="0"/>
    </c:title>
    <c:autoTitleDeleted val="0"/>
    <c:plotArea>
      <c:barChart>
        <c:barDir val="col"/>
        <c:grouping val="clustered"/>
        <c:ser>
          <c:idx val="0"/>
          <c:order val="0"/>
          <c:tx>
            <c:strRef>
              <c:f>Sheet1!$B$1</c:f>
              <c:strCache>
                <c:ptCount val="1"/>
                <c:pt idx="0">
                  <c:v>Duplicate Recall@5</c:v>
                </c:pt>
              </c:strCache>
            </c:strRef>
          </c:tx>
          <c:spPr>
            <a:solidFill>
              <a:srgbClr val="01416B"/>
            </a:solidFill>
          </c:spPr>
          <c:cat>
            <c:strRef>
              <c:f>Sheet1!$A$2:$A$5</c:f>
              <c:strCache>
                <c:ptCount val="4"/>
                <c:pt idx="0">
                  <c:v>A0 rules</c:v>
                </c:pt>
                <c:pt idx="1">
                  <c:v>A1 one agent</c:v>
                </c:pt>
                <c:pt idx="2">
                  <c:v>A2 static</c:v>
                </c:pt>
                <c:pt idx="3">
                  <c:v>A3 mobile</c:v>
                </c:pt>
              </c:strCache>
            </c:strRef>
          </c:cat>
          <c:val>
            <c:numRef>
              <c:f>Sheet1!$B$2:$B$5</c:f>
              <c:numCache>
                <c:formatCode>General</c:formatCode>
                <c:ptCount val="4"/>
                <c:pt idx="0">
                  <c:v>0.429</c:v>
                </c:pt>
                <c:pt idx="1">
                  <c:v>1.0</c:v>
                </c:pt>
                <c:pt idx="2">
                  <c:v>1.0</c:v>
                </c:pt>
                <c:pt idx="3">
                  <c:v>1.0</c:v>
                </c:pt>
              </c:numCache>
            </c:numRef>
          </c:val>
        </c:ser>
        <c:ser>
          <c:idx val="1"/>
          <c:order val="1"/>
          <c:tx>
            <c:strRef>
              <c:f>Sheet1!$C$1</c:f>
              <c:strCache>
                <c:ptCount val="1"/>
                <c:pt idx="0">
                  <c:v>Test-order NAPFD</c:v>
                </c:pt>
              </c:strCache>
            </c:strRef>
          </c:tx>
          <c:spPr>
            <a:solidFill>
              <a:srgbClr val="FDD402"/>
            </a:solidFill>
          </c:spPr>
          <c:cat>
            <c:strRef>
              <c:f>Sheet1!$A$2:$A$5</c:f>
              <c:strCache>
                <c:ptCount val="4"/>
                <c:pt idx="0">
                  <c:v>A0 rules</c:v>
                </c:pt>
                <c:pt idx="1">
                  <c:v>A1 one agent</c:v>
                </c:pt>
                <c:pt idx="2">
                  <c:v>A2 static</c:v>
                </c:pt>
                <c:pt idx="3">
                  <c:v>A3 mobile</c:v>
                </c:pt>
              </c:strCache>
            </c:strRef>
          </c:cat>
          <c:val>
            <c:numRef>
              <c:f>Sheet1!$C$2:$C$5</c:f>
              <c:numCache>
                <c:formatCode>General</c:formatCode>
                <c:ptCount val="4"/>
                <c:pt idx="0">
                  <c:v>0.49</c:v>
                </c:pt>
                <c:pt idx="1">
                  <c:v>0.75</c:v>
                </c:pt>
                <c:pt idx="2">
                  <c:v>0.75</c:v>
                </c:pt>
                <c:pt idx="3">
                  <c:v>0.75</c:v>
                </c:pt>
              </c:numCache>
            </c:numRef>
          </c:val>
        </c:ser>
        <c:dLbls>
          <c:numFmt formatCode="0.00" sourceLinked="0"/>
          <c:txPr>
            <a:bodyPr/>
            <a:lstStyle/>
            <a:p>
              <a:pPr>
                <a:defRPr sz="1050" b="1"/>
              </a:pPr>
            </a:p>
          </c:txPr>
          <c:dLblPos val="outEnd"/>
          <c:showLegendKey val="0"/>
          <c:showVal val="1"/>
          <c:showCatName val="0"/>
          <c:showSerName val="0"/>
          <c:showPercent val="0"/>
          <c:showBubbleSize val="0"/>
          <c:showLeaderLines val="1"/>
        </c:dLbls>
        <c:gapWidth val="70"/>
        <c:overlap val="-5"/>
        <c:axId val="-2068027336"/>
        <c:axId val="-2113994440"/>
      </c:barChart>
      <c:catAx>
        <c:axId val="-2068027336"/>
        <c:scaling>
          <c:orientation val="minMax"/>
        </c:scaling>
        <c:delete val="0"/>
        <c:axPos val="b"/>
        <c:majorTickMark val="out"/>
        <c:minorTickMark val="none"/>
        <c:tickLblPos val="nextTo"/>
        <c:spPr>
          <a:ln>
            <a:solidFill>
              <a:srgbClr val="D7E0E9"/>
            </a:solidFill>
          </a:ln>
        </c:spPr>
        <c:txPr>
          <a:bodyPr/>
          <a:lstStyle/>
          <a:p>
            <a:pPr>
              <a:defRPr sz="1100">
                <a:solidFill>
                  <a:srgbClr val="2E4357"/>
                </a:solidFill>
              </a:defRPr>
            </a:pPr>
          </a:p>
        </c:txPr>
        <c:crossAx val="-2113994440"/>
        <c:crosses val="autoZero"/>
        <c:auto val="1"/>
        <c:lblAlgn val="ctr"/>
        <c:lblOffset val="100"/>
        <c:noMultiLvlLbl val="0"/>
      </c:catAx>
      <c:valAx>
        <c:axId val="-2113994440"/>
        <c:scaling>
          <c:max val="1.18"/>
          <c:min val="0.0"/>
        </c:scaling>
        <c:delete/>
        <c:axPos val="l"/>
        <c:majorTickMark val="out"/>
        <c:minorTickMark val="none"/>
        <c:tickLblPos val="nextTo"/>
        <c:crossAx val="-2068027336"/>
        <c:crosses val="autoZero"/>
      </c:valAx>
    </c:plotArea>
    <c:legend>
      <c:legendPos val="t"/>
      <c:overlay val="0"/>
      <c:txPr>
        <a:bodyPr/>
        <a:lstStyle/>
        <a:p>
          <a:pPr>
            <a:defRPr sz="1100"/>
          </a:pPr>
        </a:p>
      </c:txPr>
    </c:legend>
    <c:dispBlanksAs val="gap"/>
  </c:chart>
  <c:txPr>
    <a:bodyPr/>
    <a:lstStyle/>
    <a:p>
      <a:pPr>
        <a:defRPr sz="1100">
          <a:solidFill>
            <a:srgbClr val="2E4357"/>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50" b="1">
                <a:solidFill>
                  <a:srgbClr val="01416B"/>
                </a:solidFill>
                <a:latin typeface="Arial"/>
              </a:rPr>
              <a:t>Cost: data sent per ticket (bytes)</a:t>
            </a:r>
          </a:p>
        </c:rich>
      </c:tx>
      <c:layout/>
      <c:overlay val="0"/>
    </c:title>
    <c:autoTitleDeleted val="0"/>
    <c:plotArea>
      <c:barChart>
        <c:barDir val="col"/>
        <c:grouping val="clustered"/>
        <c:ser>
          <c:idx val="0"/>
          <c:order val="0"/>
          <c:tx>
            <c:strRef>
              <c:f>Sheet1!$B$1</c:f>
              <c:strCache>
                <c:ptCount val="1"/>
                <c:pt idx="0">
                  <c:v>Bytes per ticket</c:v>
                </c:pt>
              </c:strCache>
            </c:strRef>
          </c:tx>
          <c:spPr>
            <a:solidFill>
              <a:srgbClr val="9FB3C8"/>
            </a:solidFill>
          </c:spPr>
          <c:dPt>
            <c:idx val="3"/>
            <c:spPr>
              <a:solidFill>
                <a:srgbClr val="01416B"/>
              </a:solidFill>
            </c:spPr>
          </c:dPt>
          <c:cat>
            <c:strRef>
              <c:f>Sheet1!$A$2:$A$5</c:f>
              <c:strCache>
                <c:ptCount val="4"/>
                <c:pt idx="0">
                  <c:v>A0 rules</c:v>
                </c:pt>
                <c:pt idx="1">
                  <c:v>A1 one agent</c:v>
                </c:pt>
                <c:pt idx="2">
                  <c:v>A2 static</c:v>
                </c:pt>
                <c:pt idx="3">
                  <c:v>A3 mobile</c:v>
                </c:pt>
              </c:strCache>
            </c:strRef>
          </c:cat>
          <c:val>
            <c:numRef>
              <c:f>Sheet1!$B$2:$B$5</c:f>
              <c:numCache>
                <c:formatCode>General</c:formatCode>
                <c:ptCount val="4"/>
                <c:pt idx="0">
                  <c:v>0</c:v>
                </c:pt>
                <c:pt idx="1">
                  <c:v>1778</c:v>
                </c:pt>
                <c:pt idx="2">
                  <c:v>3556</c:v>
                </c:pt>
                <c:pt idx="3">
                  <c:v>4161</c:v>
                </c:pt>
              </c:numCache>
            </c:numRef>
          </c:val>
        </c:ser>
        <c:dLbls>
          <c:numFmt formatCode="#,##0" sourceLinked="0"/>
          <c:txPr>
            <a:bodyPr/>
            <a:lstStyle/>
            <a:p>
              <a:pPr>
                <a:defRPr sz="1050" b="1"/>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D7E0E9"/>
            </a:solidFill>
          </a:ln>
        </c:spPr>
        <c:txPr>
          <a:bodyPr/>
          <a:lstStyle/>
          <a:p>
            <a:pPr>
              <a:defRPr sz="1100">
                <a:solidFill>
                  <a:srgbClr val="2E4357"/>
                </a:solidFill>
              </a:defRPr>
            </a:pPr>
          </a:p>
        </c:txPr>
        <c:crossAx val="-2113994440"/>
        <c:crosses val="autoZero"/>
        <c:auto val="1"/>
        <c:lblAlgn val="ctr"/>
        <c:lblOffset val="100"/>
        <c:noMultiLvlLbl val="0"/>
      </c:catAx>
      <c:valAx>
        <c:axId val="-2113994440"/>
        <c:scaling>
          <c:max val="4800.0"/>
          <c:min val="0.0"/>
        </c:scaling>
        <c:delete/>
        <c:axPos val="l"/>
        <c:majorTickMark val="out"/>
        <c:minorTickMark val="none"/>
        <c:tickLblPos val="nextTo"/>
        <c:crossAx val="-2068027336"/>
        <c:crosses val="autoZero"/>
      </c:valAx>
    </c:plotArea>
    <c:dispBlanksAs val="gap"/>
  </c:chart>
  <c:txPr>
    <a:bodyPr/>
    <a:lstStyle/>
    <a:p>
      <a:pPr>
        <a:defRPr sz="1100">
          <a:solidFill>
            <a:srgbClr val="2E4357"/>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 name="Shape 38"/>
        <p:cNvGrpSpPr/>
        <p:nvPr/>
      </p:nvGrpSpPr>
      <p:grpSpPr>
        <a:xfrm>
          <a:off x="0" y="0"/>
          <a:ext cx="0" cy="0"/>
          <a:chOff x="0" y="0"/>
          <a:chExt cx="0" cy="0"/>
        </a:xfrm>
      </p:grpSpPr>
      <p:sp>
        <p:nvSpPr>
          <p:cNvPr id="39" name="Google Shape;39;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 name="Google Shape;40;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en-US" sz="1200" u="none" cap="none" strike="noStrike">
                <a:solidFill>
                  <a:schemeClr val="dk1"/>
                </a:solidFill>
                <a:latin typeface="Arial"/>
                <a:ea typeface="Arial"/>
                <a:cs typeface="Arial"/>
                <a:sym typeface="Arial"/>
              </a:rPr>
              <a:t>Sources: README.md, docs/AUDIT.md and docs/process_and_experiments.md in the repository; the final report (docs/Laporan_Proyek1_T2D-MAS_Final.pdf); Project 1 - Idea.pdf. Updated on 20 October 2026 to match the rebuilt agents and dashboard.</a:t>
            </a:r>
            <a:endParaRPr/>
          </a:p>
        </p:txBody>
      </p:sp>
      <p:sp>
        <p:nvSpPr>
          <p:cNvPr id="41" name="Google Shape;41;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5" name="Google Shape;75;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Based on Project 1 - Idea.pdf, pages 1–2, and the report's Chapter 2. This is the original intended problem and goal, not a claim that every stage is already automated in code.</a:t>
            </a:r>
            <a:endParaRPr/>
          </a:p>
        </p:txBody>
      </p:sp>
      <p:sp>
        <p:nvSpPr>
          <p:cNvPr id="76" name="Google Shape;76;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8" name="Google Shape;98;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What is real, simulated or not built is listed per stage in docs/AUDIT.md and agents/AGENT_CATALOG.md. OpenRouter is optional in agents/severity_triage.py for Broker-Triage and reviewer-note interpretation, and only ':free' model ids are sent. The evaluation harness does not call an LLM. Still not built: a real repository, CI, deployment and telemetry; live use of the trained models; the 30-second undo window; reviewer login.</a:t>
            </a:r>
            <a:endParaRPr/>
          </a:p>
        </p:txBody>
      </p:sp>
      <p:sp>
        <p:nvSpPr>
          <p:cNvPr id="99" name="Google Shape;99;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 name="Shape 113"/>
        <p:cNvGrpSpPr/>
        <p:nvPr/>
      </p:nvGrpSpPr>
      <p:grpSpPr>
        <a:xfrm>
          <a:off x="0" y="0"/>
          <a:ext cx="0" cy="0"/>
          <a:chOff x="0" y="0"/>
          <a:chExt cx="0" cy="0"/>
        </a:xfrm>
      </p:grpSpPr>
      <p:sp>
        <p:nvSpPr>
          <p:cNvPr id="114" name="Google Shape;114;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5" name="Google Shape;115;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Every agent runs StageAgent.run() in agents/stage_agent.py: perceive, remember, reason, act, report. Each stage output in the dashboard lists these five steps in plain words. The code is grouped like the report's families: scouts.py, brokers.py, workers.py and security_policy.py. Scout-Log is the agent that actually migrates, during investigation.</a:t>
            </a:r>
            <a:endParaRPr/>
          </a:p>
        </p:txBody>
      </p:sp>
      <p:sp>
        <p:nvSpPr>
          <p:cNvPr id="116" name="Google Shape;116;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6" name="Google Shape;146;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A0–A3 meanings are defined in eval/runner.py. They are benchmark configurations, not the dashboard workflow. A3 serializes a mobile bundle and an aggregate response in the investigation stage. In the dashboard, Scout-Log makes real trips to six nodes during investigation, but those trips are not part of the benchmark. Byte and message values come from results/20260930T020846305626/summary.csv, the run the report cites.</a:t>
            </a:r>
            <a:endParaRPr/>
          </a:p>
        </p:txBody>
      </p:sp>
      <p:sp>
        <p:nvSpPr>
          <p:cNvPr id="147" name="Google Shape;147;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1" name="Google Shape;191;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Agents live in agents/scouts.py, brokers.py and workers.py; agents/pipeline.py runs them and applies their gates; agents/orchestrator.py holds the nine-stage state machine. Every stage output, message and gate is audited. Real: masking and normalization, TF-IDF duplicate search, severity rules, the Contract Net auction, signed Scout-Log trips with egress checks, the secret scan, NAPFD and all gates. Simulated with seeds taken from the ticket id: node logs, project board, repository diff, CI, canary and telemetry. The six gate types: duplicate_review (similarity 0.70–0.85), autonomy_gate (confidence below 0.70 or risk above 0.60), secret_scan, pr_merge (always), canary_review (release risk above 0.30) and release_signoff (always).</a:t>
            </a:r>
          </a:p>
          <a:p/>
          <a:p>
            <a:r>
              <a:t>On the slide: arrows show the order of the stages, the yellow tags mark where a person decides, and the dashed line is the feedback loop from monitoring to triage.</a:t>
            </a:r>
          </a:p>
        </p:txBody>
      </p:sp>
      <p:sp>
        <p:nvSpPr>
          <p:cNvPr id="192" name="Google Shape;192;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8" name="Google Shape;228;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Follows deliverables/T2D-MAS-Live-Demo-Guide.md in local mode without an OpenRouter key. FB-001 is casual Indonesian with a typo and an emoji: the balance was deducted but no order was created. Local rules assign Critical with confidence 0.84; risk 1.0 exceeds R_max 0.60, so the autonomy gate waits for a person. Contract Net utilities: Payments 0.87, Platform 0.70, Mobile app 0.67. Scout-Log visits six nodes (node-6 holds 30 MB, below the 42 MB break-even, so it answers through its exporter) and payment-db ranks first. Test counts (93–109 in seven runs), NAPFD and the release risk score are seeded from the ticket id, so they vary per run. FB-001's release risk stayed between 0.22 and 0.27, below 0.30, so its canary starts on its own. FB-002 repeats the complaint and is auto-linked at cosine 0.956.</a:t>
            </a:r>
            <a:endParaRPr/>
          </a:p>
        </p:txBody>
      </p:sp>
      <p:sp>
        <p:nvSpPr>
          <p:cNvPr id="229" name="Google Shape;229;p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5" name="Google Shape;265;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Sources: agents/severity_triage.py, agents/similarity.py, agents/workers.py, agents/broker_assign.py, eval/runner.py; the triage, RCA and envs module READMEs; Project 1 - Idea.pdf page 2. agents/similarity.py reproduces the idea's worked cosine example (0.994 and 0.119). Live duplicate search is lexical, so it misses an Indonesian and an English report of the same problem. Optional OpenRouter outputs are bounded proposals and never authorize policy actions.</a:t>
            </a:r>
            <a:endParaRPr/>
          </a:p>
        </p:txBody>
      </p:sp>
      <p:sp>
        <p:nvSpPr>
          <p:cNvPr id="266" name="Google Shape;266;p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4" name="Google Shape;294;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Sources: agents/mobility.py, agents/node_runtime.py, agents/scout_log_program.py, agents/security_policy.py and docs/process_and_experiments.md. Rule: migrate when L_node &gt; 3 × (A + R), with A = 12 MB and R = 2 MB, so the break-even is 42 MB. Five nodes run the signed code; node-6 (30 MB) answers through its exporter. Only allowlisted aggregates leave a node, and a test checks that the fake customer e-mails in the node logs never appear outside. A3's bundle bytes are modeled in the evaluation harness, separately from these live trips.</a:t>
            </a:r>
            <a:endParaRPr/>
          </a:p>
        </p:txBody>
      </p:sp>
      <p:sp>
        <p:nvSpPr>
          <p:cNvPr id="295" name="Google Shape;295;p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5" name="Google Shape;315;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Sources: data/README.md, eval/config.json and results/20260930T020846305626/metadata.json. The four-arm runner uses generated tickets, five seeds and a 70/30 chronological train/evaluation split. The general data preprocessing module uses 70/10/20.</a:t>
            </a:r>
            <a:endParaRPr/>
          </a:p>
        </p:txBody>
      </p:sp>
      <p:sp>
        <p:nvSpPr>
          <p:cNvPr id="316" name="Google Shape;316;p1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0" name="Shape 330"/>
        <p:cNvGrpSpPr/>
        <p:nvPr/>
      </p:nvGrpSpPr>
      <p:grpSpPr>
        <a:xfrm>
          <a:off x="0" y="0"/>
          <a:ext cx="0" cy="0"/>
          <a:chOff x="0" y="0"/>
          <a:chExt cx="0" cy="0"/>
        </a:xfrm>
      </p:grpSpPr>
      <p:sp>
        <p:nvSpPr>
          <p:cNvPr id="331" name="Google Shape;331;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2" name="Google Shape;332;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Source: results/20260930T020846305626/summary.csv, the run the report cites. A fresh run with the current code matches every non-timing value (python -m eval.compare_runs). Recall@5 and MAP improve sharply from A0 to the agent arms. F1 is 1.0 everywhere because every generated title contains its severity phrase; this is kept so the report's numbers stay reproducible. NAPFD is synthetic. Wall time is a tiny measured host workload, not ticket handling latency. Rollback rates are simulated. That run's plotting step stopped on a matplotlib keyword; eval/report.py has since been fixed, so new runs also write charts.</a:t>
            </a:r>
            <a:endParaRPr/>
          </a:p>
        </p:txBody>
      </p:sp>
      <p:sp>
        <p:nvSpPr>
          <p:cNvPr id="333" name="Google Shape;333;p1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9" name="Google Shape;389;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Statistics from results/20260930T020846305626/statistical_tests.csv. Friedman omnibus p-values: wall time 0.0135883, network bytes 0.00181665, CPU 0.92615, rollback 0.60389. Five seed-level observations make comparisons exploratory. The security injection summary recorded 20 blocked and none passed. Network-byte and rollback tests repeat exactly on a rerun; wall-time and CPU tests depend on the host.</a:t>
            </a:r>
            <a:endParaRPr/>
          </a:p>
        </p:txBody>
      </p:sp>
      <p:sp>
        <p:nvSpPr>
          <p:cNvPr id="390" name="Google Shape;390;p1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0" name="Shape 410"/>
        <p:cNvGrpSpPr/>
        <p:nvPr/>
      </p:nvGrpSpPr>
      <p:grpSpPr>
        <a:xfrm>
          <a:off x="0" y="0"/>
          <a:ext cx="0" cy="0"/>
          <a:chOff x="0" y="0"/>
          <a:chExt cx="0" cy="0"/>
        </a:xfrm>
      </p:grpSpPr>
      <p:sp>
        <p:nvSpPr>
          <p:cNvPr id="411" name="Google Shape;411;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2" name="Google Shape;412;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Synthesis of docs/AUDIT.md, agents/AGENT_CATALOG.md, README.md, docs/process_and_experiments.md and the evaluation artifacts. Remaining gaps: no real repository, CI, deployment or telemetry; the trained models (MiniLM + FAISS, GraphSAGE, PPO/DQN) stay offline; no 30-second undo; reviewers are typed names, not logins; the evaluation tickets contain their severity word.</a:t>
            </a:r>
            <a:endParaRPr/>
          </a:p>
        </p:txBody>
      </p:sp>
      <p:sp>
        <p:nvSpPr>
          <p:cNvPr id="413" name="Google Shape;413;p1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29" name="Google Shape;429;p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Deck updated on 20 October 2026 to match the rebuilt agents and dashboard. The final report PDF is exported from a Word file in the group's Google Drive; docs/REPORT_REVISIONS.md lists the report passages that no longer match the code.</a:t>
            </a:r>
            <a:endParaRPr/>
          </a:p>
        </p:txBody>
      </p:sp>
      <p:sp>
        <p:nvSpPr>
          <p:cNvPr id="430" name="Google Shape;430;p1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8" name="Shape 448"/>
        <p:cNvGrpSpPr/>
        <p:nvPr/>
      </p:nvGrpSpPr>
      <p:grpSpPr>
        <a:xfrm>
          <a:off x="0" y="0"/>
          <a:ext cx="0" cy="0"/>
          <a:chOff x="0" y="0"/>
          <a:chExt cx="0" cy="0"/>
        </a:xfrm>
      </p:grpSpPr>
      <p:sp>
        <p:nvSpPr>
          <p:cNvPr id="449" name="Google Shape;449;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0" name="Google Shape;450;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Repository: https://github.com/zidanarsyad/t2d-mas (agents, dashboard, data loaders, offline models, evaluation harness and the cited results).</a:t>
            </a:r>
            <a:endParaRPr/>
          </a:p>
        </p:txBody>
      </p:sp>
      <p:sp>
        <p:nvSpPr>
          <p:cNvPr id="451" name="Google Shape;451;p1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What to say: feedback from six channels enters the orchestrator, where eleven agents in four families do the work. A person approves, asks for changes or rejects at the gates in the dashboard. Scout-Log visits the six data nodes and brings back only aggregates. The free OpenRouter model is optional and never approves anything. Local mode runs everything in one process; Docker runs the six nodes as containers, with Redis and PostgreSQL. Sources: agents/app.py, agents/AGENT_CATALOG.md, docker-compose.yml.</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What to say: an agent acts alone only if confidence ≥ τ = 0.70 and risk ≤ R_max = 0.60. Risk comes from the severity (Low 0.1, Medium 0.3, High 0.6, Critical 1.0), so a Critical issue always goes to a person. FB-001 has confidence 0.84 but risk 1.00, so a person confirms it. Merge and release always need a person because they cannot be undone. Sources: triage/gate.py, agents/policy.py, agents/AGENT_CATALOG.md.</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What to say: this is the FIPA Contract Net. Broker-Assign sends a call for proposals; each squad bids U = 0.5·skill + 0.3·(1 − load) + 0.2·(1 − cost); the best bid wins and investigates. For FB-001 on a fresh board, Payments bids 0.87 (skill 0.92, load 0.1, cost 0.3), Platform 0.70 and Mobile app 0.67. Sources: agents/brokers.py, agents/messaging.py; bids from a fresh run on 21 October 2026.</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What to say: instead of pulling every raw log to one server, Scout-Log carries its analysis code to each node. The node checks the Ed25519 signature, runs the code in an isolated process and lets only allowlisted aggregates out. The rule ships the agent only above (12 + 2) × 3 = 42 MB, so node-6 (30 MB) answers through its exporter. The 98.97% saving is the report's cost model; the live trip moves 11.5 KB. Sources: agents/mobility.py, agents/node_runtime.py, agents/scouts.py, frontend/src/lib/mobileTrip.js.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What to say: the agent set-ups beat the rule baseline at finding duplicates (Recall@5 0.429 → 1.000) and at ordering tests (NAPFD 0.49 → 0.75). A1, A2 and A3 tie on accuracy. A3 sends the most data (4,161 bytes per ticket against 3,556 for A2), because the bundle is overhead on tiny synthetic logs. Source: results/20260930T020846305626/summary.csv.</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bg>
      <p:bgPr>
        <a:blipFill>
          <a:blip r:embed="rId2">
            <a:alphaModFix/>
          </a:blip>
          <a:stretch>
            <a:fillRect/>
          </a:stretch>
        </a:blipFill>
      </p:bgPr>
    </p:bg>
    <p:spTree>
      <p:nvGrpSpPr>
        <p:cNvPr id="11" name="Shape 11"/>
        <p:cNvGrpSpPr/>
        <p:nvPr/>
      </p:nvGrpSpPr>
      <p:grpSpPr>
        <a:xfrm>
          <a:off x="0" y="0"/>
          <a:ext cx="0" cy="0"/>
          <a:chOff x="0" y="0"/>
          <a:chExt cx="0" cy="0"/>
        </a:xfrm>
      </p:grpSpPr>
      <p:sp>
        <p:nvSpPr>
          <p:cNvPr id="12" name="Google Shape;12;p17"/>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1416B"/>
              </a:buClr>
              <a:buSzPts val="3600"/>
              <a:buFont typeface="Arial"/>
              <a:buNone/>
              <a:defRPr sz="3600">
                <a:solidFill>
                  <a:srgbClr val="01416B"/>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 name="Google Shape;13;p1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bg>
      <p:bgPr>
        <a:blipFill>
          <a:blip r:embed="rId2">
            <a:alphaModFix/>
          </a:blip>
          <a:stretch>
            <a:fillRect/>
          </a:stretch>
        </a:blipFill>
      </p:bgPr>
    </p:bg>
    <p:spTree>
      <p:nvGrpSpPr>
        <p:cNvPr id="14" name="Shape 14"/>
        <p:cNvGrpSpPr/>
        <p:nvPr/>
      </p:nvGrpSpPr>
      <p:grpSpPr>
        <a:xfrm>
          <a:off x="0" y="0"/>
          <a:ext cx="0" cy="0"/>
          <a:chOff x="0" y="0"/>
          <a:chExt cx="0" cy="0"/>
        </a:xfrm>
      </p:grpSpPr>
      <p:sp>
        <p:nvSpPr>
          <p:cNvPr id="15" name="Google Shape;15;p18"/>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1416B"/>
              </a:buClr>
              <a:buSzPts val="3600"/>
              <a:buFont typeface="Arial"/>
              <a:buNone/>
              <a:defRPr sz="3600">
                <a:solidFill>
                  <a:srgbClr val="01416B"/>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19"/>
          <p:cNvSpPr txBox="1"/>
          <p:nvPr>
            <p:ph type="title"/>
          </p:nvPr>
        </p:nvSpPr>
        <p:spPr>
          <a:xfrm>
            <a:off x="3191434" y="2231568"/>
            <a:ext cx="8377249" cy="1512510"/>
          </a:xfrm>
          <a:prstGeom prst="rect">
            <a:avLst/>
          </a:prstGeom>
          <a:noFill/>
          <a:ln>
            <a:noFill/>
          </a:ln>
        </p:spPr>
        <p:txBody>
          <a:bodyPr anchorCtr="0" anchor="t" bIns="45700" lIns="91425" spcFirstLastPara="1" rIns="91425" wrap="square" tIns="45700">
            <a:normAutofit/>
          </a:bodyPr>
          <a:lstStyle>
            <a:lvl1pPr lvl="0" algn="l">
              <a:lnSpc>
                <a:spcPct val="90000"/>
              </a:lnSpc>
              <a:spcBef>
                <a:spcPts val="0"/>
              </a:spcBef>
              <a:spcAft>
                <a:spcPts val="0"/>
              </a:spcAft>
              <a:buClr>
                <a:srgbClr val="01416B"/>
              </a:buClr>
              <a:buSzPts val="3200"/>
              <a:buFont typeface="Arial"/>
              <a:buNone/>
              <a:defRPr sz="3200">
                <a:solidFill>
                  <a:srgbClr val="01416B"/>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19"/>
          <p:cNvSpPr txBox="1"/>
          <p:nvPr>
            <p:ph idx="1" type="body"/>
          </p:nvPr>
        </p:nvSpPr>
        <p:spPr>
          <a:xfrm>
            <a:off x="3191434" y="4266722"/>
            <a:ext cx="3339034" cy="1343522"/>
          </a:xfrm>
          <a:prstGeom prst="rect">
            <a:avLst/>
          </a:prstGeom>
          <a:noFill/>
          <a:ln>
            <a:noFill/>
          </a:ln>
        </p:spPr>
        <p:txBody>
          <a:bodyPr anchorCtr="0" anchor="t" bIns="45700" lIns="91425" spcFirstLastPara="1" rIns="91425" wrap="square" tIns="45700">
            <a:normAutofit/>
          </a:bodyPr>
          <a:lstStyle>
            <a:lvl1pPr indent="-228600" lvl="0" marL="457200" algn="l">
              <a:lnSpc>
                <a:spcPct val="148571"/>
              </a:lnSpc>
              <a:spcBef>
                <a:spcPts val="1000"/>
              </a:spcBef>
              <a:spcAft>
                <a:spcPts val="0"/>
              </a:spcAft>
              <a:buClr>
                <a:schemeClr val="dk1"/>
              </a:buClr>
              <a:buSzPts val="1400"/>
              <a:buFont typeface="Arial"/>
              <a:buNone/>
              <a:defRPr sz="1400">
                <a:solidFill>
                  <a:schemeClr val="dk1"/>
                </a:solidFill>
              </a:defRPr>
            </a:lvl1pPr>
            <a:lvl2pPr indent="-228600" lvl="1" marL="914400" algn="l">
              <a:lnSpc>
                <a:spcPct val="90000"/>
              </a:lnSpc>
              <a:spcBef>
                <a:spcPts val="500"/>
              </a:spcBef>
              <a:spcAft>
                <a:spcPts val="0"/>
              </a:spcAft>
              <a:buClr>
                <a:schemeClr val="dk1"/>
              </a:buClr>
              <a:buSzPts val="2400"/>
              <a:buFont typeface="Arial"/>
              <a:buNone/>
              <a:defRPr/>
            </a:lvl2pPr>
            <a:lvl3pPr indent="-228600" lvl="2" marL="1371600" algn="l">
              <a:lnSpc>
                <a:spcPct val="90000"/>
              </a:lnSpc>
              <a:spcBef>
                <a:spcPts val="500"/>
              </a:spcBef>
              <a:spcAft>
                <a:spcPts val="0"/>
              </a:spcAft>
              <a:buClr>
                <a:schemeClr val="dk1"/>
              </a:buClr>
              <a:buSzPts val="2000"/>
              <a:buFont typeface="Arial"/>
              <a:buNone/>
              <a:defRPr/>
            </a:lvl3pPr>
            <a:lvl4pPr indent="-228600" lvl="3" marL="1828800" algn="l">
              <a:lnSpc>
                <a:spcPct val="90000"/>
              </a:lnSpc>
              <a:spcBef>
                <a:spcPts val="500"/>
              </a:spcBef>
              <a:spcAft>
                <a:spcPts val="0"/>
              </a:spcAft>
              <a:buClr>
                <a:schemeClr val="dk1"/>
              </a:buClr>
              <a:buSzPts val="1800"/>
              <a:buFont typeface="Arial"/>
              <a:buNone/>
              <a:defRPr/>
            </a:lvl4pPr>
            <a:lvl5pPr indent="-228600" lvl="4" marL="2286000" algn="l">
              <a:lnSpc>
                <a:spcPct val="90000"/>
              </a:lnSpc>
              <a:spcBef>
                <a:spcPts val="500"/>
              </a:spcBef>
              <a:spcAft>
                <a:spcPts val="0"/>
              </a:spcAft>
              <a:buClr>
                <a:schemeClr val="dk1"/>
              </a:buClr>
              <a:buSzPts val="1800"/>
              <a:buFont typeface="Arial"/>
              <a:buNone/>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bg>
      <p:bgPr>
        <a:blipFill>
          <a:blip r:embed="rId2">
            <a:alphaModFix/>
          </a:blip>
          <a:stretch>
            <a:fillRect/>
          </a:stretch>
        </a:blipFill>
      </p:bgPr>
    </p:bg>
    <p:spTree>
      <p:nvGrpSpPr>
        <p:cNvPr id="19" name="Shape 19"/>
        <p:cNvGrpSpPr/>
        <p:nvPr/>
      </p:nvGrpSpPr>
      <p:grpSpPr>
        <a:xfrm>
          <a:off x="0" y="0"/>
          <a:ext cx="0" cy="0"/>
          <a:chOff x="0" y="0"/>
          <a:chExt cx="0" cy="0"/>
        </a:xfrm>
      </p:grpSpPr>
      <p:sp>
        <p:nvSpPr>
          <p:cNvPr id="20" name="Google Shape;20;p20"/>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1416B"/>
              </a:buClr>
              <a:buSzPts val="3600"/>
              <a:buFont typeface="Arial"/>
              <a:buNone/>
              <a:defRPr sz="3600">
                <a:solidFill>
                  <a:srgbClr val="01416B"/>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1" name="Google Shape;21;p20"/>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381000" lvl="0" marL="457200" algn="l">
              <a:lnSpc>
                <a:spcPct val="90000"/>
              </a:lnSpc>
              <a:spcBef>
                <a:spcPts val="1000"/>
              </a:spcBef>
              <a:spcAft>
                <a:spcPts val="0"/>
              </a:spcAft>
              <a:buClr>
                <a:schemeClr val="dk1"/>
              </a:buClr>
              <a:buSzPts val="2400"/>
              <a:buChar char="•"/>
              <a:defRPr sz="2400"/>
            </a:lvl1pPr>
            <a:lvl2pPr indent="-355600" lvl="1" marL="914400" algn="l">
              <a:lnSpc>
                <a:spcPct val="90000"/>
              </a:lnSpc>
              <a:spcBef>
                <a:spcPts val="500"/>
              </a:spcBef>
              <a:spcAft>
                <a:spcPts val="0"/>
              </a:spcAft>
              <a:buClr>
                <a:schemeClr val="dk1"/>
              </a:buClr>
              <a:buSzPts val="2000"/>
              <a:buChar char="•"/>
              <a:defRPr sz="2000"/>
            </a:lvl2pPr>
            <a:lvl3pPr indent="-342900" lvl="2" marL="1371600" algn="l">
              <a:lnSpc>
                <a:spcPct val="90000"/>
              </a:lnSpc>
              <a:spcBef>
                <a:spcPts val="500"/>
              </a:spcBef>
              <a:spcAft>
                <a:spcPts val="0"/>
              </a:spcAft>
              <a:buClr>
                <a:schemeClr val="dk1"/>
              </a:buClr>
              <a:buSzPts val="1800"/>
              <a:buChar char="•"/>
              <a:defRPr sz="1800"/>
            </a:lvl3pPr>
            <a:lvl4pPr indent="-330200" lvl="3" marL="1828800" algn="l">
              <a:lnSpc>
                <a:spcPct val="90000"/>
              </a:lnSpc>
              <a:spcBef>
                <a:spcPts val="500"/>
              </a:spcBef>
              <a:spcAft>
                <a:spcPts val="0"/>
              </a:spcAft>
              <a:buClr>
                <a:schemeClr val="dk1"/>
              </a:buClr>
              <a:buSzPts val="1600"/>
              <a:buChar char="•"/>
              <a:defRPr sz="1600"/>
            </a:lvl4pPr>
            <a:lvl5pPr indent="-330200" lvl="4" marL="2286000" algn="l">
              <a:lnSpc>
                <a:spcPct val="90000"/>
              </a:lnSpc>
              <a:spcBef>
                <a:spcPts val="500"/>
              </a:spcBef>
              <a:spcAft>
                <a:spcPts val="0"/>
              </a:spcAft>
              <a:buClr>
                <a:schemeClr val="dk1"/>
              </a:buClr>
              <a:buSzPts val="1600"/>
              <a:buChar char="•"/>
              <a:defRPr sz="16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2" name="Google Shape;22;p20"/>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381000" lvl="0" marL="457200" algn="l">
              <a:lnSpc>
                <a:spcPct val="90000"/>
              </a:lnSpc>
              <a:spcBef>
                <a:spcPts val="1000"/>
              </a:spcBef>
              <a:spcAft>
                <a:spcPts val="0"/>
              </a:spcAft>
              <a:buClr>
                <a:schemeClr val="dk1"/>
              </a:buClr>
              <a:buSzPts val="2400"/>
              <a:buChar char="•"/>
              <a:defRPr sz="2400"/>
            </a:lvl1pPr>
            <a:lvl2pPr indent="-355600" lvl="1" marL="914400" algn="l">
              <a:lnSpc>
                <a:spcPct val="90000"/>
              </a:lnSpc>
              <a:spcBef>
                <a:spcPts val="500"/>
              </a:spcBef>
              <a:spcAft>
                <a:spcPts val="0"/>
              </a:spcAft>
              <a:buClr>
                <a:schemeClr val="dk1"/>
              </a:buClr>
              <a:buSzPts val="2000"/>
              <a:buChar char="•"/>
              <a:defRPr sz="2000"/>
            </a:lvl2pPr>
            <a:lvl3pPr indent="-342900" lvl="2" marL="1371600" algn="l">
              <a:lnSpc>
                <a:spcPct val="90000"/>
              </a:lnSpc>
              <a:spcBef>
                <a:spcPts val="500"/>
              </a:spcBef>
              <a:spcAft>
                <a:spcPts val="0"/>
              </a:spcAft>
              <a:buClr>
                <a:schemeClr val="dk1"/>
              </a:buClr>
              <a:buSzPts val="1800"/>
              <a:buChar char="•"/>
              <a:defRPr sz="1800"/>
            </a:lvl3pPr>
            <a:lvl4pPr indent="-330200" lvl="3" marL="1828800" algn="l">
              <a:lnSpc>
                <a:spcPct val="90000"/>
              </a:lnSpc>
              <a:spcBef>
                <a:spcPts val="500"/>
              </a:spcBef>
              <a:spcAft>
                <a:spcPts val="0"/>
              </a:spcAft>
              <a:buClr>
                <a:schemeClr val="dk1"/>
              </a:buClr>
              <a:buSzPts val="1600"/>
              <a:buChar char="•"/>
              <a:defRPr sz="1600"/>
            </a:lvl4pPr>
            <a:lvl5pPr indent="-330200" lvl="4" marL="2286000" algn="l">
              <a:lnSpc>
                <a:spcPct val="90000"/>
              </a:lnSpc>
              <a:spcBef>
                <a:spcPts val="500"/>
              </a:spcBef>
              <a:spcAft>
                <a:spcPts val="0"/>
              </a:spcAft>
              <a:buClr>
                <a:schemeClr val="dk1"/>
              </a:buClr>
              <a:buSzPts val="1600"/>
              <a:buChar char="•"/>
              <a:defRPr sz="16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bg>
      <p:bgPr>
        <a:blipFill>
          <a:blip r:embed="rId2">
            <a:alphaModFix/>
          </a:blip>
          <a:stretch>
            <a:fillRect/>
          </a:stretch>
        </a:blipFill>
      </p:bgPr>
    </p:bg>
    <p:spTree>
      <p:nvGrpSpPr>
        <p:cNvPr id="23" name="Shape 23"/>
        <p:cNvGrpSpPr/>
        <p:nvPr/>
      </p:nvGrpSpPr>
      <p:grpSpPr>
        <a:xfrm>
          <a:off x="0" y="0"/>
          <a:ext cx="0" cy="0"/>
          <a:chOff x="0" y="0"/>
          <a:chExt cx="0" cy="0"/>
        </a:xfrm>
      </p:grpSpPr>
      <p:sp>
        <p:nvSpPr>
          <p:cNvPr id="24" name="Google Shape;24;p21"/>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1416B"/>
              </a:buClr>
              <a:buSzPts val="3600"/>
              <a:buFont typeface="Arial"/>
              <a:buNone/>
              <a:defRPr sz="3600">
                <a:solidFill>
                  <a:srgbClr val="01416B"/>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5" name="Google Shape;25;p21"/>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26" name="Google Shape;26;p21"/>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381000" lvl="0" marL="457200" algn="l">
              <a:lnSpc>
                <a:spcPct val="90000"/>
              </a:lnSpc>
              <a:spcBef>
                <a:spcPts val="1000"/>
              </a:spcBef>
              <a:spcAft>
                <a:spcPts val="0"/>
              </a:spcAft>
              <a:buClr>
                <a:schemeClr val="dk1"/>
              </a:buClr>
              <a:buSzPts val="2400"/>
              <a:buChar char="•"/>
              <a:defRPr sz="2400"/>
            </a:lvl1pPr>
            <a:lvl2pPr indent="-355600" lvl="1" marL="914400" algn="l">
              <a:lnSpc>
                <a:spcPct val="90000"/>
              </a:lnSpc>
              <a:spcBef>
                <a:spcPts val="500"/>
              </a:spcBef>
              <a:spcAft>
                <a:spcPts val="0"/>
              </a:spcAft>
              <a:buClr>
                <a:schemeClr val="dk1"/>
              </a:buClr>
              <a:buSzPts val="2000"/>
              <a:buChar char="•"/>
              <a:defRPr sz="2000"/>
            </a:lvl2pPr>
            <a:lvl3pPr indent="-342900" lvl="2" marL="1371600" algn="l">
              <a:lnSpc>
                <a:spcPct val="90000"/>
              </a:lnSpc>
              <a:spcBef>
                <a:spcPts val="500"/>
              </a:spcBef>
              <a:spcAft>
                <a:spcPts val="0"/>
              </a:spcAft>
              <a:buClr>
                <a:schemeClr val="dk1"/>
              </a:buClr>
              <a:buSzPts val="1800"/>
              <a:buChar char="•"/>
              <a:defRPr sz="1800"/>
            </a:lvl3pPr>
            <a:lvl4pPr indent="-330200" lvl="3" marL="1828800" algn="l">
              <a:lnSpc>
                <a:spcPct val="90000"/>
              </a:lnSpc>
              <a:spcBef>
                <a:spcPts val="500"/>
              </a:spcBef>
              <a:spcAft>
                <a:spcPts val="0"/>
              </a:spcAft>
              <a:buClr>
                <a:schemeClr val="dk1"/>
              </a:buClr>
              <a:buSzPts val="1600"/>
              <a:buChar char="•"/>
              <a:defRPr sz="1600"/>
            </a:lvl4pPr>
            <a:lvl5pPr indent="-330200" lvl="4" marL="2286000" algn="l">
              <a:lnSpc>
                <a:spcPct val="90000"/>
              </a:lnSpc>
              <a:spcBef>
                <a:spcPts val="500"/>
              </a:spcBef>
              <a:spcAft>
                <a:spcPts val="0"/>
              </a:spcAft>
              <a:buClr>
                <a:schemeClr val="dk1"/>
              </a:buClr>
              <a:buSzPts val="1600"/>
              <a:buChar char="•"/>
              <a:defRPr sz="16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7" name="Google Shape;27;p21"/>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28" name="Google Shape;28;p21"/>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381000" lvl="0" marL="457200" algn="l">
              <a:lnSpc>
                <a:spcPct val="90000"/>
              </a:lnSpc>
              <a:spcBef>
                <a:spcPts val="1000"/>
              </a:spcBef>
              <a:spcAft>
                <a:spcPts val="0"/>
              </a:spcAft>
              <a:buClr>
                <a:schemeClr val="dk1"/>
              </a:buClr>
              <a:buSzPts val="2400"/>
              <a:buChar char="•"/>
              <a:defRPr sz="2400"/>
            </a:lvl1pPr>
            <a:lvl2pPr indent="-355600" lvl="1" marL="914400" algn="l">
              <a:lnSpc>
                <a:spcPct val="90000"/>
              </a:lnSpc>
              <a:spcBef>
                <a:spcPts val="500"/>
              </a:spcBef>
              <a:spcAft>
                <a:spcPts val="0"/>
              </a:spcAft>
              <a:buClr>
                <a:schemeClr val="dk1"/>
              </a:buClr>
              <a:buSzPts val="2000"/>
              <a:buChar char="•"/>
              <a:defRPr sz="2000"/>
            </a:lvl2pPr>
            <a:lvl3pPr indent="-342900" lvl="2" marL="1371600" algn="l">
              <a:lnSpc>
                <a:spcPct val="90000"/>
              </a:lnSpc>
              <a:spcBef>
                <a:spcPts val="500"/>
              </a:spcBef>
              <a:spcAft>
                <a:spcPts val="0"/>
              </a:spcAft>
              <a:buClr>
                <a:schemeClr val="dk1"/>
              </a:buClr>
              <a:buSzPts val="1800"/>
              <a:buChar char="•"/>
              <a:defRPr sz="1800"/>
            </a:lvl3pPr>
            <a:lvl4pPr indent="-330200" lvl="3" marL="1828800" algn="l">
              <a:lnSpc>
                <a:spcPct val="90000"/>
              </a:lnSpc>
              <a:spcBef>
                <a:spcPts val="500"/>
              </a:spcBef>
              <a:spcAft>
                <a:spcPts val="0"/>
              </a:spcAft>
              <a:buClr>
                <a:schemeClr val="dk1"/>
              </a:buClr>
              <a:buSzPts val="1600"/>
              <a:buChar char="•"/>
              <a:defRPr sz="1600"/>
            </a:lvl4pPr>
            <a:lvl5pPr indent="-330200" lvl="4" marL="2286000" algn="l">
              <a:lnSpc>
                <a:spcPct val="90000"/>
              </a:lnSpc>
              <a:spcBef>
                <a:spcPts val="500"/>
              </a:spcBef>
              <a:spcAft>
                <a:spcPts val="0"/>
              </a:spcAft>
              <a:buClr>
                <a:schemeClr val="dk1"/>
              </a:buClr>
              <a:buSzPts val="1600"/>
              <a:buChar char="•"/>
              <a:defRPr sz="16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bg>
      <p:bgPr>
        <a:blipFill>
          <a:blip r:embed="rId2">
            <a:alphaModFix/>
          </a:blip>
          <a:stretch>
            <a:fillRect/>
          </a:stretch>
        </a:blipFill>
      </p:bgPr>
    </p:bg>
    <p:spTree>
      <p:nvGrpSpPr>
        <p:cNvPr id="29" name="Shape 29"/>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bg>
      <p:bgPr>
        <a:blipFill>
          <a:blip r:embed="rId2">
            <a:alphaModFix/>
          </a:blip>
          <a:stretch>
            <a:fillRect/>
          </a:stretch>
        </a:blipFill>
      </p:bgPr>
    </p:bg>
    <p:spTree>
      <p:nvGrpSpPr>
        <p:cNvPr id="30" name="Shape 30"/>
        <p:cNvGrpSpPr/>
        <p:nvPr/>
      </p:nvGrpSpPr>
      <p:grpSpPr>
        <a:xfrm>
          <a:off x="0" y="0"/>
          <a:ext cx="0" cy="0"/>
          <a:chOff x="0" y="0"/>
          <a:chExt cx="0" cy="0"/>
        </a:xfrm>
      </p:grpSpPr>
      <p:sp>
        <p:nvSpPr>
          <p:cNvPr id="31" name="Google Shape;31;p23"/>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1416B"/>
              </a:buClr>
              <a:buSzPts val="3200"/>
              <a:buFont typeface="Arial"/>
              <a:buNone/>
              <a:defRPr sz="3200">
                <a:solidFill>
                  <a:srgbClr val="01416B"/>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23"/>
          <p:cNvSpPr txBox="1"/>
          <p:nvPr>
            <p:ph idx="1" type="body"/>
          </p:nvPr>
        </p:nvSpPr>
        <p:spPr>
          <a:xfrm>
            <a:off x="5183188" y="1245141"/>
            <a:ext cx="6172200" cy="4615910"/>
          </a:xfrm>
          <a:prstGeom prst="rect">
            <a:avLst/>
          </a:prstGeom>
          <a:noFill/>
          <a:ln>
            <a:noFill/>
          </a:ln>
        </p:spPr>
        <p:txBody>
          <a:bodyPr anchorCtr="0" anchor="t" bIns="45700" lIns="91425" spcFirstLastPara="1" rIns="91425" wrap="square" tIns="45700">
            <a:normAutofit/>
          </a:bodyPr>
          <a:lstStyle>
            <a:lvl1pPr indent="-381000" lvl="0" marL="457200" algn="l">
              <a:lnSpc>
                <a:spcPct val="90000"/>
              </a:lnSpc>
              <a:spcBef>
                <a:spcPts val="1000"/>
              </a:spcBef>
              <a:spcAft>
                <a:spcPts val="0"/>
              </a:spcAft>
              <a:buClr>
                <a:schemeClr val="dk1"/>
              </a:buClr>
              <a:buSzPts val="2400"/>
              <a:buChar char="•"/>
              <a:defRPr sz="2400"/>
            </a:lvl1pPr>
            <a:lvl2pPr indent="-355600" lvl="1" marL="914400" algn="l">
              <a:lnSpc>
                <a:spcPct val="90000"/>
              </a:lnSpc>
              <a:spcBef>
                <a:spcPts val="500"/>
              </a:spcBef>
              <a:spcAft>
                <a:spcPts val="0"/>
              </a:spcAft>
              <a:buClr>
                <a:schemeClr val="dk1"/>
              </a:buClr>
              <a:buSzPts val="2000"/>
              <a:buChar char="•"/>
              <a:defRPr sz="2000"/>
            </a:lvl2pPr>
            <a:lvl3pPr indent="-342900" lvl="2" marL="1371600" algn="l">
              <a:lnSpc>
                <a:spcPct val="90000"/>
              </a:lnSpc>
              <a:spcBef>
                <a:spcPts val="500"/>
              </a:spcBef>
              <a:spcAft>
                <a:spcPts val="0"/>
              </a:spcAft>
              <a:buClr>
                <a:schemeClr val="dk1"/>
              </a:buClr>
              <a:buSzPts val="1800"/>
              <a:buChar char="•"/>
              <a:defRPr sz="1800"/>
            </a:lvl3pPr>
            <a:lvl4pPr indent="-330200" lvl="3" marL="1828800" algn="l">
              <a:lnSpc>
                <a:spcPct val="90000"/>
              </a:lnSpc>
              <a:spcBef>
                <a:spcPts val="500"/>
              </a:spcBef>
              <a:spcAft>
                <a:spcPts val="0"/>
              </a:spcAft>
              <a:buClr>
                <a:schemeClr val="dk1"/>
              </a:buClr>
              <a:buSzPts val="1600"/>
              <a:buChar char="•"/>
              <a:defRPr sz="1600"/>
            </a:lvl4pPr>
            <a:lvl5pPr indent="-330200" lvl="4" marL="2286000" algn="l">
              <a:lnSpc>
                <a:spcPct val="90000"/>
              </a:lnSpc>
              <a:spcBef>
                <a:spcPts val="500"/>
              </a:spcBef>
              <a:spcAft>
                <a:spcPts val="0"/>
              </a:spcAft>
              <a:buClr>
                <a:schemeClr val="dk1"/>
              </a:buClr>
              <a:buSzPts val="1600"/>
              <a:buChar char="•"/>
              <a:defRPr sz="16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33" name="Google Shape;33;p23"/>
          <p:cNvSpPr txBox="1"/>
          <p:nvPr>
            <p:ph idx="2" type="body"/>
          </p:nvPr>
        </p:nvSpPr>
        <p:spPr>
          <a:xfrm>
            <a:off x="839788" y="2315182"/>
            <a:ext cx="3932237" cy="355380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bg>
      <p:bgPr>
        <a:blipFill>
          <a:blip r:embed="rId2">
            <a:alphaModFix/>
          </a:blip>
          <a:stretch>
            <a:fillRect/>
          </a:stretch>
        </a:blipFill>
      </p:bgPr>
    </p:bg>
    <p:spTree>
      <p:nvGrpSpPr>
        <p:cNvPr id="34" name="Shape 34"/>
        <p:cNvGrpSpPr/>
        <p:nvPr/>
      </p:nvGrpSpPr>
      <p:grpSpPr>
        <a:xfrm>
          <a:off x="0" y="0"/>
          <a:ext cx="0" cy="0"/>
          <a:chOff x="0" y="0"/>
          <a:chExt cx="0" cy="0"/>
        </a:xfrm>
      </p:grpSpPr>
      <p:sp>
        <p:nvSpPr>
          <p:cNvPr id="35" name="Google Shape;35;p24"/>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1416B"/>
              </a:buClr>
              <a:buSzPts val="3200"/>
              <a:buFont typeface="Arial"/>
              <a:buNone/>
              <a:defRPr sz="3200">
                <a:solidFill>
                  <a:srgbClr val="01416B"/>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6" name="Google Shape;36;p24"/>
          <p:cNvSpPr/>
          <p:nvPr>
            <p:ph idx="2" type="pic"/>
          </p:nvPr>
        </p:nvSpPr>
        <p:spPr>
          <a:xfrm>
            <a:off x="5183188" y="987425"/>
            <a:ext cx="6172200" cy="4873625"/>
          </a:xfrm>
          <a:prstGeom prst="rect">
            <a:avLst/>
          </a:prstGeom>
          <a:noFill/>
          <a:ln>
            <a:noFill/>
          </a:ln>
        </p:spPr>
      </p:sp>
      <p:sp>
        <p:nvSpPr>
          <p:cNvPr id="37" name="Google Shape;37;p24"/>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6"/>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Arial"/>
              <a:buNone/>
              <a:defRPr b="1" i="0" sz="44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6"/>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16"/>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6"/>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6"/>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chart" Target="../charts/chart1.xml"/><Relationship Id="rId4" Type="http://schemas.openxmlformats.org/officeDocument/2006/relationships/chart" Target="../charts/char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42" name="Shape 42"/>
        <p:cNvGrpSpPr/>
        <p:nvPr/>
      </p:nvGrpSpPr>
      <p:grpSpPr>
        <a:xfrm>
          <a:off x="0" y="0"/>
          <a:ext cx="0" cy="0"/>
          <a:chOff x="0" y="0"/>
          <a:chExt cx="0" cy="0"/>
        </a:xfrm>
      </p:grpSpPr>
      <p:sp>
        <p:nvSpPr>
          <p:cNvPr id="43" name="Google Shape;43;p1"/>
          <p:cNvSpPr txBox="1"/>
          <p:nvPr/>
        </p:nvSpPr>
        <p:spPr>
          <a:xfrm>
            <a:off x="10410317" y="6109589"/>
            <a:ext cx="156210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500" u="none" cap="none" strike="noStrike">
                <a:solidFill>
                  <a:srgbClr val="0E426B"/>
                </a:solidFill>
                <a:latin typeface="Arial"/>
                <a:ea typeface="Arial"/>
                <a:cs typeface="Arial"/>
                <a:sym typeface="Arial"/>
              </a:rPr>
              <a:t>ugm.ac.id</a:t>
            </a:r>
            <a:endParaRPr b="0" i="0" sz="1500" u="none" cap="none" strike="noStrike">
              <a:solidFill>
                <a:srgbClr val="0E426B"/>
              </a:solidFill>
              <a:latin typeface="Arial"/>
              <a:ea typeface="Arial"/>
              <a:cs typeface="Arial"/>
              <a:sym typeface="Arial"/>
            </a:endParaRPr>
          </a:p>
        </p:txBody>
      </p:sp>
      <p:sp>
        <p:nvSpPr>
          <p:cNvPr id="44" name="Google Shape;44;p1"/>
          <p:cNvSpPr/>
          <p:nvPr/>
        </p:nvSpPr>
        <p:spPr>
          <a:xfrm>
            <a:off x="12019915" y="1672272"/>
            <a:ext cx="177926" cy="5223192"/>
          </a:xfrm>
          <a:custGeom>
            <a:rect b="b" l="l" r="r" t="t"/>
            <a:pathLst>
              <a:path extrusionOk="0" h="5223192" w="177926">
                <a:moveTo>
                  <a:pt x="0" y="0"/>
                </a:moveTo>
                <a:lnTo>
                  <a:pt x="177927" y="0"/>
                </a:lnTo>
                <a:lnTo>
                  <a:pt x="177927" y="5223193"/>
                </a:lnTo>
                <a:lnTo>
                  <a:pt x="0" y="5223193"/>
                </a:lnTo>
                <a:close/>
              </a:path>
            </a:pathLst>
          </a:custGeom>
          <a:solidFill>
            <a:srgbClr val="00416B"/>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5" name="Google Shape;45;p1"/>
          <p:cNvSpPr/>
          <p:nvPr/>
        </p:nvSpPr>
        <p:spPr>
          <a:xfrm>
            <a:off x="12019915" y="0"/>
            <a:ext cx="177926" cy="1672272"/>
          </a:xfrm>
          <a:custGeom>
            <a:rect b="b" l="l" r="r" t="t"/>
            <a:pathLst>
              <a:path extrusionOk="0" h="1672272" w="177926">
                <a:moveTo>
                  <a:pt x="0" y="0"/>
                </a:moveTo>
                <a:lnTo>
                  <a:pt x="177927" y="0"/>
                </a:lnTo>
                <a:lnTo>
                  <a:pt x="177927" y="1672273"/>
                </a:lnTo>
                <a:lnTo>
                  <a:pt x="0" y="1672273"/>
                </a:lnTo>
                <a:close/>
              </a:path>
            </a:pathLst>
          </a:custGeom>
          <a:solidFill>
            <a:srgbClr val="FDD402"/>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 name="Google Shape;46;p1"/>
          <p:cNvSpPr txBox="1"/>
          <p:nvPr/>
        </p:nvSpPr>
        <p:spPr>
          <a:xfrm>
            <a:off x="6748272" y="2468880"/>
            <a:ext cx="4937760" cy="658368"/>
          </a:xfrm>
          <a:prstGeom prst="rect">
            <a:avLst/>
          </a:prstGeom>
          <a:noFill/>
          <a:ln>
            <a:noFill/>
          </a:ln>
        </p:spPr>
        <p:txBody>
          <a:bodyPr anchorCtr="0" anchor="t" bIns="45700" lIns="91425" spcFirstLastPara="1" rIns="91425" wrap="square" tIns="45700">
            <a:spAutoFit/>
          </a:bodyPr>
          <a:lstStyle/>
          <a:p>
            <a:pPr indent="0" lvl="0" marL="0" marR="0" rtl="0" algn="l">
              <a:lnSpc>
                <a:spcPct val="148571"/>
              </a:lnSpc>
              <a:spcBef>
                <a:spcPts val="0"/>
              </a:spcBef>
              <a:spcAft>
                <a:spcPts val="0"/>
              </a:spcAft>
              <a:buNone/>
            </a:pPr>
            <a:r>
              <a:rPr lang="en-US" sz="1400">
                <a:solidFill>
                  <a:srgbClr val="01416B"/>
                </a:solidFill>
                <a:latin typeface="Arial"/>
                <a:ea typeface="Arial"/>
                <a:cs typeface="Arial"/>
                <a:sym typeface="Arial"/>
              </a:rPr>
              <a:t>What the prototype does, how its agents work,</a:t>
            </a:r>
            <a:endParaRPr/>
          </a:p>
          <a:p>
            <a:pPr indent="0" lvl="0" marL="0" marR="0" rtl="0" algn="l">
              <a:lnSpc>
                <a:spcPct val="148571"/>
              </a:lnSpc>
              <a:spcBef>
                <a:spcPts val="0"/>
              </a:spcBef>
              <a:spcAft>
                <a:spcPts val="0"/>
              </a:spcAft>
              <a:buNone/>
            </a:pPr>
            <a:r>
              <a:rPr lang="en-US" sz="1400">
                <a:solidFill>
                  <a:srgbClr val="01416B"/>
                </a:solidFill>
                <a:latin typeface="Arial"/>
                <a:ea typeface="Arial"/>
                <a:cs typeface="Arial"/>
                <a:sym typeface="Arial"/>
              </a:rPr>
              <a:t>and what the experiment shows.</a:t>
            </a:r>
            <a:endParaRPr/>
          </a:p>
        </p:txBody>
      </p:sp>
      <p:sp>
        <p:nvSpPr>
          <p:cNvPr id="47" name="Google Shape;47;p1"/>
          <p:cNvSpPr/>
          <p:nvPr/>
        </p:nvSpPr>
        <p:spPr>
          <a:xfrm>
            <a:off x="6836346" y="2331720"/>
            <a:ext cx="777176" cy="32258"/>
          </a:xfrm>
          <a:custGeom>
            <a:rect b="b" l="l" r="r" t="t"/>
            <a:pathLst>
              <a:path extrusionOk="0" h="32258" w="777176">
                <a:moveTo>
                  <a:pt x="0" y="0"/>
                </a:moveTo>
                <a:lnTo>
                  <a:pt x="777176" y="0"/>
                </a:lnTo>
                <a:lnTo>
                  <a:pt x="777176" y="32258"/>
                </a:lnTo>
                <a:lnTo>
                  <a:pt x="0" y="32258"/>
                </a:lnTo>
                <a:close/>
              </a:path>
            </a:pathLst>
          </a:custGeom>
          <a:solidFill>
            <a:srgbClr val="FDD402"/>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8" name="Google Shape;48;p1"/>
          <p:cNvSpPr txBox="1"/>
          <p:nvPr/>
        </p:nvSpPr>
        <p:spPr>
          <a:xfrm>
            <a:off x="6693408" y="731520"/>
            <a:ext cx="4983480" cy="1463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3000">
                <a:solidFill>
                  <a:srgbClr val="01416B"/>
                </a:solidFill>
                <a:latin typeface="Arial"/>
                <a:ea typeface="Arial"/>
                <a:cs typeface="Arial"/>
                <a:sym typeface="Arial"/>
              </a:rPr>
              <a:t>T2D-MAS:</a:t>
            </a:r>
            <a:endParaRPr/>
          </a:p>
          <a:p>
            <a:pPr indent="0" lvl="0" marL="0" marR="0" rtl="0" algn="l">
              <a:spcBef>
                <a:spcPts val="0"/>
              </a:spcBef>
              <a:spcAft>
                <a:spcPts val="0"/>
              </a:spcAft>
              <a:buNone/>
            </a:pPr>
            <a:r>
              <a:rPr lang="en-US" sz="3000">
                <a:solidFill>
                  <a:srgbClr val="01416B"/>
                </a:solidFill>
                <a:latin typeface="Arial"/>
                <a:ea typeface="Arial"/>
                <a:cs typeface="Arial"/>
                <a:sym typeface="Arial"/>
              </a:rPr>
              <a:t>From Software Ticket</a:t>
            </a:r>
            <a:endParaRPr/>
          </a:p>
          <a:p>
            <a:pPr indent="0" lvl="0" marL="0" marR="0" rtl="0" algn="l">
              <a:spcBef>
                <a:spcPts val="0"/>
              </a:spcBef>
              <a:spcAft>
                <a:spcPts val="0"/>
              </a:spcAft>
              <a:buNone/>
            </a:pPr>
            <a:r>
              <a:rPr lang="en-US" sz="3000">
                <a:solidFill>
                  <a:srgbClr val="01416B"/>
                </a:solidFill>
                <a:latin typeface="Arial"/>
                <a:ea typeface="Arial"/>
                <a:cs typeface="Arial"/>
                <a:sym typeface="Arial"/>
              </a:rPr>
              <a:t>to Deployment</a:t>
            </a:r>
            <a:endParaRPr/>
          </a:p>
        </p:txBody>
      </p:sp>
      <p:sp>
        <p:nvSpPr>
          <p:cNvPr id="49" name="Google Shape;49;p1"/>
          <p:cNvSpPr txBox="1"/>
          <p:nvPr/>
        </p:nvSpPr>
        <p:spPr>
          <a:xfrm>
            <a:off x="494665" y="5825744"/>
            <a:ext cx="2975751" cy="738664"/>
          </a:xfrm>
          <a:prstGeom prst="rect">
            <a:avLst/>
          </a:prstGeom>
          <a:noFill/>
          <a:ln>
            <a:noFill/>
          </a:ln>
        </p:spPr>
        <p:txBody>
          <a:bodyPr anchorCtr="0" anchor="t" bIns="45700" lIns="91425" spcFirstLastPara="1" rIns="91425" wrap="square" tIns="45700">
            <a:spAutoFit/>
          </a:bodyPr>
          <a:lstStyle/>
          <a:p>
            <a:pPr indent="0" lvl="0" marL="0" marR="0" rtl="0" algn="l">
              <a:lnSpc>
                <a:spcPct val="150000"/>
              </a:lnSpc>
              <a:spcBef>
                <a:spcPts val="0"/>
              </a:spcBef>
              <a:spcAft>
                <a:spcPts val="0"/>
              </a:spcAft>
              <a:buNone/>
            </a:pPr>
            <a:r>
              <a:rPr lang="en-US" sz="1400">
                <a:solidFill>
                  <a:srgbClr val="01416B"/>
                </a:solidFill>
                <a:latin typeface="Arial"/>
                <a:ea typeface="Arial"/>
                <a:cs typeface="Arial"/>
                <a:sym typeface="Arial"/>
              </a:rPr>
              <a:t>LOCALLY ROOTED,</a:t>
            </a:r>
            <a:endParaRPr/>
          </a:p>
          <a:p>
            <a:pPr indent="0" lvl="0" marL="0" marR="0" rtl="0" algn="l">
              <a:lnSpc>
                <a:spcPct val="150000"/>
              </a:lnSpc>
              <a:spcBef>
                <a:spcPts val="0"/>
              </a:spcBef>
              <a:spcAft>
                <a:spcPts val="0"/>
              </a:spcAft>
              <a:buNone/>
            </a:pPr>
            <a:r>
              <a:rPr lang="en-US" sz="1400">
                <a:solidFill>
                  <a:srgbClr val="01416B"/>
                </a:solidFill>
                <a:latin typeface="Arial"/>
                <a:ea typeface="Arial"/>
                <a:cs typeface="Arial"/>
                <a:sym typeface="Arial"/>
              </a:rPr>
              <a:t>GLOBALLY RESPECTED</a:t>
            </a:r>
            <a:endParaRPr sz="1400">
              <a:solidFill>
                <a:srgbClr val="01416B"/>
              </a:solidFill>
              <a:latin typeface="Arial"/>
              <a:ea typeface="Arial"/>
              <a:cs typeface="Arial"/>
              <a:sym typeface="Arial"/>
            </a:endParaRPr>
          </a:p>
        </p:txBody>
      </p:sp>
      <p:grpSp>
        <p:nvGrpSpPr>
          <p:cNvPr id="50" name="Google Shape;50;p1"/>
          <p:cNvGrpSpPr/>
          <p:nvPr/>
        </p:nvGrpSpPr>
        <p:grpSpPr>
          <a:xfrm>
            <a:off x="-8572" y="1192974"/>
            <a:ext cx="6594156" cy="4390072"/>
            <a:chOff x="-8572" y="1192974"/>
            <a:chExt cx="6594156" cy="4390072"/>
          </a:xfrm>
        </p:grpSpPr>
        <p:sp>
          <p:nvSpPr>
            <p:cNvPr id="51" name="Google Shape;51;p1"/>
            <p:cNvSpPr/>
            <p:nvPr/>
          </p:nvSpPr>
          <p:spPr>
            <a:xfrm>
              <a:off x="-8509" y="1192974"/>
              <a:ext cx="6585965" cy="2462466"/>
            </a:xfrm>
            <a:custGeom>
              <a:rect b="b" l="l" r="r" t="t"/>
              <a:pathLst>
                <a:path extrusionOk="0" h="2462466" w="6585965">
                  <a:moveTo>
                    <a:pt x="0" y="9715"/>
                  </a:moveTo>
                  <a:lnTo>
                    <a:pt x="3414014" y="1412621"/>
                  </a:lnTo>
                  <a:lnTo>
                    <a:pt x="0" y="510540"/>
                  </a:lnTo>
                  <a:lnTo>
                    <a:pt x="0" y="519874"/>
                  </a:lnTo>
                  <a:lnTo>
                    <a:pt x="3474403" y="1437958"/>
                  </a:lnTo>
                  <a:lnTo>
                    <a:pt x="3474403" y="1525715"/>
                  </a:lnTo>
                  <a:lnTo>
                    <a:pt x="0" y="617157"/>
                  </a:lnTo>
                  <a:lnTo>
                    <a:pt x="0" y="626491"/>
                  </a:lnTo>
                  <a:lnTo>
                    <a:pt x="3458845" y="1530922"/>
                  </a:lnTo>
                  <a:lnTo>
                    <a:pt x="3090863" y="1603947"/>
                  </a:lnTo>
                  <a:lnTo>
                    <a:pt x="6580378" y="2461070"/>
                  </a:lnTo>
                  <a:lnTo>
                    <a:pt x="6585966" y="2462466"/>
                  </a:lnTo>
                  <a:lnTo>
                    <a:pt x="6585966" y="2398268"/>
                  </a:lnTo>
                  <a:lnTo>
                    <a:pt x="4479735" y="1546162"/>
                  </a:lnTo>
                  <a:lnTo>
                    <a:pt x="2523744" y="1027875"/>
                  </a:lnTo>
                  <a:lnTo>
                    <a:pt x="2521522" y="1036193"/>
                  </a:lnTo>
                  <a:lnTo>
                    <a:pt x="0" y="0"/>
                  </a:lnTo>
                  <a:lnTo>
                    <a:pt x="0" y="9715"/>
                  </a:lnTo>
                  <a:close/>
                  <a:moveTo>
                    <a:pt x="6576886" y="2404237"/>
                  </a:moveTo>
                  <a:lnTo>
                    <a:pt x="6576886" y="2450910"/>
                  </a:lnTo>
                  <a:lnTo>
                    <a:pt x="3132328" y="1604836"/>
                  </a:lnTo>
                  <a:lnTo>
                    <a:pt x="3324543" y="1566672"/>
                  </a:lnTo>
                  <a:lnTo>
                    <a:pt x="6465824" y="2359279"/>
                  </a:lnTo>
                  <a:lnTo>
                    <a:pt x="6576886" y="2404237"/>
                  </a:lnTo>
                  <a:close/>
                  <a:moveTo>
                    <a:pt x="6404801" y="2334641"/>
                  </a:moveTo>
                  <a:lnTo>
                    <a:pt x="3345117" y="1562608"/>
                  </a:lnTo>
                  <a:lnTo>
                    <a:pt x="3478721" y="1536065"/>
                  </a:lnTo>
                  <a:lnTo>
                    <a:pt x="6068060" y="2198434"/>
                  </a:lnTo>
                  <a:lnTo>
                    <a:pt x="6404801" y="2334641"/>
                  </a:lnTo>
                  <a:close/>
                  <a:moveTo>
                    <a:pt x="4476941" y="1554734"/>
                  </a:moveTo>
                  <a:lnTo>
                    <a:pt x="6005703" y="2173224"/>
                  </a:lnTo>
                  <a:lnTo>
                    <a:pt x="3483420" y="1528001"/>
                  </a:lnTo>
                  <a:lnTo>
                    <a:pt x="3483420" y="1430973"/>
                  </a:lnTo>
                  <a:lnTo>
                    <a:pt x="3480372" y="1430147"/>
                  </a:lnTo>
                  <a:lnTo>
                    <a:pt x="2524379" y="1037273"/>
                  </a:lnTo>
                  <a:lnTo>
                    <a:pt x="4476941" y="1554734"/>
                  </a:lnTo>
                  <a:close/>
                </a:path>
              </a:pathLst>
            </a:custGeom>
            <a:solidFill>
              <a:srgbClr val="0D436B"/>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 name="Google Shape;52;p1"/>
            <p:cNvSpPr/>
            <p:nvPr/>
          </p:nvSpPr>
          <p:spPr>
            <a:xfrm>
              <a:off x="-8572" y="4316348"/>
              <a:ext cx="193547" cy="892429"/>
            </a:xfrm>
            <a:custGeom>
              <a:rect b="b" l="l" r="r" t="t"/>
              <a:pathLst>
                <a:path extrusionOk="0" h="892429" w="193547">
                  <a:moveTo>
                    <a:pt x="193548" y="892429"/>
                  </a:moveTo>
                  <a:lnTo>
                    <a:pt x="193548" y="330073"/>
                  </a:lnTo>
                  <a:cubicBezTo>
                    <a:pt x="193548" y="130683"/>
                    <a:pt x="182118" y="0"/>
                    <a:pt x="28893" y="0"/>
                  </a:cubicBezTo>
                  <a:cubicBezTo>
                    <a:pt x="19114" y="0"/>
                    <a:pt x="9462" y="1270"/>
                    <a:pt x="0" y="3620"/>
                  </a:cubicBezTo>
                  <a:lnTo>
                    <a:pt x="0" y="13017"/>
                  </a:lnTo>
                  <a:cubicBezTo>
                    <a:pt x="9462" y="10478"/>
                    <a:pt x="19050" y="9017"/>
                    <a:pt x="28893" y="9017"/>
                  </a:cubicBezTo>
                  <a:cubicBezTo>
                    <a:pt x="95758" y="9017"/>
                    <a:pt x="135573" y="33528"/>
                    <a:pt x="158052" y="88392"/>
                  </a:cubicBezTo>
                  <a:cubicBezTo>
                    <a:pt x="180023" y="142177"/>
                    <a:pt x="184531" y="223901"/>
                    <a:pt x="184531" y="330073"/>
                  </a:cubicBezTo>
                  <a:lnTo>
                    <a:pt x="184531" y="892429"/>
                  </a:lnTo>
                  <a:lnTo>
                    <a:pt x="193548" y="892429"/>
                  </a:lnTo>
                  <a:close/>
                </a:path>
              </a:pathLst>
            </a:custGeom>
            <a:solidFill>
              <a:srgbClr val="0D436B"/>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3" name="Google Shape;53;p1"/>
            <p:cNvSpPr/>
            <p:nvPr/>
          </p:nvSpPr>
          <p:spPr>
            <a:xfrm>
              <a:off x="6056160" y="3712971"/>
              <a:ext cx="80896" cy="1309751"/>
            </a:xfrm>
            <a:custGeom>
              <a:rect b="b" l="l" r="r" t="t"/>
              <a:pathLst>
                <a:path extrusionOk="0" h="1309751" w="80896">
                  <a:moveTo>
                    <a:pt x="53873" y="9208"/>
                  </a:moveTo>
                  <a:cubicBezTo>
                    <a:pt x="48095" y="3112"/>
                    <a:pt x="41364" y="0"/>
                    <a:pt x="33934" y="0"/>
                  </a:cubicBezTo>
                  <a:cubicBezTo>
                    <a:pt x="33934" y="0"/>
                    <a:pt x="33934" y="0"/>
                    <a:pt x="33934" y="0"/>
                  </a:cubicBezTo>
                  <a:cubicBezTo>
                    <a:pt x="29616" y="0"/>
                    <a:pt x="25679" y="1842"/>
                    <a:pt x="22187" y="5398"/>
                  </a:cubicBezTo>
                  <a:cubicBezTo>
                    <a:pt x="-3150" y="31433"/>
                    <a:pt x="-102" y="157417"/>
                    <a:pt x="343" y="171577"/>
                  </a:cubicBezTo>
                  <a:lnTo>
                    <a:pt x="343" y="1308926"/>
                  </a:lnTo>
                  <a:lnTo>
                    <a:pt x="9360" y="1308926"/>
                  </a:lnTo>
                  <a:lnTo>
                    <a:pt x="9360" y="171387"/>
                  </a:lnTo>
                  <a:cubicBezTo>
                    <a:pt x="8217" y="133668"/>
                    <a:pt x="9487" y="31369"/>
                    <a:pt x="28664" y="11621"/>
                  </a:cubicBezTo>
                  <a:cubicBezTo>
                    <a:pt x="30378" y="9843"/>
                    <a:pt x="32093" y="8954"/>
                    <a:pt x="33934" y="8954"/>
                  </a:cubicBezTo>
                  <a:cubicBezTo>
                    <a:pt x="33934" y="8954"/>
                    <a:pt x="33934" y="8954"/>
                    <a:pt x="33934" y="8954"/>
                  </a:cubicBezTo>
                  <a:cubicBezTo>
                    <a:pt x="38887" y="8954"/>
                    <a:pt x="43332" y="11049"/>
                    <a:pt x="47333" y="15367"/>
                  </a:cubicBezTo>
                  <a:cubicBezTo>
                    <a:pt x="78511" y="48451"/>
                    <a:pt x="71082" y="185103"/>
                    <a:pt x="71018" y="186754"/>
                  </a:cubicBezTo>
                  <a:lnTo>
                    <a:pt x="71018" y="1309751"/>
                  </a:lnTo>
                  <a:lnTo>
                    <a:pt x="80035" y="1309751"/>
                  </a:lnTo>
                  <a:lnTo>
                    <a:pt x="80035" y="187008"/>
                  </a:lnTo>
                  <a:cubicBezTo>
                    <a:pt x="80289" y="181229"/>
                    <a:pt x="87719" y="45085"/>
                    <a:pt x="53873" y="9208"/>
                  </a:cubicBezTo>
                  <a:close/>
                </a:path>
              </a:pathLst>
            </a:custGeom>
            <a:solidFill>
              <a:srgbClr val="0D436B"/>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4" name="Google Shape;54;p1"/>
            <p:cNvSpPr/>
            <p:nvPr/>
          </p:nvSpPr>
          <p:spPr>
            <a:xfrm>
              <a:off x="-8509" y="4273677"/>
              <a:ext cx="305371" cy="938657"/>
            </a:xfrm>
            <a:custGeom>
              <a:rect b="b" l="l" r="r" t="t"/>
              <a:pathLst>
                <a:path extrusionOk="0" h="938657" w="305371">
                  <a:moveTo>
                    <a:pt x="305372" y="938657"/>
                  </a:moveTo>
                  <a:lnTo>
                    <a:pt x="305372" y="319405"/>
                  </a:lnTo>
                  <a:cubicBezTo>
                    <a:pt x="305372" y="31115"/>
                    <a:pt x="139065" y="0"/>
                    <a:pt x="67564" y="0"/>
                  </a:cubicBezTo>
                  <a:cubicBezTo>
                    <a:pt x="44260" y="0"/>
                    <a:pt x="21527" y="5524"/>
                    <a:pt x="0" y="16129"/>
                  </a:cubicBezTo>
                  <a:lnTo>
                    <a:pt x="0" y="26289"/>
                  </a:lnTo>
                  <a:cubicBezTo>
                    <a:pt x="19812" y="15748"/>
                    <a:pt x="42291" y="8953"/>
                    <a:pt x="67564" y="8953"/>
                  </a:cubicBezTo>
                  <a:cubicBezTo>
                    <a:pt x="136335" y="8953"/>
                    <a:pt x="296355" y="39179"/>
                    <a:pt x="296355" y="319341"/>
                  </a:cubicBezTo>
                  <a:lnTo>
                    <a:pt x="296355" y="938594"/>
                  </a:lnTo>
                  <a:lnTo>
                    <a:pt x="305372" y="938594"/>
                  </a:lnTo>
                  <a:close/>
                </a:path>
              </a:pathLst>
            </a:custGeom>
            <a:solidFill>
              <a:srgbClr val="0D436B"/>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 name="Google Shape;55;p1"/>
            <p:cNvSpPr/>
            <p:nvPr/>
          </p:nvSpPr>
          <p:spPr>
            <a:xfrm>
              <a:off x="-8509" y="5457126"/>
              <a:ext cx="4064571" cy="125920"/>
            </a:xfrm>
            <a:custGeom>
              <a:rect b="b" l="l" r="r" t="t"/>
              <a:pathLst>
                <a:path extrusionOk="0" h="125920" w="4064571">
                  <a:moveTo>
                    <a:pt x="4058539" y="49530"/>
                  </a:moveTo>
                  <a:lnTo>
                    <a:pt x="4058539" y="0"/>
                  </a:lnTo>
                  <a:lnTo>
                    <a:pt x="0" y="62928"/>
                  </a:lnTo>
                  <a:lnTo>
                    <a:pt x="0" y="71882"/>
                  </a:lnTo>
                  <a:lnTo>
                    <a:pt x="4049522" y="9144"/>
                  </a:lnTo>
                  <a:lnTo>
                    <a:pt x="4049522" y="49720"/>
                  </a:lnTo>
                  <a:lnTo>
                    <a:pt x="0" y="116903"/>
                  </a:lnTo>
                  <a:lnTo>
                    <a:pt x="0" y="125920"/>
                  </a:lnTo>
                  <a:lnTo>
                    <a:pt x="4064572" y="58483"/>
                  </a:lnTo>
                  <a:lnTo>
                    <a:pt x="4064445" y="49466"/>
                  </a:lnTo>
                  <a:close/>
                </a:path>
              </a:pathLst>
            </a:custGeom>
            <a:solidFill>
              <a:srgbClr val="0D436B"/>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6" name="Google Shape;56;p1"/>
            <p:cNvSpPr/>
            <p:nvPr/>
          </p:nvSpPr>
          <p:spPr>
            <a:xfrm>
              <a:off x="1157541" y="3998722"/>
              <a:ext cx="9016" cy="198247"/>
            </a:xfrm>
            <a:custGeom>
              <a:rect b="b" l="l" r="r" t="t"/>
              <a:pathLst>
                <a:path extrusionOk="0" h="198247" w="9016">
                  <a:moveTo>
                    <a:pt x="0" y="0"/>
                  </a:moveTo>
                  <a:lnTo>
                    <a:pt x="9017" y="0"/>
                  </a:lnTo>
                  <a:lnTo>
                    <a:pt x="9017" y="198247"/>
                  </a:lnTo>
                  <a:lnTo>
                    <a:pt x="0" y="198247"/>
                  </a:lnTo>
                  <a:close/>
                </a:path>
              </a:pathLst>
            </a:custGeom>
            <a:solidFill>
              <a:srgbClr val="0D436B"/>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7" name="Google Shape;57;p1"/>
            <p:cNvSpPr/>
            <p:nvPr/>
          </p:nvSpPr>
          <p:spPr>
            <a:xfrm>
              <a:off x="-8572" y="4211891"/>
              <a:ext cx="411281" cy="996886"/>
            </a:xfrm>
            <a:custGeom>
              <a:rect b="b" l="l" r="r" t="t"/>
              <a:pathLst>
                <a:path extrusionOk="0" h="996886" w="411281">
                  <a:moveTo>
                    <a:pt x="308356" y="70930"/>
                  </a:moveTo>
                  <a:cubicBezTo>
                    <a:pt x="263271" y="23876"/>
                    <a:pt x="204534" y="0"/>
                    <a:pt x="133731" y="0"/>
                  </a:cubicBezTo>
                  <a:cubicBezTo>
                    <a:pt x="133604" y="0"/>
                    <a:pt x="133477" y="0"/>
                    <a:pt x="133350" y="0"/>
                  </a:cubicBezTo>
                  <a:cubicBezTo>
                    <a:pt x="81979" y="64"/>
                    <a:pt x="37402" y="10732"/>
                    <a:pt x="0" y="31750"/>
                  </a:cubicBezTo>
                  <a:lnTo>
                    <a:pt x="0" y="42101"/>
                  </a:lnTo>
                  <a:cubicBezTo>
                    <a:pt x="37021" y="20130"/>
                    <a:pt x="81598" y="9017"/>
                    <a:pt x="133350" y="8954"/>
                  </a:cubicBezTo>
                  <a:cubicBezTo>
                    <a:pt x="133477" y="8954"/>
                    <a:pt x="133604" y="8954"/>
                    <a:pt x="133731" y="8954"/>
                  </a:cubicBezTo>
                  <a:cubicBezTo>
                    <a:pt x="201930" y="8954"/>
                    <a:pt x="258445" y="31877"/>
                    <a:pt x="301816" y="77089"/>
                  </a:cubicBezTo>
                  <a:cubicBezTo>
                    <a:pt x="410274" y="190246"/>
                    <a:pt x="402146" y="407607"/>
                    <a:pt x="402082" y="409956"/>
                  </a:cubicBezTo>
                  <a:lnTo>
                    <a:pt x="402082" y="996887"/>
                  </a:lnTo>
                  <a:lnTo>
                    <a:pt x="411099" y="996887"/>
                  </a:lnTo>
                  <a:lnTo>
                    <a:pt x="411099" y="410210"/>
                  </a:lnTo>
                  <a:cubicBezTo>
                    <a:pt x="411226" y="407988"/>
                    <a:pt x="419481" y="186880"/>
                    <a:pt x="308356" y="70930"/>
                  </a:cubicBezTo>
                  <a:close/>
                </a:path>
              </a:pathLst>
            </a:custGeom>
            <a:solidFill>
              <a:srgbClr val="0D436B"/>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8" name="Google Shape;58;p1"/>
            <p:cNvSpPr/>
            <p:nvPr/>
          </p:nvSpPr>
          <p:spPr>
            <a:xfrm>
              <a:off x="-8509" y="2064829"/>
              <a:ext cx="6594093" cy="3399536"/>
            </a:xfrm>
            <a:custGeom>
              <a:rect b="b" l="l" r="r" t="t"/>
              <a:pathLst>
                <a:path extrusionOk="0" h="3399536" w="6594093">
                  <a:moveTo>
                    <a:pt x="6293168" y="1599374"/>
                  </a:moveTo>
                  <a:lnTo>
                    <a:pt x="5777675" y="1477518"/>
                  </a:lnTo>
                  <a:lnTo>
                    <a:pt x="5777675" y="1479232"/>
                  </a:lnTo>
                  <a:lnTo>
                    <a:pt x="5661470" y="1493901"/>
                  </a:lnTo>
                  <a:lnTo>
                    <a:pt x="5661470" y="1453579"/>
                  </a:lnTo>
                  <a:lnTo>
                    <a:pt x="5660835" y="1452499"/>
                  </a:lnTo>
                  <a:cubicBezTo>
                    <a:pt x="5660327" y="1451610"/>
                    <a:pt x="5647500" y="1431354"/>
                    <a:pt x="5608447" y="1431354"/>
                  </a:cubicBezTo>
                  <a:cubicBezTo>
                    <a:pt x="5590858" y="1431354"/>
                    <a:pt x="5579428" y="1434846"/>
                    <a:pt x="5574475" y="1441704"/>
                  </a:cubicBezTo>
                  <a:cubicBezTo>
                    <a:pt x="5571427" y="1445959"/>
                    <a:pt x="5571744" y="1450149"/>
                    <a:pt x="5572125" y="1451928"/>
                  </a:cubicBezTo>
                  <a:lnTo>
                    <a:pt x="5572125" y="1492758"/>
                  </a:lnTo>
                  <a:lnTo>
                    <a:pt x="5459159" y="1468501"/>
                  </a:lnTo>
                  <a:lnTo>
                    <a:pt x="5459159" y="1405890"/>
                  </a:lnTo>
                  <a:lnTo>
                    <a:pt x="5458524" y="1404811"/>
                  </a:lnTo>
                  <a:cubicBezTo>
                    <a:pt x="5458016" y="1403922"/>
                    <a:pt x="5445252" y="1382776"/>
                    <a:pt x="5406136" y="1382776"/>
                  </a:cubicBezTo>
                  <a:cubicBezTo>
                    <a:pt x="5388801" y="1382776"/>
                    <a:pt x="5377434" y="1386268"/>
                    <a:pt x="5372354" y="1393254"/>
                  </a:cubicBezTo>
                  <a:cubicBezTo>
                    <a:pt x="5369052" y="1397762"/>
                    <a:pt x="5369497" y="1402207"/>
                    <a:pt x="5369814" y="1404049"/>
                  </a:cubicBezTo>
                  <a:lnTo>
                    <a:pt x="5369814" y="1449324"/>
                  </a:lnTo>
                  <a:lnTo>
                    <a:pt x="5231575" y="1419606"/>
                  </a:lnTo>
                  <a:lnTo>
                    <a:pt x="5231575" y="1357122"/>
                  </a:lnTo>
                  <a:lnTo>
                    <a:pt x="5231003" y="1356106"/>
                  </a:lnTo>
                  <a:cubicBezTo>
                    <a:pt x="5230495" y="1355154"/>
                    <a:pt x="5217732" y="1333500"/>
                    <a:pt x="5178552" y="1333500"/>
                  </a:cubicBezTo>
                  <a:cubicBezTo>
                    <a:pt x="5161344" y="1333500"/>
                    <a:pt x="5150041" y="1337056"/>
                    <a:pt x="5144897" y="1344041"/>
                  </a:cubicBezTo>
                  <a:cubicBezTo>
                    <a:pt x="5141468" y="1348676"/>
                    <a:pt x="5141913" y="1353312"/>
                    <a:pt x="5142294" y="1355154"/>
                  </a:cubicBezTo>
                  <a:lnTo>
                    <a:pt x="5142294" y="1400492"/>
                  </a:lnTo>
                  <a:lnTo>
                    <a:pt x="4968240" y="1363091"/>
                  </a:lnTo>
                  <a:lnTo>
                    <a:pt x="4968240" y="1286066"/>
                  </a:lnTo>
                  <a:lnTo>
                    <a:pt x="4967669" y="1285049"/>
                  </a:lnTo>
                  <a:cubicBezTo>
                    <a:pt x="4967161" y="1284097"/>
                    <a:pt x="4954397" y="1261491"/>
                    <a:pt x="4915218" y="1261491"/>
                  </a:cubicBezTo>
                  <a:cubicBezTo>
                    <a:pt x="4898263" y="1261491"/>
                    <a:pt x="4887024" y="1265047"/>
                    <a:pt x="4881753" y="1272095"/>
                  </a:cubicBezTo>
                  <a:cubicBezTo>
                    <a:pt x="4878070" y="1276985"/>
                    <a:pt x="4878578" y="1281874"/>
                    <a:pt x="4878959" y="1283843"/>
                  </a:cubicBezTo>
                  <a:lnTo>
                    <a:pt x="4878959" y="1343787"/>
                  </a:lnTo>
                  <a:lnTo>
                    <a:pt x="4693349" y="1303909"/>
                  </a:lnTo>
                  <a:lnTo>
                    <a:pt x="4693349" y="1226756"/>
                  </a:lnTo>
                  <a:lnTo>
                    <a:pt x="4692841" y="1225741"/>
                  </a:lnTo>
                  <a:cubicBezTo>
                    <a:pt x="4692333" y="1224724"/>
                    <a:pt x="4679569" y="1201420"/>
                    <a:pt x="4640326" y="1201420"/>
                  </a:cubicBezTo>
                  <a:cubicBezTo>
                    <a:pt x="4623562" y="1201420"/>
                    <a:pt x="4612386" y="1205039"/>
                    <a:pt x="4607052" y="1212088"/>
                  </a:cubicBezTo>
                  <a:cubicBezTo>
                    <a:pt x="4603179" y="1217231"/>
                    <a:pt x="4603687" y="1222375"/>
                    <a:pt x="4604068" y="1224343"/>
                  </a:cubicBezTo>
                  <a:lnTo>
                    <a:pt x="4604068" y="1284668"/>
                  </a:lnTo>
                  <a:lnTo>
                    <a:pt x="4425379" y="1246251"/>
                  </a:lnTo>
                  <a:lnTo>
                    <a:pt x="4425379" y="1164971"/>
                  </a:lnTo>
                  <a:lnTo>
                    <a:pt x="4424871" y="1164019"/>
                  </a:lnTo>
                  <a:cubicBezTo>
                    <a:pt x="4424363" y="1163003"/>
                    <a:pt x="4411599" y="1139000"/>
                    <a:pt x="4372356" y="1139000"/>
                  </a:cubicBezTo>
                  <a:cubicBezTo>
                    <a:pt x="4355783" y="1139000"/>
                    <a:pt x="4344607" y="1142619"/>
                    <a:pt x="4339209" y="1149731"/>
                  </a:cubicBezTo>
                  <a:cubicBezTo>
                    <a:pt x="4335209" y="1155065"/>
                    <a:pt x="4335717" y="1160399"/>
                    <a:pt x="4336098" y="1162431"/>
                  </a:cubicBezTo>
                  <a:lnTo>
                    <a:pt x="4336098" y="1227011"/>
                  </a:lnTo>
                  <a:lnTo>
                    <a:pt x="4110863" y="1178623"/>
                  </a:lnTo>
                  <a:lnTo>
                    <a:pt x="4111181" y="1091946"/>
                  </a:lnTo>
                  <a:lnTo>
                    <a:pt x="4111181" y="1090866"/>
                  </a:lnTo>
                  <a:lnTo>
                    <a:pt x="4110736" y="1089914"/>
                  </a:lnTo>
                  <a:cubicBezTo>
                    <a:pt x="4110228" y="1088835"/>
                    <a:pt x="4097528" y="1063879"/>
                    <a:pt x="4058158" y="1063879"/>
                  </a:cubicBezTo>
                  <a:cubicBezTo>
                    <a:pt x="4041839" y="1063879"/>
                    <a:pt x="4030726" y="1067498"/>
                    <a:pt x="4025202" y="1074738"/>
                  </a:cubicBezTo>
                  <a:cubicBezTo>
                    <a:pt x="4020884" y="1080325"/>
                    <a:pt x="4021455" y="1086104"/>
                    <a:pt x="4021836" y="1088072"/>
                  </a:cubicBezTo>
                  <a:lnTo>
                    <a:pt x="4021836" y="1159447"/>
                  </a:lnTo>
                  <a:lnTo>
                    <a:pt x="3778504" y="1107122"/>
                  </a:lnTo>
                  <a:lnTo>
                    <a:pt x="3778504" y="1011872"/>
                  </a:lnTo>
                  <a:lnTo>
                    <a:pt x="3778060" y="1010983"/>
                  </a:lnTo>
                  <a:cubicBezTo>
                    <a:pt x="3777552" y="1009904"/>
                    <a:pt x="3764852" y="984123"/>
                    <a:pt x="3725481" y="984123"/>
                  </a:cubicBezTo>
                  <a:cubicBezTo>
                    <a:pt x="3709353" y="984123"/>
                    <a:pt x="3698304" y="987806"/>
                    <a:pt x="3692716" y="995045"/>
                  </a:cubicBezTo>
                  <a:cubicBezTo>
                    <a:pt x="3688207" y="1000887"/>
                    <a:pt x="3688779" y="1006919"/>
                    <a:pt x="3689160" y="1008951"/>
                  </a:cubicBezTo>
                  <a:lnTo>
                    <a:pt x="3689160" y="1087945"/>
                  </a:lnTo>
                  <a:lnTo>
                    <a:pt x="3409379" y="1027811"/>
                  </a:lnTo>
                  <a:lnTo>
                    <a:pt x="3409379" y="927608"/>
                  </a:lnTo>
                  <a:lnTo>
                    <a:pt x="3408998" y="926719"/>
                  </a:lnTo>
                  <a:cubicBezTo>
                    <a:pt x="3408490" y="925576"/>
                    <a:pt x="3395790" y="898652"/>
                    <a:pt x="3356420" y="898652"/>
                  </a:cubicBezTo>
                  <a:cubicBezTo>
                    <a:pt x="3340545" y="898652"/>
                    <a:pt x="3329623" y="902335"/>
                    <a:pt x="3323908" y="909638"/>
                  </a:cubicBezTo>
                  <a:cubicBezTo>
                    <a:pt x="3319717" y="915035"/>
                    <a:pt x="3319526" y="921194"/>
                    <a:pt x="3320098" y="924433"/>
                  </a:cubicBezTo>
                  <a:lnTo>
                    <a:pt x="3320098" y="1008634"/>
                  </a:lnTo>
                  <a:lnTo>
                    <a:pt x="3060573" y="952881"/>
                  </a:lnTo>
                  <a:lnTo>
                    <a:pt x="3060573" y="673291"/>
                  </a:lnTo>
                  <a:lnTo>
                    <a:pt x="3060510" y="672465"/>
                  </a:lnTo>
                  <a:cubicBezTo>
                    <a:pt x="3060446" y="672020"/>
                    <a:pt x="3052255" y="630682"/>
                    <a:pt x="2997200" y="630682"/>
                  </a:cubicBezTo>
                  <a:cubicBezTo>
                    <a:pt x="2980182" y="630682"/>
                    <a:pt x="2967292" y="635698"/>
                    <a:pt x="2958910" y="645604"/>
                  </a:cubicBezTo>
                  <a:cubicBezTo>
                    <a:pt x="2946083" y="660717"/>
                    <a:pt x="2948432" y="681863"/>
                    <a:pt x="2948940" y="685101"/>
                  </a:cubicBezTo>
                  <a:lnTo>
                    <a:pt x="2948940" y="928814"/>
                  </a:lnTo>
                  <a:lnTo>
                    <a:pt x="2629726" y="860235"/>
                  </a:lnTo>
                  <a:lnTo>
                    <a:pt x="2629726" y="562419"/>
                  </a:lnTo>
                  <a:lnTo>
                    <a:pt x="2629662" y="561530"/>
                  </a:lnTo>
                  <a:cubicBezTo>
                    <a:pt x="2629599" y="561150"/>
                    <a:pt x="2621344" y="523240"/>
                    <a:pt x="2566353" y="523240"/>
                  </a:cubicBezTo>
                  <a:cubicBezTo>
                    <a:pt x="2549525" y="523240"/>
                    <a:pt x="2536762" y="528256"/>
                    <a:pt x="2528316" y="538163"/>
                  </a:cubicBezTo>
                  <a:cubicBezTo>
                    <a:pt x="2515108" y="553656"/>
                    <a:pt x="2517585" y="575564"/>
                    <a:pt x="2518029" y="578866"/>
                  </a:cubicBezTo>
                  <a:lnTo>
                    <a:pt x="2518029" y="729107"/>
                  </a:lnTo>
                  <a:lnTo>
                    <a:pt x="2268919" y="808990"/>
                  </a:lnTo>
                  <a:lnTo>
                    <a:pt x="2160842" y="785241"/>
                  </a:lnTo>
                  <a:lnTo>
                    <a:pt x="2160842" y="448056"/>
                  </a:lnTo>
                  <a:lnTo>
                    <a:pt x="2160778" y="447294"/>
                  </a:lnTo>
                  <a:cubicBezTo>
                    <a:pt x="2160715" y="446849"/>
                    <a:pt x="2152587" y="401955"/>
                    <a:pt x="2097405" y="401955"/>
                  </a:cubicBezTo>
                  <a:cubicBezTo>
                    <a:pt x="2080895" y="401955"/>
                    <a:pt x="2068195" y="406971"/>
                    <a:pt x="2059813" y="416814"/>
                  </a:cubicBezTo>
                  <a:cubicBezTo>
                    <a:pt x="2046097" y="432816"/>
                    <a:pt x="2048637" y="455866"/>
                    <a:pt x="2049145" y="459169"/>
                  </a:cubicBezTo>
                  <a:lnTo>
                    <a:pt x="2049145" y="760603"/>
                  </a:lnTo>
                  <a:lnTo>
                    <a:pt x="1652588" y="673354"/>
                  </a:lnTo>
                  <a:lnTo>
                    <a:pt x="1652588" y="341694"/>
                  </a:lnTo>
                  <a:lnTo>
                    <a:pt x="1652524" y="340868"/>
                  </a:lnTo>
                  <a:cubicBezTo>
                    <a:pt x="1652461" y="340423"/>
                    <a:pt x="1643317" y="294513"/>
                    <a:pt x="1581531" y="294513"/>
                  </a:cubicBezTo>
                  <a:cubicBezTo>
                    <a:pt x="1561973" y="294513"/>
                    <a:pt x="1547368" y="300164"/>
                    <a:pt x="1537970" y="311277"/>
                  </a:cubicBezTo>
                  <a:cubicBezTo>
                    <a:pt x="1524381" y="327406"/>
                    <a:pt x="1527048" y="349313"/>
                    <a:pt x="1527556" y="352679"/>
                  </a:cubicBezTo>
                  <a:lnTo>
                    <a:pt x="1527556" y="645795"/>
                  </a:lnTo>
                  <a:lnTo>
                    <a:pt x="1090359" y="549592"/>
                  </a:lnTo>
                  <a:lnTo>
                    <a:pt x="1090359" y="187769"/>
                  </a:lnTo>
                  <a:lnTo>
                    <a:pt x="1090295" y="186880"/>
                  </a:lnTo>
                  <a:cubicBezTo>
                    <a:pt x="1090168" y="186372"/>
                    <a:pt x="1079691" y="138176"/>
                    <a:pt x="1009015" y="138176"/>
                  </a:cubicBezTo>
                  <a:cubicBezTo>
                    <a:pt x="985393" y="138176"/>
                    <a:pt x="968121" y="144653"/>
                    <a:pt x="957580" y="157353"/>
                  </a:cubicBezTo>
                  <a:cubicBezTo>
                    <a:pt x="943991" y="173799"/>
                    <a:pt x="946785" y="194881"/>
                    <a:pt x="947357" y="198374"/>
                  </a:cubicBezTo>
                  <a:lnTo>
                    <a:pt x="947357" y="518160"/>
                  </a:lnTo>
                  <a:lnTo>
                    <a:pt x="478600" y="415036"/>
                  </a:lnTo>
                  <a:lnTo>
                    <a:pt x="478600" y="51816"/>
                  </a:lnTo>
                  <a:lnTo>
                    <a:pt x="478536" y="50990"/>
                  </a:lnTo>
                  <a:cubicBezTo>
                    <a:pt x="478409" y="50482"/>
                    <a:pt x="467995" y="0"/>
                    <a:pt x="397256" y="0"/>
                  </a:cubicBezTo>
                  <a:cubicBezTo>
                    <a:pt x="369570" y="0"/>
                    <a:pt x="350774" y="6286"/>
                    <a:pt x="341313" y="18669"/>
                  </a:cubicBezTo>
                  <a:cubicBezTo>
                    <a:pt x="333185" y="29337"/>
                    <a:pt x="334963" y="40830"/>
                    <a:pt x="335598" y="43751"/>
                  </a:cubicBezTo>
                  <a:lnTo>
                    <a:pt x="335598" y="383603"/>
                  </a:lnTo>
                  <a:lnTo>
                    <a:pt x="63" y="309753"/>
                  </a:lnTo>
                  <a:lnTo>
                    <a:pt x="63" y="318960"/>
                  </a:lnTo>
                  <a:lnTo>
                    <a:pt x="335598" y="392811"/>
                  </a:lnTo>
                  <a:lnTo>
                    <a:pt x="335598" y="1833436"/>
                  </a:lnTo>
                  <a:lnTo>
                    <a:pt x="311277" y="1830832"/>
                  </a:lnTo>
                  <a:lnTo>
                    <a:pt x="311277" y="1827403"/>
                  </a:lnTo>
                  <a:lnTo>
                    <a:pt x="302260" y="1827403"/>
                  </a:lnTo>
                  <a:lnTo>
                    <a:pt x="302260" y="1829880"/>
                  </a:lnTo>
                  <a:lnTo>
                    <a:pt x="275908" y="1827022"/>
                  </a:lnTo>
                  <a:lnTo>
                    <a:pt x="275908" y="1823847"/>
                  </a:lnTo>
                  <a:lnTo>
                    <a:pt x="266891" y="1823847"/>
                  </a:lnTo>
                  <a:lnTo>
                    <a:pt x="266891" y="1826069"/>
                  </a:lnTo>
                  <a:lnTo>
                    <a:pt x="240538" y="1823212"/>
                  </a:lnTo>
                  <a:lnTo>
                    <a:pt x="240538" y="1820228"/>
                  </a:lnTo>
                  <a:lnTo>
                    <a:pt x="231521" y="1820228"/>
                  </a:lnTo>
                  <a:lnTo>
                    <a:pt x="231521" y="1822260"/>
                  </a:lnTo>
                  <a:lnTo>
                    <a:pt x="205169" y="1819402"/>
                  </a:lnTo>
                  <a:lnTo>
                    <a:pt x="205169" y="1816608"/>
                  </a:lnTo>
                  <a:lnTo>
                    <a:pt x="196152" y="1816608"/>
                  </a:lnTo>
                  <a:lnTo>
                    <a:pt x="196152" y="1818386"/>
                  </a:lnTo>
                  <a:lnTo>
                    <a:pt x="169799" y="1815529"/>
                  </a:lnTo>
                  <a:lnTo>
                    <a:pt x="169799" y="1812988"/>
                  </a:lnTo>
                  <a:lnTo>
                    <a:pt x="166116" y="1812988"/>
                  </a:lnTo>
                  <a:lnTo>
                    <a:pt x="166116" y="1484122"/>
                  </a:lnTo>
                  <a:lnTo>
                    <a:pt x="170117" y="1484757"/>
                  </a:lnTo>
                  <a:lnTo>
                    <a:pt x="171577" y="1475867"/>
                  </a:lnTo>
                  <a:lnTo>
                    <a:pt x="166116" y="1474978"/>
                  </a:lnTo>
                  <a:lnTo>
                    <a:pt x="166116" y="1323023"/>
                  </a:lnTo>
                  <a:lnTo>
                    <a:pt x="170117" y="1323657"/>
                  </a:lnTo>
                  <a:lnTo>
                    <a:pt x="171577" y="1314767"/>
                  </a:lnTo>
                  <a:lnTo>
                    <a:pt x="166116" y="1313879"/>
                  </a:lnTo>
                  <a:lnTo>
                    <a:pt x="166116" y="1168781"/>
                  </a:lnTo>
                  <a:cubicBezTo>
                    <a:pt x="166116" y="1168527"/>
                    <a:pt x="165989" y="1165416"/>
                    <a:pt x="165354" y="1160145"/>
                  </a:cubicBezTo>
                  <a:lnTo>
                    <a:pt x="170117" y="1160907"/>
                  </a:lnTo>
                  <a:lnTo>
                    <a:pt x="171577" y="1152017"/>
                  </a:lnTo>
                  <a:lnTo>
                    <a:pt x="164148" y="1150810"/>
                  </a:lnTo>
                  <a:cubicBezTo>
                    <a:pt x="157290" y="1105853"/>
                    <a:pt x="127317" y="989965"/>
                    <a:pt x="952" y="962279"/>
                  </a:cubicBezTo>
                  <a:lnTo>
                    <a:pt x="952" y="959358"/>
                  </a:lnTo>
                  <a:lnTo>
                    <a:pt x="63" y="959358"/>
                  </a:lnTo>
                  <a:lnTo>
                    <a:pt x="63" y="1604836"/>
                  </a:lnTo>
                  <a:lnTo>
                    <a:pt x="952" y="1604836"/>
                  </a:lnTo>
                  <a:lnTo>
                    <a:pt x="952" y="1599374"/>
                  </a:lnTo>
                  <a:lnTo>
                    <a:pt x="157099" y="1617599"/>
                  </a:lnTo>
                  <a:lnTo>
                    <a:pt x="157099" y="1706181"/>
                  </a:lnTo>
                  <a:lnTo>
                    <a:pt x="0" y="1687830"/>
                  </a:lnTo>
                  <a:lnTo>
                    <a:pt x="0" y="1696911"/>
                  </a:lnTo>
                  <a:lnTo>
                    <a:pt x="157099" y="1715262"/>
                  </a:lnTo>
                  <a:lnTo>
                    <a:pt x="157099" y="1814131"/>
                  </a:lnTo>
                  <a:lnTo>
                    <a:pt x="134430" y="1811718"/>
                  </a:lnTo>
                  <a:lnTo>
                    <a:pt x="134430" y="1809369"/>
                  </a:lnTo>
                  <a:lnTo>
                    <a:pt x="125413" y="1809369"/>
                  </a:lnTo>
                  <a:lnTo>
                    <a:pt x="125413" y="1810766"/>
                  </a:lnTo>
                  <a:lnTo>
                    <a:pt x="99060" y="1807909"/>
                  </a:lnTo>
                  <a:lnTo>
                    <a:pt x="99060" y="1805749"/>
                  </a:lnTo>
                  <a:lnTo>
                    <a:pt x="90043" y="1805749"/>
                  </a:lnTo>
                  <a:lnTo>
                    <a:pt x="90043" y="1806892"/>
                  </a:lnTo>
                  <a:lnTo>
                    <a:pt x="63690" y="1804035"/>
                  </a:lnTo>
                  <a:lnTo>
                    <a:pt x="63690" y="1802130"/>
                  </a:lnTo>
                  <a:lnTo>
                    <a:pt x="54674" y="1802130"/>
                  </a:lnTo>
                  <a:lnTo>
                    <a:pt x="54674" y="1803082"/>
                  </a:lnTo>
                  <a:lnTo>
                    <a:pt x="28321" y="1800225"/>
                  </a:lnTo>
                  <a:lnTo>
                    <a:pt x="28321" y="1798511"/>
                  </a:lnTo>
                  <a:lnTo>
                    <a:pt x="19304" y="1798511"/>
                  </a:lnTo>
                  <a:lnTo>
                    <a:pt x="19304" y="1799209"/>
                  </a:lnTo>
                  <a:lnTo>
                    <a:pt x="0" y="1797113"/>
                  </a:lnTo>
                  <a:lnTo>
                    <a:pt x="0" y="1806194"/>
                  </a:lnTo>
                  <a:lnTo>
                    <a:pt x="19304" y="1808289"/>
                  </a:lnTo>
                  <a:lnTo>
                    <a:pt x="19304" y="2032508"/>
                  </a:lnTo>
                  <a:lnTo>
                    <a:pt x="0" y="2030857"/>
                  </a:lnTo>
                  <a:lnTo>
                    <a:pt x="0" y="2039874"/>
                  </a:lnTo>
                  <a:lnTo>
                    <a:pt x="912305" y="2118995"/>
                  </a:lnTo>
                  <a:lnTo>
                    <a:pt x="912305" y="2119503"/>
                  </a:lnTo>
                  <a:lnTo>
                    <a:pt x="918464" y="2119503"/>
                  </a:lnTo>
                  <a:lnTo>
                    <a:pt x="1996821" y="2213038"/>
                  </a:lnTo>
                  <a:lnTo>
                    <a:pt x="1996821" y="2213356"/>
                  </a:lnTo>
                  <a:lnTo>
                    <a:pt x="2000377" y="2213356"/>
                  </a:lnTo>
                  <a:lnTo>
                    <a:pt x="2021904" y="2215198"/>
                  </a:lnTo>
                  <a:lnTo>
                    <a:pt x="2021904" y="2216150"/>
                  </a:lnTo>
                  <a:lnTo>
                    <a:pt x="2030921" y="2216150"/>
                  </a:lnTo>
                  <a:lnTo>
                    <a:pt x="2030921" y="2215960"/>
                  </a:lnTo>
                  <a:lnTo>
                    <a:pt x="3148648" y="2312924"/>
                  </a:lnTo>
                  <a:lnTo>
                    <a:pt x="3148648" y="3149791"/>
                  </a:lnTo>
                  <a:lnTo>
                    <a:pt x="3081401" y="3149791"/>
                  </a:lnTo>
                  <a:lnTo>
                    <a:pt x="3081401" y="2693606"/>
                  </a:lnTo>
                  <a:cubicBezTo>
                    <a:pt x="3081401" y="2693162"/>
                    <a:pt x="3083052" y="2646680"/>
                    <a:pt x="3074289" y="2590102"/>
                  </a:cubicBezTo>
                  <a:cubicBezTo>
                    <a:pt x="3066161" y="2537650"/>
                    <a:pt x="3047175" y="2465387"/>
                    <a:pt x="3002725" y="2419286"/>
                  </a:cubicBezTo>
                  <a:cubicBezTo>
                    <a:pt x="2972753" y="2388172"/>
                    <a:pt x="2934843" y="2372360"/>
                    <a:pt x="2890012" y="2372360"/>
                  </a:cubicBezTo>
                  <a:cubicBezTo>
                    <a:pt x="2889949" y="2372360"/>
                    <a:pt x="2889822" y="2372360"/>
                    <a:pt x="2889758" y="2372360"/>
                  </a:cubicBezTo>
                  <a:cubicBezTo>
                    <a:pt x="2839339" y="2372424"/>
                    <a:pt x="2798255" y="2389315"/>
                    <a:pt x="2767521" y="2422588"/>
                  </a:cubicBezTo>
                  <a:cubicBezTo>
                    <a:pt x="2755202" y="2435924"/>
                    <a:pt x="2745359" y="2451100"/>
                    <a:pt x="2737422" y="2467038"/>
                  </a:cubicBezTo>
                  <a:cubicBezTo>
                    <a:pt x="2732977" y="2472817"/>
                    <a:pt x="2730818" y="2476944"/>
                    <a:pt x="2730564" y="2477516"/>
                  </a:cubicBezTo>
                  <a:lnTo>
                    <a:pt x="2732215" y="2478342"/>
                  </a:lnTo>
                  <a:cubicBezTo>
                    <a:pt x="2718943" y="2508694"/>
                    <a:pt x="2712085" y="2540635"/>
                    <a:pt x="2708593" y="2566416"/>
                  </a:cubicBezTo>
                  <a:cubicBezTo>
                    <a:pt x="2702370" y="2612517"/>
                    <a:pt x="2705037" y="2648394"/>
                    <a:pt x="2705100" y="2649537"/>
                  </a:cubicBezTo>
                  <a:lnTo>
                    <a:pt x="2705100" y="3149791"/>
                  </a:lnTo>
                  <a:lnTo>
                    <a:pt x="2615946" y="3149791"/>
                  </a:lnTo>
                  <a:lnTo>
                    <a:pt x="2615946" y="2661603"/>
                  </a:lnTo>
                  <a:cubicBezTo>
                    <a:pt x="2615946" y="2661094"/>
                    <a:pt x="2617661" y="2610104"/>
                    <a:pt x="2608453" y="2548509"/>
                  </a:cubicBezTo>
                  <a:cubicBezTo>
                    <a:pt x="2599881" y="2491423"/>
                    <a:pt x="2579942" y="2413254"/>
                    <a:pt x="2533396" y="2365058"/>
                  </a:cubicBezTo>
                  <a:cubicBezTo>
                    <a:pt x="2504059" y="2334705"/>
                    <a:pt x="2467483" y="2319274"/>
                    <a:pt x="2424557" y="2319274"/>
                  </a:cubicBezTo>
                  <a:cubicBezTo>
                    <a:pt x="2424494" y="2319274"/>
                    <a:pt x="2424367" y="2319274"/>
                    <a:pt x="2424303" y="2319274"/>
                  </a:cubicBezTo>
                  <a:cubicBezTo>
                    <a:pt x="2375980" y="2319337"/>
                    <a:pt x="2336102" y="2335911"/>
                    <a:pt x="2305812" y="2368486"/>
                  </a:cubicBezTo>
                  <a:cubicBezTo>
                    <a:pt x="2291525" y="2383854"/>
                    <a:pt x="2280285" y="2401761"/>
                    <a:pt x="2271332" y="2420811"/>
                  </a:cubicBezTo>
                  <a:cubicBezTo>
                    <a:pt x="2267204" y="2426589"/>
                    <a:pt x="2265236" y="2430653"/>
                    <a:pt x="2264982" y="2431288"/>
                  </a:cubicBezTo>
                  <a:lnTo>
                    <a:pt x="2266442" y="2431986"/>
                  </a:lnTo>
                  <a:cubicBezTo>
                    <a:pt x="2232851" y="2513521"/>
                    <a:pt x="2239201" y="2609660"/>
                    <a:pt x="2239582" y="2614549"/>
                  </a:cubicBezTo>
                  <a:lnTo>
                    <a:pt x="2239582" y="3149727"/>
                  </a:lnTo>
                  <a:lnTo>
                    <a:pt x="2068259" y="3149727"/>
                  </a:lnTo>
                  <a:lnTo>
                    <a:pt x="2068259" y="2615692"/>
                  </a:lnTo>
                  <a:cubicBezTo>
                    <a:pt x="2068259" y="2365756"/>
                    <a:pt x="1942465" y="2338768"/>
                    <a:pt x="1888363" y="2338768"/>
                  </a:cubicBezTo>
                  <a:cubicBezTo>
                    <a:pt x="1888046" y="2338768"/>
                    <a:pt x="1887792" y="2338768"/>
                    <a:pt x="1887474" y="2338768"/>
                  </a:cubicBezTo>
                  <a:cubicBezTo>
                    <a:pt x="1887093" y="2338642"/>
                    <a:pt x="1886648" y="2338451"/>
                    <a:pt x="1886331" y="2338324"/>
                  </a:cubicBezTo>
                  <a:lnTo>
                    <a:pt x="1886204" y="2338768"/>
                  </a:lnTo>
                  <a:cubicBezTo>
                    <a:pt x="1843723" y="2339213"/>
                    <a:pt x="1814449" y="2352294"/>
                    <a:pt x="1795145" y="2366391"/>
                  </a:cubicBezTo>
                  <a:cubicBezTo>
                    <a:pt x="1800035" y="2359279"/>
                    <a:pt x="1805369" y="2352485"/>
                    <a:pt x="1811211" y="2346198"/>
                  </a:cubicBezTo>
                  <a:cubicBezTo>
                    <a:pt x="1843024" y="2311844"/>
                    <a:pt x="1885632" y="2294382"/>
                    <a:pt x="1937829" y="2294318"/>
                  </a:cubicBezTo>
                  <a:cubicBezTo>
                    <a:pt x="1937893" y="2294318"/>
                    <a:pt x="1938020" y="2294318"/>
                    <a:pt x="1938084" y="2294318"/>
                  </a:cubicBezTo>
                  <a:cubicBezTo>
                    <a:pt x="1984248" y="2294318"/>
                    <a:pt x="2023364" y="2310574"/>
                    <a:pt x="2054352" y="2342705"/>
                  </a:cubicBezTo>
                  <a:cubicBezTo>
                    <a:pt x="2145284" y="2437003"/>
                    <a:pt x="2138807" y="2638425"/>
                    <a:pt x="2138680" y="2640648"/>
                  </a:cubicBezTo>
                  <a:lnTo>
                    <a:pt x="2138680" y="3148393"/>
                  </a:lnTo>
                  <a:lnTo>
                    <a:pt x="2147697" y="3148393"/>
                  </a:lnTo>
                  <a:lnTo>
                    <a:pt x="2147697" y="2640838"/>
                  </a:lnTo>
                  <a:cubicBezTo>
                    <a:pt x="2147697" y="2640330"/>
                    <a:pt x="2149539" y="2588641"/>
                    <a:pt x="2139823" y="2525776"/>
                  </a:cubicBezTo>
                  <a:cubicBezTo>
                    <a:pt x="2130870" y="2467483"/>
                    <a:pt x="2109851" y="2387410"/>
                    <a:pt x="2060829" y="2336546"/>
                  </a:cubicBezTo>
                  <a:cubicBezTo>
                    <a:pt x="2028063" y="2302574"/>
                    <a:pt x="1986788" y="2285365"/>
                    <a:pt x="1938084" y="2285365"/>
                  </a:cubicBezTo>
                  <a:cubicBezTo>
                    <a:pt x="1938020" y="2285365"/>
                    <a:pt x="1937893" y="2285365"/>
                    <a:pt x="1937829" y="2285365"/>
                  </a:cubicBezTo>
                  <a:cubicBezTo>
                    <a:pt x="1882966" y="2285429"/>
                    <a:pt x="1838135" y="2303907"/>
                    <a:pt x="1804607" y="2340166"/>
                  </a:cubicBezTo>
                  <a:cubicBezTo>
                    <a:pt x="1790891" y="2355024"/>
                    <a:pt x="1779905" y="2372042"/>
                    <a:pt x="1771079" y="2389886"/>
                  </a:cubicBezTo>
                  <a:cubicBezTo>
                    <a:pt x="1766189" y="2396299"/>
                    <a:pt x="1763776" y="2400935"/>
                    <a:pt x="1763459" y="2401570"/>
                  </a:cubicBezTo>
                  <a:lnTo>
                    <a:pt x="1765237" y="2402459"/>
                  </a:lnTo>
                  <a:cubicBezTo>
                    <a:pt x="1750759" y="2435924"/>
                    <a:pt x="1743266" y="2471103"/>
                    <a:pt x="1739392" y="2499550"/>
                  </a:cubicBezTo>
                  <a:cubicBezTo>
                    <a:pt x="1732471" y="2550795"/>
                    <a:pt x="1735519" y="2591943"/>
                    <a:pt x="1735519" y="2592006"/>
                  </a:cubicBezTo>
                  <a:lnTo>
                    <a:pt x="1735519" y="3148393"/>
                  </a:lnTo>
                  <a:lnTo>
                    <a:pt x="1744536" y="3148393"/>
                  </a:lnTo>
                  <a:lnTo>
                    <a:pt x="1744536" y="2591689"/>
                  </a:lnTo>
                  <a:cubicBezTo>
                    <a:pt x="1744409" y="2590355"/>
                    <a:pt x="1736789" y="2480755"/>
                    <a:pt x="1778445" y="2395284"/>
                  </a:cubicBezTo>
                  <a:cubicBezTo>
                    <a:pt x="1791208" y="2378900"/>
                    <a:pt x="1823339" y="2348674"/>
                    <a:pt x="1886077" y="2347912"/>
                  </a:cubicBezTo>
                  <a:cubicBezTo>
                    <a:pt x="1905953" y="2355913"/>
                    <a:pt x="1975231" y="2396427"/>
                    <a:pt x="1975231" y="2569655"/>
                  </a:cubicBezTo>
                  <a:lnTo>
                    <a:pt x="1975231" y="3148393"/>
                  </a:lnTo>
                  <a:lnTo>
                    <a:pt x="1984248" y="3148393"/>
                  </a:lnTo>
                  <a:lnTo>
                    <a:pt x="1984248" y="2569655"/>
                  </a:lnTo>
                  <a:cubicBezTo>
                    <a:pt x="1984248" y="2425002"/>
                    <a:pt x="1935988" y="2369439"/>
                    <a:pt x="1906334" y="2348929"/>
                  </a:cubicBezTo>
                  <a:cubicBezTo>
                    <a:pt x="1963229" y="2355533"/>
                    <a:pt x="2059369" y="2398840"/>
                    <a:pt x="2059369" y="2615755"/>
                  </a:cubicBezTo>
                  <a:lnTo>
                    <a:pt x="2059369" y="3149791"/>
                  </a:lnTo>
                  <a:lnTo>
                    <a:pt x="1547114" y="3149791"/>
                  </a:lnTo>
                  <a:lnTo>
                    <a:pt x="1547114" y="2590292"/>
                  </a:lnTo>
                  <a:cubicBezTo>
                    <a:pt x="1547114" y="2329434"/>
                    <a:pt x="1402652" y="2301240"/>
                    <a:pt x="1340485" y="2301240"/>
                  </a:cubicBezTo>
                  <a:cubicBezTo>
                    <a:pt x="1340104" y="2301240"/>
                    <a:pt x="1339723" y="2301240"/>
                    <a:pt x="1339279" y="2301240"/>
                  </a:cubicBezTo>
                  <a:cubicBezTo>
                    <a:pt x="1338771" y="2301049"/>
                    <a:pt x="1338199" y="2300859"/>
                    <a:pt x="1337755" y="2300732"/>
                  </a:cubicBezTo>
                  <a:lnTo>
                    <a:pt x="1337564" y="2301240"/>
                  </a:lnTo>
                  <a:cubicBezTo>
                    <a:pt x="1287018" y="2301811"/>
                    <a:pt x="1252792" y="2316480"/>
                    <a:pt x="1230821" y="2331784"/>
                  </a:cubicBezTo>
                  <a:cubicBezTo>
                    <a:pt x="1234885" y="2326323"/>
                    <a:pt x="1239203" y="2321052"/>
                    <a:pt x="1243838" y="2315972"/>
                  </a:cubicBezTo>
                  <a:cubicBezTo>
                    <a:pt x="1281367" y="2275142"/>
                    <a:pt x="1332992" y="2254377"/>
                    <a:pt x="1397445" y="2254313"/>
                  </a:cubicBezTo>
                  <a:cubicBezTo>
                    <a:pt x="1397572" y="2254313"/>
                    <a:pt x="1397635" y="2254313"/>
                    <a:pt x="1397762" y="2254313"/>
                  </a:cubicBezTo>
                  <a:cubicBezTo>
                    <a:pt x="1454976" y="2254313"/>
                    <a:pt x="1502728" y="2273808"/>
                    <a:pt x="1539748" y="2312353"/>
                  </a:cubicBezTo>
                  <a:cubicBezTo>
                    <a:pt x="1636903" y="2413508"/>
                    <a:pt x="1629728" y="2614105"/>
                    <a:pt x="1629664" y="2616327"/>
                  </a:cubicBezTo>
                  <a:lnTo>
                    <a:pt x="1629664" y="3146742"/>
                  </a:lnTo>
                  <a:lnTo>
                    <a:pt x="1638681" y="3146742"/>
                  </a:lnTo>
                  <a:lnTo>
                    <a:pt x="1638681" y="2616517"/>
                  </a:lnTo>
                  <a:cubicBezTo>
                    <a:pt x="1638745" y="2614486"/>
                    <a:pt x="1646111" y="2410142"/>
                    <a:pt x="1546289" y="2306130"/>
                  </a:cubicBezTo>
                  <a:cubicBezTo>
                    <a:pt x="1507554" y="2265743"/>
                    <a:pt x="1457579" y="2245297"/>
                    <a:pt x="1397826" y="2245297"/>
                  </a:cubicBezTo>
                  <a:cubicBezTo>
                    <a:pt x="1397699" y="2245297"/>
                    <a:pt x="1397635" y="2245297"/>
                    <a:pt x="1397508" y="2245297"/>
                  </a:cubicBezTo>
                  <a:cubicBezTo>
                    <a:pt x="1330452" y="2245360"/>
                    <a:pt x="1276541" y="2267141"/>
                    <a:pt x="1237298" y="2309940"/>
                  </a:cubicBezTo>
                  <a:cubicBezTo>
                    <a:pt x="1224852" y="2323529"/>
                    <a:pt x="1214565" y="2338578"/>
                    <a:pt x="1205992" y="2354262"/>
                  </a:cubicBezTo>
                  <a:cubicBezTo>
                    <a:pt x="1200341" y="2360993"/>
                    <a:pt x="1197610" y="2365756"/>
                    <a:pt x="1197229" y="2366455"/>
                  </a:cubicBezTo>
                  <a:lnTo>
                    <a:pt x="1199198" y="2367534"/>
                  </a:lnTo>
                  <a:cubicBezTo>
                    <a:pt x="1181862" y="2404047"/>
                    <a:pt x="1173163" y="2442528"/>
                    <a:pt x="1168908" y="2473135"/>
                  </a:cubicBezTo>
                  <a:cubicBezTo>
                    <a:pt x="1161733" y="2524633"/>
                    <a:pt x="1165035" y="2565463"/>
                    <a:pt x="1165098" y="2565463"/>
                  </a:cubicBezTo>
                  <a:lnTo>
                    <a:pt x="1165098" y="3146679"/>
                  </a:lnTo>
                  <a:lnTo>
                    <a:pt x="1174115" y="3146679"/>
                  </a:lnTo>
                  <a:lnTo>
                    <a:pt x="1174115" y="2565083"/>
                  </a:lnTo>
                  <a:cubicBezTo>
                    <a:pt x="1173988" y="2563749"/>
                    <a:pt x="1165162" y="2449449"/>
                    <a:pt x="1212977" y="2360168"/>
                  </a:cubicBezTo>
                  <a:cubicBezTo>
                    <a:pt x="1227773" y="2343023"/>
                    <a:pt x="1265111" y="2310955"/>
                    <a:pt x="1337945" y="2310130"/>
                  </a:cubicBezTo>
                  <a:cubicBezTo>
                    <a:pt x="1360488" y="2318258"/>
                    <a:pt x="1441260" y="2360231"/>
                    <a:pt x="1441260" y="2542032"/>
                  </a:cubicBezTo>
                  <a:lnTo>
                    <a:pt x="1441260" y="3146616"/>
                  </a:lnTo>
                  <a:lnTo>
                    <a:pt x="1450277" y="3146616"/>
                  </a:lnTo>
                  <a:lnTo>
                    <a:pt x="1450277" y="2542032"/>
                  </a:lnTo>
                  <a:cubicBezTo>
                    <a:pt x="1450277" y="2389886"/>
                    <a:pt x="1394079" y="2332101"/>
                    <a:pt x="1359980" y="2311083"/>
                  </a:cubicBezTo>
                  <a:cubicBezTo>
                    <a:pt x="1425575" y="2317560"/>
                    <a:pt x="1538161" y="2362010"/>
                    <a:pt x="1538161" y="2590165"/>
                  </a:cubicBezTo>
                  <a:lnTo>
                    <a:pt x="1538161" y="3149663"/>
                  </a:lnTo>
                  <a:lnTo>
                    <a:pt x="962914" y="3149663"/>
                  </a:lnTo>
                  <a:lnTo>
                    <a:pt x="962914" y="2566035"/>
                  </a:lnTo>
                  <a:cubicBezTo>
                    <a:pt x="962914" y="2293366"/>
                    <a:pt x="808736" y="2263966"/>
                    <a:pt x="742442" y="2263966"/>
                  </a:cubicBezTo>
                  <a:cubicBezTo>
                    <a:pt x="653987" y="2263966"/>
                    <a:pt x="600520" y="2348611"/>
                    <a:pt x="580644" y="2387410"/>
                  </a:cubicBezTo>
                  <a:cubicBezTo>
                    <a:pt x="591503" y="2349944"/>
                    <a:pt x="609092" y="2311717"/>
                    <a:pt x="637286" y="2280984"/>
                  </a:cubicBezTo>
                  <a:cubicBezTo>
                    <a:pt x="677545" y="2237042"/>
                    <a:pt x="733425" y="2214690"/>
                    <a:pt x="803339" y="2214626"/>
                  </a:cubicBezTo>
                  <a:cubicBezTo>
                    <a:pt x="803466" y="2214626"/>
                    <a:pt x="803529" y="2214626"/>
                    <a:pt x="803656" y="2214626"/>
                  </a:cubicBezTo>
                  <a:cubicBezTo>
                    <a:pt x="865822" y="2214626"/>
                    <a:pt x="917511" y="2235644"/>
                    <a:pt x="957389" y="2277174"/>
                  </a:cubicBezTo>
                  <a:cubicBezTo>
                    <a:pt x="1059498" y="2383536"/>
                    <a:pt x="1051878" y="2591117"/>
                    <a:pt x="1051814" y="2593340"/>
                  </a:cubicBezTo>
                  <a:lnTo>
                    <a:pt x="1051814" y="3148012"/>
                  </a:lnTo>
                  <a:lnTo>
                    <a:pt x="1060831" y="3148012"/>
                  </a:lnTo>
                  <a:lnTo>
                    <a:pt x="1060831" y="2593530"/>
                  </a:lnTo>
                  <a:cubicBezTo>
                    <a:pt x="1060895" y="2591435"/>
                    <a:pt x="1068705" y="2380107"/>
                    <a:pt x="963930" y="2270950"/>
                  </a:cubicBezTo>
                  <a:cubicBezTo>
                    <a:pt x="922338" y="2227580"/>
                    <a:pt x="868426" y="2205609"/>
                    <a:pt x="803720" y="2205609"/>
                  </a:cubicBezTo>
                  <a:cubicBezTo>
                    <a:pt x="803593" y="2205609"/>
                    <a:pt x="803466" y="2205609"/>
                    <a:pt x="803402" y="2205609"/>
                  </a:cubicBezTo>
                  <a:cubicBezTo>
                    <a:pt x="730885" y="2205673"/>
                    <a:pt x="672783" y="2229041"/>
                    <a:pt x="630746" y="2274887"/>
                  </a:cubicBezTo>
                  <a:cubicBezTo>
                    <a:pt x="586740" y="2322893"/>
                    <a:pt x="567817" y="2388108"/>
                    <a:pt x="559943" y="2441829"/>
                  </a:cubicBezTo>
                  <a:cubicBezTo>
                    <a:pt x="559880" y="2442019"/>
                    <a:pt x="559816" y="2442210"/>
                    <a:pt x="559753" y="2442400"/>
                  </a:cubicBezTo>
                  <a:lnTo>
                    <a:pt x="559880" y="2442464"/>
                  </a:lnTo>
                  <a:cubicBezTo>
                    <a:pt x="551942" y="2497011"/>
                    <a:pt x="555308" y="2539619"/>
                    <a:pt x="555371" y="2540254"/>
                  </a:cubicBezTo>
                  <a:lnTo>
                    <a:pt x="555371" y="3148076"/>
                  </a:lnTo>
                  <a:lnTo>
                    <a:pt x="564388" y="3148076"/>
                  </a:lnTo>
                  <a:lnTo>
                    <a:pt x="564388" y="2539873"/>
                  </a:lnTo>
                  <a:cubicBezTo>
                    <a:pt x="564325" y="2539048"/>
                    <a:pt x="561023" y="2497518"/>
                    <a:pt x="568643" y="2444433"/>
                  </a:cubicBezTo>
                  <a:cubicBezTo>
                    <a:pt x="597980" y="2362391"/>
                    <a:pt x="649542" y="2313368"/>
                    <a:pt x="706755" y="2313368"/>
                  </a:cubicBezTo>
                  <a:cubicBezTo>
                    <a:pt x="768477" y="2313368"/>
                    <a:pt x="805244" y="2336419"/>
                    <a:pt x="826008" y="2388235"/>
                  </a:cubicBezTo>
                  <a:cubicBezTo>
                    <a:pt x="846392" y="2439035"/>
                    <a:pt x="850519" y="2516315"/>
                    <a:pt x="850519" y="2616581"/>
                  </a:cubicBezTo>
                  <a:lnTo>
                    <a:pt x="850519" y="3148012"/>
                  </a:lnTo>
                  <a:lnTo>
                    <a:pt x="859536" y="3148012"/>
                  </a:lnTo>
                  <a:lnTo>
                    <a:pt x="859536" y="2616581"/>
                  </a:lnTo>
                  <a:cubicBezTo>
                    <a:pt x="859536" y="2427986"/>
                    <a:pt x="848932" y="2304352"/>
                    <a:pt x="706755" y="2304352"/>
                  </a:cubicBezTo>
                  <a:cubicBezTo>
                    <a:pt x="674815" y="2304352"/>
                    <a:pt x="644652" y="2318449"/>
                    <a:pt x="618681" y="2344039"/>
                  </a:cubicBezTo>
                  <a:cubicBezTo>
                    <a:pt x="645668" y="2308987"/>
                    <a:pt x="686880" y="2272983"/>
                    <a:pt x="742569" y="2272983"/>
                  </a:cubicBezTo>
                  <a:cubicBezTo>
                    <a:pt x="806133" y="2272983"/>
                    <a:pt x="954088" y="2301558"/>
                    <a:pt x="954088" y="2566099"/>
                  </a:cubicBezTo>
                  <a:lnTo>
                    <a:pt x="954088" y="3149727"/>
                  </a:lnTo>
                  <a:lnTo>
                    <a:pt x="0" y="3149727"/>
                  </a:lnTo>
                  <a:lnTo>
                    <a:pt x="0" y="3158744"/>
                  </a:lnTo>
                  <a:lnTo>
                    <a:pt x="3153156" y="3158744"/>
                  </a:lnTo>
                  <a:lnTo>
                    <a:pt x="3157665" y="3158744"/>
                  </a:lnTo>
                  <a:lnTo>
                    <a:pt x="3421253" y="3158744"/>
                  </a:lnTo>
                  <a:lnTo>
                    <a:pt x="3421253" y="3195447"/>
                  </a:lnTo>
                  <a:lnTo>
                    <a:pt x="0" y="3220149"/>
                  </a:lnTo>
                  <a:lnTo>
                    <a:pt x="0" y="3229166"/>
                  </a:lnTo>
                  <a:lnTo>
                    <a:pt x="3544761" y="3203575"/>
                  </a:lnTo>
                  <a:lnTo>
                    <a:pt x="3544761" y="3244786"/>
                  </a:lnTo>
                  <a:lnTo>
                    <a:pt x="0" y="3270822"/>
                  </a:lnTo>
                  <a:lnTo>
                    <a:pt x="0" y="3279838"/>
                  </a:lnTo>
                  <a:lnTo>
                    <a:pt x="3656330" y="3252978"/>
                  </a:lnTo>
                  <a:lnTo>
                    <a:pt x="3656330" y="3294634"/>
                  </a:lnTo>
                  <a:lnTo>
                    <a:pt x="0" y="3332099"/>
                  </a:lnTo>
                  <a:lnTo>
                    <a:pt x="0" y="3341116"/>
                  </a:lnTo>
                  <a:lnTo>
                    <a:pt x="3776409" y="3302381"/>
                  </a:lnTo>
                  <a:lnTo>
                    <a:pt x="3776409" y="3345053"/>
                  </a:lnTo>
                  <a:lnTo>
                    <a:pt x="0" y="3390519"/>
                  </a:lnTo>
                  <a:lnTo>
                    <a:pt x="0" y="3399536"/>
                  </a:lnTo>
                  <a:lnTo>
                    <a:pt x="3913315" y="3352419"/>
                  </a:lnTo>
                  <a:lnTo>
                    <a:pt x="3913315" y="3377121"/>
                  </a:lnTo>
                  <a:lnTo>
                    <a:pt x="4017074" y="3377121"/>
                  </a:lnTo>
                  <a:lnTo>
                    <a:pt x="4017074" y="3376041"/>
                  </a:lnTo>
                  <a:lnTo>
                    <a:pt x="5888419" y="3349435"/>
                  </a:lnTo>
                  <a:lnTo>
                    <a:pt x="5892864" y="3349371"/>
                  </a:lnTo>
                  <a:lnTo>
                    <a:pt x="5892864" y="3300095"/>
                  </a:lnTo>
                  <a:lnTo>
                    <a:pt x="6355080" y="3293999"/>
                  </a:lnTo>
                  <a:lnTo>
                    <a:pt x="6359525" y="3293936"/>
                  </a:lnTo>
                  <a:lnTo>
                    <a:pt x="6359525" y="1608264"/>
                  </a:lnTo>
                  <a:lnTo>
                    <a:pt x="6594094" y="1608392"/>
                  </a:lnTo>
                  <a:lnTo>
                    <a:pt x="6594094" y="1599374"/>
                  </a:lnTo>
                  <a:lnTo>
                    <a:pt x="6293168" y="1599374"/>
                  </a:lnTo>
                  <a:close/>
                  <a:moveTo>
                    <a:pt x="54674" y="2035747"/>
                  </a:moveTo>
                  <a:lnTo>
                    <a:pt x="28321" y="2033461"/>
                  </a:lnTo>
                  <a:lnTo>
                    <a:pt x="28321" y="1809432"/>
                  </a:lnTo>
                  <a:lnTo>
                    <a:pt x="54674" y="1812290"/>
                  </a:lnTo>
                  <a:lnTo>
                    <a:pt x="54674" y="2035747"/>
                  </a:lnTo>
                  <a:close/>
                  <a:moveTo>
                    <a:pt x="90043" y="2038794"/>
                  </a:moveTo>
                  <a:lnTo>
                    <a:pt x="63690" y="2036509"/>
                  </a:lnTo>
                  <a:lnTo>
                    <a:pt x="63690" y="1813242"/>
                  </a:lnTo>
                  <a:lnTo>
                    <a:pt x="90043" y="1816100"/>
                  </a:lnTo>
                  <a:lnTo>
                    <a:pt x="90043" y="2038794"/>
                  </a:lnTo>
                  <a:close/>
                  <a:moveTo>
                    <a:pt x="125413" y="2041906"/>
                  </a:moveTo>
                  <a:lnTo>
                    <a:pt x="99060" y="2039620"/>
                  </a:lnTo>
                  <a:lnTo>
                    <a:pt x="99060" y="1817053"/>
                  </a:lnTo>
                  <a:lnTo>
                    <a:pt x="125413" y="1819910"/>
                  </a:lnTo>
                  <a:lnTo>
                    <a:pt x="125413" y="2041906"/>
                  </a:lnTo>
                  <a:close/>
                  <a:moveTo>
                    <a:pt x="889" y="971613"/>
                  </a:moveTo>
                  <a:cubicBezTo>
                    <a:pt x="119698" y="998538"/>
                    <a:pt x="148273" y="1104837"/>
                    <a:pt x="155004" y="1149413"/>
                  </a:cubicBezTo>
                  <a:lnTo>
                    <a:pt x="889" y="1124458"/>
                  </a:lnTo>
                  <a:lnTo>
                    <a:pt x="889" y="971613"/>
                  </a:lnTo>
                  <a:close/>
                  <a:moveTo>
                    <a:pt x="889" y="1133538"/>
                  </a:moveTo>
                  <a:lnTo>
                    <a:pt x="156210" y="1158748"/>
                  </a:lnTo>
                  <a:cubicBezTo>
                    <a:pt x="156845" y="1164400"/>
                    <a:pt x="157036" y="1168082"/>
                    <a:pt x="157036" y="1169035"/>
                  </a:cubicBezTo>
                  <a:lnTo>
                    <a:pt x="157036" y="1312545"/>
                  </a:lnTo>
                  <a:lnTo>
                    <a:pt x="889" y="1287209"/>
                  </a:lnTo>
                  <a:lnTo>
                    <a:pt x="889" y="1133538"/>
                  </a:lnTo>
                  <a:close/>
                  <a:moveTo>
                    <a:pt x="889" y="1296289"/>
                  </a:moveTo>
                  <a:lnTo>
                    <a:pt x="157036" y="1321625"/>
                  </a:lnTo>
                  <a:lnTo>
                    <a:pt x="157036" y="1473581"/>
                  </a:lnTo>
                  <a:lnTo>
                    <a:pt x="889" y="1448244"/>
                  </a:lnTo>
                  <a:lnTo>
                    <a:pt x="889" y="1296289"/>
                  </a:lnTo>
                  <a:close/>
                  <a:moveTo>
                    <a:pt x="889" y="1590421"/>
                  </a:moveTo>
                  <a:lnTo>
                    <a:pt x="889" y="1457388"/>
                  </a:lnTo>
                  <a:lnTo>
                    <a:pt x="157036" y="1482725"/>
                  </a:lnTo>
                  <a:lnTo>
                    <a:pt x="157036" y="1608645"/>
                  </a:lnTo>
                  <a:lnTo>
                    <a:pt x="889" y="1590421"/>
                  </a:lnTo>
                  <a:close/>
                  <a:moveTo>
                    <a:pt x="160782" y="2044954"/>
                  </a:moveTo>
                  <a:lnTo>
                    <a:pt x="134430" y="2042668"/>
                  </a:lnTo>
                  <a:lnTo>
                    <a:pt x="134430" y="1820862"/>
                  </a:lnTo>
                  <a:lnTo>
                    <a:pt x="157099" y="1823275"/>
                  </a:lnTo>
                  <a:lnTo>
                    <a:pt x="157099" y="1826133"/>
                  </a:lnTo>
                  <a:lnTo>
                    <a:pt x="160782" y="1826133"/>
                  </a:lnTo>
                  <a:lnTo>
                    <a:pt x="160782" y="2044954"/>
                  </a:lnTo>
                  <a:close/>
                  <a:moveTo>
                    <a:pt x="196152" y="2048002"/>
                  </a:moveTo>
                  <a:lnTo>
                    <a:pt x="169799" y="2045716"/>
                  </a:lnTo>
                  <a:lnTo>
                    <a:pt x="169799" y="1824609"/>
                  </a:lnTo>
                  <a:lnTo>
                    <a:pt x="196152" y="1827467"/>
                  </a:lnTo>
                  <a:lnTo>
                    <a:pt x="196152" y="2048002"/>
                  </a:lnTo>
                  <a:close/>
                  <a:moveTo>
                    <a:pt x="231521" y="2051113"/>
                  </a:moveTo>
                  <a:lnTo>
                    <a:pt x="205169" y="2048828"/>
                  </a:lnTo>
                  <a:lnTo>
                    <a:pt x="205169" y="1828482"/>
                  </a:lnTo>
                  <a:lnTo>
                    <a:pt x="231521" y="1831340"/>
                  </a:lnTo>
                  <a:lnTo>
                    <a:pt x="231521" y="2051113"/>
                  </a:lnTo>
                  <a:close/>
                  <a:moveTo>
                    <a:pt x="266891" y="2054161"/>
                  </a:moveTo>
                  <a:lnTo>
                    <a:pt x="240538" y="2051875"/>
                  </a:lnTo>
                  <a:lnTo>
                    <a:pt x="240538" y="1832229"/>
                  </a:lnTo>
                  <a:lnTo>
                    <a:pt x="266891" y="1835086"/>
                  </a:lnTo>
                  <a:lnTo>
                    <a:pt x="266891" y="2054161"/>
                  </a:lnTo>
                  <a:close/>
                  <a:moveTo>
                    <a:pt x="302260" y="2057210"/>
                  </a:moveTo>
                  <a:lnTo>
                    <a:pt x="275908" y="2054924"/>
                  </a:lnTo>
                  <a:lnTo>
                    <a:pt x="275908" y="1836039"/>
                  </a:lnTo>
                  <a:lnTo>
                    <a:pt x="302260" y="1838897"/>
                  </a:lnTo>
                  <a:lnTo>
                    <a:pt x="302260" y="2057210"/>
                  </a:lnTo>
                  <a:close/>
                  <a:moveTo>
                    <a:pt x="469583" y="2071751"/>
                  </a:moveTo>
                  <a:lnTo>
                    <a:pt x="311277" y="2058035"/>
                  </a:lnTo>
                  <a:lnTo>
                    <a:pt x="311277" y="1839912"/>
                  </a:lnTo>
                  <a:lnTo>
                    <a:pt x="335598" y="1842516"/>
                  </a:lnTo>
                  <a:lnTo>
                    <a:pt x="335598" y="2055050"/>
                  </a:lnTo>
                  <a:lnTo>
                    <a:pt x="344615" y="2055050"/>
                  </a:lnTo>
                  <a:lnTo>
                    <a:pt x="344615" y="43434"/>
                  </a:lnTo>
                  <a:lnTo>
                    <a:pt x="344488" y="42291"/>
                  </a:lnTo>
                  <a:cubicBezTo>
                    <a:pt x="344361" y="41910"/>
                    <a:pt x="342075" y="32702"/>
                    <a:pt x="348615" y="24257"/>
                  </a:cubicBezTo>
                  <a:cubicBezTo>
                    <a:pt x="356235" y="14414"/>
                    <a:pt x="373063" y="9207"/>
                    <a:pt x="397256" y="9207"/>
                  </a:cubicBezTo>
                  <a:cubicBezTo>
                    <a:pt x="457898" y="9207"/>
                    <a:pt x="468566" y="48006"/>
                    <a:pt x="469646" y="52514"/>
                  </a:cubicBezTo>
                  <a:lnTo>
                    <a:pt x="469646" y="2071751"/>
                  </a:lnTo>
                  <a:close/>
                  <a:moveTo>
                    <a:pt x="478536" y="1094232"/>
                  </a:moveTo>
                  <a:cubicBezTo>
                    <a:pt x="482473" y="1088898"/>
                    <a:pt x="502730" y="1063435"/>
                    <a:pt x="536766" y="1057338"/>
                  </a:cubicBezTo>
                  <a:cubicBezTo>
                    <a:pt x="540957" y="1056576"/>
                    <a:pt x="545148" y="1056259"/>
                    <a:pt x="549466" y="1056132"/>
                  </a:cubicBezTo>
                  <a:lnTo>
                    <a:pt x="549466" y="1210755"/>
                  </a:lnTo>
                  <a:lnTo>
                    <a:pt x="478536" y="1199261"/>
                  </a:lnTo>
                  <a:lnTo>
                    <a:pt x="478536" y="1094232"/>
                  </a:lnTo>
                  <a:close/>
                  <a:moveTo>
                    <a:pt x="478536" y="1208405"/>
                  </a:moveTo>
                  <a:lnTo>
                    <a:pt x="549466" y="1219899"/>
                  </a:lnTo>
                  <a:lnTo>
                    <a:pt x="549466" y="1373505"/>
                  </a:lnTo>
                  <a:lnTo>
                    <a:pt x="478536" y="1362011"/>
                  </a:lnTo>
                  <a:lnTo>
                    <a:pt x="478536" y="1208405"/>
                  </a:lnTo>
                  <a:close/>
                  <a:moveTo>
                    <a:pt x="478536" y="1371155"/>
                  </a:moveTo>
                  <a:lnTo>
                    <a:pt x="549466" y="1382649"/>
                  </a:lnTo>
                  <a:lnTo>
                    <a:pt x="549466" y="1534605"/>
                  </a:lnTo>
                  <a:lnTo>
                    <a:pt x="478536" y="1523111"/>
                  </a:lnTo>
                  <a:lnTo>
                    <a:pt x="478536" y="1371155"/>
                  </a:lnTo>
                  <a:close/>
                  <a:moveTo>
                    <a:pt x="478536" y="1532192"/>
                  </a:moveTo>
                  <a:lnTo>
                    <a:pt x="549466" y="1543685"/>
                  </a:lnTo>
                  <a:lnTo>
                    <a:pt x="549466" y="1652206"/>
                  </a:lnTo>
                  <a:lnTo>
                    <a:pt x="484378" y="1643888"/>
                  </a:lnTo>
                  <a:lnTo>
                    <a:pt x="483235" y="1652842"/>
                  </a:lnTo>
                  <a:lnTo>
                    <a:pt x="723075" y="1683512"/>
                  </a:lnTo>
                  <a:lnTo>
                    <a:pt x="723075" y="1772094"/>
                  </a:lnTo>
                  <a:lnTo>
                    <a:pt x="484378" y="1741551"/>
                  </a:lnTo>
                  <a:lnTo>
                    <a:pt x="483235" y="1750505"/>
                  </a:lnTo>
                  <a:lnTo>
                    <a:pt x="723075" y="1781175"/>
                  </a:lnTo>
                  <a:lnTo>
                    <a:pt x="723075" y="1875092"/>
                  </a:lnTo>
                  <a:lnTo>
                    <a:pt x="478536" y="1848803"/>
                  </a:lnTo>
                  <a:lnTo>
                    <a:pt x="478536" y="1532192"/>
                  </a:lnTo>
                  <a:close/>
                  <a:moveTo>
                    <a:pt x="715074" y="1246759"/>
                  </a:moveTo>
                  <a:cubicBezTo>
                    <a:pt x="715772" y="1250379"/>
                    <a:pt x="716407" y="1253871"/>
                    <a:pt x="716979" y="1257363"/>
                  </a:cubicBezTo>
                  <a:cubicBezTo>
                    <a:pt x="727012" y="1317942"/>
                    <a:pt x="723202" y="1369187"/>
                    <a:pt x="723138" y="1370012"/>
                  </a:cubicBezTo>
                  <a:lnTo>
                    <a:pt x="723138" y="1401699"/>
                  </a:lnTo>
                  <a:lnTo>
                    <a:pt x="558483" y="1375029"/>
                  </a:lnTo>
                  <a:lnTo>
                    <a:pt x="558483" y="1221423"/>
                  </a:lnTo>
                  <a:lnTo>
                    <a:pt x="715074" y="1246759"/>
                  </a:lnTo>
                  <a:close/>
                  <a:moveTo>
                    <a:pt x="558483" y="1212215"/>
                  </a:moveTo>
                  <a:lnTo>
                    <a:pt x="558483" y="1056195"/>
                  </a:lnTo>
                  <a:cubicBezTo>
                    <a:pt x="580327" y="1057783"/>
                    <a:pt x="603377" y="1067372"/>
                    <a:pt x="627190" y="1084770"/>
                  </a:cubicBezTo>
                  <a:cubicBezTo>
                    <a:pt x="678053" y="1121918"/>
                    <a:pt x="701929" y="1184847"/>
                    <a:pt x="713169" y="1237234"/>
                  </a:cubicBezTo>
                  <a:lnTo>
                    <a:pt x="558483" y="1212215"/>
                  </a:lnTo>
                  <a:close/>
                  <a:moveTo>
                    <a:pt x="723075" y="1410780"/>
                  </a:moveTo>
                  <a:lnTo>
                    <a:pt x="723075" y="1562735"/>
                  </a:lnTo>
                  <a:lnTo>
                    <a:pt x="558419" y="1536065"/>
                  </a:lnTo>
                  <a:lnTo>
                    <a:pt x="558419" y="1384110"/>
                  </a:lnTo>
                  <a:lnTo>
                    <a:pt x="723075" y="1410780"/>
                  </a:lnTo>
                  <a:close/>
                  <a:moveTo>
                    <a:pt x="723075" y="1571879"/>
                  </a:moveTo>
                  <a:lnTo>
                    <a:pt x="723075" y="1674431"/>
                  </a:lnTo>
                  <a:lnTo>
                    <a:pt x="558419" y="1653349"/>
                  </a:lnTo>
                  <a:lnTo>
                    <a:pt x="558419" y="1545145"/>
                  </a:lnTo>
                  <a:lnTo>
                    <a:pt x="723075" y="1571879"/>
                  </a:lnTo>
                  <a:close/>
                  <a:moveTo>
                    <a:pt x="531114" y="2077085"/>
                  </a:moveTo>
                  <a:lnTo>
                    <a:pt x="478536" y="2072513"/>
                  </a:lnTo>
                  <a:lnTo>
                    <a:pt x="478536" y="1857819"/>
                  </a:lnTo>
                  <a:lnTo>
                    <a:pt x="501777" y="1860296"/>
                  </a:lnTo>
                  <a:lnTo>
                    <a:pt x="501777" y="2073847"/>
                  </a:lnTo>
                  <a:lnTo>
                    <a:pt x="510794" y="2073847"/>
                  </a:lnTo>
                  <a:lnTo>
                    <a:pt x="510794" y="1861249"/>
                  </a:lnTo>
                  <a:lnTo>
                    <a:pt x="531114" y="1863407"/>
                  </a:lnTo>
                  <a:lnTo>
                    <a:pt x="531114" y="2077085"/>
                  </a:lnTo>
                  <a:close/>
                  <a:moveTo>
                    <a:pt x="560451" y="2079625"/>
                  </a:moveTo>
                  <a:lnTo>
                    <a:pt x="532003" y="2077149"/>
                  </a:lnTo>
                  <a:lnTo>
                    <a:pt x="540131" y="2077149"/>
                  </a:lnTo>
                  <a:lnTo>
                    <a:pt x="540131" y="1864424"/>
                  </a:lnTo>
                  <a:lnTo>
                    <a:pt x="560451" y="1866582"/>
                  </a:lnTo>
                  <a:lnTo>
                    <a:pt x="560451" y="2079625"/>
                  </a:lnTo>
                  <a:close/>
                  <a:moveTo>
                    <a:pt x="589788" y="2082165"/>
                  </a:moveTo>
                  <a:lnTo>
                    <a:pt x="569468" y="2080387"/>
                  </a:lnTo>
                  <a:lnTo>
                    <a:pt x="569468" y="1867599"/>
                  </a:lnTo>
                  <a:lnTo>
                    <a:pt x="589788" y="1869757"/>
                  </a:lnTo>
                  <a:lnTo>
                    <a:pt x="589788" y="2082165"/>
                  </a:lnTo>
                  <a:close/>
                  <a:moveTo>
                    <a:pt x="619125" y="2084705"/>
                  </a:moveTo>
                  <a:lnTo>
                    <a:pt x="598805" y="2082927"/>
                  </a:lnTo>
                  <a:lnTo>
                    <a:pt x="598805" y="1870710"/>
                  </a:lnTo>
                  <a:lnTo>
                    <a:pt x="619125" y="1872869"/>
                  </a:lnTo>
                  <a:lnTo>
                    <a:pt x="619125" y="2084705"/>
                  </a:lnTo>
                  <a:close/>
                  <a:moveTo>
                    <a:pt x="648399" y="2087245"/>
                  </a:moveTo>
                  <a:lnTo>
                    <a:pt x="628079" y="2085467"/>
                  </a:lnTo>
                  <a:lnTo>
                    <a:pt x="628079" y="1873885"/>
                  </a:lnTo>
                  <a:lnTo>
                    <a:pt x="648399" y="1876044"/>
                  </a:lnTo>
                  <a:lnTo>
                    <a:pt x="648399" y="2087245"/>
                  </a:lnTo>
                  <a:close/>
                  <a:moveTo>
                    <a:pt x="677736" y="2089785"/>
                  </a:moveTo>
                  <a:lnTo>
                    <a:pt x="657416" y="2088007"/>
                  </a:lnTo>
                  <a:lnTo>
                    <a:pt x="657416" y="1876997"/>
                  </a:lnTo>
                  <a:lnTo>
                    <a:pt x="677736" y="1879155"/>
                  </a:lnTo>
                  <a:lnTo>
                    <a:pt x="677736" y="2089785"/>
                  </a:lnTo>
                  <a:close/>
                  <a:moveTo>
                    <a:pt x="707073" y="2092325"/>
                  </a:moveTo>
                  <a:lnTo>
                    <a:pt x="686753" y="2090547"/>
                  </a:lnTo>
                  <a:lnTo>
                    <a:pt x="686753" y="1880172"/>
                  </a:lnTo>
                  <a:lnTo>
                    <a:pt x="707073" y="1882330"/>
                  </a:lnTo>
                  <a:lnTo>
                    <a:pt x="707073" y="2092325"/>
                  </a:lnTo>
                  <a:close/>
                  <a:moveTo>
                    <a:pt x="736410" y="2094865"/>
                  </a:moveTo>
                  <a:lnTo>
                    <a:pt x="716090" y="2093087"/>
                  </a:lnTo>
                  <a:lnTo>
                    <a:pt x="716090" y="1883347"/>
                  </a:lnTo>
                  <a:lnTo>
                    <a:pt x="736410" y="1885505"/>
                  </a:lnTo>
                  <a:lnTo>
                    <a:pt x="736410" y="2094865"/>
                  </a:lnTo>
                  <a:close/>
                  <a:moveTo>
                    <a:pt x="765683" y="2097405"/>
                  </a:moveTo>
                  <a:lnTo>
                    <a:pt x="745363" y="2095627"/>
                  </a:lnTo>
                  <a:lnTo>
                    <a:pt x="745363" y="1886458"/>
                  </a:lnTo>
                  <a:lnTo>
                    <a:pt x="765683" y="1888617"/>
                  </a:lnTo>
                  <a:lnTo>
                    <a:pt x="765683" y="2097405"/>
                  </a:lnTo>
                  <a:close/>
                  <a:moveTo>
                    <a:pt x="795020" y="2100009"/>
                  </a:moveTo>
                  <a:lnTo>
                    <a:pt x="774700" y="2098230"/>
                  </a:lnTo>
                  <a:lnTo>
                    <a:pt x="774700" y="1889697"/>
                  </a:lnTo>
                  <a:lnTo>
                    <a:pt x="795020" y="1891855"/>
                  </a:lnTo>
                  <a:lnTo>
                    <a:pt x="795020" y="2100009"/>
                  </a:lnTo>
                  <a:close/>
                  <a:moveTo>
                    <a:pt x="824357" y="2102549"/>
                  </a:moveTo>
                  <a:lnTo>
                    <a:pt x="804037" y="2100771"/>
                  </a:lnTo>
                  <a:lnTo>
                    <a:pt x="804037" y="1892808"/>
                  </a:lnTo>
                  <a:lnTo>
                    <a:pt x="824357" y="1894967"/>
                  </a:lnTo>
                  <a:lnTo>
                    <a:pt x="824357" y="2102549"/>
                  </a:lnTo>
                  <a:close/>
                  <a:moveTo>
                    <a:pt x="853694" y="2105088"/>
                  </a:moveTo>
                  <a:lnTo>
                    <a:pt x="833374" y="2103311"/>
                  </a:lnTo>
                  <a:lnTo>
                    <a:pt x="833374" y="1895983"/>
                  </a:lnTo>
                  <a:lnTo>
                    <a:pt x="853694" y="1898142"/>
                  </a:lnTo>
                  <a:lnTo>
                    <a:pt x="853694" y="2105088"/>
                  </a:lnTo>
                  <a:close/>
                  <a:moveTo>
                    <a:pt x="882968" y="2107629"/>
                  </a:moveTo>
                  <a:lnTo>
                    <a:pt x="862647" y="2105850"/>
                  </a:lnTo>
                  <a:lnTo>
                    <a:pt x="862647" y="1899094"/>
                  </a:lnTo>
                  <a:lnTo>
                    <a:pt x="882968" y="1901254"/>
                  </a:lnTo>
                  <a:lnTo>
                    <a:pt x="882968" y="2107629"/>
                  </a:lnTo>
                  <a:close/>
                  <a:moveTo>
                    <a:pt x="912305" y="2110168"/>
                  </a:moveTo>
                  <a:lnTo>
                    <a:pt x="891985" y="2108391"/>
                  </a:lnTo>
                  <a:lnTo>
                    <a:pt x="891985" y="1902269"/>
                  </a:lnTo>
                  <a:lnTo>
                    <a:pt x="912305" y="1904429"/>
                  </a:lnTo>
                  <a:lnTo>
                    <a:pt x="912305" y="2110168"/>
                  </a:lnTo>
                  <a:close/>
                  <a:moveTo>
                    <a:pt x="947293" y="2113217"/>
                  </a:moveTo>
                  <a:lnTo>
                    <a:pt x="921322" y="2110930"/>
                  </a:lnTo>
                  <a:lnTo>
                    <a:pt x="921322" y="1905444"/>
                  </a:lnTo>
                  <a:lnTo>
                    <a:pt x="947293" y="1908238"/>
                  </a:lnTo>
                  <a:lnTo>
                    <a:pt x="947293" y="2113217"/>
                  </a:lnTo>
                  <a:close/>
                  <a:moveTo>
                    <a:pt x="947293" y="1899158"/>
                  </a:moveTo>
                  <a:lnTo>
                    <a:pt x="732092" y="1876044"/>
                  </a:lnTo>
                  <a:lnTo>
                    <a:pt x="732092" y="1370330"/>
                  </a:lnTo>
                  <a:cubicBezTo>
                    <a:pt x="732409" y="1366012"/>
                    <a:pt x="736283" y="1311592"/>
                    <a:pt x="724789" y="1248283"/>
                  </a:cubicBezTo>
                  <a:lnTo>
                    <a:pt x="727647" y="1248728"/>
                  </a:lnTo>
                  <a:lnTo>
                    <a:pt x="729107" y="1239837"/>
                  </a:lnTo>
                  <a:lnTo>
                    <a:pt x="723011" y="1238822"/>
                  </a:lnTo>
                  <a:cubicBezTo>
                    <a:pt x="711137" y="1180465"/>
                    <a:pt x="685737" y="1116330"/>
                    <a:pt x="632524" y="1077468"/>
                  </a:cubicBezTo>
                  <a:cubicBezTo>
                    <a:pt x="598551" y="1052639"/>
                    <a:pt x="565785" y="1042860"/>
                    <a:pt x="535115" y="1048385"/>
                  </a:cubicBezTo>
                  <a:cubicBezTo>
                    <a:pt x="507555" y="1053338"/>
                    <a:pt x="488633" y="1069340"/>
                    <a:pt x="478600" y="1080072"/>
                  </a:cubicBezTo>
                  <a:lnTo>
                    <a:pt x="478600" y="424497"/>
                  </a:lnTo>
                  <a:lnTo>
                    <a:pt x="947357" y="527622"/>
                  </a:lnTo>
                  <a:lnTo>
                    <a:pt x="947357" y="1899158"/>
                  </a:lnTo>
                  <a:close/>
                  <a:moveTo>
                    <a:pt x="1081342" y="2124837"/>
                  </a:moveTo>
                  <a:lnTo>
                    <a:pt x="947611" y="2113217"/>
                  </a:lnTo>
                  <a:lnTo>
                    <a:pt x="956310" y="2113217"/>
                  </a:lnTo>
                  <a:lnTo>
                    <a:pt x="956310" y="198247"/>
                  </a:lnTo>
                  <a:lnTo>
                    <a:pt x="956247" y="197421"/>
                  </a:lnTo>
                  <a:cubicBezTo>
                    <a:pt x="956183" y="197231"/>
                    <a:pt x="952691" y="177610"/>
                    <a:pt x="964565" y="163322"/>
                  </a:cubicBezTo>
                  <a:cubicBezTo>
                    <a:pt x="973328" y="152781"/>
                    <a:pt x="988250" y="147447"/>
                    <a:pt x="1008952" y="147447"/>
                  </a:cubicBezTo>
                  <a:cubicBezTo>
                    <a:pt x="1069404" y="147447"/>
                    <a:pt x="1080199" y="184086"/>
                    <a:pt x="1081342" y="188531"/>
                  </a:cubicBezTo>
                  <a:lnTo>
                    <a:pt x="1081342" y="2124837"/>
                  </a:lnTo>
                  <a:close/>
                  <a:moveTo>
                    <a:pt x="1090295" y="1150303"/>
                  </a:moveTo>
                  <a:cubicBezTo>
                    <a:pt x="1094677" y="1150429"/>
                    <a:pt x="1102360" y="1151191"/>
                    <a:pt x="1112520" y="1154176"/>
                  </a:cubicBezTo>
                  <a:lnTo>
                    <a:pt x="1111123" y="1154176"/>
                  </a:lnTo>
                  <a:lnTo>
                    <a:pt x="1111123" y="1293114"/>
                  </a:lnTo>
                  <a:lnTo>
                    <a:pt x="1090295" y="1289241"/>
                  </a:lnTo>
                  <a:lnTo>
                    <a:pt x="1090295" y="1150303"/>
                  </a:lnTo>
                  <a:close/>
                  <a:moveTo>
                    <a:pt x="1090295" y="1298385"/>
                  </a:moveTo>
                  <a:lnTo>
                    <a:pt x="1111123" y="1302258"/>
                  </a:lnTo>
                  <a:lnTo>
                    <a:pt x="1111123" y="1458468"/>
                  </a:lnTo>
                  <a:lnTo>
                    <a:pt x="1090295" y="1454594"/>
                  </a:lnTo>
                  <a:lnTo>
                    <a:pt x="1090295" y="1298385"/>
                  </a:lnTo>
                  <a:close/>
                  <a:moveTo>
                    <a:pt x="1090295" y="1463738"/>
                  </a:moveTo>
                  <a:lnTo>
                    <a:pt x="1111123" y="1467612"/>
                  </a:lnTo>
                  <a:lnTo>
                    <a:pt x="1111123" y="1605470"/>
                  </a:lnTo>
                  <a:lnTo>
                    <a:pt x="1090295" y="1601597"/>
                  </a:lnTo>
                  <a:lnTo>
                    <a:pt x="1090295" y="1463738"/>
                  </a:lnTo>
                  <a:close/>
                  <a:moveTo>
                    <a:pt x="1090295" y="1610741"/>
                  </a:moveTo>
                  <a:lnTo>
                    <a:pt x="1111123" y="1614614"/>
                  </a:lnTo>
                  <a:lnTo>
                    <a:pt x="1111123" y="1731200"/>
                  </a:lnTo>
                  <a:lnTo>
                    <a:pt x="1090295" y="1728661"/>
                  </a:lnTo>
                  <a:lnTo>
                    <a:pt x="1090295" y="1610741"/>
                  </a:lnTo>
                  <a:close/>
                  <a:moveTo>
                    <a:pt x="1090295" y="1737741"/>
                  </a:moveTo>
                  <a:lnTo>
                    <a:pt x="1243076" y="1756283"/>
                  </a:lnTo>
                  <a:lnTo>
                    <a:pt x="1243076" y="1844866"/>
                  </a:lnTo>
                  <a:lnTo>
                    <a:pt x="1090295" y="1826324"/>
                  </a:lnTo>
                  <a:lnTo>
                    <a:pt x="1090295" y="1737741"/>
                  </a:lnTo>
                  <a:close/>
                  <a:moveTo>
                    <a:pt x="1238631" y="1326134"/>
                  </a:moveTo>
                  <a:cubicBezTo>
                    <a:pt x="1246188" y="1386014"/>
                    <a:pt x="1243140" y="1445133"/>
                    <a:pt x="1243076" y="1446276"/>
                  </a:cubicBezTo>
                  <a:lnTo>
                    <a:pt x="1243076" y="1483233"/>
                  </a:lnTo>
                  <a:lnTo>
                    <a:pt x="1120140" y="1460246"/>
                  </a:lnTo>
                  <a:lnTo>
                    <a:pt x="1120140" y="1304036"/>
                  </a:lnTo>
                  <a:lnTo>
                    <a:pt x="1238631" y="1326134"/>
                  </a:lnTo>
                  <a:close/>
                  <a:moveTo>
                    <a:pt x="1120140" y="1294765"/>
                  </a:moveTo>
                  <a:lnTo>
                    <a:pt x="1120140" y="1156653"/>
                  </a:lnTo>
                  <a:cubicBezTo>
                    <a:pt x="1141794" y="1164526"/>
                    <a:pt x="1171766" y="1181925"/>
                    <a:pt x="1203833" y="1220280"/>
                  </a:cubicBezTo>
                  <a:cubicBezTo>
                    <a:pt x="1221804" y="1241806"/>
                    <a:pt x="1231837" y="1278763"/>
                    <a:pt x="1237298" y="1316673"/>
                  </a:cubicBezTo>
                  <a:lnTo>
                    <a:pt x="1120140" y="1294765"/>
                  </a:lnTo>
                  <a:close/>
                  <a:moveTo>
                    <a:pt x="1241870" y="1492123"/>
                  </a:moveTo>
                  <a:lnTo>
                    <a:pt x="1243076" y="1485710"/>
                  </a:lnTo>
                  <a:lnTo>
                    <a:pt x="1243076" y="1630172"/>
                  </a:lnTo>
                  <a:lnTo>
                    <a:pt x="1120140" y="1607185"/>
                  </a:lnTo>
                  <a:lnTo>
                    <a:pt x="1120140" y="1469390"/>
                  </a:lnTo>
                  <a:lnTo>
                    <a:pt x="1241870" y="1492123"/>
                  </a:lnTo>
                  <a:close/>
                  <a:moveTo>
                    <a:pt x="1241870" y="1639062"/>
                  </a:moveTo>
                  <a:lnTo>
                    <a:pt x="1243076" y="1632649"/>
                  </a:lnTo>
                  <a:lnTo>
                    <a:pt x="1243076" y="1747266"/>
                  </a:lnTo>
                  <a:lnTo>
                    <a:pt x="1120140" y="1732343"/>
                  </a:lnTo>
                  <a:lnTo>
                    <a:pt x="1120140" y="1616329"/>
                  </a:lnTo>
                  <a:lnTo>
                    <a:pt x="1241870" y="1639062"/>
                  </a:lnTo>
                  <a:close/>
                  <a:moveTo>
                    <a:pt x="1090295" y="1835404"/>
                  </a:moveTo>
                  <a:lnTo>
                    <a:pt x="1243076" y="1853946"/>
                  </a:lnTo>
                  <a:lnTo>
                    <a:pt x="1243076" y="1930972"/>
                  </a:lnTo>
                  <a:lnTo>
                    <a:pt x="1090295" y="1914525"/>
                  </a:lnTo>
                  <a:lnTo>
                    <a:pt x="1090295" y="1835404"/>
                  </a:lnTo>
                  <a:close/>
                  <a:moveTo>
                    <a:pt x="1527493" y="2163509"/>
                  </a:moveTo>
                  <a:lnTo>
                    <a:pt x="1504442" y="2161540"/>
                  </a:lnTo>
                  <a:lnTo>
                    <a:pt x="1504442" y="1969770"/>
                  </a:lnTo>
                  <a:lnTo>
                    <a:pt x="1495425" y="1969770"/>
                  </a:lnTo>
                  <a:lnTo>
                    <a:pt x="1495425" y="2160715"/>
                  </a:lnTo>
                  <a:lnTo>
                    <a:pt x="1476947" y="2159127"/>
                  </a:lnTo>
                  <a:lnTo>
                    <a:pt x="1476947" y="1966786"/>
                  </a:lnTo>
                  <a:lnTo>
                    <a:pt x="1467930" y="1966786"/>
                  </a:lnTo>
                  <a:lnTo>
                    <a:pt x="1467930" y="2158365"/>
                  </a:lnTo>
                  <a:lnTo>
                    <a:pt x="1449451" y="2156778"/>
                  </a:lnTo>
                  <a:lnTo>
                    <a:pt x="1449451" y="1963801"/>
                  </a:lnTo>
                  <a:lnTo>
                    <a:pt x="1440434" y="1963801"/>
                  </a:lnTo>
                  <a:lnTo>
                    <a:pt x="1440434" y="2156016"/>
                  </a:lnTo>
                  <a:lnTo>
                    <a:pt x="1421956" y="2154428"/>
                  </a:lnTo>
                  <a:lnTo>
                    <a:pt x="1421956" y="1960880"/>
                  </a:lnTo>
                  <a:lnTo>
                    <a:pt x="1412939" y="1960880"/>
                  </a:lnTo>
                  <a:lnTo>
                    <a:pt x="1412939" y="2153666"/>
                  </a:lnTo>
                  <a:lnTo>
                    <a:pt x="1394460" y="2152079"/>
                  </a:lnTo>
                  <a:lnTo>
                    <a:pt x="1394460" y="1957895"/>
                  </a:lnTo>
                  <a:lnTo>
                    <a:pt x="1385443" y="1957895"/>
                  </a:lnTo>
                  <a:lnTo>
                    <a:pt x="1385443" y="2151317"/>
                  </a:lnTo>
                  <a:lnTo>
                    <a:pt x="1366965" y="2149729"/>
                  </a:lnTo>
                  <a:lnTo>
                    <a:pt x="1366965" y="1954911"/>
                  </a:lnTo>
                  <a:lnTo>
                    <a:pt x="1357948" y="1954911"/>
                  </a:lnTo>
                  <a:lnTo>
                    <a:pt x="1357948" y="2148904"/>
                  </a:lnTo>
                  <a:lnTo>
                    <a:pt x="1339469" y="2147316"/>
                  </a:lnTo>
                  <a:lnTo>
                    <a:pt x="1339469" y="1951926"/>
                  </a:lnTo>
                  <a:lnTo>
                    <a:pt x="1330452" y="1951926"/>
                  </a:lnTo>
                  <a:lnTo>
                    <a:pt x="1330452" y="2146554"/>
                  </a:lnTo>
                  <a:lnTo>
                    <a:pt x="1311974" y="2144967"/>
                  </a:lnTo>
                  <a:lnTo>
                    <a:pt x="1311974" y="1948942"/>
                  </a:lnTo>
                  <a:lnTo>
                    <a:pt x="1302957" y="1948942"/>
                  </a:lnTo>
                  <a:lnTo>
                    <a:pt x="1302957" y="2144141"/>
                  </a:lnTo>
                  <a:lnTo>
                    <a:pt x="1284478" y="2142554"/>
                  </a:lnTo>
                  <a:lnTo>
                    <a:pt x="1284478" y="1945830"/>
                  </a:lnTo>
                  <a:lnTo>
                    <a:pt x="1275461" y="1945830"/>
                  </a:lnTo>
                  <a:lnTo>
                    <a:pt x="1275461" y="2141665"/>
                  </a:lnTo>
                  <a:lnTo>
                    <a:pt x="1256983" y="2140077"/>
                  </a:lnTo>
                  <a:lnTo>
                    <a:pt x="1256983" y="1942846"/>
                  </a:lnTo>
                  <a:lnTo>
                    <a:pt x="1247966" y="1942846"/>
                  </a:lnTo>
                  <a:lnTo>
                    <a:pt x="1247966" y="2139315"/>
                  </a:lnTo>
                  <a:lnTo>
                    <a:pt x="1229487" y="2137728"/>
                  </a:lnTo>
                  <a:lnTo>
                    <a:pt x="1229487" y="1939925"/>
                  </a:lnTo>
                  <a:lnTo>
                    <a:pt x="1220470" y="1939925"/>
                  </a:lnTo>
                  <a:lnTo>
                    <a:pt x="1220470" y="2136966"/>
                  </a:lnTo>
                  <a:lnTo>
                    <a:pt x="1199769" y="2135187"/>
                  </a:lnTo>
                  <a:lnTo>
                    <a:pt x="1201992" y="2135187"/>
                  </a:lnTo>
                  <a:lnTo>
                    <a:pt x="1201992" y="1936941"/>
                  </a:lnTo>
                  <a:lnTo>
                    <a:pt x="1192975" y="1936941"/>
                  </a:lnTo>
                  <a:lnTo>
                    <a:pt x="1192975" y="2134616"/>
                  </a:lnTo>
                  <a:lnTo>
                    <a:pt x="1089787" y="2125662"/>
                  </a:lnTo>
                  <a:lnTo>
                    <a:pt x="1089787" y="1923605"/>
                  </a:lnTo>
                  <a:lnTo>
                    <a:pt x="1468692" y="1964309"/>
                  </a:lnTo>
                  <a:lnTo>
                    <a:pt x="1468692" y="1966468"/>
                  </a:lnTo>
                  <a:lnTo>
                    <a:pt x="1477709" y="1966468"/>
                  </a:lnTo>
                  <a:lnTo>
                    <a:pt x="1477709" y="1965261"/>
                  </a:lnTo>
                  <a:lnTo>
                    <a:pt x="1526985" y="1970532"/>
                  </a:lnTo>
                  <a:lnTo>
                    <a:pt x="1526985" y="2163509"/>
                  </a:lnTo>
                  <a:close/>
                  <a:moveTo>
                    <a:pt x="1527493" y="1961515"/>
                  </a:moveTo>
                  <a:lnTo>
                    <a:pt x="1478217" y="1956244"/>
                  </a:lnTo>
                  <a:lnTo>
                    <a:pt x="1478217" y="1396111"/>
                  </a:lnTo>
                  <a:cubicBezTo>
                    <a:pt x="1478217" y="1313243"/>
                    <a:pt x="1512761" y="1277049"/>
                    <a:pt x="1527493" y="1265364"/>
                  </a:cubicBezTo>
                  <a:lnTo>
                    <a:pt x="1527493" y="1961515"/>
                  </a:lnTo>
                  <a:close/>
                  <a:moveTo>
                    <a:pt x="1527493" y="1254188"/>
                  </a:moveTo>
                  <a:cubicBezTo>
                    <a:pt x="1516063" y="1261364"/>
                    <a:pt x="1469200" y="1296734"/>
                    <a:pt x="1469200" y="1396048"/>
                  </a:cubicBezTo>
                  <a:lnTo>
                    <a:pt x="1469200" y="1955165"/>
                  </a:lnTo>
                  <a:lnTo>
                    <a:pt x="1252030" y="1931861"/>
                  </a:lnTo>
                  <a:lnTo>
                    <a:pt x="1252030" y="1446403"/>
                  </a:lnTo>
                  <a:cubicBezTo>
                    <a:pt x="1252411" y="1439418"/>
                    <a:pt x="1260793" y="1274445"/>
                    <a:pt x="1210755" y="1214501"/>
                  </a:cubicBezTo>
                  <a:cubicBezTo>
                    <a:pt x="1155446" y="1148334"/>
                    <a:pt x="1105853" y="1141603"/>
                    <a:pt x="1090295" y="1141222"/>
                  </a:cubicBezTo>
                  <a:lnTo>
                    <a:pt x="1090295" y="558991"/>
                  </a:lnTo>
                  <a:lnTo>
                    <a:pt x="1527493" y="655193"/>
                  </a:lnTo>
                  <a:lnTo>
                    <a:pt x="1527493" y="1254188"/>
                  </a:lnTo>
                  <a:close/>
                  <a:moveTo>
                    <a:pt x="1643571" y="2173605"/>
                  </a:moveTo>
                  <a:lnTo>
                    <a:pt x="1536510" y="2164271"/>
                  </a:lnTo>
                  <a:lnTo>
                    <a:pt x="1536510" y="352552"/>
                  </a:lnTo>
                  <a:lnTo>
                    <a:pt x="1536446" y="351790"/>
                  </a:lnTo>
                  <a:cubicBezTo>
                    <a:pt x="1536383" y="351599"/>
                    <a:pt x="1533144" y="331152"/>
                    <a:pt x="1544892" y="317246"/>
                  </a:cubicBezTo>
                  <a:cubicBezTo>
                    <a:pt x="1552448" y="308292"/>
                    <a:pt x="1564767" y="303784"/>
                    <a:pt x="1581531" y="303784"/>
                  </a:cubicBezTo>
                  <a:cubicBezTo>
                    <a:pt x="1633411" y="303784"/>
                    <a:pt x="1642682" y="338264"/>
                    <a:pt x="1643571" y="342392"/>
                  </a:cubicBezTo>
                  <a:lnTo>
                    <a:pt x="1643571" y="2173605"/>
                  </a:lnTo>
                  <a:close/>
                  <a:moveTo>
                    <a:pt x="1652524" y="682752"/>
                  </a:moveTo>
                  <a:lnTo>
                    <a:pt x="2049082" y="770001"/>
                  </a:lnTo>
                  <a:lnTo>
                    <a:pt x="2049082" y="2017586"/>
                  </a:lnTo>
                  <a:lnTo>
                    <a:pt x="1743837" y="1984756"/>
                  </a:lnTo>
                  <a:lnTo>
                    <a:pt x="1743837" y="1494663"/>
                  </a:lnTo>
                  <a:cubicBezTo>
                    <a:pt x="1744028" y="1489900"/>
                    <a:pt x="1748155" y="1376934"/>
                    <a:pt x="1720279" y="1320292"/>
                  </a:cubicBezTo>
                  <a:cubicBezTo>
                    <a:pt x="1695704" y="1270381"/>
                    <a:pt x="1661604" y="1246187"/>
                    <a:pt x="1652524" y="1240409"/>
                  </a:cubicBezTo>
                  <a:lnTo>
                    <a:pt x="1652524" y="682752"/>
                  </a:lnTo>
                  <a:close/>
                  <a:moveTo>
                    <a:pt x="1652524" y="1251394"/>
                  </a:moveTo>
                  <a:cubicBezTo>
                    <a:pt x="1664970" y="1260475"/>
                    <a:pt x="1692148" y="1283589"/>
                    <a:pt x="1712214" y="1324292"/>
                  </a:cubicBezTo>
                  <a:cubicBezTo>
                    <a:pt x="1722120" y="1344422"/>
                    <a:pt x="1727835" y="1372680"/>
                    <a:pt x="1731073" y="1400366"/>
                  </a:cubicBezTo>
                  <a:lnTo>
                    <a:pt x="1656842" y="1390269"/>
                  </a:lnTo>
                  <a:lnTo>
                    <a:pt x="1655636" y="1399159"/>
                  </a:lnTo>
                  <a:lnTo>
                    <a:pt x="1731899" y="1409573"/>
                  </a:lnTo>
                  <a:lnTo>
                    <a:pt x="1732026" y="1408620"/>
                  </a:lnTo>
                  <a:cubicBezTo>
                    <a:pt x="1736471" y="1452943"/>
                    <a:pt x="1734947" y="1493647"/>
                    <a:pt x="1734947" y="1494473"/>
                  </a:cubicBezTo>
                  <a:lnTo>
                    <a:pt x="1734947" y="1983804"/>
                  </a:lnTo>
                  <a:lnTo>
                    <a:pt x="1652588" y="1974977"/>
                  </a:lnTo>
                  <a:lnTo>
                    <a:pt x="1652588" y="1251394"/>
                  </a:lnTo>
                  <a:close/>
                  <a:moveTo>
                    <a:pt x="2151825" y="2217674"/>
                  </a:moveTo>
                  <a:lnTo>
                    <a:pt x="2030921" y="2207197"/>
                  </a:lnTo>
                  <a:lnTo>
                    <a:pt x="2030921" y="2028063"/>
                  </a:lnTo>
                  <a:lnTo>
                    <a:pt x="2021904" y="2028063"/>
                  </a:lnTo>
                  <a:lnTo>
                    <a:pt x="2021904" y="2206435"/>
                  </a:lnTo>
                  <a:lnTo>
                    <a:pt x="2005838" y="2205037"/>
                  </a:lnTo>
                  <a:lnTo>
                    <a:pt x="2005838" y="2025205"/>
                  </a:lnTo>
                  <a:lnTo>
                    <a:pt x="1996821" y="2025205"/>
                  </a:lnTo>
                  <a:lnTo>
                    <a:pt x="1996821" y="2204212"/>
                  </a:lnTo>
                  <a:lnTo>
                    <a:pt x="1980756" y="2202815"/>
                  </a:lnTo>
                  <a:lnTo>
                    <a:pt x="1980756" y="2022348"/>
                  </a:lnTo>
                  <a:lnTo>
                    <a:pt x="1971739" y="2022348"/>
                  </a:lnTo>
                  <a:lnTo>
                    <a:pt x="1971739" y="2202053"/>
                  </a:lnTo>
                  <a:lnTo>
                    <a:pt x="1955673" y="2200656"/>
                  </a:lnTo>
                  <a:lnTo>
                    <a:pt x="1955673" y="2019491"/>
                  </a:lnTo>
                  <a:lnTo>
                    <a:pt x="1946656" y="2019491"/>
                  </a:lnTo>
                  <a:lnTo>
                    <a:pt x="1946656" y="2199830"/>
                  </a:lnTo>
                  <a:lnTo>
                    <a:pt x="1930591" y="2198434"/>
                  </a:lnTo>
                  <a:lnTo>
                    <a:pt x="1930591" y="2016633"/>
                  </a:lnTo>
                  <a:lnTo>
                    <a:pt x="1921573" y="2016633"/>
                  </a:lnTo>
                  <a:lnTo>
                    <a:pt x="1921573" y="2197672"/>
                  </a:lnTo>
                  <a:lnTo>
                    <a:pt x="1905508" y="2196274"/>
                  </a:lnTo>
                  <a:lnTo>
                    <a:pt x="1905508" y="2013775"/>
                  </a:lnTo>
                  <a:lnTo>
                    <a:pt x="1896491" y="2013775"/>
                  </a:lnTo>
                  <a:lnTo>
                    <a:pt x="1896491" y="2195449"/>
                  </a:lnTo>
                  <a:lnTo>
                    <a:pt x="1880426" y="2194052"/>
                  </a:lnTo>
                  <a:lnTo>
                    <a:pt x="1880426" y="2010918"/>
                  </a:lnTo>
                  <a:lnTo>
                    <a:pt x="1871409" y="2010918"/>
                  </a:lnTo>
                  <a:lnTo>
                    <a:pt x="1871409" y="2193290"/>
                  </a:lnTo>
                  <a:lnTo>
                    <a:pt x="1855343" y="2191893"/>
                  </a:lnTo>
                  <a:lnTo>
                    <a:pt x="1855343" y="2008124"/>
                  </a:lnTo>
                  <a:lnTo>
                    <a:pt x="1846326" y="2008124"/>
                  </a:lnTo>
                  <a:lnTo>
                    <a:pt x="1846326" y="2191131"/>
                  </a:lnTo>
                  <a:lnTo>
                    <a:pt x="1830261" y="2189734"/>
                  </a:lnTo>
                  <a:lnTo>
                    <a:pt x="1830261" y="2005267"/>
                  </a:lnTo>
                  <a:lnTo>
                    <a:pt x="1821244" y="2005267"/>
                  </a:lnTo>
                  <a:lnTo>
                    <a:pt x="1821244" y="2188972"/>
                  </a:lnTo>
                  <a:lnTo>
                    <a:pt x="1805178" y="2187575"/>
                  </a:lnTo>
                  <a:lnTo>
                    <a:pt x="1805178" y="2002473"/>
                  </a:lnTo>
                  <a:lnTo>
                    <a:pt x="1796161" y="2002473"/>
                  </a:lnTo>
                  <a:lnTo>
                    <a:pt x="1796161" y="2186813"/>
                  </a:lnTo>
                  <a:lnTo>
                    <a:pt x="1780096" y="2185416"/>
                  </a:lnTo>
                  <a:lnTo>
                    <a:pt x="1780096" y="1999615"/>
                  </a:lnTo>
                  <a:lnTo>
                    <a:pt x="1771079" y="1999615"/>
                  </a:lnTo>
                  <a:lnTo>
                    <a:pt x="1771079" y="2184654"/>
                  </a:lnTo>
                  <a:lnTo>
                    <a:pt x="1755013" y="2183257"/>
                  </a:lnTo>
                  <a:lnTo>
                    <a:pt x="1755013" y="1996821"/>
                  </a:lnTo>
                  <a:lnTo>
                    <a:pt x="1745996" y="1996821"/>
                  </a:lnTo>
                  <a:lnTo>
                    <a:pt x="1745996" y="2182495"/>
                  </a:lnTo>
                  <a:lnTo>
                    <a:pt x="1729931" y="2181098"/>
                  </a:lnTo>
                  <a:lnTo>
                    <a:pt x="1729931" y="1993963"/>
                  </a:lnTo>
                  <a:lnTo>
                    <a:pt x="1720914" y="1993963"/>
                  </a:lnTo>
                  <a:lnTo>
                    <a:pt x="1720914" y="2180273"/>
                  </a:lnTo>
                  <a:lnTo>
                    <a:pt x="1704848" y="2178875"/>
                  </a:lnTo>
                  <a:lnTo>
                    <a:pt x="1704848" y="1991106"/>
                  </a:lnTo>
                  <a:lnTo>
                    <a:pt x="1695831" y="1991106"/>
                  </a:lnTo>
                  <a:lnTo>
                    <a:pt x="1695831" y="2178113"/>
                  </a:lnTo>
                  <a:lnTo>
                    <a:pt x="1678940" y="2176653"/>
                  </a:lnTo>
                  <a:lnTo>
                    <a:pt x="1679766" y="2176653"/>
                  </a:lnTo>
                  <a:lnTo>
                    <a:pt x="1679766" y="1988249"/>
                  </a:lnTo>
                  <a:lnTo>
                    <a:pt x="1670748" y="1988249"/>
                  </a:lnTo>
                  <a:lnTo>
                    <a:pt x="1670748" y="2175891"/>
                  </a:lnTo>
                  <a:lnTo>
                    <a:pt x="1652524" y="2174304"/>
                  </a:lnTo>
                  <a:lnTo>
                    <a:pt x="1652524" y="1983930"/>
                  </a:lnTo>
                  <a:lnTo>
                    <a:pt x="2049082" y="2026539"/>
                  </a:lnTo>
                  <a:lnTo>
                    <a:pt x="2049082" y="2205418"/>
                  </a:lnTo>
                  <a:lnTo>
                    <a:pt x="2058098" y="2205418"/>
                  </a:lnTo>
                  <a:lnTo>
                    <a:pt x="2058098" y="459041"/>
                  </a:lnTo>
                  <a:lnTo>
                    <a:pt x="2058035" y="458343"/>
                  </a:lnTo>
                  <a:cubicBezTo>
                    <a:pt x="2057972" y="458152"/>
                    <a:pt x="2054797" y="436626"/>
                    <a:pt x="2066607" y="422846"/>
                  </a:cubicBezTo>
                  <a:cubicBezTo>
                    <a:pt x="2073275" y="415099"/>
                    <a:pt x="2083626" y="411163"/>
                    <a:pt x="2097405" y="411163"/>
                  </a:cubicBezTo>
                  <a:cubicBezTo>
                    <a:pt x="2142935" y="411163"/>
                    <a:pt x="2150999" y="444691"/>
                    <a:pt x="2151825" y="448627"/>
                  </a:cubicBezTo>
                  <a:lnTo>
                    <a:pt x="2151825" y="2217674"/>
                  </a:lnTo>
                  <a:close/>
                  <a:moveTo>
                    <a:pt x="2160842" y="794639"/>
                  </a:moveTo>
                  <a:lnTo>
                    <a:pt x="2264601" y="817499"/>
                  </a:lnTo>
                  <a:lnTo>
                    <a:pt x="2264601" y="2040763"/>
                  </a:lnTo>
                  <a:lnTo>
                    <a:pt x="2253234" y="2039556"/>
                  </a:lnTo>
                  <a:lnTo>
                    <a:pt x="2253234" y="2038350"/>
                  </a:lnTo>
                  <a:lnTo>
                    <a:pt x="2244217" y="2038350"/>
                  </a:lnTo>
                  <a:lnTo>
                    <a:pt x="2244217" y="2038604"/>
                  </a:lnTo>
                  <a:lnTo>
                    <a:pt x="2230882" y="2037143"/>
                  </a:lnTo>
                  <a:lnTo>
                    <a:pt x="2230882" y="2035556"/>
                  </a:lnTo>
                  <a:lnTo>
                    <a:pt x="2221865" y="2035556"/>
                  </a:lnTo>
                  <a:lnTo>
                    <a:pt x="2221865" y="2036191"/>
                  </a:lnTo>
                  <a:lnTo>
                    <a:pt x="2208530" y="2034730"/>
                  </a:lnTo>
                  <a:lnTo>
                    <a:pt x="2208530" y="2032699"/>
                  </a:lnTo>
                  <a:lnTo>
                    <a:pt x="2199513" y="2032699"/>
                  </a:lnTo>
                  <a:lnTo>
                    <a:pt x="2199513" y="2033778"/>
                  </a:lnTo>
                  <a:lnTo>
                    <a:pt x="2186178" y="2032317"/>
                  </a:lnTo>
                  <a:lnTo>
                    <a:pt x="2186178" y="2029905"/>
                  </a:lnTo>
                  <a:lnTo>
                    <a:pt x="2177161" y="2029905"/>
                  </a:lnTo>
                  <a:lnTo>
                    <a:pt x="2177161" y="2031365"/>
                  </a:lnTo>
                  <a:lnTo>
                    <a:pt x="2160778" y="2029587"/>
                  </a:lnTo>
                  <a:lnTo>
                    <a:pt x="2160778" y="794639"/>
                  </a:lnTo>
                  <a:close/>
                  <a:moveTo>
                    <a:pt x="2288985" y="2229549"/>
                  </a:moveTo>
                  <a:lnTo>
                    <a:pt x="2160842" y="2218436"/>
                  </a:lnTo>
                  <a:lnTo>
                    <a:pt x="2160842" y="2038604"/>
                  </a:lnTo>
                  <a:lnTo>
                    <a:pt x="2177225" y="2040382"/>
                  </a:lnTo>
                  <a:lnTo>
                    <a:pt x="2177225" y="2215896"/>
                  </a:lnTo>
                  <a:lnTo>
                    <a:pt x="2186242" y="2215896"/>
                  </a:lnTo>
                  <a:lnTo>
                    <a:pt x="2186242" y="2041335"/>
                  </a:lnTo>
                  <a:lnTo>
                    <a:pt x="2199577" y="2042795"/>
                  </a:lnTo>
                  <a:lnTo>
                    <a:pt x="2199577" y="2218690"/>
                  </a:lnTo>
                  <a:lnTo>
                    <a:pt x="2208594" y="2218690"/>
                  </a:lnTo>
                  <a:lnTo>
                    <a:pt x="2208594" y="2043748"/>
                  </a:lnTo>
                  <a:lnTo>
                    <a:pt x="2221929" y="2045208"/>
                  </a:lnTo>
                  <a:lnTo>
                    <a:pt x="2221929" y="2221548"/>
                  </a:lnTo>
                  <a:lnTo>
                    <a:pt x="2230946" y="2221548"/>
                  </a:lnTo>
                  <a:lnTo>
                    <a:pt x="2230946" y="2046161"/>
                  </a:lnTo>
                  <a:lnTo>
                    <a:pt x="2244281" y="2047621"/>
                  </a:lnTo>
                  <a:lnTo>
                    <a:pt x="2244281" y="2224342"/>
                  </a:lnTo>
                  <a:lnTo>
                    <a:pt x="2253298" y="2224342"/>
                  </a:lnTo>
                  <a:lnTo>
                    <a:pt x="2253298" y="2048574"/>
                  </a:lnTo>
                  <a:lnTo>
                    <a:pt x="2264664" y="2049780"/>
                  </a:lnTo>
                  <a:lnTo>
                    <a:pt x="2264664" y="2053273"/>
                  </a:lnTo>
                  <a:lnTo>
                    <a:pt x="2266696" y="2053273"/>
                  </a:lnTo>
                  <a:lnTo>
                    <a:pt x="2266696" y="2227136"/>
                  </a:lnTo>
                  <a:lnTo>
                    <a:pt x="2275713" y="2227136"/>
                  </a:lnTo>
                  <a:lnTo>
                    <a:pt x="2275713" y="2050986"/>
                  </a:lnTo>
                  <a:lnTo>
                    <a:pt x="2289048" y="2052447"/>
                  </a:lnTo>
                  <a:lnTo>
                    <a:pt x="2289048" y="2229549"/>
                  </a:lnTo>
                  <a:close/>
                  <a:moveTo>
                    <a:pt x="2311337" y="2231517"/>
                  </a:moveTo>
                  <a:lnTo>
                    <a:pt x="2293112" y="2229930"/>
                  </a:lnTo>
                  <a:lnTo>
                    <a:pt x="2298002" y="2229930"/>
                  </a:lnTo>
                  <a:lnTo>
                    <a:pt x="2298002" y="2053336"/>
                  </a:lnTo>
                  <a:lnTo>
                    <a:pt x="2311337" y="2054797"/>
                  </a:lnTo>
                  <a:lnTo>
                    <a:pt x="2311337" y="2231517"/>
                  </a:lnTo>
                  <a:close/>
                  <a:moveTo>
                    <a:pt x="2333689" y="2233422"/>
                  </a:moveTo>
                  <a:lnTo>
                    <a:pt x="2320354" y="2232279"/>
                  </a:lnTo>
                  <a:lnTo>
                    <a:pt x="2320354" y="2055749"/>
                  </a:lnTo>
                  <a:lnTo>
                    <a:pt x="2333689" y="2057210"/>
                  </a:lnTo>
                  <a:lnTo>
                    <a:pt x="2333689" y="2233422"/>
                  </a:lnTo>
                  <a:close/>
                  <a:moveTo>
                    <a:pt x="2356041" y="2235391"/>
                  </a:moveTo>
                  <a:lnTo>
                    <a:pt x="2342706" y="2234248"/>
                  </a:lnTo>
                  <a:lnTo>
                    <a:pt x="2342706" y="2058162"/>
                  </a:lnTo>
                  <a:lnTo>
                    <a:pt x="2356041" y="2059623"/>
                  </a:lnTo>
                  <a:lnTo>
                    <a:pt x="2356041" y="2235391"/>
                  </a:lnTo>
                  <a:close/>
                  <a:moveTo>
                    <a:pt x="2378393" y="2237296"/>
                  </a:moveTo>
                  <a:lnTo>
                    <a:pt x="2365058" y="2236153"/>
                  </a:lnTo>
                  <a:lnTo>
                    <a:pt x="2365058" y="2060575"/>
                  </a:lnTo>
                  <a:lnTo>
                    <a:pt x="2378393" y="2062036"/>
                  </a:lnTo>
                  <a:lnTo>
                    <a:pt x="2378393" y="2237296"/>
                  </a:lnTo>
                  <a:close/>
                  <a:moveTo>
                    <a:pt x="2400745" y="2239264"/>
                  </a:moveTo>
                  <a:lnTo>
                    <a:pt x="2387410" y="2238121"/>
                  </a:lnTo>
                  <a:lnTo>
                    <a:pt x="2387410" y="2062988"/>
                  </a:lnTo>
                  <a:lnTo>
                    <a:pt x="2400745" y="2064449"/>
                  </a:lnTo>
                  <a:lnTo>
                    <a:pt x="2400745" y="2239264"/>
                  </a:lnTo>
                  <a:close/>
                  <a:moveTo>
                    <a:pt x="2423033" y="2241169"/>
                  </a:moveTo>
                  <a:lnTo>
                    <a:pt x="2409698" y="2240026"/>
                  </a:lnTo>
                  <a:lnTo>
                    <a:pt x="2409698" y="2065337"/>
                  </a:lnTo>
                  <a:lnTo>
                    <a:pt x="2423033" y="2066798"/>
                  </a:lnTo>
                  <a:lnTo>
                    <a:pt x="2423033" y="2241169"/>
                  </a:lnTo>
                  <a:close/>
                  <a:moveTo>
                    <a:pt x="2445385" y="2243137"/>
                  </a:moveTo>
                  <a:lnTo>
                    <a:pt x="2432050" y="2241994"/>
                  </a:lnTo>
                  <a:lnTo>
                    <a:pt x="2432050" y="2067750"/>
                  </a:lnTo>
                  <a:lnTo>
                    <a:pt x="2445385" y="2069211"/>
                  </a:lnTo>
                  <a:lnTo>
                    <a:pt x="2445385" y="2243137"/>
                  </a:lnTo>
                  <a:close/>
                  <a:moveTo>
                    <a:pt x="2467737" y="2245106"/>
                  </a:moveTo>
                  <a:lnTo>
                    <a:pt x="2454402" y="2243963"/>
                  </a:lnTo>
                  <a:lnTo>
                    <a:pt x="2454402" y="2070227"/>
                  </a:lnTo>
                  <a:lnTo>
                    <a:pt x="2467737" y="2071687"/>
                  </a:lnTo>
                  <a:lnTo>
                    <a:pt x="2467737" y="2245106"/>
                  </a:lnTo>
                  <a:close/>
                  <a:moveTo>
                    <a:pt x="2490089" y="2247011"/>
                  </a:moveTo>
                  <a:lnTo>
                    <a:pt x="2476754" y="2245868"/>
                  </a:lnTo>
                  <a:lnTo>
                    <a:pt x="2476754" y="2072576"/>
                  </a:lnTo>
                  <a:lnTo>
                    <a:pt x="2490089" y="2074037"/>
                  </a:lnTo>
                  <a:lnTo>
                    <a:pt x="2490089" y="2247011"/>
                  </a:lnTo>
                  <a:close/>
                  <a:moveTo>
                    <a:pt x="2518029" y="2249424"/>
                  </a:moveTo>
                  <a:lnTo>
                    <a:pt x="2499106" y="2247773"/>
                  </a:lnTo>
                  <a:lnTo>
                    <a:pt x="2499106" y="2074926"/>
                  </a:lnTo>
                  <a:lnTo>
                    <a:pt x="2518029" y="2076958"/>
                  </a:lnTo>
                  <a:lnTo>
                    <a:pt x="2518029" y="2249424"/>
                  </a:lnTo>
                  <a:close/>
                  <a:moveTo>
                    <a:pt x="2518029" y="2067941"/>
                  </a:moveTo>
                  <a:lnTo>
                    <a:pt x="2298002" y="2044319"/>
                  </a:lnTo>
                  <a:lnTo>
                    <a:pt x="2298002" y="2043938"/>
                  </a:lnTo>
                  <a:lnTo>
                    <a:pt x="2294255" y="2043938"/>
                  </a:lnTo>
                  <a:lnTo>
                    <a:pt x="2275650" y="2041969"/>
                  </a:lnTo>
                  <a:lnTo>
                    <a:pt x="2275650" y="2041144"/>
                  </a:lnTo>
                  <a:lnTo>
                    <a:pt x="2273618" y="2041144"/>
                  </a:lnTo>
                  <a:lnTo>
                    <a:pt x="2273618" y="817118"/>
                  </a:lnTo>
                  <a:lnTo>
                    <a:pt x="2518029" y="738695"/>
                  </a:lnTo>
                  <a:lnTo>
                    <a:pt x="2518029" y="2067941"/>
                  </a:lnTo>
                  <a:close/>
                  <a:moveTo>
                    <a:pt x="2620709" y="2258314"/>
                  </a:moveTo>
                  <a:lnTo>
                    <a:pt x="2526983" y="2250186"/>
                  </a:lnTo>
                  <a:lnTo>
                    <a:pt x="2526983" y="578739"/>
                  </a:lnTo>
                  <a:lnTo>
                    <a:pt x="2526919" y="578041"/>
                  </a:lnTo>
                  <a:cubicBezTo>
                    <a:pt x="2526856" y="577850"/>
                    <a:pt x="2523744" y="557530"/>
                    <a:pt x="2535111" y="544195"/>
                  </a:cubicBezTo>
                  <a:cubicBezTo>
                    <a:pt x="2541778" y="536385"/>
                    <a:pt x="2552256" y="532447"/>
                    <a:pt x="2566289" y="532447"/>
                  </a:cubicBezTo>
                  <a:cubicBezTo>
                    <a:pt x="2611374" y="532447"/>
                    <a:pt x="2619756" y="559435"/>
                    <a:pt x="2620709" y="563118"/>
                  </a:cubicBezTo>
                  <a:lnTo>
                    <a:pt x="2620709" y="2258314"/>
                  </a:lnTo>
                  <a:close/>
                  <a:moveTo>
                    <a:pt x="2629726" y="869632"/>
                  </a:moveTo>
                  <a:lnTo>
                    <a:pt x="2948940" y="938213"/>
                  </a:lnTo>
                  <a:lnTo>
                    <a:pt x="2948940" y="1061910"/>
                  </a:lnTo>
                  <a:lnTo>
                    <a:pt x="2783967" y="1029144"/>
                  </a:lnTo>
                  <a:lnTo>
                    <a:pt x="2784602" y="1338770"/>
                  </a:lnTo>
                  <a:lnTo>
                    <a:pt x="2793619" y="1338770"/>
                  </a:lnTo>
                  <a:lnTo>
                    <a:pt x="2793048" y="1040130"/>
                  </a:lnTo>
                  <a:lnTo>
                    <a:pt x="2949004" y="1071118"/>
                  </a:lnTo>
                  <a:lnTo>
                    <a:pt x="2949004" y="1370393"/>
                  </a:lnTo>
                  <a:lnTo>
                    <a:pt x="2629789" y="1313815"/>
                  </a:lnTo>
                  <a:lnTo>
                    <a:pt x="2629789" y="869632"/>
                  </a:lnTo>
                  <a:close/>
                  <a:moveTo>
                    <a:pt x="2629726" y="1322895"/>
                  </a:moveTo>
                  <a:lnTo>
                    <a:pt x="2948940" y="1379474"/>
                  </a:lnTo>
                  <a:lnTo>
                    <a:pt x="2948940" y="1514856"/>
                  </a:lnTo>
                  <a:lnTo>
                    <a:pt x="2629726" y="1464818"/>
                  </a:lnTo>
                  <a:lnTo>
                    <a:pt x="2629726" y="1322895"/>
                  </a:lnTo>
                  <a:close/>
                  <a:moveTo>
                    <a:pt x="2629726" y="1474025"/>
                  </a:moveTo>
                  <a:lnTo>
                    <a:pt x="2948940" y="1524063"/>
                  </a:lnTo>
                  <a:lnTo>
                    <a:pt x="2948940" y="1613408"/>
                  </a:lnTo>
                  <a:lnTo>
                    <a:pt x="2640965" y="1568260"/>
                  </a:lnTo>
                  <a:lnTo>
                    <a:pt x="2639632" y="1577149"/>
                  </a:lnTo>
                  <a:lnTo>
                    <a:pt x="2948877" y="1622488"/>
                  </a:lnTo>
                  <a:lnTo>
                    <a:pt x="2948877" y="1839786"/>
                  </a:lnTo>
                  <a:lnTo>
                    <a:pt x="2783904" y="1819211"/>
                  </a:lnTo>
                  <a:lnTo>
                    <a:pt x="2784539" y="2128393"/>
                  </a:lnTo>
                  <a:lnTo>
                    <a:pt x="2793556" y="2128393"/>
                  </a:lnTo>
                  <a:lnTo>
                    <a:pt x="2792984" y="1829372"/>
                  </a:lnTo>
                  <a:lnTo>
                    <a:pt x="2948940" y="1848803"/>
                  </a:lnTo>
                  <a:lnTo>
                    <a:pt x="2948940" y="2148205"/>
                  </a:lnTo>
                  <a:lnTo>
                    <a:pt x="2629726" y="2115185"/>
                  </a:lnTo>
                  <a:lnTo>
                    <a:pt x="2629726" y="1474025"/>
                  </a:lnTo>
                  <a:close/>
                  <a:moveTo>
                    <a:pt x="3051620" y="2295716"/>
                  </a:moveTo>
                  <a:lnTo>
                    <a:pt x="2629662" y="2259140"/>
                  </a:lnTo>
                  <a:lnTo>
                    <a:pt x="2629662" y="2124202"/>
                  </a:lnTo>
                  <a:lnTo>
                    <a:pt x="2948877" y="2157222"/>
                  </a:lnTo>
                  <a:lnTo>
                    <a:pt x="2948877" y="2285555"/>
                  </a:lnTo>
                  <a:lnTo>
                    <a:pt x="2957894" y="2285555"/>
                  </a:lnTo>
                  <a:lnTo>
                    <a:pt x="2957894" y="684975"/>
                  </a:lnTo>
                  <a:lnTo>
                    <a:pt x="2957830" y="684276"/>
                  </a:lnTo>
                  <a:cubicBezTo>
                    <a:pt x="2957830" y="684085"/>
                    <a:pt x="2954782" y="664527"/>
                    <a:pt x="2965768" y="651637"/>
                  </a:cubicBezTo>
                  <a:cubicBezTo>
                    <a:pt x="2972372" y="643890"/>
                    <a:pt x="2982976" y="639889"/>
                    <a:pt x="2997200" y="639889"/>
                  </a:cubicBezTo>
                  <a:cubicBezTo>
                    <a:pt x="3042539" y="639889"/>
                    <a:pt x="3050731" y="670179"/>
                    <a:pt x="3051620" y="673989"/>
                  </a:cubicBezTo>
                  <a:lnTo>
                    <a:pt x="3051620" y="2295716"/>
                  </a:lnTo>
                  <a:close/>
                  <a:moveTo>
                    <a:pt x="2457958" y="3150044"/>
                  </a:moveTo>
                  <a:lnTo>
                    <a:pt x="2248662" y="3150044"/>
                  </a:lnTo>
                  <a:lnTo>
                    <a:pt x="2248662" y="2614549"/>
                  </a:lnTo>
                  <a:cubicBezTo>
                    <a:pt x="2248599" y="2613279"/>
                    <a:pt x="2241614" y="2507869"/>
                    <a:pt x="2279460" y="2425636"/>
                  </a:cubicBezTo>
                  <a:cubicBezTo>
                    <a:pt x="2291017" y="2409952"/>
                    <a:pt x="2320163" y="2380933"/>
                    <a:pt x="2377059" y="2380107"/>
                  </a:cubicBezTo>
                  <a:cubicBezTo>
                    <a:pt x="2395220" y="2387917"/>
                    <a:pt x="2457958" y="2426970"/>
                    <a:pt x="2457958" y="2593277"/>
                  </a:cubicBezTo>
                  <a:lnTo>
                    <a:pt x="2457958" y="3150044"/>
                  </a:lnTo>
                  <a:close/>
                  <a:moveTo>
                    <a:pt x="2534539" y="3150044"/>
                  </a:moveTo>
                  <a:lnTo>
                    <a:pt x="2466912" y="3150044"/>
                  </a:lnTo>
                  <a:lnTo>
                    <a:pt x="2466912" y="2593277"/>
                  </a:lnTo>
                  <a:cubicBezTo>
                    <a:pt x="2466912" y="2454910"/>
                    <a:pt x="2423478" y="2401189"/>
                    <a:pt x="2396300" y="2381123"/>
                  </a:cubicBezTo>
                  <a:cubicBezTo>
                    <a:pt x="2448116" y="2387854"/>
                    <a:pt x="2534539" y="2430145"/>
                    <a:pt x="2534539" y="2637599"/>
                  </a:cubicBezTo>
                  <a:lnTo>
                    <a:pt x="2534539" y="3150044"/>
                  </a:lnTo>
                  <a:close/>
                  <a:moveTo>
                    <a:pt x="2606929" y="2661666"/>
                  </a:moveTo>
                  <a:lnTo>
                    <a:pt x="2606929" y="3150044"/>
                  </a:lnTo>
                  <a:lnTo>
                    <a:pt x="2543556" y="3150044"/>
                  </a:lnTo>
                  <a:lnTo>
                    <a:pt x="2543556" y="2637663"/>
                  </a:lnTo>
                  <a:cubicBezTo>
                    <a:pt x="2543556" y="2396998"/>
                    <a:pt x="2428685" y="2371027"/>
                    <a:pt x="2379282" y="2371027"/>
                  </a:cubicBezTo>
                  <a:cubicBezTo>
                    <a:pt x="2379028" y="2371027"/>
                    <a:pt x="2378837" y="2371027"/>
                    <a:pt x="2378647" y="2371027"/>
                  </a:cubicBezTo>
                  <a:cubicBezTo>
                    <a:pt x="2378329" y="2370899"/>
                    <a:pt x="2377948" y="2370773"/>
                    <a:pt x="2377631" y="2370646"/>
                  </a:cubicBezTo>
                  <a:lnTo>
                    <a:pt x="2377440" y="2371090"/>
                  </a:lnTo>
                  <a:cubicBezTo>
                    <a:pt x="2339404" y="2371471"/>
                    <a:pt x="2313051" y="2383473"/>
                    <a:pt x="2295398" y="2396744"/>
                  </a:cubicBezTo>
                  <a:cubicBezTo>
                    <a:pt x="2300542" y="2388997"/>
                    <a:pt x="2306130" y="2381694"/>
                    <a:pt x="2312416" y="2374900"/>
                  </a:cubicBezTo>
                  <a:cubicBezTo>
                    <a:pt x="2340928" y="2344230"/>
                    <a:pt x="2378583" y="2328609"/>
                    <a:pt x="2424303" y="2328545"/>
                  </a:cubicBezTo>
                  <a:cubicBezTo>
                    <a:pt x="2424367" y="2328545"/>
                    <a:pt x="2424494" y="2328545"/>
                    <a:pt x="2424557" y="2328545"/>
                  </a:cubicBezTo>
                  <a:cubicBezTo>
                    <a:pt x="2464880" y="2328545"/>
                    <a:pt x="2499297" y="2343023"/>
                    <a:pt x="2526919" y="2371535"/>
                  </a:cubicBezTo>
                  <a:cubicBezTo>
                    <a:pt x="2613089" y="2460752"/>
                    <a:pt x="2606993" y="2659507"/>
                    <a:pt x="2606929" y="2661666"/>
                  </a:cubicBezTo>
                  <a:close/>
                  <a:moveTo>
                    <a:pt x="2923413" y="3150044"/>
                  </a:moveTo>
                  <a:lnTo>
                    <a:pt x="2714117" y="3150044"/>
                  </a:lnTo>
                  <a:lnTo>
                    <a:pt x="2714117" y="2649474"/>
                  </a:lnTo>
                  <a:cubicBezTo>
                    <a:pt x="2714054" y="2648267"/>
                    <a:pt x="2707069" y="2549144"/>
                    <a:pt x="2745169" y="2472055"/>
                  </a:cubicBezTo>
                  <a:cubicBezTo>
                    <a:pt x="2756853" y="2457196"/>
                    <a:pt x="2785682" y="2430717"/>
                    <a:pt x="2842578" y="2430018"/>
                  </a:cubicBezTo>
                  <a:cubicBezTo>
                    <a:pt x="2860675" y="2437321"/>
                    <a:pt x="2923413" y="2473833"/>
                    <a:pt x="2923413" y="2629662"/>
                  </a:cubicBezTo>
                  <a:lnTo>
                    <a:pt x="2923413" y="3150044"/>
                  </a:lnTo>
                  <a:close/>
                  <a:moveTo>
                    <a:pt x="3000058" y="3150044"/>
                  </a:moveTo>
                  <a:lnTo>
                    <a:pt x="2932430" y="3150044"/>
                  </a:lnTo>
                  <a:lnTo>
                    <a:pt x="2932430" y="2629599"/>
                  </a:lnTo>
                  <a:cubicBezTo>
                    <a:pt x="2932430" y="2501265"/>
                    <a:pt x="2889949" y="2450465"/>
                    <a:pt x="2862707" y="2431034"/>
                  </a:cubicBezTo>
                  <a:cubicBezTo>
                    <a:pt x="2914587" y="2437702"/>
                    <a:pt x="3000058" y="2477961"/>
                    <a:pt x="3000058" y="2671128"/>
                  </a:cubicBezTo>
                  <a:lnTo>
                    <a:pt x="3000058" y="3150044"/>
                  </a:lnTo>
                  <a:close/>
                  <a:moveTo>
                    <a:pt x="3072448" y="2693670"/>
                  </a:moveTo>
                  <a:lnTo>
                    <a:pt x="3072448" y="3150044"/>
                  </a:lnTo>
                  <a:lnTo>
                    <a:pt x="3009075" y="3150044"/>
                  </a:lnTo>
                  <a:lnTo>
                    <a:pt x="3009075" y="2671128"/>
                  </a:lnTo>
                  <a:cubicBezTo>
                    <a:pt x="3009075" y="2445194"/>
                    <a:pt x="2894203" y="2420811"/>
                    <a:pt x="2844800" y="2420811"/>
                  </a:cubicBezTo>
                  <a:cubicBezTo>
                    <a:pt x="2844546" y="2420811"/>
                    <a:pt x="2844356" y="2420811"/>
                    <a:pt x="2844102" y="2420811"/>
                  </a:cubicBezTo>
                  <a:cubicBezTo>
                    <a:pt x="2843721" y="2420684"/>
                    <a:pt x="2843340" y="2420556"/>
                    <a:pt x="2843022" y="2420430"/>
                  </a:cubicBezTo>
                  <a:lnTo>
                    <a:pt x="2842895" y="2420874"/>
                  </a:lnTo>
                  <a:cubicBezTo>
                    <a:pt x="2805240" y="2421255"/>
                    <a:pt x="2779014" y="2432304"/>
                    <a:pt x="2761361" y="2444686"/>
                  </a:cubicBezTo>
                  <a:cubicBezTo>
                    <a:pt x="2765298" y="2439162"/>
                    <a:pt x="2769553" y="2433892"/>
                    <a:pt x="2774188" y="2428875"/>
                  </a:cubicBezTo>
                  <a:cubicBezTo>
                    <a:pt x="2803144" y="2397569"/>
                    <a:pt x="2842070" y="2381631"/>
                    <a:pt x="2889822" y="2381567"/>
                  </a:cubicBezTo>
                  <a:cubicBezTo>
                    <a:pt x="2889885" y="2381567"/>
                    <a:pt x="2889949" y="2381567"/>
                    <a:pt x="2890076" y="2381567"/>
                  </a:cubicBezTo>
                  <a:cubicBezTo>
                    <a:pt x="2932303" y="2381567"/>
                    <a:pt x="2968054" y="2396427"/>
                    <a:pt x="2996311" y="2425700"/>
                  </a:cubicBezTo>
                  <a:cubicBezTo>
                    <a:pt x="3078417" y="2510917"/>
                    <a:pt x="3072511" y="2691702"/>
                    <a:pt x="3072448" y="2693670"/>
                  </a:cubicBezTo>
                  <a:close/>
                  <a:moveTo>
                    <a:pt x="5661406" y="1502918"/>
                  </a:moveTo>
                  <a:lnTo>
                    <a:pt x="5777548" y="1488249"/>
                  </a:lnTo>
                  <a:lnTo>
                    <a:pt x="5773484" y="1871536"/>
                  </a:lnTo>
                  <a:lnTo>
                    <a:pt x="5661406" y="1851342"/>
                  </a:lnTo>
                  <a:lnTo>
                    <a:pt x="5661406" y="1502918"/>
                  </a:lnTo>
                  <a:close/>
                  <a:moveTo>
                    <a:pt x="5661406" y="1860486"/>
                  </a:moveTo>
                  <a:lnTo>
                    <a:pt x="5773420" y="1880680"/>
                  </a:lnTo>
                  <a:lnTo>
                    <a:pt x="5772595" y="1957514"/>
                  </a:lnTo>
                  <a:lnTo>
                    <a:pt x="5661406" y="1940116"/>
                  </a:lnTo>
                  <a:lnTo>
                    <a:pt x="5661406" y="1860486"/>
                  </a:lnTo>
                  <a:close/>
                  <a:moveTo>
                    <a:pt x="5661406" y="1949196"/>
                  </a:moveTo>
                  <a:lnTo>
                    <a:pt x="5771833" y="1966468"/>
                  </a:lnTo>
                  <a:lnTo>
                    <a:pt x="5771833" y="2026984"/>
                  </a:lnTo>
                  <a:lnTo>
                    <a:pt x="5661406" y="2010791"/>
                  </a:lnTo>
                  <a:lnTo>
                    <a:pt x="5661406" y="1949196"/>
                  </a:lnTo>
                  <a:close/>
                  <a:moveTo>
                    <a:pt x="5661406" y="2019935"/>
                  </a:moveTo>
                  <a:lnTo>
                    <a:pt x="5771769" y="2036128"/>
                  </a:lnTo>
                  <a:lnTo>
                    <a:pt x="5767515" y="2438083"/>
                  </a:lnTo>
                  <a:lnTo>
                    <a:pt x="5661406" y="2426906"/>
                  </a:lnTo>
                  <a:lnTo>
                    <a:pt x="5661406" y="2019935"/>
                  </a:lnTo>
                  <a:close/>
                  <a:moveTo>
                    <a:pt x="5459159" y="1477709"/>
                  </a:moveTo>
                  <a:lnTo>
                    <a:pt x="5572125" y="1501966"/>
                  </a:lnTo>
                  <a:lnTo>
                    <a:pt x="5572125" y="1835594"/>
                  </a:lnTo>
                  <a:lnTo>
                    <a:pt x="5541391" y="1830134"/>
                  </a:lnTo>
                  <a:lnTo>
                    <a:pt x="5546344" y="1830134"/>
                  </a:lnTo>
                  <a:lnTo>
                    <a:pt x="5546979" y="1577848"/>
                  </a:lnTo>
                  <a:lnTo>
                    <a:pt x="5459159" y="1560386"/>
                  </a:lnTo>
                  <a:lnTo>
                    <a:pt x="5459159" y="1477709"/>
                  </a:lnTo>
                  <a:close/>
                  <a:moveTo>
                    <a:pt x="5459159" y="1569593"/>
                  </a:moveTo>
                  <a:lnTo>
                    <a:pt x="5537962" y="1585214"/>
                  </a:lnTo>
                  <a:lnTo>
                    <a:pt x="5537327" y="1829372"/>
                  </a:lnTo>
                  <a:lnTo>
                    <a:pt x="5459159" y="1815529"/>
                  </a:lnTo>
                  <a:lnTo>
                    <a:pt x="5459159" y="1569593"/>
                  </a:lnTo>
                  <a:close/>
                  <a:moveTo>
                    <a:pt x="5459159" y="1824673"/>
                  </a:moveTo>
                  <a:lnTo>
                    <a:pt x="5572125" y="1844675"/>
                  </a:lnTo>
                  <a:lnTo>
                    <a:pt x="5572125" y="1926018"/>
                  </a:lnTo>
                  <a:lnTo>
                    <a:pt x="5459159" y="1908302"/>
                  </a:lnTo>
                  <a:lnTo>
                    <a:pt x="5459159" y="1824673"/>
                  </a:lnTo>
                  <a:close/>
                  <a:moveTo>
                    <a:pt x="5459159" y="1917446"/>
                  </a:moveTo>
                  <a:lnTo>
                    <a:pt x="5572125" y="1935162"/>
                  </a:lnTo>
                  <a:lnTo>
                    <a:pt x="5572125" y="1936560"/>
                  </a:lnTo>
                  <a:lnTo>
                    <a:pt x="5580888" y="1936560"/>
                  </a:lnTo>
                  <a:lnTo>
                    <a:pt x="5596573" y="1939036"/>
                  </a:lnTo>
                  <a:lnTo>
                    <a:pt x="5596446" y="2001330"/>
                  </a:lnTo>
                  <a:lnTo>
                    <a:pt x="5459159" y="1981200"/>
                  </a:lnTo>
                  <a:lnTo>
                    <a:pt x="5459159" y="1917446"/>
                  </a:lnTo>
                  <a:close/>
                  <a:moveTo>
                    <a:pt x="5459159" y="1990280"/>
                  </a:moveTo>
                  <a:lnTo>
                    <a:pt x="5605463" y="2011743"/>
                  </a:lnTo>
                  <a:lnTo>
                    <a:pt x="5605590" y="1931353"/>
                  </a:lnTo>
                  <a:lnTo>
                    <a:pt x="5581142" y="1927542"/>
                  </a:lnTo>
                  <a:lnTo>
                    <a:pt x="5581142" y="1451419"/>
                  </a:lnTo>
                  <a:lnTo>
                    <a:pt x="5580952" y="1450149"/>
                  </a:lnTo>
                  <a:cubicBezTo>
                    <a:pt x="5580888" y="1449959"/>
                    <a:pt x="5580571" y="1448499"/>
                    <a:pt x="5581904" y="1446784"/>
                  </a:cubicBezTo>
                  <a:cubicBezTo>
                    <a:pt x="5583428" y="1444879"/>
                    <a:pt x="5589016" y="1440370"/>
                    <a:pt x="5608447" y="1440370"/>
                  </a:cubicBezTo>
                  <a:cubicBezTo>
                    <a:pt x="5637911" y="1440370"/>
                    <a:pt x="5649722" y="1452753"/>
                    <a:pt x="5652453" y="1456309"/>
                  </a:cubicBezTo>
                  <a:lnTo>
                    <a:pt x="5652453" y="2574671"/>
                  </a:lnTo>
                  <a:lnTo>
                    <a:pt x="5580888" y="2569337"/>
                  </a:lnTo>
                  <a:lnTo>
                    <a:pt x="5580888" y="2019491"/>
                  </a:lnTo>
                  <a:lnTo>
                    <a:pt x="5571871" y="2019491"/>
                  </a:lnTo>
                  <a:lnTo>
                    <a:pt x="5571871" y="2419794"/>
                  </a:lnTo>
                  <a:lnTo>
                    <a:pt x="5540629" y="2416556"/>
                  </a:lnTo>
                  <a:lnTo>
                    <a:pt x="5546344" y="2416556"/>
                  </a:lnTo>
                  <a:lnTo>
                    <a:pt x="5546979" y="2163953"/>
                  </a:lnTo>
                  <a:lnTo>
                    <a:pt x="5459159" y="2152967"/>
                  </a:lnTo>
                  <a:lnTo>
                    <a:pt x="5459159" y="1990280"/>
                  </a:lnTo>
                  <a:close/>
                  <a:moveTo>
                    <a:pt x="5459159" y="2162048"/>
                  </a:moveTo>
                  <a:lnTo>
                    <a:pt x="5537962" y="2171891"/>
                  </a:lnTo>
                  <a:lnTo>
                    <a:pt x="5537327" y="2416175"/>
                  </a:lnTo>
                  <a:lnTo>
                    <a:pt x="5459159" y="2408111"/>
                  </a:lnTo>
                  <a:lnTo>
                    <a:pt x="5459159" y="2162048"/>
                  </a:lnTo>
                  <a:close/>
                  <a:moveTo>
                    <a:pt x="5459159" y="2417128"/>
                  </a:moveTo>
                  <a:lnTo>
                    <a:pt x="5571871" y="2428811"/>
                  </a:lnTo>
                  <a:lnTo>
                    <a:pt x="5571871" y="2568638"/>
                  </a:lnTo>
                  <a:lnTo>
                    <a:pt x="5459159" y="2560256"/>
                  </a:lnTo>
                  <a:lnTo>
                    <a:pt x="5459159" y="2417128"/>
                  </a:lnTo>
                  <a:close/>
                  <a:moveTo>
                    <a:pt x="5379657" y="1398587"/>
                  </a:moveTo>
                  <a:cubicBezTo>
                    <a:pt x="5381117" y="1396555"/>
                    <a:pt x="5386705" y="1391856"/>
                    <a:pt x="5406136" y="1391856"/>
                  </a:cubicBezTo>
                  <a:cubicBezTo>
                    <a:pt x="5435727" y="1391856"/>
                    <a:pt x="5447475" y="1404937"/>
                    <a:pt x="5450142" y="1408557"/>
                  </a:cubicBezTo>
                  <a:lnTo>
                    <a:pt x="5450142" y="2559622"/>
                  </a:lnTo>
                  <a:lnTo>
                    <a:pt x="5378577" y="2554287"/>
                  </a:lnTo>
                  <a:lnTo>
                    <a:pt x="5378577" y="1978533"/>
                  </a:lnTo>
                  <a:lnTo>
                    <a:pt x="5400675" y="1981772"/>
                  </a:lnTo>
                  <a:lnTo>
                    <a:pt x="5400675" y="1899285"/>
                  </a:lnTo>
                  <a:lnTo>
                    <a:pt x="5378831" y="1895856"/>
                  </a:lnTo>
                  <a:lnTo>
                    <a:pt x="5378831" y="1403541"/>
                  </a:lnTo>
                  <a:lnTo>
                    <a:pt x="5378641" y="1402143"/>
                  </a:lnTo>
                  <a:cubicBezTo>
                    <a:pt x="5378641" y="1402143"/>
                    <a:pt x="5378260" y="1400429"/>
                    <a:pt x="5379657" y="1398587"/>
                  </a:cubicBezTo>
                  <a:close/>
                  <a:moveTo>
                    <a:pt x="5231638" y="1428813"/>
                  </a:moveTo>
                  <a:lnTo>
                    <a:pt x="5369878" y="1458531"/>
                  </a:lnTo>
                  <a:lnTo>
                    <a:pt x="5369878" y="1799717"/>
                  </a:lnTo>
                  <a:lnTo>
                    <a:pt x="5331651" y="1792923"/>
                  </a:lnTo>
                  <a:lnTo>
                    <a:pt x="5334191" y="1535557"/>
                  </a:lnTo>
                  <a:lnTo>
                    <a:pt x="5231638" y="1515174"/>
                  </a:lnTo>
                  <a:lnTo>
                    <a:pt x="5231638" y="1428813"/>
                  </a:lnTo>
                  <a:close/>
                  <a:moveTo>
                    <a:pt x="5231638" y="1524381"/>
                  </a:moveTo>
                  <a:lnTo>
                    <a:pt x="5325110" y="1542923"/>
                  </a:lnTo>
                  <a:lnTo>
                    <a:pt x="5322697" y="1791272"/>
                  </a:lnTo>
                  <a:lnTo>
                    <a:pt x="5231638" y="1775142"/>
                  </a:lnTo>
                  <a:lnTo>
                    <a:pt x="5231638" y="1524381"/>
                  </a:lnTo>
                  <a:close/>
                  <a:moveTo>
                    <a:pt x="5231638" y="1784350"/>
                  </a:moveTo>
                  <a:lnTo>
                    <a:pt x="5369878" y="1808861"/>
                  </a:lnTo>
                  <a:lnTo>
                    <a:pt x="5369878" y="1894395"/>
                  </a:lnTo>
                  <a:lnTo>
                    <a:pt x="5231638" y="1872742"/>
                  </a:lnTo>
                  <a:lnTo>
                    <a:pt x="5231638" y="1784350"/>
                  </a:lnTo>
                  <a:close/>
                  <a:moveTo>
                    <a:pt x="5231638" y="1881823"/>
                  </a:moveTo>
                  <a:lnTo>
                    <a:pt x="5369878" y="1903476"/>
                  </a:lnTo>
                  <a:lnTo>
                    <a:pt x="5369878" y="1909572"/>
                  </a:lnTo>
                  <a:lnTo>
                    <a:pt x="5378895" y="1909572"/>
                  </a:lnTo>
                  <a:lnTo>
                    <a:pt x="5378895" y="1904873"/>
                  </a:lnTo>
                  <a:lnTo>
                    <a:pt x="5391722" y="1906905"/>
                  </a:lnTo>
                  <a:lnTo>
                    <a:pt x="5391722" y="1971294"/>
                  </a:lnTo>
                  <a:lnTo>
                    <a:pt x="5231638" y="1947862"/>
                  </a:lnTo>
                  <a:lnTo>
                    <a:pt x="5231638" y="1881823"/>
                  </a:lnTo>
                  <a:close/>
                  <a:moveTo>
                    <a:pt x="5231638" y="1956943"/>
                  </a:moveTo>
                  <a:lnTo>
                    <a:pt x="5369624" y="1977136"/>
                  </a:lnTo>
                  <a:lnTo>
                    <a:pt x="5369624" y="2398840"/>
                  </a:lnTo>
                  <a:lnTo>
                    <a:pt x="5331651" y="2394903"/>
                  </a:lnTo>
                  <a:lnTo>
                    <a:pt x="5334191" y="2137410"/>
                  </a:lnTo>
                  <a:lnTo>
                    <a:pt x="5231638" y="2124583"/>
                  </a:lnTo>
                  <a:lnTo>
                    <a:pt x="5231638" y="1956943"/>
                  </a:lnTo>
                  <a:close/>
                  <a:moveTo>
                    <a:pt x="5231638" y="2133663"/>
                  </a:moveTo>
                  <a:lnTo>
                    <a:pt x="5325110" y="2145348"/>
                  </a:lnTo>
                  <a:lnTo>
                    <a:pt x="5322697" y="2394013"/>
                  </a:lnTo>
                  <a:lnTo>
                    <a:pt x="5231638" y="2384616"/>
                  </a:lnTo>
                  <a:lnTo>
                    <a:pt x="5231638" y="2133663"/>
                  </a:lnTo>
                  <a:close/>
                  <a:moveTo>
                    <a:pt x="5231638" y="2393569"/>
                  </a:moveTo>
                  <a:lnTo>
                    <a:pt x="5369624" y="2407856"/>
                  </a:lnTo>
                  <a:lnTo>
                    <a:pt x="5369624" y="2553589"/>
                  </a:lnTo>
                  <a:lnTo>
                    <a:pt x="5231638" y="2543302"/>
                  </a:lnTo>
                  <a:lnTo>
                    <a:pt x="5231638" y="2393569"/>
                  </a:lnTo>
                  <a:close/>
                  <a:moveTo>
                    <a:pt x="5152200" y="1349311"/>
                  </a:moveTo>
                  <a:cubicBezTo>
                    <a:pt x="5154105" y="1346772"/>
                    <a:pt x="5160010" y="1342454"/>
                    <a:pt x="5178616" y="1342454"/>
                  </a:cubicBezTo>
                  <a:cubicBezTo>
                    <a:pt x="5208270" y="1342454"/>
                    <a:pt x="5220018" y="1355979"/>
                    <a:pt x="5222621" y="1359662"/>
                  </a:cubicBezTo>
                  <a:lnTo>
                    <a:pt x="5222621" y="2542730"/>
                  </a:lnTo>
                  <a:lnTo>
                    <a:pt x="5151057" y="2537397"/>
                  </a:lnTo>
                  <a:lnTo>
                    <a:pt x="5151057" y="1945195"/>
                  </a:lnTo>
                  <a:lnTo>
                    <a:pt x="5175631" y="1948815"/>
                  </a:lnTo>
                  <a:lnTo>
                    <a:pt x="5175758" y="1864042"/>
                  </a:lnTo>
                  <a:lnTo>
                    <a:pt x="5151311" y="1860232"/>
                  </a:lnTo>
                  <a:lnTo>
                    <a:pt x="5151311" y="1354709"/>
                  </a:lnTo>
                  <a:lnTo>
                    <a:pt x="5151120" y="1353375"/>
                  </a:lnTo>
                  <a:cubicBezTo>
                    <a:pt x="5151120" y="1353185"/>
                    <a:pt x="5150676" y="1351343"/>
                    <a:pt x="5152200" y="1349311"/>
                  </a:cubicBezTo>
                  <a:close/>
                  <a:moveTo>
                    <a:pt x="4968240" y="1372172"/>
                  </a:moveTo>
                  <a:lnTo>
                    <a:pt x="5142294" y="1409573"/>
                  </a:lnTo>
                  <a:lnTo>
                    <a:pt x="5142294" y="1759331"/>
                  </a:lnTo>
                  <a:lnTo>
                    <a:pt x="5088890" y="1749869"/>
                  </a:lnTo>
                  <a:lnTo>
                    <a:pt x="5091494" y="1487361"/>
                  </a:lnTo>
                  <a:lnTo>
                    <a:pt x="4968240" y="1462913"/>
                  </a:lnTo>
                  <a:lnTo>
                    <a:pt x="4968240" y="1372172"/>
                  </a:lnTo>
                  <a:close/>
                  <a:moveTo>
                    <a:pt x="4968240" y="1472120"/>
                  </a:moveTo>
                  <a:lnTo>
                    <a:pt x="5082413" y="1494790"/>
                  </a:lnTo>
                  <a:lnTo>
                    <a:pt x="5079937" y="1748282"/>
                  </a:lnTo>
                  <a:lnTo>
                    <a:pt x="4968240" y="1728470"/>
                  </a:lnTo>
                  <a:lnTo>
                    <a:pt x="4968240" y="1472120"/>
                  </a:lnTo>
                  <a:close/>
                  <a:moveTo>
                    <a:pt x="4968240" y="1737614"/>
                  </a:moveTo>
                  <a:lnTo>
                    <a:pt x="5142294" y="1768475"/>
                  </a:lnTo>
                  <a:lnTo>
                    <a:pt x="5142294" y="1858709"/>
                  </a:lnTo>
                  <a:lnTo>
                    <a:pt x="4968240" y="1831404"/>
                  </a:lnTo>
                  <a:lnTo>
                    <a:pt x="4968240" y="1737614"/>
                  </a:lnTo>
                  <a:close/>
                  <a:moveTo>
                    <a:pt x="4968240" y="1840548"/>
                  </a:moveTo>
                  <a:lnTo>
                    <a:pt x="5142294" y="1867853"/>
                  </a:lnTo>
                  <a:lnTo>
                    <a:pt x="5142294" y="1873949"/>
                  </a:lnTo>
                  <a:lnTo>
                    <a:pt x="5151311" y="1873949"/>
                  </a:lnTo>
                  <a:lnTo>
                    <a:pt x="5151311" y="1869249"/>
                  </a:lnTo>
                  <a:lnTo>
                    <a:pt x="5166741" y="1871662"/>
                  </a:lnTo>
                  <a:lnTo>
                    <a:pt x="5166614" y="1938337"/>
                  </a:lnTo>
                  <a:lnTo>
                    <a:pt x="4968240" y="1909255"/>
                  </a:lnTo>
                  <a:lnTo>
                    <a:pt x="4968240" y="1840548"/>
                  </a:lnTo>
                  <a:close/>
                  <a:moveTo>
                    <a:pt x="4968240" y="1918335"/>
                  </a:moveTo>
                  <a:lnTo>
                    <a:pt x="5142040" y="1943799"/>
                  </a:lnTo>
                  <a:lnTo>
                    <a:pt x="5142040" y="2375281"/>
                  </a:lnTo>
                  <a:lnTo>
                    <a:pt x="5088890" y="2369756"/>
                  </a:lnTo>
                  <a:lnTo>
                    <a:pt x="5091494" y="2107057"/>
                  </a:lnTo>
                  <a:lnTo>
                    <a:pt x="4968240" y="2091690"/>
                  </a:lnTo>
                  <a:lnTo>
                    <a:pt x="4968240" y="1918335"/>
                  </a:lnTo>
                  <a:close/>
                  <a:moveTo>
                    <a:pt x="4968240" y="2100771"/>
                  </a:moveTo>
                  <a:lnTo>
                    <a:pt x="5082413" y="2114994"/>
                  </a:lnTo>
                  <a:lnTo>
                    <a:pt x="5079937" y="2368804"/>
                  </a:lnTo>
                  <a:lnTo>
                    <a:pt x="4968240" y="2357247"/>
                  </a:lnTo>
                  <a:lnTo>
                    <a:pt x="4968240" y="2100771"/>
                  </a:lnTo>
                  <a:close/>
                  <a:moveTo>
                    <a:pt x="4968240" y="2366328"/>
                  </a:moveTo>
                  <a:lnTo>
                    <a:pt x="5142040" y="2384298"/>
                  </a:lnTo>
                  <a:lnTo>
                    <a:pt x="5142040" y="2536635"/>
                  </a:lnTo>
                  <a:lnTo>
                    <a:pt x="4968240" y="2523744"/>
                  </a:lnTo>
                  <a:lnTo>
                    <a:pt x="4968240" y="2366328"/>
                  </a:lnTo>
                  <a:close/>
                  <a:moveTo>
                    <a:pt x="4889119" y="1277366"/>
                  </a:moveTo>
                  <a:cubicBezTo>
                    <a:pt x="4891151" y="1274826"/>
                    <a:pt x="4897184" y="1270508"/>
                    <a:pt x="4915281" y="1270508"/>
                  </a:cubicBezTo>
                  <a:cubicBezTo>
                    <a:pt x="4945063" y="1270508"/>
                    <a:pt x="4956747" y="1284732"/>
                    <a:pt x="4959287" y="1288479"/>
                  </a:cubicBezTo>
                  <a:lnTo>
                    <a:pt x="4959287" y="2523046"/>
                  </a:lnTo>
                  <a:lnTo>
                    <a:pt x="4887722" y="2517711"/>
                  </a:lnTo>
                  <a:lnTo>
                    <a:pt x="4887722" y="1906461"/>
                  </a:lnTo>
                  <a:lnTo>
                    <a:pt x="4907280" y="1909318"/>
                  </a:lnTo>
                  <a:lnTo>
                    <a:pt x="4908042" y="1821879"/>
                  </a:lnTo>
                  <a:lnTo>
                    <a:pt x="4887976" y="1818704"/>
                  </a:lnTo>
                  <a:lnTo>
                    <a:pt x="4887976" y="1283208"/>
                  </a:lnTo>
                  <a:lnTo>
                    <a:pt x="4887849" y="1282001"/>
                  </a:lnTo>
                  <a:cubicBezTo>
                    <a:pt x="4887722" y="1281938"/>
                    <a:pt x="4887278" y="1279716"/>
                    <a:pt x="4889119" y="1277366"/>
                  </a:cubicBezTo>
                  <a:close/>
                  <a:moveTo>
                    <a:pt x="4693349" y="1417511"/>
                  </a:moveTo>
                  <a:lnTo>
                    <a:pt x="4820412" y="1442720"/>
                  </a:lnTo>
                  <a:lnTo>
                    <a:pt x="4820031" y="1700911"/>
                  </a:lnTo>
                  <a:lnTo>
                    <a:pt x="4829048" y="1700911"/>
                  </a:lnTo>
                  <a:lnTo>
                    <a:pt x="4829429" y="1435291"/>
                  </a:lnTo>
                  <a:lnTo>
                    <a:pt x="4693349" y="1408303"/>
                  </a:lnTo>
                  <a:lnTo>
                    <a:pt x="4693349" y="1313117"/>
                  </a:lnTo>
                  <a:lnTo>
                    <a:pt x="4878959" y="1352994"/>
                  </a:lnTo>
                  <a:lnTo>
                    <a:pt x="4878959" y="1712659"/>
                  </a:lnTo>
                  <a:lnTo>
                    <a:pt x="4693349" y="1679766"/>
                  </a:lnTo>
                  <a:lnTo>
                    <a:pt x="4693349" y="1417511"/>
                  </a:lnTo>
                  <a:close/>
                  <a:moveTo>
                    <a:pt x="4693349" y="1688846"/>
                  </a:moveTo>
                  <a:lnTo>
                    <a:pt x="4878959" y="1721739"/>
                  </a:lnTo>
                  <a:lnTo>
                    <a:pt x="4878959" y="1817370"/>
                  </a:lnTo>
                  <a:lnTo>
                    <a:pt x="4693349" y="1788287"/>
                  </a:lnTo>
                  <a:lnTo>
                    <a:pt x="4693349" y="1688846"/>
                  </a:lnTo>
                  <a:close/>
                  <a:moveTo>
                    <a:pt x="4693349" y="1797431"/>
                  </a:moveTo>
                  <a:lnTo>
                    <a:pt x="4898962" y="1829625"/>
                  </a:lnTo>
                  <a:lnTo>
                    <a:pt x="4898390" y="1898967"/>
                  </a:lnTo>
                  <a:lnTo>
                    <a:pt x="4693349" y="1868932"/>
                  </a:lnTo>
                  <a:lnTo>
                    <a:pt x="4693349" y="1797431"/>
                  </a:lnTo>
                  <a:close/>
                  <a:moveTo>
                    <a:pt x="4693349" y="2066480"/>
                  </a:moveTo>
                  <a:lnTo>
                    <a:pt x="4820412" y="2082355"/>
                  </a:lnTo>
                  <a:lnTo>
                    <a:pt x="4820031" y="2340292"/>
                  </a:lnTo>
                  <a:lnTo>
                    <a:pt x="4829048" y="2340292"/>
                  </a:lnTo>
                  <a:lnTo>
                    <a:pt x="4829429" y="2074355"/>
                  </a:lnTo>
                  <a:lnTo>
                    <a:pt x="4693349" y="2057400"/>
                  </a:lnTo>
                  <a:lnTo>
                    <a:pt x="4693349" y="1878076"/>
                  </a:lnTo>
                  <a:lnTo>
                    <a:pt x="4878705" y="1905254"/>
                  </a:lnTo>
                  <a:lnTo>
                    <a:pt x="4878705" y="2348040"/>
                  </a:lnTo>
                  <a:lnTo>
                    <a:pt x="4693349" y="2328862"/>
                  </a:lnTo>
                  <a:lnTo>
                    <a:pt x="4693349" y="2066480"/>
                  </a:lnTo>
                  <a:close/>
                  <a:moveTo>
                    <a:pt x="4693349" y="2337880"/>
                  </a:moveTo>
                  <a:lnTo>
                    <a:pt x="4878705" y="2357056"/>
                  </a:lnTo>
                  <a:lnTo>
                    <a:pt x="4878705" y="2517140"/>
                  </a:lnTo>
                  <a:lnTo>
                    <a:pt x="4693349" y="2503361"/>
                  </a:lnTo>
                  <a:lnTo>
                    <a:pt x="4693349" y="2337880"/>
                  </a:lnTo>
                  <a:close/>
                  <a:moveTo>
                    <a:pt x="4614355" y="1217422"/>
                  </a:moveTo>
                  <a:cubicBezTo>
                    <a:pt x="4616387" y="1214818"/>
                    <a:pt x="4622483" y="1210437"/>
                    <a:pt x="4640326" y="1210437"/>
                  </a:cubicBezTo>
                  <a:cubicBezTo>
                    <a:pt x="4670171" y="1210437"/>
                    <a:pt x="4681855" y="1225296"/>
                    <a:pt x="4684332" y="1229106"/>
                  </a:cubicBezTo>
                  <a:lnTo>
                    <a:pt x="4684332" y="2502599"/>
                  </a:lnTo>
                  <a:lnTo>
                    <a:pt x="4612767" y="2497265"/>
                  </a:lnTo>
                  <a:lnTo>
                    <a:pt x="4612767" y="1866201"/>
                  </a:lnTo>
                  <a:lnTo>
                    <a:pt x="4636834" y="1869694"/>
                  </a:lnTo>
                  <a:lnTo>
                    <a:pt x="4635945" y="1779714"/>
                  </a:lnTo>
                  <a:lnTo>
                    <a:pt x="4613021" y="1776095"/>
                  </a:lnTo>
                  <a:lnTo>
                    <a:pt x="4613021" y="1223836"/>
                  </a:lnTo>
                  <a:lnTo>
                    <a:pt x="4612894" y="1222692"/>
                  </a:lnTo>
                  <a:cubicBezTo>
                    <a:pt x="4612894" y="1222629"/>
                    <a:pt x="4612259" y="1220025"/>
                    <a:pt x="4614355" y="1217422"/>
                  </a:cubicBezTo>
                  <a:close/>
                  <a:moveTo>
                    <a:pt x="4425379" y="1255522"/>
                  </a:moveTo>
                  <a:lnTo>
                    <a:pt x="4604068" y="1293939"/>
                  </a:lnTo>
                  <a:lnTo>
                    <a:pt x="4604068" y="1663891"/>
                  </a:lnTo>
                  <a:lnTo>
                    <a:pt x="4562983" y="1656588"/>
                  </a:lnTo>
                  <a:lnTo>
                    <a:pt x="4564952" y="1382839"/>
                  </a:lnTo>
                  <a:lnTo>
                    <a:pt x="4425442" y="1355154"/>
                  </a:lnTo>
                  <a:lnTo>
                    <a:pt x="4425442" y="1255522"/>
                  </a:lnTo>
                  <a:close/>
                  <a:moveTo>
                    <a:pt x="4425379" y="1364298"/>
                  </a:moveTo>
                  <a:lnTo>
                    <a:pt x="4555871" y="1390205"/>
                  </a:lnTo>
                  <a:lnTo>
                    <a:pt x="4553966" y="1655000"/>
                  </a:lnTo>
                  <a:lnTo>
                    <a:pt x="4425379" y="1632204"/>
                  </a:lnTo>
                  <a:lnTo>
                    <a:pt x="4425379" y="1364298"/>
                  </a:lnTo>
                  <a:close/>
                  <a:moveTo>
                    <a:pt x="4425379" y="1641348"/>
                  </a:moveTo>
                  <a:lnTo>
                    <a:pt x="4604068" y="1673035"/>
                  </a:lnTo>
                  <a:lnTo>
                    <a:pt x="4604068" y="1774698"/>
                  </a:lnTo>
                  <a:lnTo>
                    <a:pt x="4425379" y="1746313"/>
                  </a:lnTo>
                  <a:lnTo>
                    <a:pt x="4425379" y="1641348"/>
                  </a:lnTo>
                  <a:close/>
                  <a:moveTo>
                    <a:pt x="4425379" y="1755457"/>
                  </a:moveTo>
                  <a:lnTo>
                    <a:pt x="4604068" y="1783842"/>
                  </a:lnTo>
                  <a:lnTo>
                    <a:pt x="4604068" y="1784096"/>
                  </a:lnTo>
                  <a:lnTo>
                    <a:pt x="4605655" y="1784096"/>
                  </a:lnTo>
                  <a:lnTo>
                    <a:pt x="4627118" y="1787525"/>
                  </a:lnTo>
                  <a:lnTo>
                    <a:pt x="4627817" y="1859407"/>
                  </a:lnTo>
                  <a:lnTo>
                    <a:pt x="4425442" y="1829753"/>
                  </a:lnTo>
                  <a:lnTo>
                    <a:pt x="4425442" y="1755457"/>
                  </a:lnTo>
                  <a:close/>
                  <a:moveTo>
                    <a:pt x="4425379" y="1838769"/>
                  </a:moveTo>
                  <a:lnTo>
                    <a:pt x="4603814" y="1864931"/>
                  </a:lnTo>
                  <a:lnTo>
                    <a:pt x="4603814" y="2319528"/>
                  </a:lnTo>
                  <a:lnTo>
                    <a:pt x="4562983" y="2315274"/>
                  </a:lnTo>
                  <a:lnTo>
                    <a:pt x="4564952" y="2041335"/>
                  </a:lnTo>
                  <a:lnTo>
                    <a:pt x="4425442" y="2023936"/>
                  </a:lnTo>
                  <a:lnTo>
                    <a:pt x="4425442" y="1838769"/>
                  </a:lnTo>
                  <a:close/>
                  <a:moveTo>
                    <a:pt x="4425379" y="2033080"/>
                  </a:moveTo>
                  <a:lnTo>
                    <a:pt x="4555871" y="2049336"/>
                  </a:lnTo>
                  <a:lnTo>
                    <a:pt x="4553966" y="2314385"/>
                  </a:lnTo>
                  <a:lnTo>
                    <a:pt x="4425379" y="2301049"/>
                  </a:lnTo>
                  <a:lnTo>
                    <a:pt x="4425379" y="2033080"/>
                  </a:lnTo>
                  <a:close/>
                  <a:moveTo>
                    <a:pt x="4425379" y="2310130"/>
                  </a:moveTo>
                  <a:lnTo>
                    <a:pt x="4603814" y="2328609"/>
                  </a:lnTo>
                  <a:lnTo>
                    <a:pt x="4603814" y="2496693"/>
                  </a:lnTo>
                  <a:lnTo>
                    <a:pt x="4425379" y="2483422"/>
                  </a:lnTo>
                  <a:lnTo>
                    <a:pt x="4425379" y="2310130"/>
                  </a:lnTo>
                  <a:close/>
                  <a:moveTo>
                    <a:pt x="4346512" y="1155128"/>
                  </a:moveTo>
                  <a:cubicBezTo>
                    <a:pt x="4348607" y="1152525"/>
                    <a:pt x="4354703" y="1148080"/>
                    <a:pt x="4372356" y="1148080"/>
                  </a:cubicBezTo>
                  <a:cubicBezTo>
                    <a:pt x="4402265" y="1148080"/>
                    <a:pt x="4413949" y="1163510"/>
                    <a:pt x="4416362" y="1167320"/>
                  </a:cubicBezTo>
                  <a:lnTo>
                    <a:pt x="4416362" y="2482723"/>
                  </a:lnTo>
                  <a:lnTo>
                    <a:pt x="4341178" y="2477135"/>
                  </a:lnTo>
                  <a:lnTo>
                    <a:pt x="4344797" y="2477135"/>
                  </a:lnTo>
                  <a:lnTo>
                    <a:pt x="4344797" y="1827022"/>
                  </a:lnTo>
                  <a:lnTo>
                    <a:pt x="4365498" y="1830070"/>
                  </a:lnTo>
                  <a:lnTo>
                    <a:pt x="4366006" y="1737106"/>
                  </a:lnTo>
                  <a:lnTo>
                    <a:pt x="4345051" y="1733804"/>
                  </a:lnTo>
                  <a:lnTo>
                    <a:pt x="4345051" y="1162113"/>
                  </a:lnTo>
                  <a:lnTo>
                    <a:pt x="4344924" y="1160970"/>
                  </a:lnTo>
                  <a:cubicBezTo>
                    <a:pt x="4344924" y="1160780"/>
                    <a:pt x="4344289" y="1157922"/>
                    <a:pt x="4346512" y="1155128"/>
                  </a:cubicBezTo>
                  <a:close/>
                  <a:moveTo>
                    <a:pt x="4110863" y="1187958"/>
                  </a:moveTo>
                  <a:lnTo>
                    <a:pt x="4336098" y="1236345"/>
                  </a:lnTo>
                  <a:lnTo>
                    <a:pt x="4336098" y="1616392"/>
                  </a:lnTo>
                  <a:lnTo>
                    <a:pt x="4292346" y="1608645"/>
                  </a:lnTo>
                  <a:lnTo>
                    <a:pt x="4296156" y="1329499"/>
                  </a:lnTo>
                  <a:lnTo>
                    <a:pt x="4110482" y="1292606"/>
                  </a:lnTo>
                  <a:lnTo>
                    <a:pt x="4110863" y="1187958"/>
                  </a:lnTo>
                  <a:close/>
                  <a:moveTo>
                    <a:pt x="4110418" y="1301750"/>
                  </a:moveTo>
                  <a:lnTo>
                    <a:pt x="4287012" y="1336802"/>
                  </a:lnTo>
                  <a:lnTo>
                    <a:pt x="4283329" y="1606994"/>
                  </a:lnTo>
                  <a:lnTo>
                    <a:pt x="4109339" y="1576134"/>
                  </a:lnTo>
                  <a:lnTo>
                    <a:pt x="4110418" y="1301750"/>
                  </a:lnTo>
                  <a:close/>
                  <a:moveTo>
                    <a:pt x="4109339" y="1585278"/>
                  </a:moveTo>
                  <a:lnTo>
                    <a:pt x="4336098" y="1625473"/>
                  </a:lnTo>
                  <a:lnTo>
                    <a:pt x="4336098" y="1732280"/>
                  </a:lnTo>
                  <a:lnTo>
                    <a:pt x="4108895" y="1696656"/>
                  </a:lnTo>
                  <a:lnTo>
                    <a:pt x="4109339" y="1585278"/>
                  </a:lnTo>
                  <a:close/>
                  <a:moveTo>
                    <a:pt x="4108831" y="1705864"/>
                  </a:moveTo>
                  <a:lnTo>
                    <a:pt x="4356989" y="1744726"/>
                  </a:lnTo>
                  <a:lnTo>
                    <a:pt x="4356545" y="1819592"/>
                  </a:lnTo>
                  <a:lnTo>
                    <a:pt x="4108577" y="1783270"/>
                  </a:lnTo>
                  <a:lnTo>
                    <a:pt x="4108831" y="1705864"/>
                  </a:lnTo>
                  <a:close/>
                  <a:moveTo>
                    <a:pt x="4108514" y="1792351"/>
                  </a:moveTo>
                  <a:lnTo>
                    <a:pt x="4335780" y="1825625"/>
                  </a:lnTo>
                  <a:lnTo>
                    <a:pt x="4335780" y="2291715"/>
                  </a:lnTo>
                  <a:lnTo>
                    <a:pt x="4292283" y="2287206"/>
                  </a:lnTo>
                  <a:lnTo>
                    <a:pt x="4296093" y="2007806"/>
                  </a:lnTo>
                  <a:lnTo>
                    <a:pt x="4107752" y="1984311"/>
                  </a:lnTo>
                  <a:lnTo>
                    <a:pt x="4108514" y="1792351"/>
                  </a:lnTo>
                  <a:close/>
                  <a:moveTo>
                    <a:pt x="4107752" y="1993392"/>
                  </a:moveTo>
                  <a:lnTo>
                    <a:pt x="4287012" y="2015744"/>
                  </a:lnTo>
                  <a:lnTo>
                    <a:pt x="4283329" y="2286317"/>
                  </a:lnTo>
                  <a:lnTo>
                    <a:pt x="4107625" y="2268093"/>
                  </a:lnTo>
                  <a:lnTo>
                    <a:pt x="4106736" y="2276983"/>
                  </a:lnTo>
                  <a:lnTo>
                    <a:pt x="4107752" y="1993392"/>
                  </a:lnTo>
                  <a:close/>
                  <a:moveTo>
                    <a:pt x="4106672" y="2277110"/>
                  </a:moveTo>
                  <a:lnTo>
                    <a:pt x="4335780" y="2300859"/>
                  </a:lnTo>
                  <a:lnTo>
                    <a:pt x="4335780" y="2476754"/>
                  </a:lnTo>
                  <a:lnTo>
                    <a:pt x="4105974" y="2459673"/>
                  </a:lnTo>
                  <a:lnTo>
                    <a:pt x="4106672" y="2277110"/>
                  </a:lnTo>
                  <a:close/>
                  <a:moveTo>
                    <a:pt x="4032504" y="1080198"/>
                  </a:moveTo>
                  <a:cubicBezTo>
                    <a:pt x="4036187" y="1075563"/>
                    <a:pt x="4045331" y="1073023"/>
                    <a:pt x="4058158" y="1073023"/>
                  </a:cubicBezTo>
                  <a:cubicBezTo>
                    <a:pt x="4088193" y="1073023"/>
                    <a:pt x="4099814" y="1089216"/>
                    <a:pt x="4102164" y="1093153"/>
                  </a:cubicBezTo>
                  <a:lnTo>
                    <a:pt x="4096956" y="2458974"/>
                  </a:lnTo>
                  <a:lnTo>
                    <a:pt x="4030599" y="2454021"/>
                  </a:lnTo>
                  <a:lnTo>
                    <a:pt x="4030599" y="1780921"/>
                  </a:lnTo>
                  <a:lnTo>
                    <a:pt x="4049141" y="1783651"/>
                  </a:lnTo>
                  <a:lnTo>
                    <a:pt x="4050348" y="1687512"/>
                  </a:lnTo>
                  <a:lnTo>
                    <a:pt x="4030853" y="1684464"/>
                  </a:lnTo>
                  <a:lnTo>
                    <a:pt x="4030853" y="1087691"/>
                  </a:lnTo>
                  <a:lnTo>
                    <a:pt x="4030726" y="1086612"/>
                  </a:lnTo>
                  <a:cubicBezTo>
                    <a:pt x="4030726" y="1086485"/>
                    <a:pt x="4030028" y="1083310"/>
                    <a:pt x="4032504" y="1080198"/>
                  </a:cubicBezTo>
                  <a:close/>
                  <a:moveTo>
                    <a:pt x="3778568" y="1116520"/>
                  </a:moveTo>
                  <a:lnTo>
                    <a:pt x="4021900" y="1168844"/>
                  </a:lnTo>
                  <a:lnTo>
                    <a:pt x="4021900" y="1275017"/>
                  </a:lnTo>
                  <a:lnTo>
                    <a:pt x="3778568" y="1226693"/>
                  </a:lnTo>
                  <a:lnTo>
                    <a:pt x="3778568" y="1116520"/>
                  </a:lnTo>
                  <a:close/>
                  <a:moveTo>
                    <a:pt x="3778568" y="1235837"/>
                  </a:moveTo>
                  <a:lnTo>
                    <a:pt x="4021900" y="1284161"/>
                  </a:lnTo>
                  <a:lnTo>
                    <a:pt x="4021900" y="1560639"/>
                  </a:lnTo>
                  <a:lnTo>
                    <a:pt x="3778568" y="1517460"/>
                  </a:lnTo>
                  <a:lnTo>
                    <a:pt x="3778568" y="1235837"/>
                  </a:lnTo>
                  <a:close/>
                  <a:moveTo>
                    <a:pt x="3778568" y="1526667"/>
                  </a:moveTo>
                  <a:lnTo>
                    <a:pt x="4021900" y="1569847"/>
                  </a:lnTo>
                  <a:lnTo>
                    <a:pt x="4021900" y="1683131"/>
                  </a:lnTo>
                  <a:lnTo>
                    <a:pt x="3778568" y="1644967"/>
                  </a:lnTo>
                  <a:lnTo>
                    <a:pt x="3778568" y="1526667"/>
                  </a:lnTo>
                  <a:close/>
                  <a:moveTo>
                    <a:pt x="3778568" y="1654048"/>
                  </a:moveTo>
                  <a:lnTo>
                    <a:pt x="4041331" y="1695260"/>
                  </a:lnTo>
                  <a:lnTo>
                    <a:pt x="4040378" y="1773301"/>
                  </a:lnTo>
                  <a:lnTo>
                    <a:pt x="3778568" y="1734947"/>
                  </a:lnTo>
                  <a:lnTo>
                    <a:pt x="3778568" y="1654048"/>
                  </a:lnTo>
                  <a:close/>
                  <a:moveTo>
                    <a:pt x="3778568" y="1744028"/>
                  </a:moveTo>
                  <a:lnTo>
                    <a:pt x="4022344" y="1779778"/>
                  </a:lnTo>
                  <a:lnTo>
                    <a:pt x="4021646" y="1779778"/>
                  </a:lnTo>
                  <a:lnTo>
                    <a:pt x="4021646" y="1973643"/>
                  </a:lnTo>
                  <a:lnTo>
                    <a:pt x="3778504" y="1943291"/>
                  </a:lnTo>
                  <a:lnTo>
                    <a:pt x="3778504" y="1744028"/>
                  </a:lnTo>
                  <a:close/>
                  <a:moveTo>
                    <a:pt x="3778568" y="1952307"/>
                  </a:moveTo>
                  <a:lnTo>
                    <a:pt x="4021709" y="1982661"/>
                  </a:lnTo>
                  <a:lnTo>
                    <a:pt x="4021709" y="2259267"/>
                  </a:lnTo>
                  <a:lnTo>
                    <a:pt x="3778568" y="2234121"/>
                  </a:lnTo>
                  <a:lnTo>
                    <a:pt x="3778568" y="1952307"/>
                  </a:lnTo>
                  <a:close/>
                  <a:moveTo>
                    <a:pt x="3778568" y="2243137"/>
                  </a:moveTo>
                  <a:lnTo>
                    <a:pt x="4021709" y="2268284"/>
                  </a:lnTo>
                  <a:lnTo>
                    <a:pt x="4021709" y="2453386"/>
                  </a:lnTo>
                  <a:lnTo>
                    <a:pt x="3778568" y="2435288"/>
                  </a:lnTo>
                  <a:lnTo>
                    <a:pt x="3778568" y="2243137"/>
                  </a:lnTo>
                  <a:close/>
                  <a:moveTo>
                    <a:pt x="3409442" y="1037209"/>
                  </a:moveTo>
                  <a:lnTo>
                    <a:pt x="3689223" y="1097344"/>
                  </a:lnTo>
                  <a:lnTo>
                    <a:pt x="3689223" y="1208976"/>
                  </a:lnTo>
                  <a:lnTo>
                    <a:pt x="3491421" y="1169734"/>
                  </a:lnTo>
                  <a:lnTo>
                    <a:pt x="3491675" y="1466723"/>
                  </a:lnTo>
                  <a:lnTo>
                    <a:pt x="3409442" y="1452118"/>
                  </a:lnTo>
                  <a:lnTo>
                    <a:pt x="3409442" y="1037209"/>
                  </a:lnTo>
                  <a:close/>
                  <a:moveTo>
                    <a:pt x="3689223" y="1218120"/>
                  </a:moveTo>
                  <a:lnTo>
                    <a:pt x="3689223" y="1501648"/>
                  </a:lnTo>
                  <a:lnTo>
                    <a:pt x="3500692" y="1468247"/>
                  </a:lnTo>
                  <a:lnTo>
                    <a:pt x="3500437" y="1180656"/>
                  </a:lnTo>
                  <a:lnTo>
                    <a:pt x="3689223" y="1218120"/>
                  </a:lnTo>
                  <a:close/>
                  <a:moveTo>
                    <a:pt x="3409442" y="1596199"/>
                  </a:moveTo>
                  <a:lnTo>
                    <a:pt x="3719259" y="1643253"/>
                  </a:lnTo>
                  <a:lnTo>
                    <a:pt x="3719259" y="1724597"/>
                  </a:lnTo>
                  <a:lnTo>
                    <a:pt x="3409442" y="1680845"/>
                  </a:lnTo>
                  <a:lnTo>
                    <a:pt x="3409442" y="1596199"/>
                  </a:lnTo>
                  <a:close/>
                  <a:moveTo>
                    <a:pt x="3409442" y="1689925"/>
                  </a:moveTo>
                  <a:lnTo>
                    <a:pt x="3723132" y="1734249"/>
                  </a:lnTo>
                  <a:lnTo>
                    <a:pt x="3728275" y="1734947"/>
                  </a:lnTo>
                  <a:lnTo>
                    <a:pt x="3728275" y="1635506"/>
                  </a:lnTo>
                  <a:lnTo>
                    <a:pt x="3409506" y="1587119"/>
                  </a:lnTo>
                  <a:lnTo>
                    <a:pt x="3409506" y="1461199"/>
                  </a:lnTo>
                  <a:lnTo>
                    <a:pt x="3689287" y="1510792"/>
                  </a:lnTo>
                  <a:lnTo>
                    <a:pt x="3689287" y="1628521"/>
                  </a:lnTo>
                  <a:lnTo>
                    <a:pt x="3698304" y="1628521"/>
                  </a:lnTo>
                  <a:lnTo>
                    <a:pt x="3698304" y="1008634"/>
                  </a:lnTo>
                  <a:lnTo>
                    <a:pt x="3698177" y="1007554"/>
                  </a:lnTo>
                  <a:cubicBezTo>
                    <a:pt x="3698113" y="1007427"/>
                    <a:pt x="3697415" y="1003872"/>
                    <a:pt x="3700081" y="1000506"/>
                  </a:cubicBezTo>
                  <a:cubicBezTo>
                    <a:pt x="3702749" y="997204"/>
                    <a:pt x="3709289" y="993267"/>
                    <a:pt x="3725609" y="993267"/>
                  </a:cubicBezTo>
                  <a:cubicBezTo>
                    <a:pt x="3755708" y="993267"/>
                    <a:pt x="3767328" y="1010158"/>
                    <a:pt x="3769614" y="1014158"/>
                  </a:cubicBezTo>
                  <a:lnTo>
                    <a:pt x="3769614" y="2434590"/>
                  </a:lnTo>
                  <a:lnTo>
                    <a:pt x="3698050" y="2429256"/>
                  </a:lnTo>
                  <a:lnTo>
                    <a:pt x="3698050" y="1734439"/>
                  </a:lnTo>
                  <a:lnTo>
                    <a:pt x="3689033" y="1734439"/>
                  </a:lnTo>
                  <a:lnTo>
                    <a:pt x="3689033" y="1932114"/>
                  </a:lnTo>
                  <a:lnTo>
                    <a:pt x="3491484" y="1907476"/>
                  </a:lnTo>
                  <a:lnTo>
                    <a:pt x="3491738" y="2204403"/>
                  </a:lnTo>
                  <a:lnTo>
                    <a:pt x="3409506" y="2195893"/>
                  </a:lnTo>
                  <a:lnTo>
                    <a:pt x="3409506" y="1689925"/>
                  </a:lnTo>
                  <a:close/>
                  <a:moveTo>
                    <a:pt x="3688969" y="1941131"/>
                  </a:moveTo>
                  <a:lnTo>
                    <a:pt x="3688969" y="2224786"/>
                  </a:lnTo>
                  <a:lnTo>
                    <a:pt x="3500692" y="2205292"/>
                  </a:lnTo>
                  <a:lnTo>
                    <a:pt x="3500437" y="1917636"/>
                  </a:lnTo>
                  <a:lnTo>
                    <a:pt x="3688969" y="1941131"/>
                  </a:lnTo>
                  <a:close/>
                  <a:moveTo>
                    <a:pt x="3409442" y="2204911"/>
                  </a:moveTo>
                  <a:lnTo>
                    <a:pt x="3688969" y="2233867"/>
                  </a:lnTo>
                  <a:lnTo>
                    <a:pt x="3688969" y="2428685"/>
                  </a:lnTo>
                  <a:lnTo>
                    <a:pt x="3409442" y="2407920"/>
                  </a:lnTo>
                  <a:lnTo>
                    <a:pt x="3409442" y="2204911"/>
                  </a:lnTo>
                  <a:close/>
                  <a:moveTo>
                    <a:pt x="3060637" y="962216"/>
                  </a:moveTo>
                  <a:lnTo>
                    <a:pt x="3320161" y="1017969"/>
                  </a:lnTo>
                  <a:lnTo>
                    <a:pt x="3320161" y="1135570"/>
                  </a:lnTo>
                  <a:lnTo>
                    <a:pt x="3148648" y="1101535"/>
                  </a:lnTo>
                  <a:lnTo>
                    <a:pt x="3148648" y="1405763"/>
                  </a:lnTo>
                  <a:lnTo>
                    <a:pt x="3060637" y="1390142"/>
                  </a:lnTo>
                  <a:lnTo>
                    <a:pt x="3060637" y="962216"/>
                  </a:lnTo>
                  <a:close/>
                  <a:moveTo>
                    <a:pt x="3320161" y="1144841"/>
                  </a:moveTo>
                  <a:lnTo>
                    <a:pt x="3320161" y="1436243"/>
                  </a:lnTo>
                  <a:lnTo>
                    <a:pt x="3157665" y="1407414"/>
                  </a:lnTo>
                  <a:lnTo>
                    <a:pt x="3157665" y="1112584"/>
                  </a:lnTo>
                  <a:lnTo>
                    <a:pt x="3320161" y="1144841"/>
                  </a:lnTo>
                  <a:close/>
                  <a:moveTo>
                    <a:pt x="3060637" y="1399349"/>
                  </a:moveTo>
                  <a:lnTo>
                    <a:pt x="3320161" y="1445387"/>
                  </a:lnTo>
                  <a:lnTo>
                    <a:pt x="3320161" y="1573149"/>
                  </a:lnTo>
                  <a:lnTo>
                    <a:pt x="3060637" y="1532445"/>
                  </a:lnTo>
                  <a:lnTo>
                    <a:pt x="3060637" y="1399349"/>
                  </a:lnTo>
                  <a:close/>
                  <a:moveTo>
                    <a:pt x="3060637" y="1541526"/>
                  </a:moveTo>
                  <a:lnTo>
                    <a:pt x="3344862" y="1586103"/>
                  </a:lnTo>
                  <a:lnTo>
                    <a:pt x="3344862" y="1671003"/>
                  </a:lnTo>
                  <a:lnTo>
                    <a:pt x="3060637" y="1629728"/>
                  </a:lnTo>
                  <a:lnTo>
                    <a:pt x="3060637" y="1541526"/>
                  </a:lnTo>
                  <a:close/>
                  <a:moveTo>
                    <a:pt x="3060637" y="1638808"/>
                  </a:moveTo>
                  <a:lnTo>
                    <a:pt x="3353880" y="1681353"/>
                  </a:lnTo>
                  <a:lnTo>
                    <a:pt x="3353880" y="1578356"/>
                  </a:lnTo>
                  <a:lnTo>
                    <a:pt x="3321304" y="1573276"/>
                  </a:lnTo>
                  <a:lnTo>
                    <a:pt x="3329242" y="1573276"/>
                  </a:lnTo>
                  <a:lnTo>
                    <a:pt x="3329242" y="924116"/>
                  </a:lnTo>
                  <a:lnTo>
                    <a:pt x="3329115" y="923036"/>
                  </a:lnTo>
                  <a:cubicBezTo>
                    <a:pt x="3329115" y="922972"/>
                    <a:pt x="3328289" y="919035"/>
                    <a:pt x="3331147" y="915352"/>
                  </a:cubicBezTo>
                  <a:cubicBezTo>
                    <a:pt x="3333814" y="911923"/>
                    <a:pt x="3340418" y="907860"/>
                    <a:pt x="3356547" y="907860"/>
                  </a:cubicBezTo>
                  <a:cubicBezTo>
                    <a:pt x="3386773" y="907860"/>
                    <a:pt x="3398330" y="925766"/>
                    <a:pt x="3400552" y="929830"/>
                  </a:cubicBezTo>
                  <a:lnTo>
                    <a:pt x="3400552" y="2407222"/>
                  </a:lnTo>
                  <a:lnTo>
                    <a:pt x="3328987" y="2401887"/>
                  </a:lnTo>
                  <a:lnTo>
                    <a:pt x="3328987" y="1684147"/>
                  </a:lnTo>
                  <a:lnTo>
                    <a:pt x="3319971" y="1684147"/>
                  </a:lnTo>
                  <a:lnTo>
                    <a:pt x="3319971" y="1886013"/>
                  </a:lnTo>
                  <a:lnTo>
                    <a:pt x="3148711" y="1864678"/>
                  </a:lnTo>
                  <a:lnTo>
                    <a:pt x="3148711" y="2168906"/>
                  </a:lnTo>
                  <a:lnTo>
                    <a:pt x="3060700" y="2159762"/>
                  </a:lnTo>
                  <a:lnTo>
                    <a:pt x="3060700" y="1638808"/>
                  </a:lnTo>
                  <a:close/>
                  <a:moveTo>
                    <a:pt x="3319907" y="1895094"/>
                  </a:moveTo>
                  <a:lnTo>
                    <a:pt x="3319907" y="2186623"/>
                  </a:lnTo>
                  <a:lnTo>
                    <a:pt x="3157665" y="2169795"/>
                  </a:lnTo>
                  <a:lnTo>
                    <a:pt x="3157665" y="1874837"/>
                  </a:lnTo>
                  <a:lnTo>
                    <a:pt x="3319907" y="1895094"/>
                  </a:lnTo>
                  <a:close/>
                  <a:moveTo>
                    <a:pt x="3060637" y="2296478"/>
                  </a:moveTo>
                  <a:lnTo>
                    <a:pt x="3060637" y="2168779"/>
                  </a:lnTo>
                  <a:lnTo>
                    <a:pt x="3319907" y="2195640"/>
                  </a:lnTo>
                  <a:lnTo>
                    <a:pt x="3319907" y="2401253"/>
                  </a:lnTo>
                  <a:lnTo>
                    <a:pt x="3157665" y="2389187"/>
                  </a:lnTo>
                  <a:lnTo>
                    <a:pt x="3157665" y="2304923"/>
                  </a:lnTo>
                  <a:lnTo>
                    <a:pt x="3060637" y="2296478"/>
                  </a:lnTo>
                  <a:close/>
                  <a:moveTo>
                    <a:pt x="3157665" y="2497518"/>
                  </a:moveTo>
                  <a:lnTo>
                    <a:pt x="3310382" y="2507805"/>
                  </a:lnTo>
                  <a:lnTo>
                    <a:pt x="3310382" y="3040253"/>
                  </a:lnTo>
                  <a:lnTo>
                    <a:pt x="3157665" y="3036697"/>
                  </a:lnTo>
                  <a:lnTo>
                    <a:pt x="3157665" y="2497518"/>
                  </a:lnTo>
                  <a:close/>
                  <a:moveTo>
                    <a:pt x="3913315" y="3343656"/>
                  </a:moveTo>
                  <a:lnTo>
                    <a:pt x="3785425" y="3345180"/>
                  </a:lnTo>
                  <a:lnTo>
                    <a:pt x="3785425" y="3293491"/>
                  </a:lnTo>
                  <a:lnTo>
                    <a:pt x="3665284" y="3294698"/>
                  </a:lnTo>
                  <a:lnTo>
                    <a:pt x="3665284" y="3244088"/>
                  </a:lnTo>
                  <a:lnTo>
                    <a:pt x="3553714" y="3244913"/>
                  </a:lnTo>
                  <a:lnTo>
                    <a:pt x="3553714" y="3194685"/>
                  </a:lnTo>
                  <a:lnTo>
                    <a:pt x="3430270" y="3195574"/>
                  </a:lnTo>
                  <a:lnTo>
                    <a:pt x="3430270" y="3149981"/>
                  </a:lnTo>
                  <a:lnTo>
                    <a:pt x="3157665" y="3149981"/>
                  </a:lnTo>
                  <a:lnTo>
                    <a:pt x="3157665" y="3045650"/>
                  </a:lnTo>
                  <a:lnTo>
                    <a:pt x="3379089" y="3050794"/>
                  </a:lnTo>
                  <a:lnTo>
                    <a:pt x="3379089" y="3050794"/>
                  </a:lnTo>
                  <a:lnTo>
                    <a:pt x="3478212" y="3053080"/>
                  </a:lnTo>
                  <a:lnTo>
                    <a:pt x="3478212" y="3053080"/>
                  </a:lnTo>
                  <a:lnTo>
                    <a:pt x="3544697" y="3054604"/>
                  </a:lnTo>
                  <a:lnTo>
                    <a:pt x="3544697" y="3143949"/>
                  </a:lnTo>
                  <a:lnTo>
                    <a:pt x="3701796" y="3143949"/>
                  </a:lnTo>
                  <a:lnTo>
                    <a:pt x="3729228" y="3143949"/>
                  </a:lnTo>
                  <a:lnTo>
                    <a:pt x="3729228" y="3254819"/>
                  </a:lnTo>
                  <a:lnTo>
                    <a:pt x="3913251" y="3254819"/>
                  </a:lnTo>
                  <a:lnTo>
                    <a:pt x="3913251" y="3343656"/>
                  </a:lnTo>
                  <a:close/>
                  <a:moveTo>
                    <a:pt x="3319399" y="3040443"/>
                  </a:moveTo>
                  <a:lnTo>
                    <a:pt x="3319399" y="2508377"/>
                  </a:lnTo>
                  <a:lnTo>
                    <a:pt x="3379153" y="2512378"/>
                  </a:lnTo>
                  <a:lnTo>
                    <a:pt x="3379153" y="3041841"/>
                  </a:lnTo>
                  <a:lnTo>
                    <a:pt x="3319399" y="3040443"/>
                  </a:lnTo>
                  <a:close/>
                  <a:moveTo>
                    <a:pt x="3478276" y="3044127"/>
                  </a:moveTo>
                  <a:lnTo>
                    <a:pt x="3478276" y="2519045"/>
                  </a:lnTo>
                  <a:lnTo>
                    <a:pt x="3631692" y="2529904"/>
                  </a:lnTo>
                  <a:lnTo>
                    <a:pt x="3631692" y="3047746"/>
                  </a:lnTo>
                  <a:lnTo>
                    <a:pt x="3478276" y="3044127"/>
                  </a:lnTo>
                  <a:close/>
                  <a:moveTo>
                    <a:pt x="3631692" y="3056763"/>
                  </a:moveTo>
                  <a:lnTo>
                    <a:pt x="3631692" y="3135059"/>
                  </a:lnTo>
                  <a:lnTo>
                    <a:pt x="3553714" y="3135059"/>
                  </a:lnTo>
                  <a:lnTo>
                    <a:pt x="3553714" y="3054922"/>
                  </a:lnTo>
                  <a:lnTo>
                    <a:pt x="3631692" y="3056763"/>
                  </a:lnTo>
                  <a:close/>
                  <a:moveTo>
                    <a:pt x="3738245" y="3245930"/>
                  </a:moveTo>
                  <a:lnTo>
                    <a:pt x="3738245" y="3144075"/>
                  </a:lnTo>
                  <a:lnTo>
                    <a:pt x="3824923" y="3144075"/>
                  </a:lnTo>
                  <a:lnTo>
                    <a:pt x="3824923" y="3245993"/>
                  </a:lnTo>
                  <a:lnTo>
                    <a:pt x="3738245" y="3245930"/>
                  </a:lnTo>
                  <a:close/>
                  <a:moveTo>
                    <a:pt x="4008056" y="3367405"/>
                  </a:moveTo>
                  <a:lnTo>
                    <a:pt x="3939667" y="3368358"/>
                  </a:lnTo>
                  <a:lnTo>
                    <a:pt x="3922268" y="3368358"/>
                  </a:lnTo>
                  <a:lnTo>
                    <a:pt x="3922268" y="3255010"/>
                  </a:lnTo>
                  <a:lnTo>
                    <a:pt x="4008056" y="3257105"/>
                  </a:lnTo>
                  <a:lnTo>
                    <a:pt x="4008056" y="3367405"/>
                  </a:lnTo>
                  <a:close/>
                  <a:moveTo>
                    <a:pt x="5883847" y="3340735"/>
                  </a:moveTo>
                  <a:lnTo>
                    <a:pt x="4017074" y="3367278"/>
                  </a:lnTo>
                  <a:lnTo>
                    <a:pt x="4017074" y="3248342"/>
                  </a:lnTo>
                  <a:lnTo>
                    <a:pt x="3922331" y="3246056"/>
                  </a:lnTo>
                  <a:lnTo>
                    <a:pt x="3833940" y="3245993"/>
                  </a:lnTo>
                  <a:lnTo>
                    <a:pt x="3833940" y="3135059"/>
                  </a:lnTo>
                  <a:lnTo>
                    <a:pt x="3738245" y="3135059"/>
                  </a:lnTo>
                  <a:lnTo>
                    <a:pt x="3701796" y="3135059"/>
                  </a:lnTo>
                  <a:lnTo>
                    <a:pt x="3640646" y="3135059"/>
                  </a:lnTo>
                  <a:lnTo>
                    <a:pt x="3640646" y="3056954"/>
                  </a:lnTo>
                  <a:lnTo>
                    <a:pt x="3703066" y="3058414"/>
                  </a:lnTo>
                  <a:lnTo>
                    <a:pt x="3703066" y="3058414"/>
                  </a:lnTo>
                  <a:lnTo>
                    <a:pt x="3708083" y="3058478"/>
                  </a:lnTo>
                  <a:lnTo>
                    <a:pt x="3985387" y="3064955"/>
                  </a:lnTo>
                  <a:lnTo>
                    <a:pt x="3985387" y="3065590"/>
                  </a:lnTo>
                  <a:lnTo>
                    <a:pt x="3994404" y="3065590"/>
                  </a:lnTo>
                  <a:lnTo>
                    <a:pt x="3994404" y="3065145"/>
                  </a:lnTo>
                  <a:lnTo>
                    <a:pt x="4061968" y="3066733"/>
                  </a:lnTo>
                  <a:lnTo>
                    <a:pt x="4061968" y="3066733"/>
                  </a:lnTo>
                  <a:lnTo>
                    <a:pt x="4141851" y="3068574"/>
                  </a:lnTo>
                  <a:lnTo>
                    <a:pt x="4141851" y="3068574"/>
                  </a:lnTo>
                  <a:lnTo>
                    <a:pt x="4287139" y="3071940"/>
                  </a:lnTo>
                  <a:lnTo>
                    <a:pt x="4287139" y="3072892"/>
                  </a:lnTo>
                  <a:lnTo>
                    <a:pt x="4296156" y="3072892"/>
                  </a:lnTo>
                  <a:lnTo>
                    <a:pt x="4296156" y="3072130"/>
                  </a:lnTo>
                  <a:lnTo>
                    <a:pt x="4376166" y="3073972"/>
                  </a:lnTo>
                  <a:lnTo>
                    <a:pt x="4376166" y="3073972"/>
                  </a:lnTo>
                  <a:lnTo>
                    <a:pt x="4441698" y="3075496"/>
                  </a:lnTo>
                  <a:lnTo>
                    <a:pt x="4441698" y="3075496"/>
                  </a:lnTo>
                  <a:lnTo>
                    <a:pt x="4644136" y="3080194"/>
                  </a:lnTo>
                  <a:lnTo>
                    <a:pt x="4644136" y="3080194"/>
                  </a:lnTo>
                  <a:lnTo>
                    <a:pt x="4647375" y="3080258"/>
                  </a:lnTo>
                  <a:lnTo>
                    <a:pt x="4895152" y="3086036"/>
                  </a:lnTo>
                  <a:lnTo>
                    <a:pt x="4895152" y="3086036"/>
                  </a:lnTo>
                  <a:lnTo>
                    <a:pt x="4985703" y="3088132"/>
                  </a:lnTo>
                  <a:lnTo>
                    <a:pt x="4985703" y="3088132"/>
                  </a:lnTo>
                  <a:lnTo>
                    <a:pt x="5157470" y="3092133"/>
                  </a:lnTo>
                  <a:lnTo>
                    <a:pt x="5236845" y="3094037"/>
                  </a:lnTo>
                  <a:lnTo>
                    <a:pt x="5236845" y="3093974"/>
                  </a:lnTo>
                  <a:lnTo>
                    <a:pt x="5394135" y="3097657"/>
                  </a:lnTo>
                  <a:lnTo>
                    <a:pt x="5394135" y="3097721"/>
                  </a:lnTo>
                  <a:lnTo>
                    <a:pt x="5474716" y="3100070"/>
                  </a:lnTo>
                  <a:lnTo>
                    <a:pt x="5474716" y="3099499"/>
                  </a:lnTo>
                  <a:lnTo>
                    <a:pt x="5612130" y="3102737"/>
                  </a:lnTo>
                  <a:lnTo>
                    <a:pt x="5612130" y="3102737"/>
                  </a:lnTo>
                  <a:lnTo>
                    <a:pt x="5694172" y="3104642"/>
                  </a:lnTo>
                  <a:lnTo>
                    <a:pt x="5694172" y="3104642"/>
                  </a:lnTo>
                  <a:lnTo>
                    <a:pt x="5833047" y="3107880"/>
                  </a:lnTo>
                  <a:lnTo>
                    <a:pt x="5833047" y="3107880"/>
                  </a:lnTo>
                  <a:lnTo>
                    <a:pt x="5883847" y="3109087"/>
                  </a:lnTo>
                  <a:lnTo>
                    <a:pt x="5883847" y="3340735"/>
                  </a:lnTo>
                  <a:close/>
                  <a:moveTo>
                    <a:pt x="3640646" y="3047936"/>
                  </a:moveTo>
                  <a:lnTo>
                    <a:pt x="3640646" y="2530538"/>
                  </a:lnTo>
                  <a:lnTo>
                    <a:pt x="3703066" y="2534920"/>
                  </a:lnTo>
                  <a:lnTo>
                    <a:pt x="3703066" y="3049397"/>
                  </a:lnTo>
                  <a:lnTo>
                    <a:pt x="3640646" y="3047936"/>
                  </a:lnTo>
                  <a:close/>
                  <a:moveTo>
                    <a:pt x="3810953" y="3051937"/>
                  </a:moveTo>
                  <a:lnTo>
                    <a:pt x="3810953" y="2541397"/>
                  </a:lnTo>
                  <a:lnTo>
                    <a:pt x="3985387" y="2553081"/>
                  </a:lnTo>
                  <a:lnTo>
                    <a:pt x="3985387" y="3056001"/>
                  </a:lnTo>
                  <a:lnTo>
                    <a:pt x="3810953" y="3051937"/>
                  </a:lnTo>
                  <a:close/>
                  <a:moveTo>
                    <a:pt x="3994341" y="3056192"/>
                  </a:moveTo>
                  <a:lnTo>
                    <a:pt x="3994341" y="2553716"/>
                  </a:lnTo>
                  <a:lnTo>
                    <a:pt x="4061905" y="2558224"/>
                  </a:lnTo>
                  <a:lnTo>
                    <a:pt x="4061905" y="3057779"/>
                  </a:lnTo>
                  <a:lnTo>
                    <a:pt x="3994341" y="3056192"/>
                  </a:lnTo>
                  <a:close/>
                  <a:moveTo>
                    <a:pt x="4287076" y="2580513"/>
                  </a:moveTo>
                  <a:lnTo>
                    <a:pt x="4287076" y="3063049"/>
                  </a:lnTo>
                  <a:lnTo>
                    <a:pt x="4141787" y="3059621"/>
                  </a:lnTo>
                  <a:lnTo>
                    <a:pt x="4141787" y="2563559"/>
                  </a:lnTo>
                  <a:lnTo>
                    <a:pt x="4376103" y="2579306"/>
                  </a:lnTo>
                  <a:lnTo>
                    <a:pt x="4376103" y="3065081"/>
                  </a:lnTo>
                  <a:lnTo>
                    <a:pt x="4296093" y="3063240"/>
                  </a:lnTo>
                  <a:lnTo>
                    <a:pt x="4296093" y="2580513"/>
                  </a:lnTo>
                  <a:lnTo>
                    <a:pt x="4287076" y="2580513"/>
                  </a:lnTo>
                  <a:close/>
                  <a:moveTo>
                    <a:pt x="4576318" y="2601278"/>
                  </a:moveTo>
                  <a:lnTo>
                    <a:pt x="4576318" y="3069780"/>
                  </a:lnTo>
                  <a:lnTo>
                    <a:pt x="4441635" y="3066669"/>
                  </a:lnTo>
                  <a:lnTo>
                    <a:pt x="4441635" y="2583752"/>
                  </a:lnTo>
                  <a:lnTo>
                    <a:pt x="4644073" y="2597341"/>
                  </a:lnTo>
                  <a:lnTo>
                    <a:pt x="4644073" y="3071368"/>
                  </a:lnTo>
                  <a:lnTo>
                    <a:pt x="4585335" y="3069971"/>
                  </a:lnTo>
                  <a:lnTo>
                    <a:pt x="4585335" y="2601278"/>
                  </a:lnTo>
                  <a:lnTo>
                    <a:pt x="4576318" y="2601278"/>
                  </a:lnTo>
                  <a:close/>
                  <a:moveTo>
                    <a:pt x="4842066" y="3074670"/>
                  </a:moveTo>
                  <a:lnTo>
                    <a:pt x="4842066" y="2610612"/>
                  </a:lnTo>
                  <a:lnTo>
                    <a:pt x="4895152" y="2614168"/>
                  </a:lnTo>
                  <a:lnTo>
                    <a:pt x="4895152" y="3077210"/>
                  </a:lnTo>
                  <a:lnTo>
                    <a:pt x="4725861" y="3073273"/>
                  </a:lnTo>
                  <a:lnTo>
                    <a:pt x="4725861" y="2602802"/>
                  </a:lnTo>
                  <a:lnTo>
                    <a:pt x="4833112" y="2609977"/>
                  </a:lnTo>
                  <a:lnTo>
                    <a:pt x="4833112" y="3074606"/>
                  </a:lnTo>
                  <a:lnTo>
                    <a:pt x="4842066" y="3074606"/>
                  </a:lnTo>
                  <a:close/>
                  <a:moveTo>
                    <a:pt x="5098415" y="2633599"/>
                  </a:moveTo>
                  <a:lnTo>
                    <a:pt x="5098415" y="3081909"/>
                  </a:lnTo>
                  <a:lnTo>
                    <a:pt x="4985703" y="3079305"/>
                  </a:lnTo>
                  <a:lnTo>
                    <a:pt x="4985703" y="2620264"/>
                  </a:lnTo>
                  <a:lnTo>
                    <a:pt x="5155057" y="2631630"/>
                  </a:lnTo>
                  <a:lnTo>
                    <a:pt x="5155057" y="3083306"/>
                  </a:lnTo>
                  <a:lnTo>
                    <a:pt x="5107432" y="3082227"/>
                  </a:lnTo>
                  <a:lnTo>
                    <a:pt x="5107432" y="2633662"/>
                  </a:lnTo>
                  <a:lnTo>
                    <a:pt x="5098415" y="2633662"/>
                  </a:lnTo>
                  <a:close/>
                  <a:moveTo>
                    <a:pt x="5352161" y="3086163"/>
                  </a:moveTo>
                  <a:lnTo>
                    <a:pt x="5352161" y="2644838"/>
                  </a:lnTo>
                  <a:lnTo>
                    <a:pt x="5390833" y="2647442"/>
                  </a:lnTo>
                  <a:lnTo>
                    <a:pt x="5394071" y="3088830"/>
                  </a:lnTo>
                  <a:lnTo>
                    <a:pt x="5236845" y="3085148"/>
                  </a:lnTo>
                  <a:lnTo>
                    <a:pt x="5236845" y="2637092"/>
                  </a:lnTo>
                  <a:lnTo>
                    <a:pt x="5343208" y="2644204"/>
                  </a:lnTo>
                  <a:lnTo>
                    <a:pt x="5343208" y="3086100"/>
                  </a:lnTo>
                  <a:lnTo>
                    <a:pt x="5352161" y="3086100"/>
                  </a:lnTo>
                  <a:close/>
                  <a:moveTo>
                    <a:pt x="5474716" y="3090736"/>
                  </a:moveTo>
                  <a:lnTo>
                    <a:pt x="5474716" y="2654617"/>
                  </a:lnTo>
                  <a:lnTo>
                    <a:pt x="5563235" y="2660205"/>
                  </a:lnTo>
                  <a:lnTo>
                    <a:pt x="5563235" y="3092831"/>
                  </a:lnTo>
                  <a:lnTo>
                    <a:pt x="5474716" y="3090736"/>
                  </a:lnTo>
                  <a:close/>
                  <a:moveTo>
                    <a:pt x="5572252" y="3093022"/>
                  </a:moveTo>
                  <a:lnTo>
                    <a:pt x="5572252" y="2660777"/>
                  </a:lnTo>
                  <a:lnTo>
                    <a:pt x="5612130" y="2663317"/>
                  </a:lnTo>
                  <a:lnTo>
                    <a:pt x="5612130" y="3093974"/>
                  </a:lnTo>
                  <a:lnTo>
                    <a:pt x="5572252" y="3093022"/>
                  </a:lnTo>
                  <a:close/>
                  <a:moveTo>
                    <a:pt x="5779897" y="2676335"/>
                  </a:moveTo>
                  <a:lnTo>
                    <a:pt x="5779897" y="3097848"/>
                  </a:lnTo>
                  <a:lnTo>
                    <a:pt x="5694172" y="3095879"/>
                  </a:lnTo>
                  <a:lnTo>
                    <a:pt x="5694172" y="2667825"/>
                  </a:lnTo>
                  <a:lnTo>
                    <a:pt x="5833047" y="2677160"/>
                  </a:lnTo>
                  <a:lnTo>
                    <a:pt x="5833047" y="3099117"/>
                  </a:lnTo>
                  <a:lnTo>
                    <a:pt x="5788914" y="3098102"/>
                  </a:lnTo>
                  <a:lnTo>
                    <a:pt x="5788914" y="2676398"/>
                  </a:lnTo>
                  <a:lnTo>
                    <a:pt x="5779897" y="2676398"/>
                  </a:lnTo>
                  <a:close/>
                  <a:moveTo>
                    <a:pt x="5883847" y="3100261"/>
                  </a:moveTo>
                  <a:lnTo>
                    <a:pt x="5842000" y="3099308"/>
                  </a:lnTo>
                  <a:lnTo>
                    <a:pt x="5842000" y="2668715"/>
                  </a:lnTo>
                  <a:lnTo>
                    <a:pt x="5685155" y="2658174"/>
                  </a:lnTo>
                  <a:lnTo>
                    <a:pt x="5685155" y="3095625"/>
                  </a:lnTo>
                  <a:lnTo>
                    <a:pt x="5621084" y="3094165"/>
                  </a:lnTo>
                  <a:lnTo>
                    <a:pt x="5621084" y="2654808"/>
                  </a:lnTo>
                  <a:lnTo>
                    <a:pt x="5465636" y="2645029"/>
                  </a:lnTo>
                  <a:lnTo>
                    <a:pt x="5465636" y="3090545"/>
                  </a:lnTo>
                  <a:lnTo>
                    <a:pt x="5402961" y="3089085"/>
                  </a:lnTo>
                  <a:lnTo>
                    <a:pt x="5399596" y="2639060"/>
                  </a:lnTo>
                  <a:lnTo>
                    <a:pt x="5227701" y="2627503"/>
                  </a:lnTo>
                  <a:lnTo>
                    <a:pt x="5227701" y="3084957"/>
                  </a:lnTo>
                  <a:lnTo>
                    <a:pt x="5163884" y="3083497"/>
                  </a:lnTo>
                  <a:lnTo>
                    <a:pt x="5163884" y="2623249"/>
                  </a:lnTo>
                  <a:lnTo>
                    <a:pt x="4976559" y="2610675"/>
                  </a:lnTo>
                  <a:lnTo>
                    <a:pt x="4976559" y="3079179"/>
                  </a:lnTo>
                  <a:lnTo>
                    <a:pt x="4903978" y="3077464"/>
                  </a:lnTo>
                  <a:lnTo>
                    <a:pt x="4903978" y="2605786"/>
                  </a:lnTo>
                  <a:lnTo>
                    <a:pt x="4716653" y="2593213"/>
                  </a:lnTo>
                  <a:lnTo>
                    <a:pt x="4716653" y="3072955"/>
                  </a:lnTo>
                  <a:lnTo>
                    <a:pt x="4652899" y="3071622"/>
                  </a:lnTo>
                  <a:lnTo>
                    <a:pt x="4652899" y="2588959"/>
                  </a:lnTo>
                  <a:lnTo>
                    <a:pt x="4432491" y="2574163"/>
                  </a:lnTo>
                  <a:lnTo>
                    <a:pt x="4432491" y="3066479"/>
                  </a:lnTo>
                  <a:lnTo>
                    <a:pt x="4384929" y="3065399"/>
                  </a:lnTo>
                  <a:lnTo>
                    <a:pt x="4384929" y="2570988"/>
                  </a:lnTo>
                  <a:lnTo>
                    <a:pt x="4132643" y="2554034"/>
                  </a:lnTo>
                  <a:lnTo>
                    <a:pt x="4132643" y="3059493"/>
                  </a:lnTo>
                  <a:lnTo>
                    <a:pt x="4070795" y="3058033"/>
                  </a:lnTo>
                  <a:lnTo>
                    <a:pt x="4070795" y="2549842"/>
                  </a:lnTo>
                  <a:lnTo>
                    <a:pt x="3801809" y="2531809"/>
                  </a:lnTo>
                  <a:lnTo>
                    <a:pt x="3801809" y="3051366"/>
                  </a:lnTo>
                  <a:lnTo>
                    <a:pt x="3711956" y="3049651"/>
                  </a:lnTo>
                  <a:lnTo>
                    <a:pt x="3711956" y="2526602"/>
                  </a:lnTo>
                  <a:lnTo>
                    <a:pt x="3469196" y="2509456"/>
                  </a:lnTo>
                  <a:lnTo>
                    <a:pt x="3469196" y="3043999"/>
                  </a:lnTo>
                  <a:lnTo>
                    <a:pt x="3388043" y="3042094"/>
                  </a:lnTo>
                  <a:lnTo>
                    <a:pt x="3388043" y="2503996"/>
                  </a:lnTo>
                  <a:lnTo>
                    <a:pt x="3157601" y="2488502"/>
                  </a:lnTo>
                  <a:lnTo>
                    <a:pt x="3157601" y="2398205"/>
                  </a:lnTo>
                  <a:lnTo>
                    <a:pt x="5883783" y="2600833"/>
                  </a:lnTo>
                  <a:lnTo>
                    <a:pt x="5883783" y="3100261"/>
                  </a:lnTo>
                  <a:close/>
                  <a:moveTo>
                    <a:pt x="6350508" y="3285236"/>
                  </a:moveTo>
                  <a:lnTo>
                    <a:pt x="5892864" y="3291268"/>
                  </a:lnTo>
                  <a:lnTo>
                    <a:pt x="5892864" y="2961640"/>
                  </a:lnTo>
                  <a:lnTo>
                    <a:pt x="6350508" y="2975229"/>
                  </a:lnTo>
                  <a:lnTo>
                    <a:pt x="6350508" y="3285236"/>
                  </a:lnTo>
                  <a:close/>
                  <a:moveTo>
                    <a:pt x="6350508" y="2966275"/>
                  </a:moveTo>
                  <a:lnTo>
                    <a:pt x="5892864" y="2952686"/>
                  </a:lnTo>
                  <a:lnTo>
                    <a:pt x="5892864" y="2592515"/>
                  </a:lnTo>
                  <a:lnTo>
                    <a:pt x="5661406" y="2575306"/>
                  </a:lnTo>
                  <a:lnTo>
                    <a:pt x="5661406" y="2435987"/>
                  </a:lnTo>
                  <a:lnTo>
                    <a:pt x="5767451" y="2447163"/>
                  </a:lnTo>
                  <a:lnTo>
                    <a:pt x="5766054" y="2581211"/>
                  </a:lnTo>
                  <a:lnTo>
                    <a:pt x="5775071" y="2581338"/>
                  </a:lnTo>
                  <a:lnTo>
                    <a:pt x="5776532" y="2441766"/>
                  </a:lnTo>
                  <a:lnTo>
                    <a:pt x="5776786" y="2439099"/>
                  </a:lnTo>
                  <a:lnTo>
                    <a:pt x="5776532" y="2439099"/>
                  </a:lnTo>
                  <a:lnTo>
                    <a:pt x="5780786" y="2037524"/>
                  </a:lnTo>
                  <a:lnTo>
                    <a:pt x="5780850" y="2037524"/>
                  </a:lnTo>
                  <a:lnTo>
                    <a:pt x="5780850" y="2032381"/>
                  </a:lnTo>
                  <a:lnTo>
                    <a:pt x="5786565" y="1488948"/>
                  </a:lnTo>
                  <a:lnTo>
                    <a:pt x="6291644" y="1608328"/>
                  </a:lnTo>
                  <a:lnTo>
                    <a:pt x="6350572" y="1608328"/>
                  </a:lnTo>
                  <a:lnTo>
                    <a:pt x="6350572" y="2966275"/>
                  </a:lnTo>
                  <a:close/>
                </a:path>
              </a:pathLst>
            </a:custGeom>
            <a:solidFill>
              <a:srgbClr val="0D436B"/>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 name="Google Shape;59;p1"/>
            <p:cNvSpPr/>
            <p:nvPr/>
          </p:nvSpPr>
          <p:spPr>
            <a:xfrm>
              <a:off x="1130109" y="3995737"/>
              <a:ext cx="9016" cy="198247"/>
            </a:xfrm>
            <a:custGeom>
              <a:rect b="b" l="l" r="r" t="t"/>
              <a:pathLst>
                <a:path extrusionOk="0" h="198247" w="9016">
                  <a:moveTo>
                    <a:pt x="0" y="0"/>
                  </a:moveTo>
                  <a:lnTo>
                    <a:pt x="9017" y="0"/>
                  </a:lnTo>
                  <a:lnTo>
                    <a:pt x="9017" y="198247"/>
                  </a:lnTo>
                  <a:lnTo>
                    <a:pt x="0" y="198247"/>
                  </a:lnTo>
                  <a:close/>
                </a:path>
              </a:pathLst>
            </a:custGeom>
            <a:solidFill>
              <a:srgbClr val="0D436B"/>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0" name="Google Shape;60;p1"/>
            <p:cNvSpPr/>
            <p:nvPr/>
          </p:nvSpPr>
          <p:spPr>
            <a:xfrm>
              <a:off x="1102614" y="3992753"/>
              <a:ext cx="9016" cy="198247"/>
            </a:xfrm>
            <a:custGeom>
              <a:rect b="b" l="l" r="r" t="t"/>
              <a:pathLst>
                <a:path extrusionOk="0" h="198247" w="9016">
                  <a:moveTo>
                    <a:pt x="0" y="0"/>
                  </a:moveTo>
                  <a:lnTo>
                    <a:pt x="9017" y="0"/>
                  </a:lnTo>
                  <a:lnTo>
                    <a:pt x="9017" y="198247"/>
                  </a:lnTo>
                  <a:lnTo>
                    <a:pt x="0" y="198247"/>
                  </a:lnTo>
                  <a:close/>
                </a:path>
              </a:pathLst>
            </a:custGeom>
            <a:solidFill>
              <a:srgbClr val="0D436B"/>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1" name="Google Shape;61;p1"/>
            <p:cNvSpPr/>
            <p:nvPr/>
          </p:nvSpPr>
          <p:spPr>
            <a:xfrm rot="-4934121">
              <a:off x="1681247" y="3729525"/>
              <a:ext cx="9016" cy="76959"/>
            </a:xfrm>
            <a:custGeom>
              <a:rect b="b" l="l" r="r" t="t"/>
              <a:pathLst>
                <a:path extrusionOk="0" h="76959" w="9016">
                  <a:moveTo>
                    <a:pt x="0" y="0"/>
                  </a:moveTo>
                  <a:lnTo>
                    <a:pt x="9017" y="0"/>
                  </a:lnTo>
                  <a:lnTo>
                    <a:pt x="9017" y="76960"/>
                  </a:lnTo>
                  <a:lnTo>
                    <a:pt x="0" y="76960"/>
                  </a:lnTo>
                  <a:close/>
                </a:path>
              </a:pathLst>
            </a:custGeom>
            <a:solidFill>
              <a:srgbClr val="0D436B"/>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2" name="Google Shape;62;p1"/>
            <p:cNvSpPr/>
            <p:nvPr/>
          </p:nvSpPr>
          <p:spPr>
            <a:xfrm rot="-4933780">
              <a:off x="1681263" y="3835244"/>
              <a:ext cx="9016" cy="76960"/>
            </a:xfrm>
            <a:custGeom>
              <a:rect b="b" l="l" r="r" t="t"/>
              <a:pathLst>
                <a:path extrusionOk="0" h="76960" w="9016">
                  <a:moveTo>
                    <a:pt x="0" y="0"/>
                  </a:moveTo>
                  <a:lnTo>
                    <a:pt x="9017" y="0"/>
                  </a:lnTo>
                  <a:lnTo>
                    <a:pt x="9017" y="76961"/>
                  </a:lnTo>
                  <a:lnTo>
                    <a:pt x="0" y="76961"/>
                  </a:lnTo>
                  <a:close/>
                </a:path>
              </a:pathLst>
            </a:custGeom>
            <a:solidFill>
              <a:srgbClr val="0D436B"/>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3" name="Google Shape;63;p1"/>
            <p:cNvSpPr/>
            <p:nvPr/>
          </p:nvSpPr>
          <p:spPr>
            <a:xfrm rot="-4933780">
              <a:off x="1681304" y="3580884"/>
              <a:ext cx="9016" cy="76960"/>
            </a:xfrm>
            <a:custGeom>
              <a:rect b="b" l="l" r="r" t="t"/>
              <a:pathLst>
                <a:path extrusionOk="0" h="76960" w="9016">
                  <a:moveTo>
                    <a:pt x="0" y="0"/>
                  </a:moveTo>
                  <a:lnTo>
                    <a:pt x="9017" y="0"/>
                  </a:lnTo>
                  <a:lnTo>
                    <a:pt x="9017" y="76961"/>
                  </a:lnTo>
                  <a:lnTo>
                    <a:pt x="0" y="76961"/>
                  </a:lnTo>
                  <a:close/>
                </a:path>
              </a:pathLst>
            </a:custGeom>
            <a:solidFill>
              <a:srgbClr val="0D436B"/>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 name="Google Shape;64;p1"/>
            <p:cNvSpPr/>
            <p:nvPr/>
          </p:nvSpPr>
          <p:spPr>
            <a:xfrm rot="-4934121">
              <a:off x="1681206" y="3932824"/>
              <a:ext cx="9016" cy="76959"/>
            </a:xfrm>
            <a:custGeom>
              <a:rect b="b" l="l" r="r" t="t"/>
              <a:pathLst>
                <a:path extrusionOk="0" h="76959" w="9016">
                  <a:moveTo>
                    <a:pt x="0" y="0"/>
                  </a:moveTo>
                  <a:lnTo>
                    <a:pt x="9017" y="0"/>
                  </a:lnTo>
                  <a:lnTo>
                    <a:pt x="9017" y="76960"/>
                  </a:lnTo>
                  <a:lnTo>
                    <a:pt x="0" y="76960"/>
                  </a:lnTo>
                  <a:close/>
                </a:path>
              </a:pathLst>
            </a:custGeom>
            <a:solidFill>
              <a:srgbClr val="0D436B"/>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 name="Google Shape;65;p1"/>
            <p:cNvSpPr/>
            <p:nvPr/>
          </p:nvSpPr>
          <p:spPr>
            <a:xfrm rot="-4938301">
              <a:off x="1489050" y="3568429"/>
              <a:ext cx="9017" cy="43116"/>
            </a:xfrm>
            <a:custGeom>
              <a:rect b="b" l="l" r="r" t="t"/>
              <a:pathLst>
                <a:path extrusionOk="0" h="43116" w="9017">
                  <a:moveTo>
                    <a:pt x="0" y="0"/>
                  </a:moveTo>
                  <a:lnTo>
                    <a:pt x="9017" y="0"/>
                  </a:lnTo>
                  <a:lnTo>
                    <a:pt x="9017" y="43117"/>
                  </a:lnTo>
                  <a:lnTo>
                    <a:pt x="0" y="43117"/>
                  </a:lnTo>
                  <a:close/>
                </a:path>
              </a:pathLst>
            </a:custGeom>
            <a:solidFill>
              <a:srgbClr val="0D436B"/>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 name="Google Shape;66;p1"/>
            <p:cNvSpPr/>
            <p:nvPr/>
          </p:nvSpPr>
          <p:spPr>
            <a:xfrm rot="-4937961">
              <a:off x="1489048" y="3920233"/>
              <a:ext cx="9017" cy="43117"/>
            </a:xfrm>
            <a:custGeom>
              <a:rect b="b" l="l" r="r" t="t"/>
              <a:pathLst>
                <a:path extrusionOk="0" h="43117" w="9017">
                  <a:moveTo>
                    <a:pt x="0" y="0"/>
                  </a:moveTo>
                  <a:lnTo>
                    <a:pt x="9017" y="0"/>
                  </a:lnTo>
                  <a:lnTo>
                    <a:pt x="9017" y="43117"/>
                  </a:lnTo>
                  <a:lnTo>
                    <a:pt x="0" y="43117"/>
                  </a:lnTo>
                  <a:close/>
                </a:path>
              </a:pathLst>
            </a:custGeom>
            <a:solidFill>
              <a:srgbClr val="0D436B"/>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7" name="Google Shape;67;p1"/>
            <p:cNvSpPr/>
            <p:nvPr/>
          </p:nvSpPr>
          <p:spPr>
            <a:xfrm rot="-4938983">
              <a:off x="1488887" y="3717083"/>
              <a:ext cx="9016" cy="43115"/>
            </a:xfrm>
            <a:custGeom>
              <a:rect b="b" l="l" r="r" t="t"/>
              <a:pathLst>
                <a:path extrusionOk="0" h="43115" w="9016">
                  <a:moveTo>
                    <a:pt x="0" y="0"/>
                  </a:moveTo>
                  <a:lnTo>
                    <a:pt x="9017" y="0"/>
                  </a:lnTo>
                  <a:lnTo>
                    <a:pt x="9017" y="43115"/>
                  </a:lnTo>
                  <a:lnTo>
                    <a:pt x="0" y="43115"/>
                  </a:lnTo>
                  <a:close/>
                </a:path>
              </a:pathLst>
            </a:custGeom>
            <a:solidFill>
              <a:srgbClr val="0D436B"/>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8" name="Google Shape;68;p1"/>
            <p:cNvSpPr/>
            <p:nvPr/>
          </p:nvSpPr>
          <p:spPr>
            <a:xfrm rot="-4937961">
              <a:off x="1489040" y="3413830"/>
              <a:ext cx="9017" cy="43117"/>
            </a:xfrm>
            <a:custGeom>
              <a:rect b="b" l="l" r="r" t="t"/>
              <a:pathLst>
                <a:path extrusionOk="0" h="43117" w="9017">
                  <a:moveTo>
                    <a:pt x="0" y="0"/>
                  </a:moveTo>
                  <a:lnTo>
                    <a:pt x="9017" y="0"/>
                  </a:lnTo>
                  <a:lnTo>
                    <a:pt x="9017" y="43117"/>
                  </a:lnTo>
                  <a:lnTo>
                    <a:pt x="0" y="43117"/>
                  </a:lnTo>
                  <a:close/>
                </a:path>
              </a:pathLst>
            </a:custGeom>
            <a:solidFill>
              <a:srgbClr val="0D436B"/>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9" name="Google Shape;69;p1"/>
            <p:cNvSpPr/>
            <p:nvPr/>
          </p:nvSpPr>
          <p:spPr>
            <a:xfrm rot="-4938983">
              <a:off x="1488888" y="3822739"/>
              <a:ext cx="9016" cy="43115"/>
            </a:xfrm>
            <a:custGeom>
              <a:rect b="b" l="l" r="r" t="t"/>
              <a:pathLst>
                <a:path extrusionOk="0" h="43115" w="9016">
                  <a:moveTo>
                    <a:pt x="0" y="0"/>
                  </a:moveTo>
                  <a:lnTo>
                    <a:pt x="9017" y="0"/>
                  </a:lnTo>
                  <a:lnTo>
                    <a:pt x="9017" y="43115"/>
                  </a:lnTo>
                  <a:lnTo>
                    <a:pt x="0" y="43115"/>
                  </a:lnTo>
                  <a:close/>
                </a:path>
              </a:pathLst>
            </a:custGeom>
            <a:solidFill>
              <a:srgbClr val="0D436B"/>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grpSp>
      <p:pic>
        <p:nvPicPr>
          <p:cNvPr id="70" name="Google Shape;70;p1"/>
          <p:cNvPicPr preferRelativeResize="0"/>
          <p:nvPr/>
        </p:nvPicPr>
        <p:blipFill rotWithShape="1">
          <a:blip r:embed="rId3">
            <a:alphaModFix/>
          </a:blip>
          <a:srcRect b="0" l="0" r="0" t="0"/>
          <a:stretch/>
        </p:blipFill>
        <p:spPr>
          <a:xfrm>
            <a:off x="525587" y="483455"/>
            <a:ext cx="3037721" cy="866464"/>
          </a:xfrm>
          <a:prstGeom prst="rect">
            <a:avLst/>
          </a:prstGeom>
          <a:noFill/>
          <a:ln>
            <a:noFill/>
          </a:ln>
        </p:spPr>
      </p:pic>
      <p:sp>
        <p:nvSpPr>
          <p:cNvPr id="71" name="TextBox 70"/>
          <p:cNvSpPr txBox="1"/>
          <p:nvPr/>
        </p:nvSpPr>
        <p:spPr>
          <a:xfrm>
            <a:off x="6748272" y="3246120"/>
            <a:ext cx="4937760" cy="274320"/>
          </a:xfrm>
          <a:prstGeom prst="rect">
            <a:avLst/>
          </a:prstGeom>
          <a:noFill/>
        </p:spPr>
        <p:txBody>
          <a:bodyPr wrap="square" lIns="18288" tIns="0" rIns="18288" bIns="0" anchor="t">
            <a:noAutofit/>
          </a:bodyPr>
          <a:lstStyle/>
          <a:p>
            <a:pPr algn="l"/>
            <a:r>
              <a:rPr sz="1250" b="1">
                <a:solidFill>
                  <a:srgbClr val="01416B"/>
                </a:solidFill>
                <a:latin typeface="Arial"/>
              </a:rPr>
              <a:t>Group members</a:t>
            </a:r>
          </a:p>
        </p:txBody>
      </p:sp>
      <p:sp>
        <p:nvSpPr>
          <p:cNvPr id="72" name="TextBox 71"/>
          <p:cNvSpPr txBox="1"/>
          <p:nvPr/>
        </p:nvSpPr>
        <p:spPr>
          <a:xfrm>
            <a:off x="6748272" y="3566160"/>
            <a:ext cx="2743200" cy="1097280"/>
          </a:xfrm>
          <a:prstGeom prst="rect">
            <a:avLst/>
          </a:prstGeom>
          <a:noFill/>
        </p:spPr>
        <p:txBody>
          <a:bodyPr wrap="square" lIns="18288" tIns="0" rIns="18288" bIns="0" anchor="t">
            <a:noAutofit/>
          </a:bodyPr>
          <a:lstStyle/>
          <a:p>
            <a:pPr algn="l">
              <a:spcAft>
                <a:spcPts val="100"/>
              </a:spcAft>
            </a:pPr>
            <a:r>
              <a:rPr sz="1150" b="0">
                <a:solidFill>
                  <a:srgbClr val="2E4357"/>
                </a:solidFill>
                <a:latin typeface="Arial"/>
              </a:rPr>
              <a:t>Muhammad Zidan Arsyad</a:t>
            </a:r>
          </a:p>
          <a:p>
            <a:pPr algn="l">
              <a:spcAft>
                <a:spcPts val="100"/>
              </a:spcAft>
            </a:pPr>
            <a:r>
              <a:rPr sz="1150" b="0">
                <a:solidFill>
                  <a:srgbClr val="2E4357"/>
                </a:solidFill>
                <a:latin typeface="Arial"/>
              </a:rPr>
              <a:t>Elsa Aiziyah</a:t>
            </a:r>
          </a:p>
          <a:p>
            <a:pPr algn="l">
              <a:spcAft>
                <a:spcPts val="100"/>
              </a:spcAft>
            </a:pPr>
            <a:r>
              <a:rPr sz="1150" b="0">
                <a:solidFill>
                  <a:srgbClr val="2E4357"/>
                </a:solidFill>
                <a:latin typeface="Arial"/>
              </a:rPr>
              <a:t>Alissa Dyah Ayu Permatasari</a:t>
            </a:r>
          </a:p>
          <a:p>
            <a:pPr algn="l">
              <a:spcAft>
                <a:spcPts val="100"/>
              </a:spcAft>
            </a:pPr>
            <a:r>
              <a:rPr sz="1150" b="0">
                <a:solidFill>
                  <a:srgbClr val="2E4357"/>
                </a:solidFill>
                <a:latin typeface="Arial"/>
              </a:rPr>
              <a:t>Farichaturrifqi Aryanitasari</a:t>
            </a:r>
          </a:p>
          <a:p>
            <a:pPr algn="l">
              <a:spcAft>
                <a:spcPts val="100"/>
              </a:spcAft>
            </a:pPr>
            <a:r>
              <a:rPr sz="1150" b="0">
                <a:solidFill>
                  <a:srgbClr val="2E4357"/>
                </a:solidFill>
                <a:latin typeface="Arial"/>
              </a:rPr>
              <a:t>Muhammad Fikry Rizal</a:t>
            </a:r>
          </a:p>
        </p:txBody>
      </p:sp>
      <p:sp>
        <p:nvSpPr>
          <p:cNvPr id="73" name="TextBox 72"/>
          <p:cNvSpPr txBox="1"/>
          <p:nvPr/>
        </p:nvSpPr>
        <p:spPr>
          <a:xfrm>
            <a:off x="9555480" y="3566160"/>
            <a:ext cx="2148840" cy="1097280"/>
          </a:xfrm>
          <a:prstGeom prst="rect">
            <a:avLst/>
          </a:prstGeom>
          <a:noFill/>
        </p:spPr>
        <p:txBody>
          <a:bodyPr wrap="square" lIns="18288" tIns="0" rIns="18288" bIns="0" anchor="t">
            <a:noAutofit/>
          </a:bodyPr>
          <a:lstStyle/>
          <a:p>
            <a:pPr algn="l">
              <a:spcAft>
                <a:spcPts val="100"/>
              </a:spcAft>
            </a:pPr>
            <a:r>
              <a:rPr sz="1150" b="0">
                <a:solidFill>
                  <a:srgbClr val="617487"/>
                </a:solidFill>
                <a:latin typeface="Arial"/>
              </a:rPr>
              <a:t>25/572381/PPA/07192</a:t>
            </a:r>
          </a:p>
          <a:p>
            <a:pPr algn="l">
              <a:spcAft>
                <a:spcPts val="100"/>
              </a:spcAft>
            </a:pPr>
            <a:r>
              <a:rPr sz="1150" b="0">
                <a:solidFill>
                  <a:srgbClr val="617487"/>
                </a:solidFill>
                <a:latin typeface="Arial"/>
              </a:rPr>
              <a:t>25/572243/PPA/07187</a:t>
            </a:r>
          </a:p>
          <a:p>
            <a:pPr algn="l">
              <a:spcAft>
                <a:spcPts val="100"/>
              </a:spcAft>
            </a:pPr>
            <a:r>
              <a:rPr sz="1150" b="0">
                <a:solidFill>
                  <a:srgbClr val="617487"/>
                </a:solidFill>
                <a:latin typeface="Arial"/>
              </a:rPr>
              <a:t>25/575323/PPA/07279</a:t>
            </a:r>
          </a:p>
          <a:p>
            <a:pPr algn="l">
              <a:spcAft>
                <a:spcPts val="100"/>
              </a:spcAft>
            </a:pPr>
            <a:r>
              <a:rPr sz="1150" b="0">
                <a:solidFill>
                  <a:srgbClr val="617487"/>
                </a:solidFill>
                <a:latin typeface="Arial"/>
              </a:rPr>
              <a:t>25/574224/PPA/07240</a:t>
            </a:r>
          </a:p>
          <a:p>
            <a:pPr algn="l">
              <a:spcAft>
                <a:spcPts val="100"/>
              </a:spcAft>
            </a:pPr>
            <a:r>
              <a:rPr sz="1150" b="0">
                <a:solidFill>
                  <a:srgbClr val="617487"/>
                </a:solidFill>
                <a:latin typeface="Arial"/>
              </a:rPr>
              <a:t>25/573936/PPA/07229</a:t>
            </a:r>
          </a:p>
        </p:txBody>
      </p:sp>
      <p:sp>
        <p:nvSpPr>
          <p:cNvPr id="74" name="TextBox 73"/>
          <p:cNvSpPr txBox="1"/>
          <p:nvPr/>
        </p:nvSpPr>
        <p:spPr>
          <a:xfrm>
            <a:off x="6748272" y="4864608"/>
            <a:ext cx="4937760" cy="603504"/>
          </a:xfrm>
          <a:prstGeom prst="rect">
            <a:avLst/>
          </a:prstGeom>
          <a:noFill/>
        </p:spPr>
        <p:txBody>
          <a:bodyPr wrap="square" lIns="18288" tIns="0" rIns="18288" bIns="0" anchor="t">
            <a:noAutofit/>
          </a:bodyPr>
          <a:lstStyle/>
          <a:p>
            <a:pPr algn="l"/>
            <a:r>
              <a:rPr sz="1100" b="0">
                <a:solidFill>
                  <a:srgbClr val="617487"/>
                </a:solidFill>
                <a:latin typeface="Arial"/>
              </a:rPr>
              <a:t>Agen Cerdas Enterprise · Project 1</a:t>
            </a:r>
          </a:p>
          <a:p>
            <a:pPr algn="l"/>
            <a:r>
              <a:rPr sz="1100" b="0">
                <a:solidFill>
                  <a:srgbClr val="617487"/>
                </a:solidFill>
                <a:latin typeface="Arial"/>
              </a:rPr>
              <a:t>Lecturer: Prof. Dr. Drs. Azhari, M.T.</a:t>
            </a:r>
          </a:p>
          <a:p>
            <a:pPr algn="l"/>
            <a:r>
              <a:rPr sz="1100" b="0">
                <a:solidFill>
                  <a:srgbClr val="617487"/>
                </a:solidFill>
                <a:latin typeface="Arial"/>
              </a:rPr>
              <a:t>Magister Kecerdasan Artifisial · 2026</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 name="Shape 77"/>
        <p:cNvGrpSpPr/>
        <p:nvPr/>
      </p:nvGrpSpPr>
      <p:grpSpPr>
        <a:xfrm>
          <a:off x="0" y="0"/>
          <a:ext cx="0" cy="0"/>
          <a:chOff x="0" y="0"/>
          <a:chExt cx="0" cy="0"/>
        </a:xfrm>
      </p:grpSpPr>
      <p:sp>
        <p:nvSpPr>
          <p:cNvPr id="78" name="Google Shape;78;p2"/>
          <p:cNvSpPr txBox="1"/>
          <p:nvPr>
            <p:ph type="title"/>
          </p:nvPr>
        </p:nvSpPr>
        <p:spPr>
          <a:xfrm>
            <a:off x="594360" y="301752"/>
            <a:ext cx="9372600" cy="621792"/>
          </a:xfrm>
          <a:prstGeom prst="rect">
            <a:avLst/>
          </a:prstGeom>
          <a:noFill/>
          <a:ln>
            <a:noFill/>
          </a:ln>
        </p:spPr>
        <p:txBody>
          <a:bodyPr anchorCtr="0" anchor="b" bIns="0" lIns="0" spcFirstLastPara="1" rIns="0" wrap="square" tIns="0">
            <a:normAutofit/>
          </a:bodyPr>
          <a:lstStyle/>
          <a:p>
            <a:pPr indent="0" lvl="0" marL="0" rtl="0" algn="l">
              <a:lnSpc>
                <a:spcPct val="90000"/>
              </a:lnSpc>
              <a:spcBef>
                <a:spcPts val="0"/>
              </a:spcBef>
              <a:spcAft>
                <a:spcPts val="0"/>
              </a:spcAft>
              <a:buClr>
                <a:srgbClr val="01416B"/>
              </a:buClr>
              <a:buSzPts val="2800"/>
              <a:buFont typeface="Arial"/>
              <a:buNone/>
            </a:pPr>
            <a:r>
              <a:rPr b="1" lang="en-US" sz="2800"/>
              <a:t>The project targets four delivery bottlenecks</a:t>
            </a:r>
            <a:endParaRPr/>
          </a:p>
        </p:txBody>
      </p:sp>
      <p:sp>
        <p:nvSpPr>
          <p:cNvPr id="79" name="Google Shape;79;p2"/>
          <p:cNvSpPr/>
          <p:nvPr/>
        </p:nvSpPr>
        <p:spPr>
          <a:xfrm>
            <a:off x="590550" y="990600"/>
            <a:ext cx="685800" cy="47625"/>
          </a:xfrm>
          <a:prstGeom prst="rect">
            <a:avLst/>
          </a:prstGeom>
          <a:solidFill>
            <a:srgbClr val="FDD40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80" name="Google Shape;80;p2"/>
          <p:cNvSpPr/>
          <p:nvPr/>
        </p:nvSpPr>
        <p:spPr>
          <a:xfrm>
            <a:off x="590550" y="1123950"/>
            <a:ext cx="11001375" cy="34290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575">
                <a:solidFill>
                  <a:srgbClr val="617487"/>
                </a:solidFill>
                <a:latin typeface="Arial"/>
                <a:ea typeface="Arial"/>
                <a:cs typeface="Arial"/>
                <a:sym typeface="Arial"/>
              </a:rPr>
              <a:t>Original problem statement from the project report and idea document</a:t>
            </a:r>
            <a:endParaRPr/>
          </a:p>
        </p:txBody>
      </p:sp>
      <p:sp>
        <p:nvSpPr>
          <p:cNvPr id="81" name="Rounded Rectangle 80"/>
          <p:cNvSpPr/>
          <p:nvPr/>
        </p:nvSpPr>
        <p:spPr>
          <a:xfrm>
            <a:off x="594360" y="1783080"/>
            <a:ext cx="5422392" cy="1143000"/>
          </a:xfrm>
          <a:prstGeom prst="roundRect">
            <a:avLst>
              <a:gd name="adj" fmla="val 12000"/>
            </a:avLst>
          </a:prstGeom>
          <a:solidFill>
            <a:srgbClr val="E6EEF5"/>
          </a:solidFill>
          <a:ln>
            <a:noFill/>
          </a:ln>
          <a:effectLst/>
        </p:spPr>
        <p:txBody>
          <a:bodyPr rtlCol="0" anchor="ctr" wrap="square" lIns="914400" tIns="73152" rIns="137160" bIns="73152">
            <a:noAutofit/>
          </a:bodyPr>
          <a:lstStyle/>
          <a:p>
            <a:pPr algn="l">
              <a:spcAft>
                <a:spcPts val="300"/>
              </a:spcAft>
            </a:pPr>
            <a:r>
              <a:rPr sz="1500" b="1">
                <a:solidFill>
                  <a:srgbClr val="01416B"/>
                </a:solidFill>
                <a:latin typeface="Arial"/>
              </a:rPr>
              <a:t>Manual triage slows resolution</a:t>
            </a:r>
          </a:p>
          <a:p>
            <a:pPr algn="l">
              <a:spcAft>
                <a:spcPts val="300"/>
              </a:spcAft>
            </a:pPr>
            <a:r>
              <a:rPr sz="1250" b="0">
                <a:solidFill>
                  <a:srgbClr val="2E4357"/>
                </a:solidFill>
                <a:latin typeface="Arial"/>
              </a:rPr>
              <a:t>Severity, category and team routing depend on someone reading each ticket.</a:t>
            </a:r>
          </a:p>
        </p:txBody>
      </p:sp>
      <p:sp>
        <p:nvSpPr>
          <p:cNvPr id="82" name="Oval 81"/>
          <p:cNvSpPr/>
          <p:nvPr/>
        </p:nvSpPr>
        <p:spPr>
          <a:xfrm>
            <a:off x="822960" y="2084831"/>
            <a:ext cx="548640" cy="548640"/>
          </a:xfrm>
          <a:prstGeom prst="ellipse">
            <a:avLst/>
          </a:prstGeom>
          <a:solidFill>
            <a:srgbClr val="FDD402"/>
          </a:solidFill>
          <a:ln>
            <a:noFill/>
          </a:ln>
          <a:effectLst/>
        </p:spPr>
        <p:txBody>
          <a:bodyPr rtlCol="0" anchor="ctr" wrap="square" lIns="0" tIns="0" rIns="0" bIns="0">
            <a:noAutofit/>
          </a:bodyPr>
          <a:lstStyle/>
          <a:p>
            <a:pPr algn="ctr"/>
            <a:r>
              <a:rPr sz="2000" b="1">
                <a:solidFill>
                  <a:srgbClr val="01416B"/>
                </a:solidFill>
                <a:latin typeface="Arial"/>
              </a:rPr>
              <a:t>1</a:t>
            </a:r>
          </a:p>
        </p:txBody>
      </p:sp>
      <p:sp>
        <p:nvSpPr>
          <p:cNvPr id="83" name="Rounded Rectangle 82"/>
          <p:cNvSpPr/>
          <p:nvPr/>
        </p:nvSpPr>
        <p:spPr>
          <a:xfrm>
            <a:off x="6172200" y="1783080"/>
            <a:ext cx="5422392" cy="1143000"/>
          </a:xfrm>
          <a:prstGeom prst="roundRect">
            <a:avLst>
              <a:gd name="adj" fmla="val 12000"/>
            </a:avLst>
          </a:prstGeom>
          <a:solidFill>
            <a:srgbClr val="E6EEF5"/>
          </a:solidFill>
          <a:ln>
            <a:noFill/>
          </a:ln>
          <a:effectLst/>
        </p:spPr>
        <p:txBody>
          <a:bodyPr rtlCol="0" anchor="ctr" wrap="square" lIns="914400" tIns="73152" rIns="137160" bIns="73152">
            <a:noAutofit/>
          </a:bodyPr>
          <a:lstStyle/>
          <a:p>
            <a:pPr algn="l">
              <a:spcAft>
                <a:spcPts val="300"/>
              </a:spcAft>
            </a:pPr>
            <a:r>
              <a:rPr sz="1500" b="1">
                <a:solidFill>
                  <a:srgbClr val="01416B"/>
                </a:solidFill>
                <a:latin typeface="Arial"/>
              </a:rPr>
              <a:t>Duplicate reports create repeated work</a:t>
            </a:r>
          </a:p>
          <a:p>
            <a:pPr algn="l">
              <a:spcAft>
                <a:spcPts val="300"/>
              </a:spcAft>
            </a:pPr>
            <a:r>
              <a:rPr sz="1250" b="0">
                <a:solidFill>
                  <a:srgbClr val="2E4357"/>
                </a:solidFill>
                <a:latin typeface="Arial"/>
              </a:rPr>
              <a:t>The same incident is phrased differently, so keyword matching misses it.</a:t>
            </a:r>
          </a:p>
        </p:txBody>
      </p:sp>
      <p:sp>
        <p:nvSpPr>
          <p:cNvPr id="84" name="Oval 83"/>
          <p:cNvSpPr/>
          <p:nvPr/>
        </p:nvSpPr>
        <p:spPr>
          <a:xfrm>
            <a:off x="6400800" y="2084831"/>
            <a:ext cx="548640" cy="548640"/>
          </a:xfrm>
          <a:prstGeom prst="ellipse">
            <a:avLst/>
          </a:prstGeom>
          <a:solidFill>
            <a:srgbClr val="FDD402"/>
          </a:solidFill>
          <a:ln>
            <a:noFill/>
          </a:ln>
          <a:effectLst/>
        </p:spPr>
        <p:txBody>
          <a:bodyPr rtlCol="0" anchor="ctr" wrap="square" lIns="0" tIns="0" rIns="0" bIns="0">
            <a:noAutofit/>
          </a:bodyPr>
          <a:lstStyle/>
          <a:p>
            <a:pPr algn="ctr"/>
            <a:r>
              <a:rPr sz="2000" b="1">
                <a:solidFill>
                  <a:srgbClr val="01416B"/>
                </a:solidFill>
                <a:latin typeface="Arial"/>
              </a:rPr>
              <a:t>2</a:t>
            </a:r>
          </a:p>
        </p:txBody>
      </p:sp>
      <p:sp>
        <p:nvSpPr>
          <p:cNvPr id="85" name="Rounded Rectangle 84"/>
          <p:cNvSpPr/>
          <p:nvPr/>
        </p:nvSpPr>
        <p:spPr>
          <a:xfrm>
            <a:off x="594360" y="3108960"/>
            <a:ext cx="5422392" cy="1143000"/>
          </a:xfrm>
          <a:prstGeom prst="roundRect">
            <a:avLst>
              <a:gd name="adj" fmla="val 12000"/>
            </a:avLst>
          </a:prstGeom>
          <a:solidFill>
            <a:srgbClr val="E6EEF5"/>
          </a:solidFill>
          <a:ln>
            <a:noFill/>
          </a:ln>
          <a:effectLst/>
        </p:spPr>
        <p:txBody>
          <a:bodyPr rtlCol="0" anchor="ctr" wrap="square" lIns="914400" tIns="73152" rIns="137160" bIns="73152">
            <a:noAutofit/>
          </a:bodyPr>
          <a:lstStyle/>
          <a:p>
            <a:pPr algn="l">
              <a:spcAft>
                <a:spcPts val="300"/>
              </a:spcAft>
            </a:pPr>
            <a:r>
              <a:rPr sz="1500" b="1">
                <a:solidFill>
                  <a:srgbClr val="01416B"/>
                </a:solidFill>
                <a:latin typeface="Arial"/>
              </a:rPr>
              <a:t>Approvals become queues</a:t>
            </a:r>
          </a:p>
          <a:p>
            <a:pPr algn="l">
              <a:spcAft>
                <a:spcPts val="300"/>
              </a:spcAft>
            </a:pPr>
            <a:r>
              <a:rPr sz="1250" b="0">
                <a:solidFill>
                  <a:srgbClr val="2E4357"/>
                </a:solidFill>
                <a:latin typeface="Arial"/>
              </a:rPr>
              <a:t>Risky actions need a person, but reviewers rarely get the context they need.</a:t>
            </a:r>
          </a:p>
        </p:txBody>
      </p:sp>
      <p:sp>
        <p:nvSpPr>
          <p:cNvPr id="86" name="Oval 85"/>
          <p:cNvSpPr/>
          <p:nvPr/>
        </p:nvSpPr>
        <p:spPr>
          <a:xfrm>
            <a:off x="822960" y="3410712"/>
            <a:ext cx="548640" cy="548640"/>
          </a:xfrm>
          <a:prstGeom prst="ellipse">
            <a:avLst/>
          </a:prstGeom>
          <a:solidFill>
            <a:srgbClr val="FDD402"/>
          </a:solidFill>
          <a:ln>
            <a:noFill/>
          </a:ln>
          <a:effectLst/>
        </p:spPr>
        <p:txBody>
          <a:bodyPr rtlCol="0" anchor="ctr" wrap="square" lIns="0" tIns="0" rIns="0" bIns="0">
            <a:noAutofit/>
          </a:bodyPr>
          <a:lstStyle/>
          <a:p>
            <a:pPr algn="ctr"/>
            <a:r>
              <a:rPr sz="2000" b="1">
                <a:solidFill>
                  <a:srgbClr val="01416B"/>
                </a:solidFill>
                <a:latin typeface="Arial"/>
              </a:rPr>
              <a:t>3</a:t>
            </a:r>
          </a:p>
        </p:txBody>
      </p:sp>
      <p:sp>
        <p:nvSpPr>
          <p:cNvPr id="87" name="Rounded Rectangle 86"/>
          <p:cNvSpPr/>
          <p:nvPr/>
        </p:nvSpPr>
        <p:spPr>
          <a:xfrm>
            <a:off x="6172200" y="3108960"/>
            <a:ext cx="5422392" cy="1143000"/>
          </a:xfrm>
          <a:prstGeom prst="roundRect">
            <a:avLst>
              <a:gd name="adj" fmla="val 12000"/>
            </a:avLst>
          </a:prstGeom>
          <a:solidFill>
            <a:srgbClr val="E6EEF5"/>
          </a:solidFill>
          <a:ln>
            <a:noFill/>
          </a:ln>
          <a:effectLst/>
        </p:spPr>
        <p:txBody>
          <a:bodyPr rtlCol="0" anchor="ctr" wrap="square" lIns="914400" tIns="73152" rIns="137160" bIns="73152">
            <a:noAutofit/>
          </a:bodyPr>
          <a:lstStyle/>
          <a:p>
            <a:pPr algn="l">
              <a:spcAft>
                <a:spcPts val="300"/>
              </a:spcAft>
            </a:pPr>
            <a:r>
              <a:rPr sz="1500" b="1">
                <a:solidFill>
                  <a:srgbClr val="01416B"/>
                </a:solidFill>
                <a:latin typeface="Arial"/>
              </a:rPr>
              <a:t>Ticket quality varies</a:t>
            </a:r>
          </a:p>
          <a:p>
            <a:pPr algn="l">
              <a:spcAft>
                <a:spcPts val="300"/>
              </a:spcAft>
            </a:pPr>
            <a:r>
              <a:rPr sz="1250" b="0">
                <a:solidFill>
                  <a:srgbClr val="2E4357"/>
                </a:solidFill>
                <a:latin typeface="Arial"/>
              </a:rPr>
              <a:t>Reproduction steps, acceptance criteria and release notes are often incomplete.</a:t>
            </a:r>
          </a:p>
        </p:txBody>
      </p:sp>
      <p:sp>
        <p:nvSpPr>
          <p:cNvPr id="88" name="Oval 87"/>
          <p:cNvSpPr/>
          <p:nvPr/>
        </p:nvSpPr>
        <p:spPr>
          <a:xfrm>
            <a:off x="6400800" y="3410712"/>
            <a:ext cx="548640" cy="548640"/>
          </a:xfrm>
          <a:prstGeom prst="ellipse">
            <a:avLst/>
          </a:prstGeom>
          <a:solidFill>
            <a:srgbClr val="FDD402"/>
          </a:solidFill>
          <a:ln>
            <a:noFill/>
          </a:ln>
          <a:effectLst/>
        </p:spPr>
        <p:txBody>
          <a:bodyPr rtlCol="0" anchor="ctr" wrap="square" lIns="0" tIns="0" rIns="0" bIns="0">
            <a:noAutofit/>
          </a:bodyPr>
          <a:lstStyle/>
          <a:p>
            <a:pPr algn="ctr"/>
            <a:r>
              <a:rPr sz="2000" b="1">
                <a:solidFill>
                  <a:srgbClr val="01416B"/>
                </a:solidFill>
                <a:latin typeface="Arial"/>
              </a:rPr>
              <a:t>4</a:t>
            </a:r>
          </a:p>
        </p:txBody>
      </p:sp>
      <p:sp>
        <p:nvSpPr>
          <p:cNvPr id="89" name="Rounded Rectangle 88"/>
          <p:cNvSpPr/>
          <p:nvPr/>
        </p:nvSpPr>
        <p:spPr>
          <a:xfrm>
            <a:off x="594360" y="4572000"/>
            <a:ext cx="11000232" cy="1325880"/>
          </a:xfrm>
          <a:prstGeom prst="roundRect">
            <a:avLst>
              <a:gd name="adj" fmla="val 12000"/>
            </a:avLst>
          </a:prstGeom>
          <a:solidFill>
            <a:srgbClr val="01416B"/>
          </a:solidFill>
          <a:ln>
            <a:noFill/>
          </a:ln>
          <a:effectLst/>
        </p:spPr>
        <p:txBody>
          <a:bodyPr rtlCol="0" anchor="ctr" wrap="square" lIns="274320" tIns="91440" rIns="274320" bIns="91440">
            <a:noAutofit/>
          </a:bodyPr>
          <a:lstStyle/>
          <a:p>
            <a:pPr algn="l">
              <a:spcAft>
                <a:spcPts val="400"/>
              </a:spcAft>
            </a:pPr>
            <a:r>
              <a:rPr sz="1300" b="1">
                <a:solidFill>
                  <a:srgbClr val="FDD402"/>
                </a:solidFill>
                <a:latin typeface="Arial"/>
              </a:rPr>
              <a:t>Goal</a:t>
            </a:r>
          </a:p>
          <a:p>
            <a:pPr algn="l">
              <a:spcAft>
                <a:spcPts val="400"/>
              </a:spcAft>
            </a:pPr>
            <a:r>
              <a:rPr sz="1600" b="1">
                <a:solidFill>
                  <a:srgbClr val="FFFFFF"/>
                </a:solidFill>
                <a:latin typeface="Arial"/>
              </a:rPr>
              <a:t>Coordinate specialist software agents from user feedback to deployment, while people stay in control of high-risk decisions.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3"/>
          <p:cNvSpPr txBox="1"/>
          <p:nvPr>
            <p:ph type="title"/>
          </p:nvPr>
        </p:nvSpPr>
        <p:spPr>
          <a:xfrm>
            <a:off x="594360" y="301752"/>
            <a:ext cx="9372600" cy="621792"/>
          </a:xfrm>
          <a:prstGeom prst="rect">
            <a:avLst/>
          </a:prstGeom>
          <a:noFill/>
          <a:ln>
            <a:noFill/>
          </a:ln>
        </p:spPr>
        <p:txBody>
          <a:bodyPr anchorCtr="0" anchor="b" bIns="0" lIns="0" spcFirstLastPara="1" rIns="0" wrap="square" tIns="0">
            <a:normAutofit/>
          </a:bodyPr>
          <a:lstStyle/>
          <a:p>
            <a:pPr indent="0" lvl="0" marL="0" rtl="0" algn="l">
              <a:lnSpc>
                <a:spcPct val="90000"/>
              </a:lnSpc>
              <a:spcBef>
                <a:spcPts val="0"/>
              </a:spcBef>
              <a:spcAft>
                <a:spcPts val="0"/>
              </a:spcAft>
              <a:buClr>
                <a:srgbClr val="01416B"/>
              </a:buClr>
              <a:buSzPts val="2800"/>
              <a:buFont typeface="Arial"/>
              <a:buNone/>
            </a:pPr>
            <a:r>
              <a:rPr b="1" lang="en-US" sz="2800"/>
              <a:t>What is real and what is simulated</a:t>
            </a:r>
            <a:endParaRPr/>
          </a:p>
        </p:txBody>
      </p:sp>
      <p:sp>
        <p:nvSpPr>
          <p:cNvPr id="102" name="Google Shape;102;p3"/>
          <p:cNvSpPr/>
          <p:nvPr/>
        </p:nvSpPr>
        <p:spPr>
          <a:xfrm>
            <a:off x="590550" y="990600"/>
            <a:ext cx="685800" cy="47625"/>
          </a:xfrm>
          <a:prstGeom prst="rect">
            <a:avLst/>
          </a:prstGeom>
          <a:solidFill>
            <a:srgbClr val="FDD40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3" name="Google Shape;103;p3"/>
          <p:cNvSpPr/>
          <p:nvPr/>
        </p:nvSpPr>
        <p:spPr>
          <a:xfrm>
            <a:off x="590550" y="1123950"/>
            <a:ext cx="11001375" cy="34290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575">
                <a:solidFill>
                  <a:srgbClr val="617487"/>
                </a:solidFill>
                <a:latin typeface="Arial"/>
                <a:ea typeface="Arial"/>
                <a:cs typeface="Arial"/>
                <a:sym typeface="Arial"/>
              </a:rPr>
              <a:t>The idea is a coordinated delivery team; the prototype runs all nine stages, some on simulators</a:t>
            </a:r>
            <a:endParaRPr/>
          </a:p>
        </p:txBody>
      </p:sp>
      <p:sp>
        <p:nvSpPr>
          <p:cNvPr id="104" name="Rounded Rectangle 103"/>
          <p:cNvSpPr/>
          <p:nvPr/>
        </p:nvSpPr>
        <p:spPr>
          <a:xfrm>
            <a:off x="594360" y="1783080"/>
            <a:ext cx="1157223" cy="1280160"/>
          </a:xfrm>
          <a:prstGeom prst="roundRect">
            <a:avLst>
              <a:gd name="adj" fmla="val 12000"/>
            </a:avLst>
          </a:prstGeom>
          <a:solidFill>
            <a:srgbClr val="01416B"/>
          </a:solidFill>
          <a:ln>
            <a:noFill/>
          </a:ln>
          <a:effectLst/>
        </p:spPr>
        <p:txBody>
          <a:bodyPr rtlCol="0" anchor="t" wrap="square" lIns="54864" tIns="73152" rIns="27432">
            <a:noAutofit/>
          </a:bodyPr>
          <a:lstStyle/>
          <a:p>
            <a:pPr algn="l">
              <a:spcAft>
                <a:spcPts val="200"/>
              </a:spcAft>
            </a:pPr>
            <a:r>
              <a:rPr sz="1500" b="1">
                <a:solidFill>
                  <a:srgbClr val="FFFFFF"/>
                </a:solidFill>
                <a:latin typeface="Arial"/>
              </a:rPr>
              <a:t>1</a:t>
            </a:r>
          </a:p>
          <a:p>
            <a:pPr algn="l">
              <a:spcAft>
                <a:spcPts val="200"/>
              </a:spcAft>
            </a:pPr>
            <a:r>
              <a:rPr sz="1000" b="1">
                <a:solidFill>
                  <a:srgbClr val="FFFFFF"/>
                </a:solidFill>
                <a:latin typeface="Arial"/>
              </a:rPr>
              <a:t>Feedback capture</a:t>
            </a:r>
          </a:p>
          <a:p>
            <a:pPr algn="l">
              <a:spcAft>
                <a:spcPts val="200"/>
              </a:spcAft>
            </a:pPr>
            <a:r>
              <a:rPr sz="950" b="0">
                <a:solidFill>
                  <a:srgbClr val="FDD402"/>
                </a:solidFill>
                <a:latin typeface="Arial"/>
              </a:rPr>
              <a:t>real</a:t>
            </a:r>
          </a:p>
        </p:txBody>
      </p:sp>
      <p:sp>
        <p:nvSpPr>
          <p:cNvPr id="105" name="Rounded Rectangle 104"/>
          <p:cNvSpPr/>
          <p:nvPr/>
        </p:nvSpPr>
        <p:spPr>
          <a:xfrm>
            <a:off x="1824735" y="1783080"/>
            <a:ext cx="1157223" cy="1280160"/>
          </a:xfrm>
          <a:prstGeom prst="roundRect">
            <a:avLst>
              <a:gd name="adj" fmla="val 12000"/>
            </a:avLst>
          </a:prstGeom>
          <a:solidFill>
            <a:srgbClr val="01416B"/>
          </a:solidFill>
          <a:ln>
            <a:noFill/>
          </a:ln>
          <a:effectLst/>
        </p:spPr>
        <p:txBody>
          <a:bodyPr rtlCol="0" anchor="t" wrap="square" lIns="54864" tIns="73152" rIns="27432">
            <a:noAutofit/>
          </a:bodyPr>
          <a:lstStyle/>
          <a:p>
            <a:pPr algn="l">
              <a:spcAft>
                <a:spcPts val="200"/>
              </a:spcAft>
            </a:pPr>
            <a:r>
              <a:rPr sz="1500" b="1">
                <a:solidFill>
                  <a:srgbClr val="FFFFFF"/>
                </a:solidFill>
                <a:latin typeface="Arial"/>
              </a:rPr>
              <a:t>2</a:t>
            </a:r>
          </a:p>
          <a:p>
            <a:pPr algn="l">
              <a:spcAft>
                <a:spcPts val="200"/>
              </a:spcAft>
            </a:pPr>
            <a:r>
              <a:rPr sz="1000" b="1">
                <a:solidFill>
                  <a:srgbClr val="FFFFFF"/>
                </a:solidFill>
                <a:latin typeface="Arial"/>
              </a:rPr>
              <a:t>Triage</a:t>
            </a:r>
          </a:p>
          <a:p>
            <a:pPr algn="l">
              <a:spcAft>
                <a:spcPts val="200"/>
              </a:spcAft>
            </a:pPr>
            <a:r>
              <a:rPr sz="950" b="0">
                <a:solidFill>
                  <a:srgbClr val="FDD402"/>
                </a:solidFill>
                <a:latin typeface="Arial"/>
              </a:rPr>
              <a:t>real</a:t>
            </a:r>
          </a:p>
        </p:txBody>
      </p:sp>
      <p:sp>
        <p:nvSpPr>
          <p:cNvPr id="106" name="Rounded Rectangle 105"/>
          <p:cNvSpPr/>
          <p:nvPr/>
        </p:nvSpPr>
        <p:spPr>
          <a:xfrm>
            <a:off x="3055111" y="1783080"/>
            <a:ext cx="1157223" cy="1280160"/>
          </a:xfrm>
          <a:prstGeom prst="roundRect">
            <a:avLst>
              <a:gd name="adj" fmla="val 12000"/>
            </a:avLst>
          </a:prstGeom>
          <a:solidFill>
            <a:srgbClr val="01416B"/>
          </a:solidFill>
          <a:ln>
            <a:noFill/>
          </a:ln>
          <a:effectLst/>
        </p:spPr>
        <p:txBody>
          <a:bodyPr rtlCol="0" anchor="t" wrap="square" lIns="54864" tIns="73152" rIns="27432">
            <a:noAutofit/>
          </a:bodyPr>
          <a:lstStyle/>
          <a:p>
            <a:pPr algn="l">
              <a:spcAft>
                <a:spcPts val="200"/>
              </a:spcAft>
            </a:pPr>
            <a:r>
              <a:rPr sz="1500" b="1">
                <a:solidFill>
                  <a:srgbClr val="FFFFFF"/>
                </a:solidFill>
                <a:latin typeface="Arial"/>
              </a:rPr>
              <a:t>3</a:t>
            </a:r>
          </a:p>
          <a:p>
            <a:pPr algn="l">
              <a:spcAft>
                <a:spcPts val="200"/>
              </a:spcAft>
            </a:pPr>
            <a:r>
              <a:rPr sz="1000" b="1">
                <a:solidFill>
                  <a:srgbClr val="FFFFFF"/>
                </a:solidFill>
                <a:latin typeface="Arial"/>
              </a:rPr>
              <a:t>Assignment</a:t>
            </a:r>
          </a:p>
          <a:p>
            <a:pPr algn="l">
              <a:spcAft>
                <a:spcPts val="200"/>
              </a:spcAft>
            </a:pPr>
            <a:r>
              <a:rPr sz="950" b="0">
                <a:solidFill>
                  <a:srgbClr val="FDD402"/>
                </a:solidFill>
                <a:latin typeface="Arial"/>
              </a:rPr>
              <a:t>real</a:t>
            </a:r>
          </a:p>
        </p:txBody>
      </p:sp>
      <p:sp>
        <p:nvSpPr>
          <p:cNvPr id="107" name="Rounded Rectangle 106"/>
          <p:cNvSpPr/>
          <p:nvPr/>
        </p:nvSpPr>
        <p:spPr>
          <a:xfrm>
            <a:off x="4285488" y="1783080"/>
            <a:ext cx="1157223" cy="1280160"/>
          </a:xfrm>
          <a:prstGeom prst="roundRect">
            <a:avLst>
              <a:gd name="adj" fmla="val 12000"/>
            </a:avLst>
          </a:prstGeom>
          <a:solidFill>
            <a:srgbClr val="2F6EA3"/>
          </a:solidFill>
          <a:ln>
            <a:noFill/>
          </a:ln>
          <a:effectLst/>
        </p:spPr>
        <p:txBody>
          <a:bodyPr rtlCol="0" anchor="t" wrap="square" lIns="54864" tIns="73152" rIns="27432">
            <a:noAutofit/>
          </a:bodyPr>
          <a:lstStyle/>
          <a:p>
            <a:pPr algn="l">
              <a:spcAft>
                <a:spcPts val="200"/>
              </a:spcAft>
            </a:pPr>
            <a:r>
              <a:rPr sz="1500" b="1">
                <a:solidFill>
                  <a:srgbClr val="FFFFFF"/>
                </a:solidFill>
                <a:latin typeface="Arial"/>
              </a:rPr>
              <a:t>4</a:t>
            </a:r>
          </a:p>
          <a:p>
            <a:pPr algn="l">
              <a:spcAft>
                <a:spcPts val="200"/>
              </a:spcAft>
            </a:pPr>
            <a:r>
              <a:rPr sz="1000" b="1">
                <a:solidFill>
                  <a:srgbClr val="FFFFFF"/>
                </a:solidFill>
                <a:latin typeface="Arial"/>
              </a:rPr>
              <a:t>Investigation</a:t>
            </a:r>
          </a:p>
          <a:p>
            <a:pPr algn="l">
              <a:spcAft>
                <a:spcPts val="200"/>
              </a:spcAft>
            </a:pPr>
            <a:r>
              <a:rPr sz="950" b="0">
                <a:solidFill>
                  <a:srgbClr val="FFFFFF"/>
                </a:solidFill>
                <a:latin typeface="Arial"/>
              </a:rPr>
              <a:t>real trips, seeded logs</a:t>
            </a:r>
          </a:p>
        </p:txBody>
      </p:sp>
      <p:sp>
        <p:nvSpPr>
          <p:cNvPr id="108" name="Rounded Rectangle 107"/>
          <p:cNvSpPr/>
          <p:nvPr/>
        </p:nvSpPr>
        <p:spPr>
          <a:xfrm>
            <a:off x="5515864" y="1783080"/>
            <a:ext cx="1157223" cy="1280160"/>
          </a:xfrm>
          <a:prstGeom prst="roundRect">
            <a:avLst>
              <a:gd name="adj" fmla="val 12000"/>
            </a:avLst>
          </a:prstGeom>
          <a:solidFill>
            <a:srgbClr val="FFFFFF"/>
          </a:solidFill>
          <a:ln w="12700">
            <a:solidFill>
              <a:srgbClr val="9FB3C8"/>
            </a:solidFill>
            <a:prstDash val="dash"/>
          </a:ln>
          <a:effectLst/>
        </p:spPr>
        <p:txBody>
          <a:bodyPr rtlCol="0" anchor="t" wrap="square" lIns="54864" tIns="73152" rIns="27432">
            <a:noAutofit/>
          </a:bodyPr>
          <a:lstStyle/>
          <a:p>
            <a:pPr algn="l">
              <a:spcAft>
                <a:spcPts val="200"/>
              </a:spcAft>
            </a:pPr>
            <a:r>
              <a:rPr sz="1500" b="1">
                <a:solidFill>
                  <a:srgbClr val="01416B"/>
                </a:solidFill>
                <a:latin typeface="Arial"/>
              </a:rPr>
              <a:t>5</a:t>
            </a:r>
          </a:p>
          <a:p>
            <a:pPr algn="l">
              <a:spcAft>
                <a:spcPts val="200"/>
              </a:spcAft>
            </a:pPr>
            <a:r>
              <a:rPr sz="1000" b="1">
                <a:solidFill>
                  <a:srgbClr val="01416B"/>
                </a:solidFill>
                <a:latin typeface="Arial"/>
              </a:rPr>
              <a:t>Planning</a:t>
            </a:r>
          </a:p>
          <a:p>
            <a:pPr algn="l">
              <a:spcAft>
                <a:spcPts val="200"/>
              </a:spcAft>
            </a:pPr>
            <a:r>
              <a:rPr sz="950" b="0">
                <a:solidFill>
                  <a:srgbClr val="617487"/>
                </a:solidFill>
                <a:latin typeface="Arial"/>
              </a:rPr>
              <a:t>simulated</a:t>
            </a:r>
          </a:p>
        </p:txBody>
      </p:sp>
      <p:sp>
        <p:nvSpPr>
          <p:cNvPr id="109" name="Rounded Rectangle 108"/>
          <p:cNvSpPr/>
          <p:nvPr/>
        </p:nvSpPr>
        <p:spPr>
          <a:xfrm>
            <a:off x="6746240" y="1783080"/>
            <a:ext cx="1157223" cy="1280160"/>
          </a:xfrm>
          <a:prstGeom prst="roundRect">
            <a:avLst>
              <a:gd name="adj" fmla="val 12000"/>
            </a:avLst>
          </a:prstGeom>
          <a:solidFill>
            <a:srgbClr val="FFFFFF"/>
          </a:solidFill>
          <a:ln w="12700">
            <a:solidFill>
              <a:srgbClr val="9FB3C8"/>
            </a:solidFill>
            <a:prstDash val="dash"/>
          </a:ln>
          <a:effectLst/>
        </p:spPr>
        <p:txBody>
          <a:bodyPr rtlCol="0" anchor="t" wrap="square" lIns="54864" tIns="73152" rIns="27432">
            <a:noAutofit/>
          </a:bodyPr>
          <a:lstStyle/>
          <a:p>
            <a:pPr algn="l">
              <a:spcAft>
                <a:spcPts val="200"/>
              </a:spcAft>
            </a:pPr>
            <a:r>
              <a:rPr sz="1500" b="1">
                <a:solidFill>
                  <a:srgbClr val="01416B"/>
                </a:solidFill>
                <a:latin typeface="Arial"/>
              </a:rPr>
              <a:t>6</a:t>
            </a:r>
          </a:p>
          <a:p>
            <a:pPr algn="l">
              <a:spcAft>
                <a:spcPts val="200"/>
              </a:spcAft>
            </a:pPr>
            <a:r>
              <a:rPr sz="1000" b="1">
                <a:solidFill>
                  <a:srgbClr val="01416B"/>
                </a:solidFill>
                <a:latin typeface="Arial"/>
              </a:rPr>
              <a:t>Implementation</a:t>
            </a:r>
          </a:p>
          <a:p>
            <a:pPr algn="l">
              <a:spcAft>
                <a:spcPts val="200"/>
              </a:spcAft>
            </a:pPr>
            <a:r>
              <a:rPr sz="950" b="0">
                <a:solidFill>
                  <a:srgbClr val="617487"/>
                </a:solidFill>
                <a:latin typeface="Arial"/>
              </a:rPr>
              <a:t>simulated; secret scan real</a:t>
            </a:r>
          </a:p>
        </p:txBody>
      </p:sp>
      <p:sp>
        <p:nvSpPr>
          <p:cNvPr id="110" name="Rounded Rectangle 109"/>
          <p:cNvSpPr/>
          <p:nvPr/>
        </p:nvSpPr>
        <p:spPr>
          <a:xfrm>
            <a:off x="7976615" y="1783080"/>
            <a:ext cx="1157223" cy="1280160"/>
          </a:xfrm>
          <a:prstGeom prst="roundRect">
            <a:avLst>
              <a:gd name="adj" fmla="val 12000"/>
            </a:avLst>
          </a:prstGeom>
          <a:solidFill>
            <a:srgbClr val="FFFFFF"/>
          </a:solidFill>
          <a:ln w="12700">
            <a:solidFill>
              <a:srgbClr val="9FB3C8"/>
            </a:solidFill>
            <a:prstDash val="dash"/>
          </a:ln>
          <a:effectLst/>
        </p:spPr>
        <p:txBody>
          <a:bodyPr rtlCol="0" anchor="t" wrap="square" lIns="54864" tIns="73152" rIns="27432">
            <a:noAutofit/>
          </a:bodyPr>
          <a:lstStyle/>
          <a:p>
            <a:pPr algn="l">
              <a:spcAft>
                <a:spcPts val="200"/>
              </a:spcAft>
            </a:pPr>
            <a:r>
              <a:rPr sz="1500" b="1">
                <a:solidFill>
                  <a:srgbClr val="01416B"/>
                </a:solidFill>
                <a:latin typeface="Arial"/>
              </a:rPr>
              <a:t>7</a:t>
            </a:r>
          </a:p>
          <a:p>
            <a:pPr algn="l">
              <a:spcAft>
                <a:spcPts val="200"/>
              </a:spcAft>
            </a:pPr>
            <a:r>
              <a:rPr sz="1000" b="1">
                <a:solidFill>
                  <a:srgbClr val="01416B"/>
                </a:solidFill>
                <a:latin typeface="Arial"/>
              </a:rPr>
              <a:t>QA</a:t>
            </a:r>
          </a:p>
          <a:p>
            <a:pPr algn="l">
              <a:spcAft>
                <a:spcPts val="200"/>
              </a:spcAft>
            </a:pPr>
            <a:r>
              <a:rPr sz="950" b="0">
                <a:solidFill>
                  <a:srgbClr val="617487"/>
                </a:solidFill>
                <a:latin typeface="Arial"/>
              </a:rPr>
              <a:t>simulated; NAPFD real</a:t>
            </a:r>
          </a:p>
        </p:txBody>
      </p:sp>
      <p:sp>
        <p:nvSpPr>
          <p:cNvPr id="111" name="Rounded Rectangle 110"/>
          <p:cNvSpPr/>
          <p:nvPr/>
        </p:nvSpPr>
        <p:spPr>
          <a:xfrm>
            <a:off x="9206991" y="1783080"/>
            <a:ext cx="1157223" cy="1280160"/>
          </a:xfrm>
          <a:prstGeom prst="roundRect">
            <a:avLst>
              <a:gd name="adj" fmla="val 12000"/>
            </a:avLst>
          </a:prstGeom>
          <a:solidFill>
            <a:srgbClr val="FFFFFF"/>
          </a:solidFill>
          <a:ln w="12700">
            <a:solidFill>
              <a:srgbClr val="9FB3C8"/>
            </a:solidFill>
            <a:prstDash val="dash"/>
          </a:ln>
          <a:effectLst/>
        </p:spPr>
        <p:txBody>
          <a:bodyPr rtlCol="0" anchor="t" wrap="square" lIns="54864" tIns="73152" rIns="27432">
            <a:noAutofit/>
          </a:bodyPr>
          <a:lstStyle/>
          <a:p>
            <a:pPr algn="l">
              <a:spcAft>
                <a:spcPts val="200"/>
              </a:spcAft>
            </a:pPr>
            <a:r>
              <a:rPr sz="1500" b="1">
                <a:solidFill>
                  <a:srgbClr val="01416B"/>
                </a:solidFill>
                <a:latin typeface="Arial"/>
              </a:rPr>
              <a:t>8</a:t>
            </a:r>
          </a:p>
          <a:p>
            <a:pPr algn="l">
              <a:spcAft>
                <a:spcPts val="200"/>
              </a:spcAft>
            </a:pPr>
            <a:r>
              <a:rPr sz="1000" b="1">
                <a:solidFill>
                  <a:srgbClr val="01416B"/>
                </a:solidFill>
                <a:latin typeface="Arial"/>
              </a:rPr>
              <a:t>Deployment</a:t>
            </a:r>
          </a:p>
          <a:p>
            <a:pPr algn="l">
              <a:spcAft>
                <a:spcPts val="200"/>
              </a:spcAft>
            </a:pPr>
            <a:r>
              <a:rPr sz="950" b="0">
                <a:solidFill>
                  <a:srgbClr val="617487"/>
                </a:solidFill>
                <a:latin typeface="Arial"/>
              </a:rPr>
              <a:t>simulated; rules real</a:t>
            </a:r>
          </a:p>
        </p:txBody>
      </p:sp>
      <p:sp>
        <p:nvSpPr>
          <p:cNvPr id="112" name="Rounded Rectangle 111"/>
          <p:cNvSpPr/>
          <p:nvPr/>
        </p:nvSpPr>
        <p:spPr>
          <a:xfrm>
            <a:off x="10437368" y="1783080"/>
            <a:ext cx="1157223" cy="1280160"/>
          </a:xfrm>
          <a:prstGeom prst="roundRect">
            <a:avLst>
              <a:gd name="adj" fmla="val 12000"/>
            </a:avLst>
          </a:prstGeom>
          <a:solidFill>
            <a:srgbClr val="FFFFFF"/>
          </a:solidFill>
          <a:ln w="12700">
            <a:solidFill>
              <a:srgbClr val="9FB3C8"/>
            </a:solidFill>
            <a:prstDash val="dash"/>
          </a:ln>
          <a:effectLst/>
        </p:spPr>
        <p:txBody>
          <a:bodyPr rtlCol="0" anchor="t" wrap="square" lIns="54864" tIns="73152" rIns="27432">
            <a:noAutofit/>
          </a:bodyPr>
          <a:lstStyle/>
          <a:p>
            <a:pPr algn="l">
              <a:spcAft>
                <a:spcPts val="200"/>
              </a:spcAft>
            </a:pPr>
            <a:r>
              <a:rPr sz="1500" b="1">
                <a:solidFill>
                  <a:srgbClr val="01416B"/>
                </a:solidFill>
                <a:latin typeface="Arial"/>
              </a:rPr>
              <a:t>9</a:t>
            </a:r>
          </a:p>
          <a:p>
            <a:pPr algn="l">
              <a:spcAft>
                <a:spcPts val="200"/>
              </a:spcAft>
            </a:pPr>
            <a:r>
              <a:rPr sz="1000" b="1">
                <a:solidFill>
                  <a:srgbClr val="01416B"/>
                </a:solidFill>
                <a:latin typeface="Arial"/>
              </a:rPr>
              <a:t>Monitoring</a:t>
            </a:r>
          </a:p>
          <a:p>
            <a:pPr algn="l">
              <a:spcAft>
                <a:spcPts val="200"/>
              </a:spcAft>
            </a:pPr>
            <a:r>
              <a:rPr sz="950" b="0">
                <a:solidFill>
                  <a:srgbClr val="617487"/>
                </a:solidFill>
                <a:latin typeface="Arial"/>
              </a:rPr>
              <a:t>simulated</a:t>
            </a:r>
          </a:p>
        </p:txBody>
      </p:sp>
      <p:sp>
        <p:nvSpPr>
          <p:cNvPr id="113" name="Rounded Rectangle 112"/>
          <p:cNvSpPr/>
          <p:nvPr/>
        </p:nvSpPr>
        <p:spPr>
          <a:xfrm>
            <a:off x="594360" y="3246120"/>
            <a:ext cx="201168" cy="201168"/>
          </a:xfrm>
          <a:prstGeom prst="roundRect">
            <a:avLst>
              <a:gd name="adj" fmla="val 20000"/>
            </a:avLst>
          </a:prstGeom>
          <a:solidFill>
            <a:srgbClr val="01416B"/>
          </a:solidFill>
          <a:ln>
            <a:noFill/>
          </a:ln>
          <a:effectLst/>
        </p:spPr>
        <p:txBody>
          <a:bodyPr rtlCol="0" anchor="ctr"/>
          <a:lstStyle/>
          <a:p>
            <a:pPr algn="ctr"/>
          </a:p>
        </p:txBody>
      </p:sp>
      <p:sp>
        <p:nvSpPr>
          <p:cNvPr id="114" name="TextBox 113"/>
          <p:cNvSpPr txBox="1"/>
          <p:nvPr/>
        </p:nvSpPr>
        <p:spPr>
          <a:xfrm>
            <a:off x="868680" y="3227832"/>
            <a:ext cx="2377440" cy="256032"/>
          </a:xfrm>
          <a:prstGeom prst="rect">
            <a:avLst/>
          </a:prstGeom>
          <a:noFill/>
        </p:spPr>
        <p:txBody>
          <a:bodyPr wrap="square" lIns="18288" tIns="0" rIns="18288" bIns="0" anchor="t">
            <a:noAutofit/>
          </a:bodyPr>
          <a:lstStyle/>
          <a:p>
            <a:pPr algn="l"/>
            <a:r>
              <a:rPr sz="1100" b="0">
                <a:solidFill>
                  <a:srgbClr val="2E4357"/>
                </a:solidFill>
                <a:latin typeface="Arial"/>
              </a:rPr>
              <a:t>Real: runs as built</a:t>
            </a:r>
          </a:p>
        </p:txBody>
      </p:sp>
      <p:sp>
        <p:nvSpPr>
          <p:cNvPr id="115" name="Rounded Rectangle 114"/>
          <p:cNvSpPr/>
          <p:nvPr/>
        </p:nvSpPr>
        <p:spPr>
          <a:xfrm>
            <a:off x="3063240" y="3246120"/>
            <a:ext cx="201168" cy="201168"/>
          </a:xfrm>
          <a:prstGeom prst="roundRect">
            <a:avLst>
              <a:gd name="adj" fmla="val 20000"/>
            </a:avLst>
          </a:prstGeom>
          <a:solidFill>
            <a:srgbClr val="2F6EA3"/>
          </a:solidFill>
          <a:ln>
            <a:noFill/>
          </a:ln>
          <a:effectLst/>
        </p:spPr>
        <p:txBody>
          <a:bodyPr rtlCol="0" anchor="ctr"/>
          <a:lstStyle/>
          <a:p>
            <a:pPr algn="ctr"/>
          </a:p>
        </p:txBody>
      </p:sp>
      <p:sp>
        <p:nvSpPr>
          <p:cNvPr id="116" name="TextBox 115"/>
          <p:cNvSpPr txBox="1"/>
          <p:nvPr/>
        </p:nvSpPr>
        <p:spPr>
          <a:xfrm>
            <a:off x="3337560" y="3227832"/>
            <a:ext cx="2377440" cy="256032"/>
          </a:xfrm>
          <a:prstGeom prst="rect">
            <a:avLst/>
          </a:prstGeom>
          <a:noFill/>
        </p:spPr>
        <p:txBody>
          <a:bodyPr wrap="square" lIns="18288" tIns="0" rIns="18288" bIns="0" anchor="t">
            <a:noAutofit/>
          </a:bodyPr>
          <a:lstStyle/>
          <a:p>
            <a:pPr algn="l"/>
            <a:r>
              <a:rPr sz="1100" b="0">
                <a:solidFill>
                  <a:srgbClr val="2E4357"/>
                </a:solidFill>
                <a:latin typeface="Arial"/>
              </a:rPr>
              <a:t>Mixed: real trips, seeded data</a:t>
            </a:r>
          </a:p>
        </p:txBody>
      </p:sp>
      <p:sp>
        <p:nvSpPr>
          <p:cNvPr id="117" name="Rounded Rectangle 116"/>
          <p:cNvSpPr/>
          <p:nvPr/>
        </p:nvSpPr>
        <p:spPr>
          <a:xfrm>
            <a:off x="5806440" y="3246120"/>
            <a:ext cx="201168" cy="201168"/>
          </a:xfrm>
          <a:prstGeom prst="roundRect">
            <a:avLst>
              <a:gd name="adj" fmla="val 20000"/>
            </a:avLst>
          </a:prstGeom>
          <a:solidFill>
            <a:srgbClr val="FFFFFF"/>
          </a:solidFill>
          <a:ln w="12700">
            <a:solidFill>
              <a:srgbClr val="9FB3C8"/>
            </a:solidFill>
            <a:prstDash val="dash"/>
          </a:ln>
          <a:effectLst/>
        </p:spPr>
        <p:txBody>
          <a:bodyPr rtlCol="0" anchor="ctr"/>
          <a:lstStyle/>
          <a:p>
            <a:pPr algn="ctr"/>
          </a:p>
        </p:txBody>
      </p:sp>
      <p:sp>
        <p:nvSpPr>
          <p:cNvPr id="118" name="TextBox 117"/>
          <p:cNvSpPr txBox="1"/>
          <p:nvPr/>
        </p:nvSpPr>
        <p:spPr>
          <a:xfrm>
            <a:off x="6080759" y="3227832"/>
            <a:ext cx="5486400" cy="256032"/>
          </a:xfrm>
          <a:prstGeom prst="rect">
            <a:avLst/>
          </a:prstGeom>
          <a:noFill/>
        </p:spPr>
        <p:txBody>
          <a:bodyPr wrap="square" lIns="18288" tIns="0" rIns="18288" bIns="0" anchor="t">
            <a:noAutofit/>
          </a:bodyPr>
          <a:lstStyle/>
          <a:p>
            <a:pPr algn="l"/>
            <a:r>
              <a:rPr sz="1100" b="0">
                <a:solidFill>
                  <a:srgbClr val="2E4357"/>
                </a:solidFill>
                <a:latin typeface="Arial"/>
              </a:rPr>
              <a:t>Simulated: a seeded stand-in, labelled in the dashboard</a:t>
            </a:r>
          </a:p>
        </p:txBody>
      </p:sp>
      <p:sp>
        <p:nvSpPr>
          <p:cNvPr id="119" name="Rounded Rectangle 118"/>
          <p:cNvSpPr/>
          <p:nvPr/>
        </p:nvSpPr>
        <p:spPr>
          <a:xfrm>
            <a:off x="594360" y="3703320"/>
            <a:ext cx="5422392" cy="1371600"/>
          </a:xfrm>
          <a:prstGeom prst="roundRect">
            <a:avLst>
              <a:gd name="adj" fmla="val 12000"/>
            </a:avLst>
          </a:prstGeom>
          <a:solidFill>
            <a:srgbClr val="E6EEF5"/>
          </a:solidFill>
          <a:ln>
            <a:noFill/>
          </a:ln>
          <a:effectLst/>
        </p:spPr>
        <p:txBody>
          <a:bodyPr rtlCol="0" anchor="t" wrap="square" lIns="164592" tIns="91440" rIns="137160" bIns="73152">
            <a:noAutofit/>
          </a:bodyPr>
          <a:lstStyle/>
          <a:p>
            <a:pPr algn="l">
              <a:spcAft>
                <a:spcPts val="400"/>
              </a:spcAft>
            </a:pPr>
            <a:r>
              <a:rPr sz="1350" b="1">
                <a:solidFill>
                  <a:srgbClr val="01416B"/>
                </a:solidFill>
                <a:latin typeface="Arial"/>
              </a:rPr>
              <a:t>Real</a:t>
            </a:r>
          </a:p>
          <a:p>
            <a:pPr algn="l">
              <a:spcAft>
                <a:spcPts val="400"/>
              </a:spcAft>
            </a:pPr>
            <a:r>
              <a:rPr sz="1200" b="0">
                <a:solidFill>
                  <a:srgbClr val="2E4357"/>
                </a:solidFill>
                <a:latin typeface="Arial"/>
              </a:rPr>
              <a:t>Feedback masking, duplicate search, triage and the autonomy gate, the Contract Net auction, signed trips to six data nodes, the six gates and the audit log.</a:t>
            </a:r>
          </a:p>
        </p:txBody>
      </p:sp>
      <p:sp>
        <p:nvSpPr>
          <p:cNvPr id="120" name="Rounded Rectangle 119"/>
          <p:cNvSpPr/>
          <p:nvPr/>
        </p:nvSpPr>
        <p:spPr>
          <a:xfrm>
            <a:off x="6172200" y="3703320"/>
            <a:ext cx="5422392" cy="1371600"/>
          </a:xfrm>
          <a:prstGeom prst="roundRect">
            <a:avLst>
              <a:gd name="adj" fmla="val 12000"/>
            </a:avLst>
          </a:prstGeom>
          <a:solidFill>
            <a:srgbClr val="FFFFFF"/>
          </a:solidFill>
          <a:ln w="12700">
            <a:solidFill>
              <a:srgbClr val="9FB3C8"/>
            </a:solidFill>
            <a:prstDash val="dash"/>
          </a:ln>
          <a:effectLst/>
        </p:spPr>
        <p:txBody>
          <a:bodyPr rtlCol="0" anchor="t" wrap="square" lIns="164592" tIns="91440" rIns="137160" bIns="73152">
            <a:noAutofit/>
          </a:bodyPr>
          <a:lstStyle/>
          <a:p>
            <a:pPr algn="l">
              <a:spcAft>
                <a:spcPts val="400"/>
              </a:spcAft>
            </a:pPr>
            <a:r>
              <a:rPr sz="1350" b="1">
                <a:solidFill>
                  <a:srgbClr val="01416B"/>
                </a:solidFill>
                <a:latin typeface="Arial"/>
              </a:rPr>
              <a:t>Simulated with seeds</a:t>
            </a:r>
          </a:p>
          <a:p>
            <a:pPr algn="l">
              <a:spcAft>
                <a:spcPts val="400"/>
              </a:spcAft>
            </a:pPr>
            <a:r>
              <a:rPr sz="1200" b="0">
                <a:solidFill>
                  <a:srgbClr val="2E4357"/>
                </a:solidFill>
                <a:latin typeface="Arial"/>
              </a:rPr>
              <a:t>Node logs, project board, repository and draft change, CI, deployments and telemetry. Every panel in the dashboard says which it is.</a:t>
            </a:r>
          </a:p>
        </p:txBody>
      </p:sp>
      <p:sp>
        <p:nvSpPr>
          <p:cNvPr id="121" name="Rounded Rectangle 120"/>
          <p:cNvSpPr/>
          <p:nvPr/>
        </p:nvSpPr>
        <p:spPr>
          <a:xfrm>
            <a:off x="594360" y="5257800"/>
            <a:ext cx="11000232" cy="731520"/>
          </a:xfrm>
          <a:prstGeom prst="roundRect">
            <a:avLst>
              <a:gd name="adj" fmla="val 12000"/>
            </a:avLst>
          </a:prstGeom>
          <a:solidFill>
            <a:srgbClr val="FFF6C7"/>
          </a:solidFill>
          <a:ln>
            <a:noFill/>
          </a:ln>
          <a:effectLst/>
        </p:spPr>
        <p:txBody>
          <a:bodyPr rtlCol="0" anchor="ctr" wrap="square" lIns="182880" rIns="182880">
            <a:noAutofit/>
          </a:bodyPr>
          <a:lstStyle/>
          <a:p>
            <a:pPr algn="l"/>
            <a:r>
              <a:rPr sz="1200" b="1">
                <a:solidFill>
                  <a:srgbClr val="01416B"/>
                </a:solidFill>
                <a:latin typeface="Arial"/>
              </a:rPr>
              <a:t>OpenRouter (free models only) is optional for triage and reviewer notes. Its proposals can never approve a gated action, and the benchmark stays deterministic.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94;p6"/>
          <p:cNvSpPr txBox="1"/>
          <p:nvPr>
            <p:ph type="title"/>
          </p:nvPr>
        </p:nvSpPr>
        <p:spPr>
          <a:xfrm>
            <a:off x="594360" y="301752"/>
            <a:ext cx="9372600" cy="621792"/>
          </a:xfrm>
          <a:prstGeom prst="rect">
            <a:avLst/>
          </a:prstGeom>
          <a:noFill/>
          <a:ln>
            <a:noFill/>
          </a:ln>
        </p:spPr>
        <p:txBody>
          <a:bodyPr anchorCtr="0" anchor="b" bIns="0" lIns="0" spcFirstLastPara="1" rIns="0" wrap="square" tIns="0">
            <a:normAutofit/>
          </a:bodyPr>
          <a:lstStyle/>
          <a:p>
            <a:pPr indent="0" lvl="0" marL="0" rtl="0" algn="l">
              <a:lnSpc>
                <a:spcPct val="90000"/>
              </a:lnSpc>
              <a:spcBef>
                <a:spcPts val="0"/>
              </a:spcBef>
              <a:spcAft>
                <a:spcPts val="0"/>
              </a:spcAft>
              <a:buClr>
                <a:srgbClr val="01416B"/>
              </a:buClr>
              <a:buSzPts val="2800"/>
              <a:buFont typeface="Arial"/>
              <a:buNone/>
            </a:pPr>
            <a:r>
              <a:rPr b="1" lang="en-US" sz="2800"/>
              <a:t>How the system fits together</a:t>
            </a:r>
            <a:endParaRPr/>
          </a:p>
        </p:txBody>
      </p:sp>
      <p:sp>
        <p:nvSpPr>
          <p:cNvPr id="3" name="Google Shape;195;p6"/>
          <p:cNvSpPr/>
          <p:nvPr/>
        </p:nvSpPr>
        <p:spPr>
          <a:xfrm>
            <a:off x="590550" y="990600"/>
            <a:ext cx="685800" cy="47625"/>
          </a:xfrm>
          <a:prstGeom prst="rect">
            <a:avLst/>
          </a:prstGeom>
          <a:solidFill>
            <a:srgbClr val="FDD40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 name="Google Shape;196;p6"/>
          <p:cNvSpPr/>
          <p:nvPr/>
        </p:nvSpPr>
        <p:spPr>
          <a:xfrm>
            <a:off x="590550" y="1123950"/>
            <a:ext cx="11001375" cy="34290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575">
                <a:solidFill>
                  <a:srgbClr val="617487"/>
                </a:solidFill>
                <a:latin typeface="Arial"/>
                <a:ea typeface="Arial"/>
                <a:cs typeface="Arial"/>
                <a:sym typeface="Arial"/>
              </a:rPr>
              <a:t>Feedback comes in, agents do the work, people decide at the gates, data stays on the nodes</a:t>
            </a:r>
            <a:endParaRPr/>
          </a:p>
        </p:txBody>
      </p:sp>
      <p:sp>
        <p:nvSpPr>
          <p:cNvPr id="5" name="Rounded Rectangle 4"/>
          <p:cNvSpPr/>
          <p:nvPr/>
        </p:nvSpPr>
        <p:spPr>
          <a:xfrm>
            <a:off x="594360" y="1691640"/>
            <a:ext cx="1965960" cy="2011680"/>
          </a:xfrm>
          <a:prstGeom prst="roundRect">
            <a:avLst>
              <a:gd name="adj" fmla="val 12000"/>
            </a:avLst>
          </a:prstGeom>
          <a:solidFill>
            <a:srgbClr val="FFFFFF"/>
          </a:solidFill>
          <a:ln w="12700">
            <a:solidFill>
              <a:srgbClr val="2F6EA3"/>
            </a:solidFill>
          </a:ln>
          <a:effectLst/>
        </p:spPr>
        <p:txBody>
          <a:bodyPr rtlCol="0" anchor="t" wrap="square">
            <a:noAutofit/>
          </a:bodyPr>
          <a:lstStyle/>
          <a:p>
            <a:pPr algn="l">
              <a:spcAft>
                <a:spcPts val="100"/>
              </a:spcAft>
            </a:pPr>
            <a:r>
              <a:rPr sz="1250" b="1">
                <a:solidFill>
                  <a:srgbClr val="01416B"/>
                </a:solidFill>
                <a:latin typeface="Arial"/>
              </a:rPr>
              <a:t>Users &amp; channels</a:t>
            </a:r>
          </a:p>
          <a:p>
            <a:pPr algn="l">
              <a:spcAft>
                <a:spcPts val="100"/>
              </a:spcAft>
            </a:pPr>
            <a:r>
              <a:rPr sz="1100" b="0">
                <a:solidFill>
                  <a:srgbClr val="2E4357"/>
                </a:solidFill>
                <a:latin typeface="Arial"/>
              </a:rPr>
              <a:t>App store review</a:t>
            </a:r>
          </a:p>
          <a:p>
            <a:pPr algn="l">
              <a:spcAft>
                <a:spcPts val="100"/>
              </a:spcAft>
            </a:pPr>
            <a:r>
              <a:rPr sz="1100" b="0">
                <a:solidFill>
                  <a:srgbClr val="2E4357"/>
                </a:solidFill>
                <a:latin typeface="Arial"/>
              </a:rPr>
              <a:t>E-mail</a:t>
            </a:r>
          </a:p>
          <a:p>
            <a:pPr algn="l">
              <a:spcAft>
                <a:spcPts val="100"/>
              </a:spcAft>
            </a:pPr>
            <a:r>
              <a:rPr sz="1100" b="0">
                <a:solidFill>
                  <a:srgbClr val="2E4357"/>
                </a:solidFill>
                <a:latin typeface="Arial"/>
              </a:rPr>
              <a:t>Portal form</a:t>
            </a:r>
          </a:p>
          <a:p>
            <a:pPr algn="l">
              <a:spcAft>
                <a:spcPts val="100"/>
              </a:spcAft>
            </a:pPr>
            <a:r>
              <a:rPr sz="1100" b="0">
                <a:solidFill>
                  <a:srgbClr val="2E4357"/>
                </a:solidFill>
                <a:latin typeface="Arial"/>
              </a:rPr>
              <a:t>CS chat</a:t>
            </a:r>
          </a:p>
          <a:p>
            <a:pPr algn="l">
              <a:spcAft>
                <a:spcPts val="100"/>
              </a:spcAft>
            </a:pPr>
            <a:r>
              <a:rPr sz="1100" b="0">
                <a:solidFill>
                  <a:srgbClr val="2E4357"/>
                </a:solidFill>
                <a:latin typeface="Arial"/>
              </a:rPr>
              <a:t>Slack</a:t>
            </a:r>
          </a:p>
          <a:p>
            <a:pPr algn="l">
              <a:spcAft>
                <a:spcPts val="100"/>
              </a:spcAft>
            </a:pPr>
            <a:r>
              <a:rPr sz="1100" b="0">
                <a:solidFill>
                  <a:srgbClr val="2E4357"/>
                </a:solidFill>
                <a:latin typeface="Arial"/>
              </a:rPr>
              <a:t>Crash reporter</a:t>
            </a:r>
          </a:p>
        </p:txBody>
      </p:sp>
      <p:sp>
        <p:nvSpPr>
          <p:cNvPr id="6" name="Rounded Rectangle 5"/>
          <p:cNvSpPr/>
          <p:nvPr/>
        </p:nvSpPr>
        <p:spPr>
          <a:xfrm>
            <a:off x="594360" y="3931920"/>
            <a:ext cx="1965960" cy="2103120"/>
          </a:xfrm>
          <a:prstGeom prst="roundRect">
            <a:avLst>
              <a:gd name="adj" fmla="val 12000"/>
            </a:avLst>
          </a:prstGeom>
          <a:solidFill>
            <a:srgbClr val="FFF6C7"/>
          </a:solidFill>
          <a:ln w="12700">
            <a:solidFill>
              <a:srgbClr val="C9A400"/>
            </a:solidFill>
          </a:ln>
          <a:effectLst/>
        </p:spPr>
        <p:txBody>
          <a:bodyPr rtlCol="0" anchor="t" wrap="square">
            <a:noAutofit/>
          </a:bodyPr>
          <a:lstStyle/>
          <a:p>
            <a:pPr algn="l">
              <a:spcAft>
                <a:spcPts val="100"/>
              </a:spcAft>
            </a:pPr>
            <a:r>
              <a:rPr sz="1250" b="1">
                <a:solidFill>
                  <a:srgbClr val="01416B"/>
                </a:solidFill>
                <a:latin typeface="Arial"/>
              </a:rPr>
              <a:t>Dashboard</a:t>
            </a:r>
          </a:p>
          <a:p>
            <a:pPr algn="l">
              <a:spcAft>
                <a:spcPts val="100"/>
              </a:spcAft>
            </a:pPr>
            <a:r>
              <a:rPr sz="1100" b="0">
                <a:solidFill>
                  <a:srgbClr val="2E4357"/>
                </a:solidFill>
                <a:latin typeface="Arial"/>
              </a:rPr>
              <a:t>8 views, live events</a:t>
            </a:r>
          </a:p>
          <a:p>
            <a:pPr algn="l">
              <a:spcAft>
                <a:spcPts val="100"/>
              </a:spcAft>
            </a:pPr>
            <a:r>
              <a:rPr sz="1100" b="0">
                <a:solidFill>
                  <a:srgbClr val="2E4357"/>
                </a:solidFill>
                <a:latin typeface="Arial"/>
              </a:rPr>
              <a:t> </a:t>
            </a:r>
          </a:p>
          <a:p>
            <a:pPr algn="l">
              <a:spcAft>
                <a:spcPts val="100"/>
              </a:spcAft>
            </a:pPr>
            <a:r>
              <a:rPr sz="1100" b="0">
                <a:solidFill>
                  <a:srgbClr val="2E4357"/>
                </a:solidFill>
                <a:latin typeface="Arial"/>
              </a:rPr>
              <a:t>A person approves,</a:t>
            </a:r>
          </a:p>
          <a:p>
            <a:pPr algn="l">
              <a:spcAft>
                <a:spcPts val="100"/>
              </a:spcAft>
            </a:pPr>
            <a:r>
              <a:rPr sz="1100" b="0">
                <a:solidFill>
                  <a:srgbClr val="2E4357"/>
                </a:solidFill>
                <a:latin typeface="Arial"/>
              </a:rPr>
              <a:t>asks for changes</a:t>
            </a:r>
          </a:p>
          <a:p>
            <a:pPr algn="l">
              <a:spcAft>
                <a:spcPts val="100"/>
              </a:spcAft>
            </a:pPr>
            <a:r>
              <a:rPr sz="1100" b="0">
                <a:solidFill>
                  <a:srgbClr val="2E4357"/>
                </a:solidFill>
                <a:latin typeface="Arial"/>
              </a:rPr>
              <a:t>or rejects at the gates</a:t>
            </a:r>
          </a:p>
        </p:txBody>
      </p:sp>
      <p:sp>
        <p:nvSpPr>
          <p:cNvPr id="7" name="Oval 6"/>
          <p:cNvSpPr/>
          <p:nvPr/>
        </p:nvSpPr>
        <p:spPr>
          <a:xfrm>
            <a:off x="2139238" y="4041648"/>
            <a:ext cx="156362" cy="156362"/>
          </a:xfrm>
          <a:prstGeom prst="ellipse">
            <a:avLst/>
          </a:prstGeom>
          <a:solidFill>
            <a:srgbClr val="01416B"/>
          </a:solidFill>
          <a:ln>
            <a:noFill/>
          </a:ln>
          <a:effectLst/>
        </p:spPr>
        <p:txBody>
          <a:bodyPr rtlCol="0" anchor="ctr"/>
          <a:lstStyle/>
          <a:p>
            <a:pPr algn="ctr"/>
          </a:p>
        </p:txBody>
      </p:sp>
      <p:sp>
        <p:nvSpPr>
          <p:cNvPr id="8" name="Round Same Side Corner Rectangle 7"/>
          <p:cNvSpPr/>
          <p:nvPr/>
        </p:nvSpPr>
        <p:spPr>
          <a:xfrm>
            <a:off x="2061057" y="4222699"/>
            <a:ext cx="312724" cy="205740"/>
          </a:xfrm>
          <a:prstGeom prst="round2SameRect">
            <a:avLst>
              <a:gd name="adj1" fmla="val 50000"/>
              <a:gd name="adj2" fmla="val 0"/>
            </a:avLst>
          </a:prstGeom>
          <a:solidFill>
            <a:srgbClr val="01416B"/>
          </a:solidFill>
          <a:ln>
            <a:noFill/>
          </a:ln>
          <a:effectLst/>
        </p:spPr>
        <p:txBody>
          <a:bodyPr rtlCol="0" anchor="ctr"/>
          <a:lstStyle/>
          <a:p>
            <a:pPr algn="ctr"/>
          </a:p>
        </p:txBody>
      </p:sp>
      <p:sp>
        <p:nvSpPr>
          <p:cNvPr id="9" name="Rounded Rectangle 8"/>
          <p:cNvSpPr/>
          <p:nvPr/>
        </p:nvSpPr>
        <p:spPr>
          <a:xfrm>
            <a:off x="3246120" y="1691640"/>
            <a:ext cx="5349240" cy="2971800"/>
          </a:xfrm>
          <a:prstGeom prst="roundRect">
            <a:avLst>
              <a:gd name="adj" fmla="val 6000"/>
            </a:avLst>
          </a:prstGeom>
          <a:solidFill>
            <a:srgbClr val="E6EEF5"/>
          </a:solidFill>
          <a:ln>
            <a:noFill/>
          </a:ln>
          <a:effectLst/>
        </p:spPr>
        <p:txBody>
          <a:bodyPr rtlCol="0" anchor="t" wrap="square" lIns="137160" tIns="91440">
            <a:noAutofit/>
          </a:bodyPr>
          <a:lstStyle/>
          <a:p>
            <a:pPr algn="l"/>
            <a:r>
              <a:rPr sz="1350" b="1">
                <a:solidFill>
                  <a:srgbClr val="01416B"/>
                </a:solidFill>
                <a:latin typeface="Arial"/>
              </a:rPr>
              <a:t>Orchestrator</a:t>
            </a:r>
            <a:r>
              <a:rPr sz="1100" b="0">
                <a:solidFill>
                  <a:srgbClr val="617487"/>
                </a:solidFill>
                <a:latin typeface="Arial"/>
              </a:rPr>
              <a:t>   FastAPI · eleven agents in four families</a:t>
            </a:r>
          </a:p>
        </p:txBody>
      </p:sp>
      <p:sp>
        <p:nvSpPr>
          <p:cNvPr id="10" name="Rounded Rectangle 9"/>
          <p:cNvSpPr/>
          <p:nvPr/>
        </p:nvSpPr>
        <p:spPr>
          <a:xfrm>
            <a:off x="3383280" y="2194560"/>
            <a:ext cx="1186434" cy="2331720"/>
          </a:xfrm>
          <a:prstGeom prst="roundRect">
            <a:avLst>
              <a:gd name="adj" fmla="val 8000"/>
            </a:avLst>
          </a:prstGeom>
          <a:solidFill>
            <a:srgbClr val="FFFFFF"/>
          </a:solidFill>
          <a:ln w="12700">
            <a:solidFill>
              <a:srgbClr val="D7E0E9"/>
            </a:solidFill>
          </a:ln>
          <a:effectLst/>
        </p:spPr>
        <p:txBody>
          <a:bodyPr rtlCol="0" anchor="t" wrap="square" tIns="73152" rIns="54864">
            <a:noAutofit/>
          </a:bodyPr>
          <a:lstStyle/>
          <a:p>
            <a:pPr algn="l">
              <a:spcAft>
                <a:spcPts val="100"/>
              </a:spcAft>
            </a:pPr>
            <a:r>
              <a:rPr sz="1250" b="1">
                <a:solidFill>
                  <a:srgbClr val="01416B"/>
                </a:solidFill>
                <a:latin typeface="Arial"/>
              </a:rPr>
              <a:t>Scouts</a:t>
            </a:r>
          </a:p>
          <a:p>
            <a:pPr algn="l">
              <a:spcAft>
                <a:spcPts val="100"/>
              </a:spcAft>
            </a:pPr>
            <a:r>
              <a:rPr sz="1000" b="0">
                <a:solidFill>
                  <a:srgbClr val="617487"/>
                </a:solidFill>
                <a:latin typeface="Arial"/>
              </a:rPr>
              <a:t>collect</a:t>
            </a:r>
          </a:p>
          <a:p>
            <a:pPr algn="l">
              <a:spcAft>
                <a:spcPts val="100"/>
              </a:spcAft>
            </a:pPr>
            <a:r>
              <a:rPr sz="1100" b="0">
                <a:solidFill>
                  <a:srgbClr val="2E4357"/>
                </a:solidFill>
                <a:latin typeface="Arial"/>
              </a:rPr>
              <a:t> </a:t>
            </a:r>
          </a:p>
          <a:p>
            <a:pPr algn="l">
              <a:spcAft>
                <a:spcPts val="100"/>
              </a:spcAft>
            </a:pPr>
            <a:r>
              <a:rPr sz="1100" b="0">
                <a:solidFill>
                  <a:srgbClr val="2E4357"/>
                </a:solidFill>
                <a:latin typeface="Arial"/>
              </a:rPr>
              <a:t>Feedback</a:t>
            </a:r>
          </a:p>
          <a:p>
            <a:pPr algn="l">
              <a:spcAft>
                <a:spcPts val="100"/>
              </a:spcAft>
            </a:pPr>
            <a:r>
              <a:rPr sz="1100" b="0">
                <a:solidFill>
                  <a:srgbClr val="2E4357"/>
                </a:solidFill>
                <a:latin typeface="Arial"/>
              </a:rPr>
              <a:t>Log (mobile)</a:t>
            </a:r>
          </a:p>
          <a:p>
            <a:pPr algn="l">
              <a:spcAft>
                <a:spcPts val="100"/>
              </a:spcAft>
            </a:pPr>
            <a:r>
              <a:rPr sz="1100" b="0">
                <a:solidFill>
                  <a:srgbClr val="2E4357"/>
                </a:solidFill>
                <a:latin typeface="Arial"/>
              </a:rPr>
              <a:t>Monitor</a:t>
            </a:r>
          </a:p>
        </p:txBody>
      </p:sp>
      <p:sp>
        <p:nvSpPr>
          <p:cNvPr id="11" name="Rounded Rectangle 10"/>
          <p:cNvSpPr/>
          <p:nvPr/>
        </p:nvSpPr>
        <p:spPr>
          <a:xfrm>
            <a:off x="4679442" y="2194560"/>
            <a:ext cx="1186434" cy="2331720"/>
          </a:xfrm>
          <a:prstGeom prst="roundRect">
            <a:avLst>
              <a:gd name="adj" fmla="val 8000"/>
            </a:avLst>
          </a:prstGeom>
          <a:solidFill>
            <a:srgbClr val="FFFFFF"/>
          </a:solidFill>
          <a:ln w="12700">
            <a:solidFill>
              <a:srgbClr val="D7E0E9"/>
            </a:solidFill>
          </a:ln>
          <a:effectLst/>
        </p:spPr>
        <p:txBody>
          <a:bodyPr rtlCol="0" anchor="t" wrap="square" tIns="73152" rIns="54864">
            <a:noAutofit/>
          </a:bodyPr>
          <a:lstStyle/>
          <a:p>
            <a:pPr algn="l">
              <a:spcAft>
                <a:spcPts val="100"/>
              </a:spcAft>
            </a:pPr>
            <a:r>
              <a:rPr sz="1250" b="1">
                <a:solidFill>
                  <a:srgbClr val="01416B"/>
                </a:solidFill>
                <a:latin typeface="Arial"/>
              </a:rPr>
              <a:t>Brokers</a:t>
            </a:r>
          </a:p>
          <a:p>
            <a:pPr algn="l">
              <a:spcAft>
                <a:spcPts val="100"/>
              </a:spcAft>
            </a:pPr>
            <a:r>
              <a:rPr sz="1000" b="0">
                <a:solidFill>
                  <a:srgbClr val="617487"/>
                </a:solidFill>
                <a:latin typeface="Arial"/>
              </a:rPr>
              <a:t>route the work</a:t>
            </a:r>
          </a:p>
          <a:p>
            <a:pPr algn="l">
              <a:spcAft>
                <a:spcPts val="100"/>
              </a:spcAft>
            </a:pPr>
            <a:r>
              <a:rPr sz="1100" b="0">
                <a:solidFill>
                  <a:srgbClr val="2E4357"/>
                </a:solidFill>
                <a:latin typeface="Arial"/>
              </a:rPr>
              <a:t> </a:t>
            </a:r>
          </a:p>
          <a:p>
            <a:pPr algn="l">
              <a:spcAft>
                <a:spcPts val="100"/>
              </a:spcAft>
            </a:pPr>
            <a:r>
              <a:rPr sz="1100" b="0">
                <a:solidFill>
                  <a:srgbClr val="2E4357"/>
                </a:solidFill>
                <a:latin typeface="Arial"/>
              </a:rPr>
              <a:t>Triage</a:t>
            </a:r>
          </a:p>
          <a:p>
            <a:pPr algn="l">
              <a:spcAft>
                <a:spcPts val="100"/>
              </a:spcAft>
            </a:pPr>
            <a:r>
              <a:rPr sz="1100" b="0">
                <a:solidFill>
                  <a:srgbClr val="2E4357"/>
                </a:solidFill>
                <a:latin typeface="Arial"/>
              </a:rPr>
              <a:t>Assign</a:t>
            </a:r>
          </a:p>
        </p:txBody>
      </p:sp>
      <p:sp>
        <p:nvSpPr>
          <p:cNvPr id="12" name="Rounded Rectangle 11"/>
          <p:cNvSpPr/>
          <p:nvPr/>
        </p:nvSpPr>
        <p:spPr>
          <a:xfrm>
            <a:off x="5975604" y="2194560"/>
            <a:ext cx="1186434" cy="2331720"/>
          </a:xfrm>
          <a:prstGeom prst="roundRect">
            <a:avLst>
              <a:gd name="adj" fmla="val 8000"/>
            </a:avLst>
          </a:prstGeom>
          <a:solidFill>
            <a:srgbClr val="FFFFFF"/>
          </a:solidFill>
          <a:ln w="12700">
            <a:solidFill>
              <a:srgbClr val="D7E0E9"/>
            </a:solidFill>
          </a:ln>
          <a:effectLst/>
        </p:spPr>
        <p:txBody>
          <a:bodyPr rtlCol="0" anchor="t" wrap="square" tIns="73152" rIns="54864">
            <a:noAutofit/>
          </a:bodyPr>
          <a:lstStyle/>
          <a:p>
            <a:pPr algn="l">
              <a:spcAft>
                <a:spcPts val="100"/>
              </a:spcAft>
            </a:pPr>
            <a:r>
              <a:rPr sz="1250" b="1">
                <a:solidFill>
                  <a:srgbClr val="01416B"/>
                </a:solidFill>
                <a:latin typeface="Arial"/>
              </a:rPr>
              <a:t>Workers</a:t>
            </a:r>
          </a:p>
          <a:p>
            <a:pPr algn="l">
              <a:spcAft>
                <a:spcPts val="100"/>
              </a:spcAft>
            </a:pPr>
            <a:r>
              <a:rPr sz="1000" b="0">
                <a:solidFill>
                  <a:srgbClr val="617487"/>
                </a:solidFill>
                <a:latin typeface="Arial"/>
              </a:rPr>
              <a:t>do the work</a:t>
            </a:r>
          </a:p>
          <a:p>
            <a:pPr algn="l">
              <a:spcAft>
                <a:spcPts val="100"/>
              </a:spcAft>
            </a:pPr>
            <a:r>
              <a:rPr sz="1100" b="0">
                <a:solidFill>
                  <a:srgbClr val="2E4357"/>
                </a:solidFill>
                <a:latin typeface="Arial"/>
              </a:rPr>
              <a:t> </a:t>
            </a:r>
          </a:p>
          <a:p>
            <a:pPr algn="l">
              <a:spcAft>
                <a:spcPts val="100"/>
              </a:spcAft>
            </a:pPr>
            <a:r>
              <a:rPr sz="1100" b="0">
                <a:solidFill>
                  <a:srgbClr val="2E4357"/>
                </a:solidFill>
                <a:latin typeface="Arial"/>
              </a:rPr>
              <a:t>Investigate</a:t>
            </a:r>
          </a:p>
          <a:p>
            <a:pPr algn="l">
              <a:spcAft>
                <a:spcPts val="100"/>
              </a:spcAft>
            </a:pPr>
            <a:r>
              <a:rPr sz="1100" b="0">
                <a:solidFill>
                  <a:srgbClr val="2E4357"/>
                </a:solidFill>
                <a:latin typeface="Arial"/>
              </a:rPr>
              <a:t>Plan</a:t>
            </a:r>
          </a:p>
          <a:p>
            <a:pPr algn="l">
              <a:spcAft>
                <a:spcPts val="100"/>
              </a:spcAft>
            </a:pPr>
            <a:r>
              <a:rPr sz="1100" b="0">
                <a:solidFill>
                  <a:srgbClr val="2E4357"/>
                </a:solidFill>
                <a:latin typeface="Arial"/>
              </a:rPr>
              <a:t>Impl</a:t>
            </a:r>
          </a:p>
          <a:p>
            <a:pPr algn="l">
              <a:spcAft>
                <a:spcPts val="100"/>
              </a:spcAft>
            </a:pPr>
            <a:r>
              <a:rPr sz="1100" b="0">
                <a:solidFill>
                  <a:srgbClr val="2E4357"/>
                </a:solidFill>
                <a:latin typeface="Arial"/>
              </a:rPr>
              <a:t>QA</a:t>
            </a:r>
          </a:p>
          <a:p>
            <a:pPr algn="l">
              <a:spcAft>
                <a:spcPts val="100"/>
              </a:spcAft>
            </a:pPr>
            <a:r>
              <a:rPr sz="1100" b="0">
                <a:solidFill>
                  <a:srgbClr val="2E4357"/>
                </a:solidFill>
                <a:latin typeface="Arial"/>
              </a:rPr>
              <a:t>Deploy</a:t>
            </a:r>
          </a:p>
        </p:txBody>
      </p:sp>
      <p:sp>
        <p:nvSpPr>
          <p:cNvPr id="13" name="Rounded Rectangle 12"/>
          <p:cNvSpPr/>
          <p:nvPr/>
        </p:nvSpPr>
        <p:spPr>
          <a:xfrm>
            <a:off x="7271766" y="2194560"/>
            <a:ext cx="1186434" cy="2331720"/>
          </a:xfrm>
          <a:prstGeom prst="roundRect">
            <a:avLst>
              <a:gd name="adj" fmla="val 8000"/>
            </a:avLst>
          </a:prstGeom>
          <a:solidFill>
            <a:srgbClr val="FFFFFF"/>
          </a:solidFill>
          <a:ln w="12700">
            <a:solidFill>
              <a:srgbClr val="D7E0E9"/>
            </a:solidFill>
          </a:ln>
          <a:effectLst/>
        </p:spPr>
        <p:txBody>
          <a:bodyPr rtlCol="0" anchor="t" wrap="square" tIns="73152" rIns="54864">
            <a:noAutofit/>
          </a:bodyPr>
          <a:lstStyle/>
          <a:p>
            <a:pPr algn="l">
              <a:spcAft>
                <a:spcPts val="100"/>
              </a:spcAft>
            </a:pPr>
            <a:r>
              <a:rPr sz="1250" b="1">
                <a:solidFill>
                  <a:srgbClr val="01416B"/>
                </a:solidFill>
                <a:latin typeface="Arial"/>
              </a:rPr>
              <a:t>Security</a:t>
            </a:r>
          </a:p>
          <a:p>
            <a:pPr algn="l">
              <a:spcAft>
                <a:spcPts val="100"/>
              </a:spcAft>
            </a:pPr>
            <a:r>
              <a:rPr sz="1000" b="0">
                <a:solidFill>
                  <a:srgbClr val="617487"/>
                </a:solidFill>
                <a:latin typeface="Arial"/>
              </a:rPr>
              <a:t>enforce rules</a:t>
            </a:r>
          </a:p>
          <a:p>
            <a:pPr algn="l">
              <a:spcAft>
                <a:spcPts val="100"/>
              </a:spcAft>
            </a:pPr>
            <a:r>
              <a:rPr sz="1100" b="0">
                <a:solidFill>
                  <a:srgbClr val="2E4357"/>
                </a:solidFill>
                <a:latin typeface="Arial"/>
              </a:rPr>
              <a:t> </a:t>
            </a:r>
          </a:p>
          <a:p>
            <a:pPr algn="l">
              <a:spcAft>
                <a:spcPts val="100"/>
              </a:spcAft>
            </a:pPr>
            <a:r>
              <a:rPr sz="1100" b="0">
                <a:solidFill>
                  <a:srgbClr val="2E4357"/>
                </a:solidFill>
                <a:latin typeface="Arial"/>
              </a:rPr>
              <a:t>Policy:</a:t>
            </a:r>
          </a:p>
          <a:p>
            <a:pPr algn="l">
              <a:spcAft>
                <a:spcPts val="100"/>
              </a:spcAft>
            </a:pPr>
            <a:r>
              <a:rPr sz="1100" b="0">
                <a:solidFill>
                  <a:srgbClr val="2E4357"/>
                </a:solidFill>
                <a:latin typeface="Arial"/>
              </a:rPr>
              <a:t>gates,</a:t>
            </a:r>
          </a:p>
          <a:p>
            <a:pPr algn="l">
              <a:spcAft>
                <a:spcPts val="100"/>
              </a:spcAft>
            </a:pPr>
            <a:r>
              <a:rPr sz="1100" b="0">
                <a:solidFill>
                  <a:srgbClr val="2E4357"/>
                </a:solidFill>
                <a:latin typeface="Arial"/>
              </a:rPr>
              <a:t>signing,</a:t>
            </a:r>
          </a:p>
          <a:p>
            <a:pPr algn="l">
              <a:spcAft>
                <a:spcPts val="100"/>
              </a:spcAft>
            </a:pPr>
            <a:r>
              <a:rPr sz="1100" b="0">
                <a:solidFill>
                  <a:srgbClr val="2E4357"/>
                </a:solidFill>
                <a:latin typeface="Arial"/>
              </a:rPr>
              <a:t>audit log</a:t>
            </a:r>
          </a:p>
        </p:txBody>
      </p:sp>
      <p:sp>
        <p:nvSpPr>
          <p:cNvPr id="14" name="Rounded Rectangle 13"/>
          <p:cNvSpPr/>
          <p:nvPr/>
        </p:nvSpPr>
        <p:spPr>
          <a:xfrm>
            <a:off x="3246120" y="4800600"/>
            <a:ext cx="5349240" cy="502920"/>
          </a:xfrm>
          <a:prstGeom prst="roundRect">
            <a:avLst>
              <a:gd name="adj" fmla="val 12000"/>
            </a:avLst>
          </a:prstGeom>
          <a:solidFill>
            <a:srgbClr val="FFFFFF"/>
          </a:solidFill>
          <a:ln w="12700">
            <a:solidFill>
              <a:srgbClr val="2F6EA3"/>
            </a:solidFill>
          </a:ln>
          <a:effectLst/>
        </p:spPr>
        <p:txBody>
          <a:bodyPr rtlCol="0" anchor="ctr" wrap="square" lIns="548640" tIns="27432" bIns="27432">
            <a:noAutofit/>
          </a:bodyPr>
          <a:lstStyle/>
          <a:p>
            <a:pPr algn="l"/>
            <a:r>
              <a:rPr sz="1100" b="1">
                <a:solidFill>
                  <a:srgbClr val="01416B"/>
                </a:solidFill>
                <a:latin typeface="Arial"/>
              </a:rPr>
              <a:t>Message bus  </a:t>
            </a:r>
            <a:r>
              <a:rPr sz="1100" b="0">
                <a:solidFill>
                  <a:srgbClr val="2E4357"/>
                </a:solidFill>
                <a:latin typeface="Arial"/>
              </a:rPr>
              <a:t>ACL messages: cfp, propose, accept, inform</a:t>
            </a:r>
          </a:p>
        </p:txBody>
      </p:sp>
      <p:sp>
        <p:nvSpPr>
          <p:cNvPr id="15" name="Rounded Rectangle 14"/>
          <p:cNvSpPr/>
          <p:nvPr/>
        </p:nvSpPr>
        <p:spPr>
          <a:xfrm>
            <a:off x="3346704" y="4924044"/>
            <a:ext cx="402336" cy="256032"/>
          </a:xfrm>
          <a:prstGeom prst="roundRect">
            <a:avLst>
              <a:gd name="adj" fmla="val 30000"/>
            </a:avLst>
          </a:prstGeom>
          <a:solidFill>
            <a:srgbClr val="01416B"/>
          </a:solidFill>
          <a:ln>
            <a:noFill/>
          </a:ln>
          <a:effectLst/>
        </p:spPr>
        <p:txBody>
          <a:bodyPr rtlCol="0" anchor="ctr" wrap="square" lIns="0" tIns="0" rIns="0" bIns="0">
            <a:noAutofit/>
          </a:bodyPr>
          <a:lstStyle/>
          <a:p>
            <a:pPr algn="ctr"/>
            <a:r>
              <a:rPr sz="900" b="1">
                <a:solidFill>
                  <a:srgbClr val="FFFFFF"/>
                </a:solidFill>
                <a:latin typeface="Arial"/>
              </a:rPr>
              <a:t>ACL</a:t>
            </a:r>
          </a:p>
        </p:txBody>
      </p:sp>
      <p:sp>
        <p:nvSpPr>
          <p:cNvPr id="16" name="Rounded Rectangle 15"/>
          <p:cNvSpPr/>
          <p:nvPr/>
        </p:nvSpPr>
        <p:spPr>
          <a:xfrm>
            <a:off x="3246120" y="5440680"/>
            <a:ext cx="5349240" cy="594360"/>
          </a:xfrm>
          <a:prstGeom prst="roundRect">
            <a:avLst>
              <a:gd name="adj" fmla="val 12000"/>
            </a:avLst>
          </a:prstGeom>
          <a:solidFill>
            <a:srgbClr val="FFFFFF"/>
          </a:solidFill>
          <a:ln w="12700">
            <a:solidFill>
              <a:srgbClr val="2F6EA3"/>
            </a:solidFill>
          </a:ln>
          <a:effectLst/>
        </p:spPr>
        <p:txBody>
          <a:bodyPr rtlCol="0" anchor="ctr" wrap="square" lIns="548640" tIns="27432" bIns="27432">
            <a:noAutofit/>
          </a:bodyPr>
          <a:lstStyle/>
          <a:p>
            <a:pPr algn="l"/>
            <a:r>
              <a:rPr sz="1100" b="1">
                <a:solidFill>
                  <a:srgbClr val="01416B"/>
                </a:solidFill>
                <a:latin typeface="Arial"/>
              </a:rPr>
              <a:t>Blackboard  </a:t>
            </a:r>
            <a:r>
              <a:rPr sz="1100" b="0">
                <a:solidFill>
                  <a:srgbClr val="2E4357"/>
                </a:solidFill>
                <a:latin typeface="Arial"/>
              </a:rPr>
              <a:t>tickets, append-only audit log, policies</a:t>
            </a:r>
          </a:p>
          <a:p>
            <a:pPr algn="l"/>
            <a:r>
              <a:rPr sz="1000" b="0">
                <a:solidFill>
                  <a:srgbClr val="617487"/>
                </a:solidFill>
                <a:latin typeface="Arial"/>
              </a:rPr>
              <a:t>PostgreSQL with Docker, memory in local mode</a:t>
            </a:r>
          </a:p>
        </p:txBody>
      </p:sp>
      <p:sp>
        <p:nvSpPr>
          <p:cNvPr id="17" name="Can 16"/>
          <p:cNvSpPr/>
          <p:nvPr/>
        </p:nvSpPr>
        <p:spPr>
          <a:xfrm>
            <a:off x="3383280" y="5559552"/>
            <a:ext cx="292608" cy="365760"/>
          </a:xfrm>
          <a:prstGeom prst="can">
            <a:avLst/>
          </a:prstGeom>
          <a:solidFill>
            <a:srgbClr val="01416B"/>
          </a:solidFill>
          <a:ln>
            <a:noFill/>
          </a:ln>
          <a:effectLst/>
        </p:spPr>
        <p:txBody>
          <a:bodyPr rtlCol="0" anchor="ctr"/>
          <a:lstStyle/>
          <a:p>
            <a:pPr algn="ctr"/>
          </a:p>
        </p:txBody>
      </p:sp>
      <p:sp>
        <p:nvSpPr>
          <p:cNvPr id="18" name="Rounded Rectangle 17"/>
          <p:cNvSpPr/>
          <p:nvPr/>
        </p:nvSpPr>
        <p:spPr>
          <a:xfrm>
            <a:off x="9281160" y="1691640"/>
            <a:ext cx="2313432" cy="2971800"/>
          </a:xfrm>
          <a:prstGeom prst="roundRect">
            <a:avLst>
              <a:gd name="adj" fmla="val 6000"/>
            </a:avLst>
          </a:prstGeom>
          <a:solidFill>
            <a:srgbClr val="E6EEF5"/>
          </a:solidFill>
          <a:ln>
            <a:noFill/>
          </a:ln>
          <a:effectLst/>
        </p:spPr>
        <p:txBody>
          <a:bodyPr rtlCol="0" anchor="t" wrap="square" lIns="137160" tIns="91440">
            <a:noAutofit/>
          </a:bodyPr>
          <a:lstStyle/>
          <a:p>
            <a:pPr algn="l"/>
            <a:r>
              <a:rPr sz="1250" b="1">
                <a:solidFill>
                  <a:srgbClr val="01416B"/>
                </a:solidFill>
                <a:latin typeface="Arial"/>
              </a:rPr>
              <a:t>Six data nodes</a:t>
            </a:r>
          </a:p>
        </p:txBody>
      </p:sp>
      <p:sp>
        <p:nvSpPr>
          <p:cNvPr id="19" name="Rounded Rectangle 18"/>
          <p:cNvSpPr/>
          <p:nvPr/>
        </p:nvSpPr>
        <p:spPr>
          <a:xfrm>
            <a:off x="9418320" y="2148840"/>
            <a:ext cx="2039112" cy="338328"/>
          </a:xfrm>
          <a:prstGeom prst="roundRect">
            <a:avLst>
              <a:gd name="adj" fmla="val 20000"/>
            </a:avLst>
          </a:prstGeom>
          <a:solidFill>
            <a:srgbClr val="FFFFFF"/>
          </a:solidFill>
          <a:ln w="12700">
            <a:solidFill>
              <a:srgbClr val="D7E0E9"/>
            </a:solidFill>
          </a:ln>
          <a:effectLst/>
        </p:spPr>
        <p:txBody>
          <a:bodyPr rtlCol="0" anchor="ctr" wrap="square" tIns="0" rIns="45720" bIns="0">
            <a:noAutofit/>
          </a:bodyPr>
          <a:lstStyle/>
          <a:p>
            <a:pPr algn="l"/>
            <a:r>
              <a:rPr sz="1050" b="1">
                <a:solidFill>
                  <a:srgbClr val="01416B"/>
                </a:solidFill>
                <a:latin typeface="Arial"/>
              </a:rPr>
              <a:t>node-1 </a:t>
            </a:r>
            <a:r>
              <a:rPr sz="1050" b="0">
                <a:solidFill>
                  <a:srgbClr val="2E4357"/>
                </a:solidFill>
                <a:latin typeface="Arial"/>
              </a:rPr>
              <a:t>api-gateway</a:t>
            </a:r>
          </a:p>
        </p:txBody>
      </p:sp>
      <p:sp>
        <p:nvSpPr>
          <p:cNvPr id="20" name="Rounded Rectangle 19"/>
          <p:cNvSpPr/>
          <p:nvPr/>
        </p:nvSpPr>
        <p:spPr>
          <a:xfrm>
            <a:off x="9418320" y="2560320"/>
            <a:ext cx="2039112" cy="338328"/>
          </a:xfrm>
          <a:prstGeom prst="roundRect">
            <a:avLst>
              <a:gd name="adj" fmla="val 20000"/>
            </a:avLst>
          </a:prstGeom>
          <a:solidFill>
            <a:srgbClr val="FFFFFF"/>
          </a:solidFill>
          <a:ln w="12700">
            <a:solidFill>
              <a:srgbClr val="D7E0E9"/>
            </a:solidFill>
          </a:ln>
          <a:effectLst/>
        </p:spPr>
        <p:txBody>
          <a:bodyPr rtlCol="0" anchor="ctr" wrap="square" tIns="0" rIns="45720" bIns="0">
            <a:noAutofit/>
          </a:bodyPr>
          <a:lstStyle/>
          <a:p>
            <a:pPr algn="l"/>
            <a:r>
              <a:rPr sz="1050" b="1">
                <a:solidFill>
                  <a:srgbClr val="01416B"/>
                </a:solidFill>
                <a:latin typeface="Arial"/>
              </a:rPr>
              <a:t>node-2 </a:t>
            </a:r>
            <a:r>
              <a:rPr sz="1050" b="0">
                <a:solidFill>
                  <a:srgbClr val="2E4357"/>
                </a:solidFill>
                <a:latin typeface="Arial"/>
              </a:rPr>
              <a:t>order-service</a:t>
            </a:r>
          </a:p>
        </p:txBody>
      </p:sp>
      <p:sp>
        <p:nvSpPr>
          <p:cNvPr id="21" name="Rounded Rectangle 20"/>
          <p:cNvSpPr/>
          <p:nvPr/>
        </p:nvSpPr>
        <p:spPr>
          <a:xfrm>
            <a:off x="9418320" y="2971800"/>
            <a:ext cx="2039112" cy="338328"/>
          </a:xfrm>
          <a:prstGeom prst="roundRect">
            <a:avLst>
              <a:gd name="adj" fmla="val 20000"/>
            </a:avLst>
          </a:prstGeom>
          <a:solidFill>
            <a:srgbClr val="FFFFFF"/>
          </a:solidFill>
          <a:ln w="12700">
            <a:solidFill>
              <a:srgbClr val="D7E0E9"/>
            </a:solidFill>
          </a:ln>
          <a:effectLst/>
        </p:spPr>
        <p:txBody>
          <a:bodyPr rtlCol="0" anchor="ctr" wrap="square" tIns="0" rIns="45720" bIns="0">
            <a:noAutofit/>
          </a:bodyPr>
          <a:lstStyle/>
          <a:p>
            <a:pPr algn="l"/>
            <a:r>
              <a:rPr sz="1050" b="1">
                <a:solidFill>
                  <a:srgbClr val="01416B"/>
                </a:solidFill>
                <a:latin typeface="Arial"/>
              </a:rPr>
              <a:t>node-3 </a:t>
            </a:r>
            <a:r>
              <a:rPr sz="1050" b="0">
                <a:solidFill>
                  <a:srgbClr val="2E4357"/>
                </a:solidFill>
                <a:latin typeface="Arial"/>
              </a:rPr>
              <a:t>payment-db</a:t>
            </a:r>
          </a:p>
        </p:txBody>
      </p:sp>
      <p:sp>
        <p:nvSpPr>
          <p:cNvPr id="22" name="Rounded Rectangle 21"/>
          <p:cNvSpPr/>
          <p:nvPr/>
        </p:nvSpPr>
        <p:spPr>
          <a:xfrm>
            <a:off x="9418320" y="3383280"/>
            <a:ext cx="2039112" cy="338328"/>
          </a:xfrm>
          <a:prstGeom prst="roundRect">
            <a:avLst>
              <a:gd name="adj" fmla="val 20000"/>
            </a:avLst>
          </a:prstGeom>
          <a:solidFill>
            <a:srgbClr val="FFFFFF"/>
          </a:solidFill>
          <a:ln w="12700">
            <a:solidFill>
              <a:srgbClr val="D7E0E9"/>
            </a:solidFill>
          </a:ln>
          <a:effectLst/>
        </p:spPr>
        <p:txBody>
          <a:bodyPr rtlCol="0" anchor="ctr" wrap="square" tIns="0" rIns="45720" bIns="0">
            <a:noAutofit/>
          </a:bodyPr>
          <a:lstStyle/>
          <a:p>
            <a:pPr algn="l"/>
            <a:r>
              <a:rPr sz="1050" b="1">
                <a:solidFill>
                  <a:srgbClr val="01416B"/>
                </a:solidFill>
                <a:latin typeface="Arial"/>
              </a:rPr>
              <a:t>node-4 </a:t>
            </a:r>
            <a:r>
              <a:rPr sz="1050" b="0">
                <a:solidFill>
                  <a:srgbClr val="2E4357"/>
                </a:solidFill>
                <a:latin typeface="Arial"/>
              </a:rPr>
              <a:t>auth-service</a:t>
            </a:r>
          </a:p>
        </p:txBody>
      </p:sp>
      <p:sp>
        <p:nvSpPr>
          <p:cNvPr id="23" name="Rounded Rectangle 22"/>
          <p:cNvSpPr/>
          <p:nvPr/>
        </p:nvSpPr>
        <p:spPr>
          <a:xfrm>
            <a:off x="9418320" y="3794760"/>
            <a:ext cx="2039112" cy="338328"/>
          </a:xfrm>
          <a:prstGeom prst="roundRect">
            <a:avLst>
              <a:gd name="adj" fmla="val 20000"/>
            </a:avLst>
          </a:prstGeom>
          <a:solidFill>
            <a:srgbClr val="FFFFFF"/>
          </a:solidFill>
          <a:ln w="12700">
            <a:solidFill>
              <a:srgbClr val="D7E0E9"/>
            </a:solidFill>
          </a:ln>
          <a:effectLst/>
        </p:spPr>
        <p:txBody>
          <a:bodyPr rtlCol="0" anchor="ctr" wrap="square" tIns="0" rIns="45720" bIns="0">
            <a:noAutofit/>
          </a:bodyPr>
          <a:lstStyle/>
          <a:p>
            <a:pPr algn="l"/>
            <a:r>
              <a:rPr sz="1050" b="1">
                <a:solidFill>
                  <a:srgbClr val="01416B"/>
                </a:solidFill>
                <a:latin typeface="Arial"/>
              </a:rPr>
              <a:t>node-5 </a:t>
            </a:r>
            <a:r>
              <a:rPr sz="1050" b="0">
                <a:solidFill>
                  <a:srgbClr val="2E4357"/>
                </a:solidFill>
                <a:latin typeface="Arial"/>
              </a:rPr>
              <a:t>search-service</a:t>
            </a:r>
          </a:p>
        </p:txBody>
      </p:sp>
      <p:sp>
        <p:nvSpPr>
          <p:cNvPr id="24" name="Rounded Rectangle 23"/>
          <p:cNvSpPr/>
          <p:nvPr/>
        </p:nvSpPr>
        <p:spPr>
          <a:xfrm>
            <a:off x="9418320" y="4206240"/>
            <a:ext cx="2039112" cy="338328"/>
          </a:xfrm>
          <a:prstGeom prst="roundRect">
            <a:avLst>
              <a:gd name="adj" fmla="val 20000"/>
            </a:avLst>
          </a:prstGeom>
          <a:solidFill>
            <a:srgbClr val="FFFFFF"/>
          </a:solidFill>
          <a:ln w="12700">
            <a:solidFill>
              <a:srgbClr val="D7E0E9"/>
            </a:solidFill>
          </a:ln>
          <a:effectLst/>
        </p:spPr>
        <p:txBody>
          <a:bodyPr rtlCol="0" anchor="ctr" wrap="square" tIns="0" rIns="45720" bIns="0">
            <a:noAutofit/>
          </a:bodyPr>
          <a:lstStyle/>
          <a:p>
            <a:pPr algn="l"/>
            <a:r>
              <a:rPr sz="1050" b="1">
                <a:solidFill>
                  <a:srgbClr val="01416B"/>
                </a:solidFill>
                <a:latin typeface="Arial"/>
              </a:rPr>
              <a:t>node-6 </a:t>
            </a:r>
            <a:r>
              <a:rPr sz="1050" b="0">
                <a:solidFill>
                  <a:srgbClr val="2E4357"/>
                </a:solidFill>
                <a:latin typeface="Arial"/>
              </a:rPr>
              <a:t>notification</a:t>
            </a:r>
          </a:p>
        </p:txBody>
      </p:sp>
      <p:sp>
        <p:nvSpPr>
          <p:cNvPr id="25" name="Rounded Rectangle 24"/>
          <p:cNvSpPr/>
          <p:nvPr/>
        </p:nvSpPr>
        <p:spPr>
          <a:xfrm>
            <a:off x="9281160" y="4800600"/>
            <a:ext cx="2313432" cy="1234440"/>
          </a:xfrm>
          <a:prstGeom prst="roundRect">
            <a:avLst>
              <a:gd name="adj" fmla="val 12000"/>
            </a:avLst>
          </a:prstGeom>
          <a:solidFill>
            <a:srgbClr val="FFFFFF"/>
          </a:solidFill>
          <a:ln w="12700">
            <a:solidFill>
              <a:srgbClr val="617487"/>
            </a:solidFill>
            <a:prstDash val="dash"/>
          </a:ln>
          <a:effectLst/>
        </p:spPr>
        <p:txBody>
          <a:bodyPr rtlCol="0" anchor="t" wrap="square" lIns="109728" tIns="73152" rIns="73152">
            <a:noAutofit/>
          </a:bodyPr>
          <a:lstStyle/>
          <a:p>
            <a:pPr algn="l"/>
            <a:r>
              <a:rPr sz="1150" b="1">
                <a:solidFill>
                  <a:srgbClr val="01416B"/>
                </a:solidFill>
                <a:latin typeface="Arial"/>
              </a:rPr>
              <a:t>Optional free LLM</a:t>
            </a:r>
          </a:p>
          <a:p>
            <a:pPr algn="l"/>
            <a:r>
              <a:rPr sz="1000" b="0">
                <a:solidFill>
                  <a:srgbClr val="2E4357"/>
                </a:solidFill>
                <a:latin typeface="Arial"/>
              </a:rPr>
              <a:t>OpenRouter proposes a</a:t>
            </a:r>
          </a:p>
          <a:p>
            <a:pPr algn="l"/>
            <a:r>
              <a:rPr sz="1000" b="0">
                <a:solidFill>
                  <a:srgbClr val="2E4357"/>
                </a:solidFill>
                <a:latin typeface="Arial"/>
              </a:rPr>
              <a:t>severity; capped below τ,</a:t>
            </a:r>
          </a:p>
          <a:p>
            <a:pPr algn="l"/>
            <a:r>
              <a:rPr sz="1000" b="0">
                <a:solidFill>
                  <a:srgbClr val="2E4357"/>
                </a:solidFill>
                <a:latin typeface="Arial"/>
              </a:rPr>
              <a:t>so a person reviews</a:t>
            </a:r>
          </a:p>
        </p:txBody>
      </p:sp>
      <p:cxnSp>
        <p:nvCxnSpPr>
          <p:cNvPr id="26" name="Connector 25"/>
          <p:cNvCxnSpPr/>
          <p:nvPr/>
        </p:nvCxnSpPr>
        <p:spPr>
          <a:xfrm>
            <a:off x="2606040" y="2697480"/>
            <a:ext cx="594360" cy="0"/>
          </a:xfrm>
          <a:prstGeom prst="line">
            <a:avLst/>
          </a:prstGeom>
          <a:ln w="19050">
            <a:solidFill>
              <a:srgbClr val="2F6EA3"/>
            </a:solidFill>
            <a:tailEnd type="triangle" w="med" len="med"/>
          </a:ln>
        </p:spPr>
      </p:cxnSp>
      <p:sp>
        <p:nvSpPr>
          <p:cNvPr id="27" name="TextBox 26"/>
          <p:cNvSpPr txBox="1"/>
          <p:nvPr/>
        </p:nvSpPr>
        <p:spPr>
          <a:xfrm>
            <a:off x="2578608" y="2395728"/>
            <a:ext cx="658368" cy="256032"/>
          </a:xfrm>
          <a:prstGeom prst="rect">
            <a:avLst/>
          </a:prstGeom>
          <a:noFill/>
        </p:spPr>
        <p:txBody>
          <a:bodyPr wrap="square" lIns="18288" tIns="0" rIns="18288" bIns="0" anchor="t">
            <a:noAutofit/>
          </a:bodyPr>
          <a:lstStyle/>
          <a:p>
            <a:pPr algn="ctr"/>
            <a:r>
              <a:rPr sz="1000" b="0">
                <a:solidFill>
                  <a:srgbClr val="2F6EA3"/>
                </a:solidFill>
                <a:latin typeface="Arial"/>
              </a:rPr>
              <a:t>feedback</a:t>
            </a:r>
          </a:p>
        </p:txBody>
      </p:sp>
      <p:cxnSp>
        <p:nvCxnSpPr>
          <p:cNvPr id="28" name="Connector 27"/>
          <p:cNvCxnSpPr/>
          <p:nvPr/>
        </p:nvCxnSpPr>
        <p:spPr>
          <a:xfrm>
            <a:off x="2606040" y="5029200"/>
            <a:ext cx="594360" cy="0"/>
          </a:xfrm>
          <a:prstGeom prst="line">
            <a:avLst/>
          </a:prstGeom>
          <a:ln w="19050">
            <a:solidFill>
              <a:srgbClr val="2F6EA3"/>
            </a:solidFill>
            <a:headEnd type="triangle" w="med" len="med"/>
            <a:tailEnd type="triangle" w="med" len="med"/>
          </a:ln>
        </p:spPr>
      </p:cxnSp>
      <p:sp>
        <p:nvSpPr>
          <p:cNvPr id="29" name="TextBox 28"/>
          <p:cNvSpPr txBox="1"/>
          <p:nvPr/>
        </p:nvSpPr>
        <p:spPr>
          <a:xfrm>
            <a:off x="2578608" y="4572000"/>
            <a:ext cx="658368" cy="411480"/>
          </a:xfrm>
          <a:prstGeom prst="rect">
            <a:avLst/>
          </a:prstGeom>
          <a:noFill/>
        </p:spPr>
        <p:txBody>
          <a:bodyPr wrap="square" lIns="18288" tIns="0" rIns="18288" bIns="0" anchor="t">
            <a:noAutofit/>
          </a:bodyPr>
          <a:lstStyle/>
          <a:p>
            <a:pPr algn="ctr"/>
            <a:r>
              <a:rPr sz="1000" b="0">
                <a:solidFill>
                  <a:srgbClr val="2F6EA3"/>
                </a:solidFill>
                <a:latin typeface="Arial"/>
              </a:rPr>
              <a:t>events,</a:t>
            </a:r>
          </a:p>
          <a:p>
            <a:pPr algn="ctr"/>
            <a:r>
              <a:rPr sz="1000" b="0">
                <a:solidFill>
                  <a:srgbClr val="2F6EA3"/>
                </a:solidFill>
                <a:latin typeface="Arial"/>
              </a:rPr>
              <a:t>reviews</a:t>
            </a:r>
          </a:p>
        </p:txBody>
      </p:sp>
      <p:cxnSp>
        <p:nvCxnSpPr>
          <p:cNvPr id="30" name="Connector 29"/>
          <p:cNvCxnSpPr/>
          <p:nvPr/>
        </p:nvCxnSpPr>
        <p:spPr>
          <a:xfrm>
            <a:off x="8641080" y="2697480"/>
            <a:ext cx="594360" cy="0"/>
          </a:xfrm>
          <a:prstGeom prst="line">
            <a:avLst/>
          </a:prstGeom>
          <a:ln w="19050">
            <a:solidFill>
              <a:srgbClr val="2F6EA3"/>
            </a:solidFill>
            <a:tailEnd type="triangle" w="med" len="med"/>
          </a:ln>
        </p:spPr>
      </p:cxnSp>
      <p:sp>
        <p:nvSpPr>
          <p:cNvPr id="31" name="TextBox 30"/>
          <p:cNvSpPr txBox="1"/>
          <p:nvPr/>
        </p:nvSpPr>
        <p:spPr>
          <a:xfrm>
            <a:off x="8595360" y="2221992"/>
            <a:ext cx="694944" cy="411480"/>
          </a:xfrm>
          <a:prstGeom prst="rect">
            <a:avLst/>
          </a:prstGeom>
          <a:noFill/>
        </p:spPr>
        <p:txBody>
          <a:bodyPr wrap="square" lIns="18288" tIns="0" rIns="18288" bIns="0" anchor="t">
            <a:noAutofit/>
          </a:bodyPr>
          <a:lstStyle/>
          <a:p>
            <a:pPr algn="ctr"/>
            <a:r>
              <a:rPr sz="1000" b="0">
                <a:solidFill>
                  <a:srgbClr val="2F6EA3"/>
                </a:solidFill>
                <a:latin typeface="Arial"/>
              </a:rPr>
              <a:t>signed</a:t>
            </a:r>
          </a:p>
          <a:p>
            <a:pPr algn="ctr"/>
            <a:r>
              <a:rPr sz="1000" b="0">
                <a:solidFill>
                  <a:srgbClr val="2F6EA3"/>
                </a:solidFill>
                <a:latin typeface="Arial"/>
              </a:rPr>
              <a:t>bundle</a:t>
            </a:r>
          </a:p>
        </p:txBody>
      </p:sp>
      <p:cxnSp>
        <p:nvCxnSpPr>
          <p:cNvPr id="32" name="Connector 31"/>
          <p:cNvCxnSpPr/>
          <p:nvPr/>
        </p:nvCxnSpPr>
        <p:spPr>
          <a:xfrm flipH="1">
            <a:off x="8641080" y="3291840"/>
            <a:ext cx="594360" cy="0"/>
          </a:xfrm>
          <a:prstGeom prst="line">
            <a:avLst/>
          </a:prstGeom>
          <a:ln w="19050">
            <a:solidFill>
              <a:srgbClr val="2F6EA3"/>
            </a:solidFill>
            <a:tailEnd type="triangle" w="med" len="med"/>
          </a:ln>
        </p:spPr>
      </p:cxnSp>
      <p:sp>
        <p:nvSpPr>
          <p:cNvPr id="33" name="TextBox 32"/>
          <p:cNvSpPr txBox="1"/>
          <p:nvPr/>
        </p:nvSpPr>
        <p:spPr>
          <a:xfrm>
            <a:off x="8577072" y="3355848"/>
            <a:ext cx="731520" cy="411480"/>
          </a:xfrm>
          <a:prstGeom prst="rect">
            <a:avLst/>
          </a:prstGeom>
          <a:noFill/>
        </p:spPr>
        <p:txBody>
          <a:bodyPr wrap="square" lIns="18288" tIns="0" rIns="18288" bIns="0" anchor="t">
            <a:noAutofit/>
          </a:bodyPr>
          <a:lstStyle/>
          <a:p>
            <a:pPr algn="ctr"/>
            <a:r>
              <a:rPr sz="950" b="0">
                <a:solidFill>
                  <a:srgbClr val="2F6EA3"/>
                </a:solidFill>
                <a:latin typeface="Arial"/>
              </a:rPr>
              <a:t>aggregates</a:t>
            </a:r>
          </a:p>
          <a:p>
            <a:pPr algn="ctr"/>
            <a:r>
              <a:rPr sz="950" b="0">
                <a:solidFill>
                  <a:srgbClr val="2F6EA3"/>
                </a:solidFill>
                <a:latin typeface="Arial"/>
              </a:rPr>
              <a:t>only</a:t>
            </a:r>
          </a:p>
        </p:txBody>
      </p:sp>
      <p:sp>
        <p:nvSpPr>
          <p:cNvPr id="34" name="Freeform 33"/>
          <p:cNvSpPr/>
          <p:nvPr/>
        </p:nvSpPr>
        <p:spPr>
          <a:xfrm>
            <a:off x="8613648" y="4434840"/>
            <a:ext cx="649224" cy="685800"/>
          </a:xfrm>
          <a:custGeom>
            <a:avLst/>
            <a:gdLst/>
            <a:ahLst/>
            <a:cxnLst/>
            <a:rect l="l" t="t" r="r" b="b"/>
            <a:pathLst>
              <a:path w="649224" h="685800">
                <a:moveTo>
                  <a:pt x="0" y="0"/>
                </a:moveTo>
                <a:lnTo>
                  <a:pt x="329184" y="0"/>
                </a:lnTo>
                <a:lnTo>
                  <a:pt x="329184" y="685800"/>
                </a:lnTo>
                <a:lnTo>
                  <a:pt x="649224" y="685800"/>
                </a:lnTo>
              </a:path>
            </a:pathLst>
          </a:custGeom>
          <a:noFill/>
          <a:ln w="15875">
            <a:solidFill>
              <a:srgbClr val="617487"/>
            </a:solidFill>
            <a:prstDash val="dash"/>
            <a:tailEnd type="triangle" w="med" len="med"/>
          </a:ln>
          <a:effectLst/>
        </p:spPr>
        <p:txBody>
          <a:bodyPr rtlCol="0" anchor="ctr"/>
          <a:lstStyle/>
          <a:p>
            <a:pPr algn="ct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4"/>
          <p:cNvSpPr txBox="1"/>
          <p:nvPr>
            <p:ph type="title"/>
          </p:nvPr>
        </p:nvSpPr>
        <p:spPr>
          <a:xfrm>
            <a:off x="594360" y="301752"/>
            <a:ext cx="9372600" cy="621792"/>
          </a:xfrm>
          <a:prstGeom prst="rect">
            <a:avLst/>
          </a:prstGeom>
          <a:noFill/>
          <a:ln>
            <a:noFill/>
          </a:ln>
        </p:spPr>
        <p:txBody>
          <a:bodyPr anchorCtr="0" anchor="b" bIns="0" lIns="0" spcFirstLastPara="1" rIns="0" wrap="square" tIns="0">
            <a:normAutofit/>
          </a:bodyPr>
          <a:lstStyle/>
          <a:p>
            <a:pPr indent="0" lvl="0" marL="0" rtl="0" algn="l">
              <a:lnSpc>
                <a:spcPct val="90000"/>
              </a:lnSpc>
              <a:spcBef>
                <a:spcPts val="0"/>
              </a:spcBef>
              <a:spcAft>
                <a:spcPts val="0"/>
              </a:spcAft>
              <a:buClr>
                <a:srgbClr val="01416B"/>
              </a:buClr>
              <a:buSzPts val="2800"/>
              <a:buFont typeface="Arial"/>
              <a:buNone/>
            </a:pPr>
            <a:r>
              <a:rPr b="1" lang="en-US" sz="2800"/>
              <a:t>Every agent runs the same five-step loop</a:t>
            </a:r>
            <a:endParaRPr/>
          </a:p>
        </p:txBody>
      </p:sp>
      <p:sp>
        <p:nvSpPr>
          <p:cNvPr id="119" name="Google Shape;119;p4"/>
          <p:cNvSpPr/>
          <p:nvPr/>
        </p:nvSpPr>
        <p:spPr>
          <a:xfrm>
            <a:off x="590550" y="990600"/>
            <a:ext cx="685800" cy="47625"/>
          </a:xfrm>
          <a:prstGeom prst="rect">
            <a:avLst/>
          </a:prstGeom>
          <a:solidFill>
            <a:srgbClr val="FDD40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20" name="Google Shape;120;p4"/>
          <p:cNvSpPr/>
          <p:nvPr/>
        </p:nvSpPr>
        <p:spPr>
          <a:xfrm>
            <a:off x="590550" y="1123950"/>
            <a:ext cx="11001375" cy="34290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575">
                <a:solidFill>
                  <a:srgbClr val="617487"/>
                </a:solidFill>
                <a:latin typeface="Arial"/>
                <a:ea typeface="Arial"/>
                <a:cs typeface="Arial"/>
                <a:sym typeface="Arial"/>
              </a:rPr>
              <a:t>Shown for Broker-Triage on FB-001; the same contract applies to all eleven agents</a:t>
            </a:r>
            <a:endParaRPr/>
          </a:p>
        </p:txBody>
      </p:sp>
      <p:sp>
        <p:nvSpPr>
          <p:cNvPr id="121" name="Rounded Rectangle 120"/>
          <p:cNvSpPr/>
          <p:nvPr/>
        </p:nvSpPr>
        <p:spPr>
          <a:xfrm>
            <a:off x="594360" y="1783080"/>
            <a:ext cx="1965960" cy="2286000"/>
          </a:xfrm>
          <a:prstGeom prst="roundRect">
            <a:avLst>
              <a:gd name="adj" fmla="val 12000"/>
            </a:avLst>
          </a:prstGeom>
          <a:solidFill>
            <a:srgbClr val="E6EEF5"/>
          </a:solidFill>
          <a:ln>
            <a:noFill/>
          </a:ln>
          <a:effectLst/>
        </p:spPr>
        <p:txBody>
          <a:bodyPr rtlCol="0" anchor="t" wrap="square" lIns="137160" tIns="731520" rIns="109728" bIns="73152">
            <a:noAutofit/>
          </a:bodyPr>
          <a:lstStyle/>
          <a:p>
            <a:pPr algn="l">
              <a:spcAft>
                <a:spcPts val="200"/>
              </a:spcAft>
            </a:pPr>
            <a:r>
              <a:rPr sz="1600" b="1">
                <a:solidFill>
                  <a:srgbClr val="01416B"/>
                </a:solidFill>
                <a:latin typeface="Arial"/>
              </a:rPr>
              <a:t>Perceive</a:t>
            </a:r>
          </a:p>
          <a:p>
            <a:pPr algn="l">
              <a:spcAft>
                <a:spcPts val="200"/>
              </a:spcAft>
            </a:pPr>
            <a:r>
              <a:rPr sz="1150" b="0">
                <a:solidFill>
                  <a:srgbClr val="617487"/>
                </a:solidFill>
                <a:latin typeface="Arial"/>
              </a:rPr>
              <a:t>reads its input</a:t>
            </a:r>
          </a:p>
          <a:p>
            <a:pPr algn="l">
              <a:spcAft>
                <a:spcPts val="200"/>
              </a:spcAft>
            </a:pPr>
            <a:r>
              <a:rPr sz="1150" b="0">
                <a:solidFill>
                  <a:srgbClr val="2E4357"/>
                </a:solidFill>
                <a:latin typeface="Arial"/>
              </a:rPr>
              <a:t> </a:t>
            </a:r>
          </a:p>
          <a:p>
            <a:pPr algn="l">
              <a:spcAft>
                <a:spcPts val="200"/>
              </a:spcAft>
            </a:pPr>
            <a:r>
              <a:rPr sz="1150" b="0">
                <a:solidFill>
                  <a:srgbClr val="2E4357"/>
                </a:solidFill>
                <a:latin typeface="Arial"/>
              </a:rPr>
              <a:t>FB-001: a casual Indonesian crash report</a:t>
            </a:r>
          </a:p>
        </p:txBody>
      </p:sp>
      <p:sp>
        <p:nvSpPr>
          <p:cNvPr id="122" name="Oval 121"/>
          <p:cNvSpPr/>
          <p:nvPr/>
        </p:nvSpPr>
        <p:spPr>
          <a:xfrm>
            <a:off x="731520" y="1947672"/>
            <a:ext cx="438912" cy="438912"/>
          </a:xfrm>
          <a:prstGeom prst="ellipse">
            <a:avLst/>
          </a:prstGeom>
          <a:solidFill>
            <a:srgbClr val="01416B"/>
          </a:solidFill>
          <a:ln>
            <a:noFill/>
          </a:ln>
          <a:effectLst/>
        </p:spPr>
        <p:txBody>
          <a:bodyPr rtlCol="0" anchor="ctr" wrap="square" lIns="0" tIns="0" rIns="0" bIns="0">
            <a:noAutofit/>
          </a:bodyPr>
          <a:lstStyle/>
          <a:p>
            <a:pPr algn="ctr"/>
            <a:r>
              <a:rPr sz="1500" b="1">
                <a:solidFill>
                  <a:srgbClr val="FFFFFF"/>
                </a:solidFill>
                <a:latin typeface="Arial"/>
              </a:rPr>
              <a:t>1</a:t>
            </a:r>
          </a:p>
        </p:txBody>
      </p:sp>
      <p:cxnSp>
        <p:nvCxnSpPr>
          <p:cNvPr id="123" name="Connector 122"/>
          <p:cNvCxnSpPr/>
          <p:nvPr/>
        </p:nvCxnSpPr>
        <p:spPr>
          <a:xfrm>
            <a:off x="2587751" y="2926080"/>
            <a:ext cx="237745" cy="0"/>
          </a:xfrm>
          <a:prstGeom prst="line">
            <a:avLst/>
          </a:prstGeom>
          <a:ln w="22225">
            <a:solidFill>
              <a:srgbClr val="2F6EA3"/>
            </a:solidFill>
            <a:tailEnd type="triangle" w="med" len="med"/>
          </a:ln>
        </p:spPr>
      </p:cxnSp>
      <p:sp>
        <p:nvSpPr>
          <p:cNvPr id="124" name="Rounded Rectangle 123"/>
          <p:cNvSpPr/>
          <p:nvPr/>
        </p:nvSpPr>
        <p:spPr>
          <a:xfrm>
            <a:off x="2852927" y="1783080"/>
            <a:ext cx="1965960" cy="2286000"/>
          </a:xfrm>
          <a:prstGeom prst="roundRect">
            <a:avLst>
              <a:gd name="adj" fmla="val 12000"/>
            </a:avLst>
          </a:prstGeom>
          <a:solidFill>
            <a:srgbClr val="E6EEF5"/>
          </a:solidFill>
          <a:ln>
            <a:noFill/>
          </a:ln>
          <a:effectLst/>
        </p:spPr>
        <p:txBody>
          <a:bodyPr rtlCol="0" anchor="t" wrap="square" lIns="137160" tIns="731520" rIns="109728" bIns="73152">
            <a:noAutofit/>
          </a:bodyPr>
          <a:lstStyle/>
          <a:p>
            <a:pPr algn="l">
              <a:spcAft>
                <a:spcPts val="200"/>
              </a:spcAft>
            </a:pPr>
            <a:r>
              <a:rPr sz="1600" b="1">
                <a:solidFill>
                  <a:srgbClr val="01416B"/>
                </a:solidFill>
                <a:latin typeface="Arial"/>
              </a:rPr>
              <a:t>Remember</a:t>
            </a:r>
          </a:p>
          <a:p>
            <a:pPr algn="l">
              <a:spcAft>
                <a:spcPts val="200"/>
              </a:spcAft>
            </a:pPr>
            <a:r>
              <a:rPr sz="1150" b="0">
                <a:solidFill>
                  <a:srgbClr val="617487"/>
                </a:solidFill>
                <a:latin typeface="Arial"/>
              </a:rPr>
              <a:t>loads what it needs</a:t>
            </a:r>
          </a:p>
          <a:p>
            <a:pPr algn="l">
              <a:spcAft>
                <a:spcPts val="200"/>
              </a:spcAft>
            </a:pPr>
            <a:r>
              <a:rPr sz="1150" b="0">
                <a:solidFill>
                  <a:srgbClr val="2E4357"/>
                </a:solidFill>
                <a:latin typeface="Arial"/>
              </a:rPr>
              <a:t> </a:t>
            </a:r>
          </a:p>
          <a:p>
            <a:pPr algn="l">
              <a:spcAft>
                <a:spcPts val="200"/>
              </a:spcAft>
            </a:pPr>
            <a:r>
              <a:rPr sz="1150" b="0">
                <a:solidFill>
                  <a:srgbClr val="2E4357"/>
                </a:solidFill>
                <a:latin typeface="Arial"/>
              </a:rPr>
              <a:t>earlier tickets, to spot duplicates</a:t>
            </a:r>
          </a:p>
        </p:txBody>
      </p:sp>
      <p:sp>
        <p:nvSpPr>
          <p:cNvPr id="125" name="Oval 124"/>
          <p:cNvSpPr/>
          <p:nvPr/>
        </p:nvSpPr>
        <p:spPr>
          <a:xfrm>
            <a:off x="2990087" y="1947672"/>
            <a:ext cx="438912" cy="438912"/>
          </a:xfrm>
          <a:prstGeom prst="ellipse">
            <a:avLst/>
          </a:prstGeom>
          <a:solidFill>
            <a:srgbClr val="01416B"/>
          </a:solidFill>
          <a:ln>
            <a:noFill/>
          </a:ln>
          <a:effectLst/>
        </p:spPr>
        <p:txBody>
          <a:bodyPr rtlCol="0" anchor="ctr" wrap="square" lIns="0" tIns="0" rIns="0" bIns="0">
            <a:noAutofit/>
          </a:bodyPr>
          <a:lstStyle/>
          <a:p>
            <a:pPr algn="ctr"/>
            <a:r>
              <a:rPr sz="1500" b="1">
                <a:solidFill>
                  <a:srgbClr val="FFFFFF"/>
                </a:solidFill>
                <a:latin typeface="Arial"/>
              </a:rPr>
              <a:t>2</a:t>
            </a:r>
          </a:p>
        </p:txBody>
      </p:sp>
      <p:cxnSp>
        <p:nvCxnSpPr>
          <p:cNvPr id="126" name="Connector 125"/>
          <p:cNvCxnSpPr/>
          <p:nvPr/>
        </p:nvCxnSpPr>
        <p:spPr>
          <a:xfrm>
            <a:off x="4846320" y="2926080"/>
            <a:ext cx="237744" cy="0"/>
          </a:xfrm>
          <a:prstGeom prst="line">
            <a:avLst/>
          </a:prstGeom>
          <a:ln w="22225">
            <a:solidFill>
              <a:srgbClr val="2F6EA3"/>
            </a:solidFill>
            <a:tailEnd type="triangle" w="med" len="med"/>
          </a:ln>
        </p:spPr>
      </p:cxnSp>
      <p:sp>
        <p:nvSpPr>
          <p:cNvPr id="127" name="Rounded Rectangle 126"/>
          <p:cNvSpPr/>
          <p:nvPr/>
        </p:nvSpPr>
        <p:spPr>
          <a:xfrm>
            <a:off x="5111496" y="1783080"/>
            <a:ext cx="1965960" cy="2286000"/>
          </a:xfrm>
          <a:prstGeom prst="roundRect">
            <a:avLst>
              <a:gd name="adj" fmla="val 12000"/>
            </a:avLst>
          </a:prstGeom>
          <a:solidFill>
            <a:srgbClr val="E6EEF5"/>
          </a:solidFill>
          <a:ln>
            <a:noFill/>
          </a:ln>
          <a:effectLst/>
        </p:spPr>
        <p:txBody>
          <a:bodyPr rtlCol="0" anchor="t" wrap="square" lIns="137160" tIns="731520" rIns="109728" bIns="73152">
            <a:noAutofit/>
          </a:bodyPr>
          <a:lstStyle/>
          <a:p>
            <a:pPr algn="l">
              <a:spcAft>
                <a:spcPts val="200"/>
              </a:spcAft>
            </a:pPr>
            <a:r>
              <a:rPr sz="1600" b="1">
                <a:solidFill>
                  <a:srgbClr val="01416B"/>
                </a:solidFill>
                <a:latin typeface="Arial"/>
              </a:rPr>
              <a:t>Reason</a:t>
            </a:r>
          </a:p>
          <a:p>
            <a:pPr algn="l">
              <a:spcAft>
                <a:spcPts val="200"/>
              </a:spcAft>
            </a:pPr>
            <a:r>
              <a:rPr sz="1150" b="0">
                <a:solidFill>
                  <a:srgbClr val="617487"/>
                </a:solidFill>
                <a:latin typeface="Arial"/>
              </a:rPr>
              <a:t>proposes a decision</a:t>
            </a:r>
          </a:p>
          <a:p>
            <a:pPr algn="l">
              <a:spcAft>
                <a:spcPts val="200"/>
              </a:spcAft>
            </a:pPr>
            <a:r>
              <a:rPr sz="1150" b="0">
                <a:solidFill>
                  <a:srgbClr val="2E4357"/>
                </a:solidFill>
                <a:latin typeface="Arial"/>
              </a:rPr>
              <a:t> </a:t>
            </a:r>
          </a:p>
          <a:p>
            <a:pPr algn="l">
              <a:spcAft>
                <a:spcPts val="200"/>
              </a:spcAft>
            </a:pPr>
            <a:r>
              <a:rPr sz="1150" b="0">
                <a:solidFill>
                  <a:srgbClr val="2E4357"/>
                </a:solidFill>
                <a:latin typeface="Arial"/>
              </a:rPr>
              <a:t>Critical, confidence 0.84</a:t>
            </a:r>
          </a:p>
        </p:txBody>
      </p:sp>
      <p:sp>
        <p:nvSpPr>
          <p:cNvPr id="128" name="Oval 127"/>
          <p:cNvSpPr/>
          <p:nvPr/>
        </p:nvSpPr>
        <p:spPr>
          <a:xfrm>
            <a:off x="5248656" y="1947672"/>
            <a:ext cx="438912" cy="438912"/>
          </a:xfrm>
          <a:prstGeom prst="ellipse">
            <a:avLst/>
          </a:prstGeom>
          <a:solidFill>
            <a:srgbClr val="01416B"/>
          </a:solidFill>
          <a:ln>
            <a:noFill/>
          </a:ln>
          <a:effectLst/>
        </p:spPr>
        <p:txBody>
          <a:bodyPr rtlCol="0" anchor="ctr" wrap="square" lIns="0" tIns="0" rIns="0" bIns="0">
            <a:noAutofit/>
          </a:bodyPr>
          <a:lstStyle/>
          <a:p>
            <a:pPr algn="ctr"/>
            <a:r>
              <a:rPr sz="1500" b="1">
                <a:solidFill>
                  <a:srgbClr val="FFFFFF"/>
                </a:solidFill>
                <a:latin typeface="Arial"/>
              </a:rPr>
              <a:t>3</a:t>
            </a:r>
          </a:p>
        </p:txBody>
      </p:sp>
      <p:cxnSp>
        <p:nvCxnSpPr>
          <p:cNvPr id="129" name="Connector 128"/>
          <p:cNvCxnSpPr/>
          <p:nvPr/>
        </p:nvCxnSpPr>
        <p:spPr>
          <a:xfrm>
            <a:off x="7104888" y="2926080"/>
            <a:ext cx="237744" cy="0"/>
          </a:xfrm>
          <a:prstGeom prst="line">
            <a:avLst/>
          </a:prstGeom>
          <a:ln w="22225">
            <a:solidFill>
              <a:srgbClr val="2F6EA3"/>
            </a:solidFill>
            <a:tailEnd type="triangle" w="med" len="med"/>
          </a:ln>
        </p:spPr>
      </p:cxnSp>
      <p:sp>
        <p:nvSpPr>
          <p:cNvPr id="130" name="Rounded Rectangle 129"/>
          <p:cNvSpPr/>
          <p:nvPr/>
        </p:nvSpPr>
        <p:spPr>
          <a:xfrm>
            <a:off x="7370063" y="1783080"/>
            <a:ext cx="1965960" cy="2286000"/>
          </a:xfrm>
          <a:prstGeom prst="roundRect">
            <a:avLst>
              <a:gd name="adj" fmla="val 12000"/>
            </a:avLst>
          </a:prstGeom>
          <a:solidFill>
            <a:srgbClr val="FFF6C7"/>
          </a:solidFill>
          <a:ln w="12700">
            <a:solidFill>
              <a:srgbClr val="C9A400"/>
            </a:solidFill>
          </a:ln>
          <a:effectLst/>
        </p:spPr>
        <p:txBody>
          <a:bodyPr rtlCol="0" anchor="t" wrap="square" lIns="137160" tIns="731520" rIns="109728" bIns="73152">
            <a:noAutofit/>
          </a:bodyPr>
          <a:lstStyle/>
          <a:p>
            <a:pPr algn="l">
              <a:spcAft>
                <a:spcPts val="200"/>
              </a:spcAft>
            </a:pPr>
            <a:r>
              <a:rPr sz="1600" b="1">
                <a:solidFill>
                  <a:srgbClr val="01416B"/>
                </a:solidFill>
                <a:latin typeface="Arial"/>
              </a:rPr>
              <a:t>Act</a:t>
            </a:r>
          </a:p>
          <a:p>
            <a:pPr algn="l">
              <a:spcAft>
                <a:spcPts val="200"/>
              </a:spcAft>
            </a:pPr>
            <a:r>
              <a:rPr sz="1150" b="0">
                <a:solidFill>
                  <a:srgbClr val="617487"/>
                </a:solidFill>
                <a:latin typeface="Arial"/>
              </a:rPr>
              <a:t>acts behind a gate</a:t>
            </a:r>
          </a:p>
          <a:p>
            <a:pPr algn="l">
              <a:spcAft>
                <a:spcPts val="200"/>
              </a:spcAft>
            </a:pPr>
            <a:r>
              <a:rPr sz="1150" b="0">
                <a:solidFill>
                  <a:srgbClr val="2E4357"/>
                </a:solidFill>
                <a:latin typeface="Arial"/>
              </a:rPr>
              <a:t> </a:t>
            </a:r>
          </a:p>
          <a:p>
            <a:pPr algn="l">
              <a:spcAft>
                <a:spcPts val="200"/>
              </a:spcAft>
            </a:pPr>
            <a:r>
              <a:rPr sz="1150" b="0">
                <a:solidFill>
                  <a:srgbClr val="2E4357"/>
                </a:solidFill>
                <a:latin typeface="Arial"/>
              </a:rPr>
              <a:t>risk 1.00 &gt; 0.60, so it waits for a person</a:t>
            </a:r>
          </a:p>
        </p:txBody>
      </p:sp>
      <p:sp>
        <p:nvSpPr>
          <p:cNvPr id="131" name="Oval 130"/>
          <p:cNvSpPr/>
          <p:nvPr/>
        </p:nvSpPr>
        <p:spPr>
          <a:xfrm>
            <a:off x="7507223" y="1947672"/>
            <a:ext cx="438912" cy="438912"/>
          </a:xfrm>
          <a:prstGeom prst="ellipse">
            <a:avLst/>
          </a:prstGeom>
          <a:solidFill>
            <a:srgbClr val="01416B"/>
          </a:solidFill>
          <a:ln>
            <a:noFill/>
          </a:ln>
          <a:effectLst/>
        </p:spPr>
        <p:txBody>
          <a:bodyPr rtlCol="0" anchor="ctr" wrap="square" lIns="0" tIns="0" rIns="0" bIns="0">
            <a:noAutofit/>
          </a:bodyPr>
          <a:lstStyle/>
          <a:p>
            <a:pPr algn="ctr"/>
            <a:r>
              <a:rPr sz="1500" b="1">
                <a:solidFill>
                  <a:srgbClr val="FFFFFF"/>
                </a:solidFill>
                <a:latin typeface="Arial"/>
              </a:rPr>
              <a:t>4</a:t>
            </a:r>
          </a:p>
        </p:txBody>
      </p:sp>
      <p:cxnSp>
        <p:nvCxnSpPr>
          <p:cNvPr id="132" name="Connector 131"/>
          <p:cNvCxnSpPr/>
          <p:nvPr/>
        </p:nvCxnSpPr>
        <p:spPr>
          <a:xfrm>
            <a:off x="9363455" y="2926080"/>
            <a:ext cx="237745" cy="0"/>
          </a:xfrm>
          <a:prstGeom prst="line">
            <a:avLst/>
          </a:prstGeom>
          <a:ln w="22225">
            <a:solidFill>
              <a:srgbClr val="2F6EA3"/>
            </a:solidFill>
            <a:tailEnd type="triangle" w="med" len="med"/>
          </a:ln>
        </p:spPr>
      </p:cxnSp>
      <p:sp>
        <p:nvSpPr>
          <p:cNvPr id="133" name="Rounded Rectangle 132"/>
          <p:cNvSpPr/>
          <p:nvPr/>
        </p:nvSpPr>
        <p:spPr>
          <a:xfrm>
            <a:off x="9628632" y="1783080"/>
            <a:ext cx="1965960" cy="2286000"/>
          </a:xfrm>
          <a:prstGeom prst="roundRect">
            <a:avLst>
              <a:gd name="adj" fmla="val 12000"/>
            </a:avLst>
          </a:prstGeom>
          <a:solidFill>
            <a:srgbClr val="E6EEF5"/>
          </a:solidFill>
          <a:ln>
            <a:noFill/>
          </a:ln>
          <a:effectLst/>
        </p:spPr>
        <p:txBody>
          <a:bodyPr rtlCol="0" anchor="t" wrap="square" lIns="137160" tIns="731520" rIns="109728" bIns="73152">
            <a:noAutofit/>
          </a:bodyPr>
          <a:lstStyle/>
          <a:p>
            <a:pPr algn="l">
              <a:spcAft>
                <a:spcPts val="200"/>
              </a:spcAft>
            </a:pPr>
            <a:r>
              <a:rPr sz="1600" b="1">
                <a:solidFill>
                  <a:srgbClr val="01416B"/>
                </a:solidFill>
                <a:latin typeface="Arial"/>
              </a:rPr>
              <a:t>Report</a:t>
            </a:r>
          </a:p>
          <a:p>
            <a:pPr algn="l">
              <a:spcAft>
                <a:spcPts val="200"/>
              </a:spcAft>
            </a:pPr>
            <a:r>
              <a:rPr sz="1150" b="0">
                <a:solidFill>
                  <a:srgbClr val="617487"/>
                </a:solidFill>
                <a:latin typeface="Arial"/>
              </a:rPr>
              <a:t>writes an auditable result</a:t>
            </a:r>
          </a:p>
          <a:p>
            <a:pPr algn="l">
              <a:spcAft>
                <a:spcPts val="200"/>
              </a:spcAft>
            </a:pPr>
            <a:r>
              <a:rPr sz="1150" b="0">
                <a:solidFill>
                  <a:srgbClr val="2E4357"/>
                </a:solidFill>
                <a:latin typeface="Arial"/>
              </a:rPr>
              <a:t> </a:t>
            </a:r>
          </a:p>
          <a:p>
            <a:pPr algn="l">
              <a:spcAft>
                <a:spcPts val="200"/>
              </a:spcAft>
            </a:pPr>
            <a:r>
              <a:rPr sz="1150" b="0">
                <a:solidFill>
                  <a:srgbClr val="2E4357"/>
                </a:solidFill>
                <a:latin typeface="Arial"/>
              </a:rPr>
              <a:t>the values it checked go to the audit log</a:t>
            </a:r>
          </a:p>
        </p:txBody>
      </p:sp>
      <p:sp>
        <p:nvSpPr>
          <p:cNvPr id="134" name="Oval 133"/>
          <p:cNvSpPr/>
          <p:nvPr/>
        </p:nvSpPr>
        <p:spPr>
          <a:xfrm>
            <a:off x="9765792" y="1947672"/>
            <a:ext cx="438912" cy="438912"/>
          </a:xfrm>
          <a:prstGeom prst="ellipse">
            <a:avLst/>
          </a:prstGeom>
          <a:solidFill>
            <a:srgbClr val="01416B"/>
          </a:solidFill>
          <a:ln>
            <a:noFill/>
          </a:ln>
          <a:effectLst/>
        </p:spPr>
        <p:txBody>
          <a:bodyPr rtlCol="0" anchor="ctr" wrap="square" lIns="0" tIns="0" rIns="0" bIns="0">
            <a:noAutofit/>
          </a:bodyPr>
          <a:lstStyle/>
          <a:p>
            <a:pPr algn="ctr"/>
            <a:r>
              <a:rPr sz="1500" b="1">
                <a:solidFill>
                  <a:srgbClr val="FFFFFF"/>
                </a:solidFill>
                <a:latin typeface="Arial"/>
              </a:rPr>
              <a:t>5</a:t>
            </a:r>
          </a:p>
        </p:txBody>
      </p:sp>
      <p:sp>
        <p:nvSpPr>
          <p:cNvPr id="1" name="Freeform 0"/>
          <p:cNvSpPr/>
          <p:nvPr/>
        </p:nvSpPr>
        <p:spPr>
          <a:xfrm>
            <a:off x="1577340" y="4069080"/>
            <a:ext cx="9034271" cy="347472"/>
          </a:xfrm>
          <a:custGeom>
            <a:avLst/>
            <a:gdLst/>
            <a:ahLst/>
            <a:cxnLst/>
            <a:rect l="l" t="t" r="r" b="b"/>
            <a:pathLst>
              <a:path w="9034271" h="347472">
                <a:moveTo>
                  <a:pt x="9034271" y="0"/>
                </a:moveTo>
                <a:lnTo>
                  <a:pt x="9034271" y="347472"/>
                </a:lnTo>
                <a:lnTo>
                  <a:pt x="0" y="347472"/>
                </a:lnTo>
                <a:lnTo>
                  <a:pt x="0" y="18288"/>
                </a:lnTo>
              </a:path>
            </a:pathLst>
          </a:custGeom>
          <a:noFill/>
          <a:ln w="19050">
            <a:solidFill>
              <a:srgbClr val="2F6EA3"/>
            </a:solidFill>
            <a:tailEnd type="triangle" w="med" len="med"/>
          </a:ln>
          <a:effectLst/>
        </p:spPr>
        <p:txBody>
          <a:bodyPr rtlCol="0" anchor="ctr"/>
          <a:lstStyle/>
          <a:p>
            <a:pPr algn="ctr"/>
          </a:p>
        </p:txBody>
      </p:sp>
      <p:sp>
        <p:nvSpPr>
          <p:cNvPr id="135" name="Rounded Rectangle 134"/>
          <p:cNvSpPr/>
          <p:nvPr/>
        </p:nvSpPr>
        <p:spPr>
          <a:xfrm>
            <a:off x="5257800" y="4306824"/>
            <a:ext cx="1691640" cy="228600"/>
          </a:xfrm>
          <a:prstGeom prst="roundRect">
            <a:avLst>
              <a:gd name="adj" fmla="val 50000"/>
            </a:avLst>
          </a:prstGeom>
          <a:solidFill>
            <a:srgbClr val="FFFFFF"/>
          </a:solidFill>
          <a:ln w="12700">
            <a:solidFill>
              <a:srgbClr val="2F6EA3"/>
            </a:solidFill>
          </a:ln>
          <a:effectLst/>
        </p:spPr>
        <p:txBody>
          <a:bodyPr rtlCol="0" anchor="ctr" wrap="square" lIns="36576" tIns="0" rIns="36576" bIns="0">
            <a:noAutofit/>
          </a:bodyPr>
          <a:lstStyle/>
          <a:p>
            <a:pPr algn="ctr"/>
            <a:r>
              <a:rPr sz="1000" b="1">
                <a:solidFill>
                  <a:srgbClr val="2F6EA3"/>
                </a:solidFill>
                <a:latin typeface="Arial"/>
              </a:rPr>
              <a:t>next input</a:t>
            </a:r>
          </a:p>
        </p:txBody>
      </p:sp>
      <p:sp>
        <p:nvSpPr>
          <p:cNvPr id="136" name="Rounded Rectangle 135"/>
          <p:cNvSpPr/>
          <p:nvPr/>
        </p:nvSpPr>
        <p:spPr>
          <a:xfrm>
            <a:off x="594360" y="4754880"/>
            <a:ext cx="2612898" cy="868680"/>
          </a:xfrm>
          <a:prstGeom prst="roundRect">
            <a:avLst>
              <a:gd name="adj" fmla="val 12000"/>
            </a:avLst>
          </a:prstGeom>
          <a:solidFill>
            <a:srgbClr val="FFFFFF"/>
          </a:solidFill>
          <a:ln w="12700">
            <a:solidFill>
              <a:srgbClr val="D7E0E9"/>
            </a:solidFill>
          </a:ln>
          <a:effectLst/>
        </p:spPr>
        <p:txBody>
          <a:bodyPr rtlCol="0" anchor="t" wrap="square" lIns="128016" tIns="73152">
            <a:noAutofit/>
          </a:bodyPr>
          <a:lstStyle/>
          <a:p>
            <a:pPr algn="l">
              <a:spcAft>
                <a:spcPts val="100"/>
              </a:spcAft>
            </a:pPr>
            <a:r>
              <a:rPr sz="1250" b="1">
                <a:solidFill>
                  <a:srgbClr val="01416B"/>
                </a:solidFill>
                <a:latin typeface="Arial"/>
              </a:rPr>
              <a:t>Scouts</a:t>
            </a:r>
          </a:p>
          <a:p>
            <a:pPr algn="l">
              <a:spcAft>
                <a:spcPts val="100"/>
              </a:spcAft>
            </a:pPr>
            <a:r>
              <a:rPr sz="1100" b="0">
                <a:solidFill>
                  <a:srgbClr val="2E4357"/>
                </a:solidFill>
                <a:latin typeface="Arial"/>
              </a:rPr>
              <a:t>read feedback, visit the data nodes, watch releases</a:t>
            </a:r>
          </a:p>
        </p:txBody>
      </p:sp>
      <p:sp>
        <p:nvSpPr>
          <p:cNvPr id="137" name="Rounded Rectangle 136"/>
          <p:cNvSpPr/>
          <p:nvPr/>
        </p:nvSpPr>
        <p:spPr>
          <a:xfrm>
            <a:off x="3390138" y="4754880"/>
            <a:ext cx="2612898" cy="868680"/>
          </a:xfrm>
          <a:prstGeom prst="roundRect">
            <a:avLst>
              <a:gd name="adj" fmla="val 12000"/>
            </a:avLst>
          </a:prstGeom>
          <a:solidFill>
            <a:srgbClr val="FFFFFF"/>
          </a:solidFill>
          <a:ln w="12700">
            <a:solidFill>
              <a:srgbClr val="D7E0E9"/>
            </a:solidFill>
          </a:ln>
          <a:effectLst/>
        </p:spPr>
        <p:txBody>
          <a:bodyPr rtlCol="0" anchor="t" wrap="square" lIns="128016" tIns="73152">
            <a:noAutofit/>
          </a:bodyPr>
          <a:lstStyle/>
          <a:p>
            <a:pPr algn="l">
              <a:spcAft>
                <a:spcPts val="100"/>
              </a:spcAft>
            </a:pPr>
            <a:r>
              <a:rPr sz="1250" b="1">
                <a:solidFill>
                  <a:srgbClr val="01416B"/>
                </a:solidFill>
                <a:latin typeface="Arial"/>
              </a:rPr>
              <a:t>Brokers</a:t>
            </a:r>
          </a:p>
          <a:p>
            <a:pPr algn="l">
              <a:spcAft>
                <a:spcPts val="100"/>
              </a:spcAft>
            </a:pPr>
            <a:r>
              <a:rPr sz="1100" b="0">
                <a:solidFill>
                  <a:srgbClr val="2E4357"/>
                </a:solidFill>
                <a:latin typeface="Arial"/>
              </a:rPr>
              <a:t>check duplicates, judge impact, run the squad auction</a:t>
            </a:r>
          </a:p>
        </p:txBody>
      </p:sp>
      <p:sp>
        <p:nvSpPr>
          <p:cNvPr id="138" name="Rounded Rectangle 137"/>
          <p:cNvSpPr/>
          <p:nvPr/>
        </p:nvSpPr>
        <p:spPr>
          <a:xfrm>
            <a:off x="6185916" y="4754880"/>
            <a:ext cx="2612898" cy="868680"/>
          </a:xfrm>
          <a:prstGeom prst="roundRect">
            <a:avLst>
              <a:gd name="adj" fmla="val 12000"/>
            </a:avLst>
          </a:prstGeom>
          <a:solidFill>
            <a:srgbClr val="FFFFFF"/>
          </a:solidFill>
          <a:ln w="12700">
            <a:solidFill>
              <a:srgbClr val="D7E0E9"/>
            </a:solidFill>
          </a:ln>
          <a:effectLst/>
        </p:spPr>
        <p:txBody>
          <a:bodyPr rtlCol="0" anchor="t" wrap="square" lIns="128016" tIns="73152">
            <a:noAutofit/>
          </a:bodyPr>
          <a:lstStyle/>
          <a:p>
            <a:pPr algn="l">
              <a:spcAft>
                <a:spcPts val="100"/>
              </a:spcAft>
            </a:pPr>
            <a:r>
              <a:rPr sz="1250" b="1">
                <a:solidFill>
                  <a:srgbClr val="01416B"/>
                </a:solidFill>
                <a:latin typeface="Arial"/>
              </a:rPr>
              <a:t>Workers</a:t>
            </a:r>
          </a:p>
          <a:p>
            <a:pPr algn="l">
              <a:spcAft>
                <a:spcPts val="100"/>
              </a:spcAft>
            </a:pPr>
            <a:r>
              <a:rPr sz="1100" b="0">
                <a:solidFill>
                  <a:srgbClr val="2E4357"/>
                </a:solidFill>
                <a:latin typeface="Arial"/>
              </a:rPr>
              <a:t>investigate, plan, draft, test and release</a:t>
            </a:r>
          </a:p>
        </p:txBody>
      </p:sp>
      <p:sp>
        <p:nvSpPr>
          <p:cNvPr id="139" name="Rounded Rectangle 138"/>
          <p:cNvSpPr/>
          <p:nvPr/>
        </p:nvSpPr>
        <p:spPr>
          <a:xfrm>
            <a:off x="8981694" y="4754880"/>
            <a:ext cx="2612898" cy="868680"/>
          </a:xfrm>
          <a:prstGeom prst="roundRect">
            <a:avLst>
              <a:gd name="adj" fmla="val 12000"/>
            </a:avLst>
          </a:prstGeom>
          <a:solidFill>
            <a:srgbClr val="FFFFFF"/>
          </a:solidFill>
          <a:ln w="12700">
            <a:solidFill>
              <a:srgbClr val="D7E0E9"/>
            </a:solidFill>
          </a:ln>
          <a:effectLst/>
        </p:spPr>
        <p:txBody>
          <a:bodyPr rtlCol="0" anchor="t" wrap="square" lIns="128016" tIns="73152">
            <a:noAutofit/>
          </a:bodyPr>
          <a:lstStyle/>
          <a:p>
            <a:pPr algn="l">
              <a:spcAft>
                <a:spcPts val="100"/>
              </a:spcAft>
            </a:pPr>
            <a:r>
              <a:rPr sz="1250" b="1">
                <a:solidFill>
                  <a:srgbClr val="01416B"/>
                </a:solidFill>
                <a:latin typeface="Arial"/>
              </a:rPr>
              <a:t>Security</a:t>
            </a:r>
          </a:p>
          <a:p>
            <a:pPr algn="l">
              <a:spcAft>
                <a:spcPts val="100"/>
              </a:spcAft>
            </a:pPr>
            <a:r>
              <a:rPr sz="1100" b="0">
                <a:solidFill>
                  <a:srgbClr val="2E4357"/>
                </a:solidFill>
                <a:latin typeface="Arial"/>
              </a:rPr>
              <a:t>runs the six gates, where a person decides</a:t>
            </a:r>
          </a:p>
        </p:txBody>
      </p:sp>
      <p:sp>
        <p:nvSpPr>
          <p:cNvPr id="140" name="TextBox 139"/>
          <p:cNvSpPr txBox="1"/>
          <p:nvPr/>
        </p:nvSpPr>
        <p:spPr>
          <a:xfrm>
            <a:off x="594360" y="5715000"/>
            <a:ext cx="11000232" cy="274320"/>
          </a:xfrm>
          <a:prstGeom prst="rect">
            <a:avLst/>
          </a:prstGeom>
          <a:noFill/>
        </p:spPr>
        <p:txBody>
          <a:bodyPr wrap="square" lIns="18288" tIns="0" rIns="18288" bIns="0" anchor="t">
            <a:noAutofit/>
          </a:bodyPr>
          <a:lstStyle/>
          <a:p>
            <a:pPr algn="l"/>
            <a:r>
              <a:rPr sz="1100" b="0">
                <a:solidFill>
                  <a:srgbClr val="617487"/>
                </a:solidFill>
                <a:latin typeface="Arial"/>
              </a:rPr>
              <a:t>A role says what an agent is responsible for; mobility says where it runs. Only Scout-Log travels.</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5"/>
          <p:cNvSpPr txBox="1"/>
          <p:nvPr>
            <p:ph type="title"/>
          </p:nvPr>
        </p:nvSpPr>
        <p:spPr>
          <a:xfrm>
            <a:off x="594360" y="301752"/>
            <a:ext cx="9372600" cy="621792"/>
          </a:xfrm>
          <a:prstGeom prst="rect">
            <a:avLst/>
          </a:prstGeom>
          <a:noFill/>
          <a:ln>
            <a:noFill/>
          </a:ln>
        </p:spPr>
        <p:txBody>
          <a:bodyPr anchorCtr="0" anchor="b" bIns="0" lIns="0" spcFirstLastPara="1" rIns="0" wrap="square" tIns="0">
            <a:normAutofit/>
          </a:bodyPr>
          <a:lstStyle/>
          <a:p>
            <a:pPr indent="0" lvl="0" marL="0" rtl="0" algn="l">
              <a:lnSpc>
                <a:spcPct val="90000"/>
              </a:lnSpc>
              <a:spcBef>
                <a:spcPts val="0"/>
              </a:spcBef>
              <a:spcAft>
                <a:spcPts val="0"/>
              </a:spcAft>
              <a:buClr>
                <a:srgbClr val="01416B"/>
              </a:buClr>
              <a:buSzPts val="2800"/>
              <a:buFont typeface="Arial"/>
              <a:buNone/>
            </a:pPr>
            <a:r>
              <a:rPr b="1" lang="en-US" sz="2800"/>
              <a:t>A0–A3 change the coordination architecture</a:t>
            </a:r>
            <a:endParaRPr/>
          </a:p>
        </p:txBody>
      </p:sp>
      <p:sp>
        <p:nvSpPr>
          <p:cNvPr id="150" name="Google Shape;150;p5"/>
          <p:cNvSpPr/>
          <p:nvPr/>
        </p:nvSpPr>
        <p:spPr>
          <a:xfrm>
            <a:off x="590550" y="990600"/>
            <a:ext cx="685800" cy="47625"/>
          </a:xfrm>
          <a:prstGeom prst="rect">
            <a:avLst/>
          </a:prstGeom>
          <a:solidFill>
            <a:srgbClr val="FDD40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1" name="Google Shape;151;p5"/>
          <p:cNvSpPr/>
          <p:nvPr/>
        </p:nvSpPr>
        <p:spPr>
          <a:xfrm>
            <a:off x="590550" y="1123950"/>
            <a:ext cx="11001375" cy="34290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575">
                <a:solidFill>
                  <a:srgbClr val="617487"/>
                </a:solidFill>
                <a:latin typeface="Arial"/>
                <a:ea typeface="Arial"/>
                <a:cs typeface="Arial"/>
                <a:sym typeface="Arial"/>
              </a:rPr>
              <a:t>All four arms use the same seeded synthetic tickets and five seeds</a:t>
            </a:r>
            <a:endParaRPr/>
          </a:p>
        </p:txBody>
      </p:sp>
      <p:sp>
        <p:nvSpPr>
          <p:cNvPr id="152" name="Google Shape;152;p5"/>
          <p:cNvSpPr/>
          <p:nvPr/>
        </p:nvSpPr>
        <p:spPr>
          <a:xfrm>
            <a:off x="723900" y="1695450"/>
            <a:ext cx="1666875" cy="30480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575">
                <a:solidFill>
                  <a:srgbClr val="617487"/>
                </a:solidFill>
                <a:latin typeface="Arial"/>
                <a:ea typeface="Arial"/>
                <a:cs typeface="Arial"/>
                <a:sym typeface="Arial"/>
              </a:rPr>
              <a:t>ARM</a:t>
            </a:r>
            <a:endParaRPr/>
          </a:p>
        </p:txBody>
      </p:sp>
      <p:sp>
        <p:nvSpPr>
          <p:cNvPr id="153" name="Google Shape;153;p5"/>
          <p:cNvSpPr/>
          <p:nvPr/>
        </p:nvSpPr>
        <p:spPr>
          <a:xfrm>
            <a:off x="2800350" y="1695450"/>
            <a:ext cx="1809750" cy="30480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575">
                <a:solidFill>
                  <a:srgbClr val="01416B"/>
                </a:solidFill>
                <a:latin typeface="Arial"/>
                <a:ea typeface="Arial"/>
                <a:cs typeface="Arial"/>
                <a:sym typeface="Arial"/>
              </a:rPr>
              <a:t>A0</a:t>
            </a:r>
            <a:endParaRPr/>
          </a:p>
        </p:txBody>
      </p:sp>
      <p:sp>
        <p:nvSpPr>
          <p:cNvPr id="154" name="Google Shape;154;p5"/>
          <p:cNvSpPr/>
          <p:nvPr/>
        </p:nvSpPr>
        <p:spPr>
          <a:xfrm>
            <a:off x="4953000" y="1695450"/>
            <a:ext cx="1809750" cy="30480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575">
                <a:solidFill>
                  <a:srgbClr val="01416B"/>
                </a:solidFill>
                <a:latin typeface="Arial"/>
                <a:ea typeface="Arial"/>
                <a:cs typeface="Arial"/>
                <a:sym typeface="Arial"/>
              </a:rPr>
              <a:t>A1</a:t>
            </a:r>
            <a:endParaRPr/>
          </a:p>
        </p:txBody>
      </p:sp>
      <p:sp>
        <p:nvSpPr>
          <p:cNvPr id="155" name="Google Shape;155;p5"/>
          <p:cNvSpPr/>
          <p:nvPr/>
        </p:nvSpPr>
        <p:spPr>
          <a:xfrm>
            <a:off x="7296150" y="1695450"/>
            <a:ext cx="1809750" cy="30480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575">
                <a:solidFill>
                  <a:srgbClr val="01416B"/>
                </a:solidFill>
                <a:latin typeface="Arial"/>
                <a:ea typeface="Arial"/>
                <a:cs typeface="Arial"/>
                <a:sym typeface="Arial"/>
              </a:rPr>
              <a:t>A2</a:t>
            </a:r>
            <a:endParaRPr/>
          </a:p>
        </p:txBody>
      </p:sp>
      <p:sp>
        <p:nvSpPr>
          <p:cNvPr id="156" name="Google Shape;156;p5"/>
          <p:cNvSpPr/>
          <p:nvPr/>
        </p:nvSpPr>
        <p:spPr>
          <a:xfrm>
            <a:off x="9620250" y="1695450"/>
            <a:ext cx="1809750" cy="30480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575">
                <a:solidFill>
                  <a:srgbClr val="01416B"/>
                </a:solidFill>
                <a:latin typeface="Arial"/>
                <a:ea typeface="Arial"/>
                <a:cs typeface="Arial"/>
                <a:sym typeface="Arial"/>
              </a:rPr>
              <a:t>A3</a:t>
            </a:r>
            <a:endParaRPr/>
          </a:p>
        </p:txBody>
      </p:sp>
      <p:sp>
        <p:nvSpPr>
          <p:cNvPr id="157" name="Google Shape;157;p5"/>
          <p:cNvSpPr/>
          <p:nvPr/>
        </p:nvSpPr>
        <p:spPr>
          <a:xfrm>
            <a:off x="723900" y="2066925"/>
            <a:ext cx="10744200" cy="19050"/>
          </a:xfrm>
          <a:prstGeom prst="rect">
            <a:avLst/>
          </a:prstGeom>
          <a:solidFill>
            <a:srgbClr val="D7E0E9"/>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8" name="Google Shape;158;p5"/>
          <p:cNvSpPr/>
          <p:nvPr/>
        </p:nvSpPr>
        <p:spPr>
          <a:xfrm>
            <a:off x="723900" y="2209800"/>
            <a:ext cx="1857375" cy="49530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350">
                <a:solidFill>
                  <a:srgbClr val="01416B"/>
                </a:solidFill>
                <a:latin typeface="Arial"/>
                <a:ea typeface="Arial"/>
                <a:cs typeface="Arial"/>
                <a:sym typeface="Arial"/>
              </a:rPr>
              <a:t>Architecture</a:t>
            </a:r>
            <a:endParaRPr/>
          </a:p>
        </p:txBody>
      </p:sp>
      <p:sp>
        <p:nvSpPr>
          <p:cNvPr id="159" name="Google Shape;159;p5"/>
          <p:cNvSpPr/>
          <p:nvPr/>
        </p:nvSpPr>
        <p:spPr>
          <a:xfrm>
            <a:off x="2800350" y="2209800"/>
            <a:ext cx="1857375" cy="49530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None/>
            </a:pPr>
            <a:r>
              <a:rPr b="0" lang="en-US" sz="1350">
                <a:solidFill>
                  <a:srgbClr val="2E4357"/>
                </a:solidFill>
                <a:latin typeface="Arial"/>
                <a:ea typeface="Arial"/>
                <a:cs typeface="Arial"/>
                <a:sym typeface="Arial"/>
              </a:rPr>
              <a:t>Rules, one process</a:t>
            </a:r>
            <a:endParaRPr/>
          </a:p>
        </p:txBody>
      </p:sp>
      <p:sp>
        <p:nvSpPr>
          <p:cNvPr id="160" name="Google Shape;160;p5"/>
          <p:cNvSpPr/>
          <p:nvPr/>
        </p:nvSpPr>
        <p:spPr>
          <a:xfrm>
            <a:off x="4953000" y="2209800"/>
            <a:ext cx="1857375" cy="49530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None/>
            </a:pPr>
            <a:r>
              <a:rPr b="0" lang="en-US" sz="1350">
                <a:solidFill>
                  <a:srgbClr val="2E4357"/>
                </a:solidFill>
                <a:latin typeface="Arial"/>
                <a:ea typeface="Arial"/>
                <a:cs typeface="Arial"/>
                <a:sym typeface="Arial"/>
              </a:rPr>
              <a:t>One agent</a:t>
            </a:r>
            <a:endParaRPr/>
          </a:p>
        </p:txBody>
      </p:sp>
      <p:sp>
        <p:nvSpPr>
          <p:cNvPr id="161" name="Google Shape;161;p5"/>
          <p:cNvSpPr/>
          <p:nvPr/>
        </p:nvSpPr>
        <p:spPr>
          <a:xfrm>
            <a:off x="7296150" y="2209800"/>
            <a:ext cx="1857375" cy="49530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None/>
            </a:pPr>
            <a:r>
              <a:rPr b="0" lang="en-US" sz="1350">
                <a:solidFill>
                  <a:srgbClr val="2E4357"/>
                </a:solidFill>
                <a:latin typeface="Arial"/>
                <a:ea typeface="Arial"/>
                <a:cs typeface="Arial"/>
                <a:sym typeface="Arial"/>
              </a:rPr>
              <a:t>Multiple static agents</a:t>
            </a:r>
            <a:endParaRPr/>
          </a:p>
        </p:txBody>
      </p:sp>
      <p:sp>
        <p:nvSpPr>
          <p:cNvPr id="162" name="Google Shape;162;p5"/>
          <p:cNvSpPr/>
          <p:nvPr/>
        </p:nvSpPr>
        <p:spPr>
          <a:xfrm>
            <a:off x="9620250" y="2209800"/>
            <a:ext cx="1857375" cy="49530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None/>
            </a:pPr>
            <a:r>
              <a:rPr b="0" lang="en-US" sz="1350">
                <a:solidFill>
                  <a:srgbClr val="2E4357"/>
                </a:solidFill>
                <a:latin typeface="Arial"/>
                <a:ea typeface="Arial"/>
                <a:cs typeface="Arial"/>
                <a:sym typeface="Arial"/>
              </a:rPr>
              <a:t>Multi-agent + mobile agent</a:t>
            </a:r>
            <a:endParaRPr/>
          </a:p>
        </p:txBody>
      </p:sp>
      <p:sp>
        <p:nvSpPr>
          <p:cNvPr id="163" name="Google Shape;163;p5"/>
          <p:cNvSpPr/>
          <p:nvPr/>
        </p:nvSpPr>
        <p:spPr>
          <a:xfrm>
            <a:off x="723900" y="2752725"/>
            <a:ext cx="10744200" cy="9525"/>
          </a:xfrm>
          <a:prstGeom prst="rect">
            <a:avLst/>
          </a:prstGeom>
          <a:solidFill>
            <a:srgbClr val="D7E0E9"/>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4" name="Google Shape;164;p5"/>
          <p:cNvSpPr/>
          <p:nvPr/>
        </p:nvSpPr>
        <p:spPr>
          <a:xfrm>
            <a:off x="723900" y="2838450"/>
            <a:ext cx="1857375" cy="49530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350">
                <a:solidFill>
                  <a:srgbClr val="01416B"/>
                </a:solidFill>
                <a:latin typeface="Arial"/>
                <a:ea typeface="Arial"/>
                <a:cs typeface="Arial"/>
                <a:sym typeface="Arial"/>
              </a:rPr>
              <a:t>Coordination</a:t>
            </a:r>
            <a:endParaRPr/>
          </a:p>
        </p:txBody>
      </p:sp>
      <p:sp>
        <p:nvSpPr>
          <p:cNvPr id="165" name="Google Shape;165;p5"/>
          <p:cNvSpPr/>
          <p:nvPr/>
        </p:nvSpPr>
        <p:spPr>
          <a:xfrm>
            <a:off x="2800350" y="2838450"/>
            <a:ext cx="1857375" cy="49530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None/>
            </a:pPr>
            <a:r>
              <a:rPr b="0" lang="en-US" sz="1350">
                <a:solidFill>
                  <a:srgbClr val="2E4357"/>
                </a:solidFill>
                <a:latin typeface="Arial"/>
                <a:ea typeface="Arial"/>
                <a:cs typeface="Arial"/>
                <a:sym typeface="Arial"/>
              </a:rPr>
              <a:t>No agent messages</a:t>
            </a:r>
            <a:endParaRPr/>
          </a:p>
        </p:txBody>
      </p:sp>
      <p:sp>
        <p:nvSpPr>
          <p:cNvPr id="166" name="Google Shape;166;p5"/>
          <p:cNvSpPr/>
          <p:nvPr/>
        </p:nvSpPr>
        <p:spPr>
          <a:xfrm>
            <a:off x="4953000" y="2838450"/>
            <a:ext cx="1857375" cy="49530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None/>
            </a:pPr>
            <a:r>
              <a:rPr b="0" lang="en-US" sz="1350">
                <a:solidFill>
                  <a:srgbClr val="2E4357"/>
                </a:solidFill>
                <a:latin typeface="Arial"/>
                <a:ea typeface="Arial"/>
                <a:cs typeface="Arial"/>
                <a:sym typeface="Arial"/>
              </a:rPr>
              <a:t>One agent loop</a:t>
            </a:r>
            <a:endParaRPr/>
          </a:p>
        </p:txBody>
      </p:sp>
      <p:sp>
        <p:nvSpPr>
          <p:cNvPr id="167" name="Google Shape;167;p5"/>
          <p:cNvSpPr/>
          <p:nvPr/>
        </p:nvSpPr>
        <p:spPr>
          <a:xfrm>
            <a:off x="7296150" y="2838450"/>
            <a:ext cx="1857375" cy="49530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None/>
            </a:pPr>
            <a:r>
              <a:rPr b="0" lang="en-US" sz="1350">
                <a:solidFill>
                  <a:srgbClr val="2E4357"/>
                </a:solidFill>
                <a:latin typeface="Arial"/>
                <a:ea typeface="Arial"/>
                <a:cs typeface="Arial"/>
                <a:sym typeface="Arial"/>
              </a:rPr>
              <a:t>Agent messages between roles</a:t>
            </a:r>
            <a:endParaRPr/>
          </a:p>
        </p:txBody>
      </p:sp>
      <p:sp>
        <p:nvSpPr>
          <p:cNvPr id="168" name="Google Shape;168;p5"/>
          <p:cNvSpPr/>
          <p:nvPr/>
        </p:nvSpPr>
        <p:spPr>
          <a:xfrm>
            <a:off x="9620250" y="2838450"/>
            <a:ext cx="1857375" cy="49530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None/>
            </a:pPr>
            <a:r>
              <a:rPr b="0" lang="en-US" sz="1350">
                <a:solidFill>
                  <a:srgbClr val="2E4357"/>
                </a:solidFill>
                <a:latin typeface="Arial"/>
                <a:ea typeface="Arial"/>
                <a:cs typeface="Arial"/>
                <a:sym typeface="Arial"/>
              </a:rPr>
              <a:t>Messages + signed bundle to node</a:t>
            </a:r>
            <a:endParaRPr/>
          </a:p>
        </p:txBody>
      </p:sp>
      <p:sp>
        <p:nvSpPr>
          <p:cNvPr id="169" name="Google Shape;169;p5"/>
          <p:cNvSpPr/>
          <p:nvPr/>
        </p:nvSpPr>
        <p:spPr>
          <a:xfrm>
            <a:off x="723900" y="3381375"/>
            <a:ext cx="10744200" cy="9525"/>
          </a:xfrm>
          <a:prstGeom prst="rect">
            <a:avLst/>
          </a:prstGeom>
          <a:solidFill>
            <a:srgbClr val="D7E0E9"/>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70" name="Google Shape;170;p5"/>
          <p:cNvSpPr/>
          <p:nvPr/>
        </p:nvSpPr>
        <p:spPr>
          <a:xfrm>
            <a:off x="723900" y="3467100"/>
            <a:ext cx="1857375" cy="49530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350">
                <a:solidFill>
                  <a:srgbClr val="01416B"/>
                </a:solidFill>
                <a:latin typeface="Arial"/>
                <a:ea typeface="Arial"/>
                <a:cs typeface="Arial"/>
                <a:sym typeface="Arial"/>
              </a:rPr>
              <a:t>Work location</a:t>
            </a:r>
            <a:endParaRPr/>
          </a:p>
        </p:txBody>
      </p:sp>
      <p:sp>
        <p:nvSpPr>
          <p:cNvPr id="171" name="Google Shape;171;p5"/>
          <p:cNvSpPr/>
          <p:nvPr/>
        </p:nvSpPr>
        <p:spPr>
          <a:xfrm>
            <a:off x="2800350" y="3467100"/>
            <a:ext cx="1857375" cy="49530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None/>
            </a:pPr>
            <a:r>
              <a:rPr b="0" lang="en-US" sz="1350">
                <a:solidFill>
                  <a:srgbClr val="2E4357"/>
                </a:solidFill>
                <a:latin typeface="Arial"/>
                <a:ea typeface="Arial"/>
                <a:cs typeface="Arial"/>
                <a:sym typeface="Arial"/>
              </a:rPr>
              <a:t>Central process</a:t>
            </a:r>
            <a:endParaRPr/>
          </a:p>
        </p:txBody>
      </p:sp>
      <p:sp>
        <p:nvSpPr>
          <p:cNvPr id="172" name="Google Shape;172;p5"/>
          <p:cNvSpPr/>
          <p:nvPr/>
        </p:nvSpPr>
        <p:spPr>
          <a:xfrm>
            <a:off x="4953000" y="3467100"/>
            <a:ext cx="1857375" cy="49530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None/>
            </a:pPr>
            <a:r>
              <a:rPr b="0" lang="en-US" sz="1350">
                <a:solidFill>
                  <a:srgbClr val="2E4357"/>
                </a:solidFill>
                <a:latin typeface="Arial"/>
                <a:ea typeface="Arial"/>
                <a:cs typeface="Arial"/>
                <a:sym typeface="Arial"/>
              </a:rPr>
              <a:t>Central process</a:t>
            </a:r>
            <a:endParaRPr/>
          </a:p>
        </p:txBody>
      </p:sp>
      <p:sp>
        <p:nvSpPr>
          <p:cNvPr id="173" name="Google Shape;173;p5"/>
          <p:cNvSpPr/>
          <p:nvPr/>
        </p:nvSpPr>
        <p:spPr>
          <a:xfrm>
            <a:off x="7296150" y="3467100"/>
            <a:ext cx="1857375" cy="49530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None/>
            </a:pPr>
            <a:r>
              <a:rPr b="0" lang="en-US" sz="1350">
                <a:solidFill>
                  <a:srgbClr val="2E4357"/>
                </a:solidFill>
                <a:latin typeface="Arial"/>
                <a:ea typeface="Arial"/>
                <a:cs typeface="Arial"/>
                <a:sym typeface="Arial"/>
              </a:rPr>
              <a:t>Agents run centrally</a:t>
            </a:r>
            <a:endParaRPr/>
          </a:p>
        </p:txBody>
      </p:sp>
      <p:sp>
        <p:nvSpPr>
          <p:cNvPr id="174" name="Google Shape;174;p5"/>
          <p:cNvSpPr/>
          <p:nvPr/>
        </p:nvSpPr>
        <p:spPr>
          <a:xfrm>
            <a:off x="9620250" y="3467100"/>
            <a:ext cx="1857375" cy="49530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None/>
            </a:pPr>
            <a:r>
              <a:rPr b="0" lang="en-US" sz="1350">
                <a:solidFill>
                  <a:srgbClr val="2E4357"/>
                </a:solidFill>
                <a:latin typeface="Arial"/>
                <a:ea typeface="Arial"/>
                <a:cs typeface="Arial"/>
                <a:sym typeface="Arial"/>
              </a:rPr>
              <a:t>Serialized mobile bundle at investigation</a:t>
            </a:r>
            <a:endParaRPr/>
          </a:p>
        </p:txBody>
      </p:sp>
      <p:sp>
        <p:nvSpPr>
          <p:cNvPr id="175" name="Google Shape;175;p5"/>
          <p:cNvSpPr/>
          <p:nvPr/>
        </p:nvSpPr>
        <p:spPr>
          <a:xfrm>
            <a:off x="723900" y="4010025"/>
            <a:ext cx="10744200" cy="9525"/>
          </a:xfrm>
          <a:prstGeom prst="rect">
            <a:avLst/>
          </a:prstGeom>
          <a:solidFill>
            <a:srgbClr val="D7E0E9"/>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76" name="Google Shape;176;p5"/>
          <p:cNvSpPr/>
          <p:nvPr/>
        </p:nvSpPr>
        <p:spPr>
          <a:xfrm>
            <a:off x="723900" y="4095750"/>
            <a:ext cx="1857375" cy="49530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350">
                <a:solidFill>
                  <a:srgbClr val="01416B"/>
                </a:solidFill>
                <a:latin typeface="Arial"/>
                <a:ea typeface="Arial"/>
                <a:cs typeface="Arial"/>
                <a:sym typeface="Arial"/>
              </a:rPr>
              <a:t>Measured mean bytes / ticket</a:t>
            </a:r>
            <a:endParaRPr/>
          </a:p>
        </p:txBody>
      </p:sp>
      <p:sp>
        <p:nvSpPr>
          <p:cNvPr id="177" name="Google Shape;177;p5"/>
          <p:cNvSpPr/>
          <p:nvPr/>
        </p:nvSpPr>
        <p:spPr>
          <a:xfrm>
            <a:off x="2800350" y="4095750"/>
            <a:ext cx="1857375" cy="49530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None/>
            </a:pPr>
            <a:r>
              <a:rPr b="0" lang="en-US" sz="1350">
                <a:solidFill>
                  <a:srgbClr val="2E4357"/>
                </a:solidFill>
                <a:latin typeface="Arial"/>
                <a:ea typeface="Arial"/>
                <a:cs typeface="Arial"/>
                <a:sym typeface="Arial"/>
              </a:rPr>
              <a:t>0</a:t>
            </a:r>
            <a:endParaRPr/>
          </a:p>
        </p:txBody>
      </p:sp>
      <p:sp>
        <p:nvSpPr>
          <p:cNvPr id="178" name="Google Shape;178;p5"/>
          <p:cNvSpPr/>
          <p:nvPr/>
        </p:nvSpPr>
        <p:spPr>
          <a:xfrm>
            <a:off x="4953000" y="4095750"/>
            <a:ext cx="1857375" cy="49530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None/>
            </a:pPr>
            <a:r>
              <a:rPr b="0" lang="en-US" sz="1350">
                <a:solidFill>
                  <a:srgbClr val="2E4357"/>
                </a:solidFill>
                <a:latin typeface="Arial"/>
                <a:ea typeface="Arial"/>
                <a:cs typeface="Arial"/>
                <a:sym typeface="Arial"/>
              </a:rPr>
              <a:t>1,778</a:t>
            </a:r>
            <a:endParaRPr/>
          </a:p>
        </p:txBody>
      </p:sp>
      <p:sp>
        <p:nvSpPr>
          <p:cNvPr id="179" name="Google Shape;179;p5"/>
          <p:cNvSpPr/>
          <p:nvPr/>
        </p:nvSpPr>
        <p:spPr>
          <a:xfrm>
            <a:off x="7296150" y="4095750"/>
            <a:ext cx="1857375" cy="49530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None/>
            </a:pPr>
            <a:r>
              <a:rPr b="0" lang="en-US" sz="1350">
                <a:solidFill>
                  <a:srgbClr val="2E4357"/>
                </a:solidFill>
                <a:latin typeface="Arial"/>
                <a:ea typeface="Arial"/>
                <a:cs typeface="Arial"/>
                <a:sym typeface="Arial"/>
              </a:rPr>
              <a:t>3,556</a:t>
            </a:r>
            <a:endParaRPr/>
          </a:p>
        </p:txBody>
      </p:sp>
      <p:sp>
        <p:nvSpPr>
          <p:cNvPr id="180" name="Google Shape;180;p5"/>
          <p:cNvSpPr/>
          <p:nvPr/>
        </p:nvSpPr>
        <p:spPr>
          <a:xfrm>
            <a:off x="9620250" y="4095750"/>
            <a:ext cx="1857375" cy="49530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None/>
            </a:pPr>
            <a:r>
              <a:rPr b="0" lang="en-US" sz="1350">
                <a:solidFill>
                  <a:srgbClr val="2E4357"/>
                </a:solidFill>
                <a:latin typeface="Arial"/>
                <a:ea typeface="Arial"/>
                <a:cs typeface="Arial"/>
                <a:sym typeface="Arial"/>
              </a:rPr>
              <a:t>4,161</a:t>
            </a:r>
            <a:endParaRPr/>
          </a:p>
        </p:txBody>
      </p:sp>
      <p:sp>
        <p:nvSpPr>
          <p:cNvPr id="181" name="Google Shape;181;p5"/>
          <p:cNvSpPr/>
          <p:nvPr/>
        </p:nvSpPr>
        <p:spPr>
          <a:xfrm>
            <a:off x="723900" y="4638675"/>
            <a:ext cx="10744200" cy="9525"/>
          </a:xfrm>
          <a:prstGeom prst="rect">
            <a:avLst/>
          </a:prstGeom>
          <a:solidFill>
            <a:srgbClr val="D7E0E9"/>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2" name="Google Shape;182;p5"/>
          <p:cNvSpPr/>
          <p:nvPr/>
        </p:nvSpPr>
        <p:spPr>
          <a:xfrm>
            <a:off x="723900" y="4724400"/>
            <a:ext cx="1857375" cy="49530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350">
                <a:solidFill>
                  <a:srgbClr val="01416B"/>
                </a:solidFill>
                <a:latin typeface="Arial"/>
                <a:ea typeface="Arial"/>
                <a:cs typeface="Arial"/>
                <a:sym typeface="Arial"/>
              </a:rPr>
              <a:t>Mean messages / ticket</a:t>
            </a:r>
            <a:endParaRPr/>
          </a:p>
        </p:txBody>
      </p:sp>
      <p:sp>
        <p:nvSpPr>
          <p:cNvPr id="183" name="Google Shape;183;p5"/>
          <p:cNvSpPr/>
          <p:nvPr/>
        </p:nvSpPr>
        <p:spPr>
          <a:xfrm>
            <a:off x="2800350" y="4724400"/>
            <a:ext cx="1857375" cy="49530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None/>
            </a:pPr>
            <a:r>
              <a:rPr b="0" lang="en-US" sz="1350">
                <a:solidFill>
                  <a:srgbClr val="2E4357"/>
                </a:solidFill>
                <a:latin typeface="Arial"/>
                <a:ea typeface="Arial"/>
                <a:cs typeface="Arial"/>
                <a:sym typeface="Arial"/>
              </a:rPr>
              <a:t>0</a:t>
            </a:r>
            <a:endParaRPr/>
          </a:p>
        </p:txBody>
      </p:sp>
      <p:sp>
        <p:nvSpPr>
          <p:cNvPr id="184" name="Google Shape;184;p5"/>
          <p:cNvSpPr/>
          <p:nvPr/>
        </p:nvSpPr>
        <p:spPr>
          <a:xfrm>
            <a:off x="4953000" y="4724400"/>
            <a:ext cx="1857375" cy="49530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None/>
            </a:pPr>
            <a:r>
              <a:rPr b="0" lang="en-US" sz="1350">
                <a:solidFill>
                  <a:srgbClr val="2E4357"/>
                </a:solidFill>
                <a:latin typeface="Arial"/>
                <a:ea typeface="Arial"/>
                <a:cs typeface="Arial"/>
                <a:sym typeface="Arial"/>
              </a:rPr>
              <a:t>6</a:t>
            </a:r>
            <a:endParaRPr/>
          </a:p>
        </p:txBody>
      </p:sp>
      <p:sp>
        <p:nvSpPr>
          <p:cNvPr id="185" name="Google Shape;185;p5"/>
          <p:cNvSpPr/>
          <p:nvPr/>
        </p:nvSpPr>
        <p:spPr>
          <a:xfrm>
            <a:off x="7296150" y="4724400"/>
            <a:ext cx="1857375" cy="49530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None/>
            </a:pPr>
            <a:r>
              <a:rPr b="0" lang="en-US" sz="1350">
                <a:solidFill>
                  <a:srgbClr val="2E4357"/>
                </a:solidFill>
                <a:latin typeface="Arial"/>
                <a:ea typeface="Arial"/>
                <a:cs typeface="Arial"/>
                <a:sym typeface="Arial"/>
              </a:rPr>
              <a:t>12</a:t>
            </a:r>
            <a:endParaRPr/>
          </a:p>
        </p:txBody>
      </p:sp>
      <p:sp>
        <p:nvSpPr>
          <p:cNvPr id="186" name="Google Shape;186;p5"/>
          <p:cNvSpPr/>
          <p:nvPr/>
        </p:nvSpPr>
        <p:spPr>
          <a:xfrm>
            <a:off x="9620250" y="4724400"/>
            <a:ext cx="1857375" cy="49530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None/>
            </a:pPr>
            <a:r>
              <a:rPr b="0" lang="en-US" sz="1350">
                <a:solidFill>
                  <a:srgbClr val="2E4357"/>
                </a:solidFill>
                <a:latin typeface="Arial"/>
                <a:ea typeface="Arial"/>
                <a:cs typeface="Arial"/>
                <a:sym typeface="Arial"/>
              </a:rPr>
              <a:t>13</a:t>
            </a:r>
            <a:endParaRPr/>
          </a:p>
        </p:txBody>
      </p:sp>
      <p:sp>
        <p:nvSpPr>
          <p:cNvPr id="187" name="Google Shape;187;p5"/>
          <p:cNvSpPr/>
          <p:nvPr/>
        </p:nvSpPr>
        <p:spPr>
          <a:xfrm>
            <a:off x="723900" y="5562600"/>
            <a:ext cx="10744200" cy="438150"/>
          </a:xfrm>
          <a:prstGeom prst="roundRect">
            <a:avLst>
              <a:gd fmla="val 26087" name="adj"/>
            </a:avLst>
          </a:prstGeom>
          <a:solidFill>
            <a:srgbClr val="E6EEF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8" name="Google Shape;188;p5"/>
          <p:cNvSpPr/>
          <p:nvPr/>
        </p:nvSpPr>
        <p:spPr>
          <a:xfrm>
            <a:off x="895350" y="5638800"/>
            <a:ext cx="10382250" cy="295275"/>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425">
                <a:solidFill>
                  <a:srgbClr val="01416B"/>
                </a:solidFill>
                <a:latin typeface="Arial"/>
                <a:ea typeface="Arial"/>
                <a:cs typeface="Arial"/>
                <a:sym typeface="Arial"/>
              </a:rPr>
              <a:t>The dashboard's Run a ticket path and its node trips are separate from the A0–A3 benchmark.</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p6"/>
          <p:cNvSpPr txBox="1"/>
          <p:nvPr>
            <p:ph type="title"/>
          </p:nvPr>
        </p:nvSpPr>
        <p:spPr>
          <a:xfrm>
            <a:off x="594360" y="301752"/>
            <a:ext cx="9372600" cy="621792"/>
          </a:xfrm>
          <a:prstGeom prst="rect">
            <a:avLst/>
          </a:prstGeom>
          <a:noFill/>
          <a:ln>
            <a:noFill/>
          </a:ln>
        </p:spPr>
        <p:txBody>
          <a:bodyPr anchorCtr="0" anchor="b" bIns="0" lIns="0" spcFirstLastPara="1" rIns="0" wrap="square" tIns="0">
            <a:normAutofit/>
          </a:bodyPr>
          <a:lstStyle/>
          <a:p>
            <a:pPr indent="0" lvl="0" marL="0" rtl="0" algn="l">
              <a:lnSpc>
                <a:spcPct val="90000"/>
              </a:lnSpc>
              <a:spcBef>
                <a:spcPts val="0"/>
              </a:spcBef>
              <a:spcAft>
                <a:spcPts val="0"/>
              </a:spcAft>
              <a:buClr>
                <a:srgbClr val="01416B"/>
              </a:buClr>
              <a:buSzPts val="2800"/>
              <a:buFont typeface="Arial"/>
              <a:buNone/>
            </a:pPr>
            <a:r>
              <a:rPr b="1" lang="en-US" sz="2800"/>
              <a:t>Run a ticket: nine agents from feedback to release</a:t>
            </a:r>
            <a:endParaRPr/>
          </a:p>
        </p:txBody>
      </p:sp>
      <p:sp>
        <p:nvSpPr>
          <p:cNvPr id="195" name="Google Shape;195;p6"/>
          <p:cNvSpPr/>
          <p:nvPr/>
        </p:nvSpPr>
        <p:spPr>
          <a:xfrm>
            <a:off x="590550" y="990600"/>
            <a:ext cx="685800" cy="47625"/>
          </a:xfrm>
          <a:prstGeom prst="rect">
            <a:avLst/>
          </a:prstGeom>
          <a:solidFill>
            <a:srgbClr val="FDD40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96" name="Google Shape;196;p6"/>
          <p:cNvSpPr/>
          <p:nvPr/>
        </p:nvSpPr>
        <p:spPr>
          <a:xfrm>
            <a:off x="590550" y="1123950"/>
            <a:ext cx="11001375" cy="34290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575">
                <a:solidFill>
                  <a:srgbClr val="617487"/>
                </a:solidFill>
                <a:latin typeface="Arial"/>
                <a:ea typeface="Arial"/>
                <a:cs typeface="Arial"/>
                <a:sym typeface="Arial"/>
              </a:rPr>
              <a:t>Real decisions and gates; the repository, CI, deploys and telemetry are seeded simulators</a:t>
            </a:r>
            <a:endParaRPr/>
          </a:p>
        </p:txBody>
      </p:sp>
      <p:sp>
        <p:nvSpPr>
          <p:cNvPr id="197" name="Google Shape;197;p6"/>
          <p:cNvSpPr/>
          <p:nvPr/>
        </p:nvSpPr>
        <p:spPr>
          <a:xfrm>
            <a:off x="704850" y="1885950"/>
            <a:ext cx="3333750" cy="895350"/>
          </a:xfrm>
          <a:prstGeom prst="roundRect">
            <a:avLst>
              <a:gd fmla="val 17021" name="adj"/>
            </a:avLst>
          </a:prstGeom>
          <a:solidFill>
            <a:srgbClr val="E6EEF5"/>
          </a:solidFill>
          <a:ln cap="flat" cmpd="sng" w="9525">
            <a:solidFill>
              <a:srgbClr val="01416B"/>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98" name="Google Shape;198;p6"/>
          <p:cNvSpPr/>
          <p:nvPr/>
        </p:nvSpPr>
        <p:spPr>
          <a:xfrm>
            <a:off x="876300" y="2000250"/>
            <a:ext cx="2990850" cy="28575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725">
                <a:solidFill>
                  <a:srgbClr val="01416B"/>
                </a:solidFill>
                <a:latin typeface="Arial"/>
                <a:ea typeface="Arial"/>
                <a:cs typeface="Arial"/>
                <a:sym typeface="Arial"/>
              </a:rPr>
              <a:t>1 Feedback capture</a:t>
            </a:r>
            <a:endParaRPr/>
          </a:p>
        </p:txBody>
      </p:sp>
      <p:sp>
        <p:nvSpPr>
          <p:cNvPr id="199" name="Google Shape;199;p6"/>
          <p:cNvSpPr/>
          <p:nvPr/>
        </p:nvSpPr>
        <p:spPr>
          <a:xfrm>
            <a:off x="876300" y="2371725"/>
            <a:ext cx="2990850" cy="28575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350">
                <a:solidFill>
                  <a:srgbClr val="617487"/>
                </a:solidFill>
                <a:latin typeface="Arial"/>
                <a:ea typeface="Arial"/>
                <a:cs typeface="Arial"/>
                <a:sym typeface="Arial"/>
              </a:rPr>
              <a:t>Mask PII · language · version</a:t>
            </a:r>
            <a:endParaRPr/>
          </a:p>
        </p:txBody>
      </p:sp>
      <p:sp>
        <p:nvSpPr>
          <p:cNvPr id="200" name="Google Shape;200;p6"/>
          <p:cNvSpPr/>
          <p:nvPr/>
        </p:nvSpPr>
        <p:spPr>
          <a:xfrm>
            <a:off x="4362450" y="1885950"/>
            <a:ext cx="3333750" cy="895350"/>
          </a:xfrm>
          <a:prstGeom prst="roundRect">
            <a:avLst>
              <a:gd fmla="val 17021" name="adj"/>
            </a:avLst>
          </a:prstGeom>
          <a:solidFill>
            <a:srgbClr val="E6EEF5"/>
          </a:solidFill>
          <a:ln cap="flat" cmpd="sng" w="9525">
            <a:solidFill>
              <a:srgbClr val="01416B"/>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1" name="Google Shape;201;p6"/>
          <p:cNvSpPr/>
          <p:nvPr/>
        </p:nvSpPr>
        <p:spPr>
          <a:xfrm>
            <a:off x="4533900" y="2000250"/>
            <a:ext cx="2990850" cy="28575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725">
                <a:solidFill>
                  <a:srgbClr val="01416B"/>
                </a:solidFill>
                <a:latin typeface="Arial"/>
                <a:ea typeface="Arial"/>
                <a:cs typeface="Arial"/>
                <a:sym typeface="Arial"/>
              </a:rPr>
              <a:t>2 Triage</a:t>
            </a:r>
            <a:endParaRPr/>
          </a:p>
        </p:txBody>
      </p:sp>
      <p:sp>
        <p:nvSpPr>
          <p:cNvPr id="202" name="Google Shape;202;p6"/>
          <p:cNvSpPr/>
          <p:nvPr/>
        </p:nvSpPr>
        <p:spPr>
          <a:xfrm>
            <a:off x="4533900" y="2371725"/>
            <a:ext cx="2990850" cy="28575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350">
                <a:solidFill>
                  <a:srgbClr val="617487"/>
                </a:solidFill>
                <a:latin typeface="Arial"/>
                <a:ea typeface="Arial"/>
                <a:cs typeface="Arial"/>
                <a:sym typeface="Arial"/>
              </a:rPr>
              <a:t>Duplicates · severity · gate</a:t>
            </a:r>
            <a:endParaRPr/>
          </a:p>
        </p:txBody>
      </p:sp>
      <p:sp>
        <p:nvSpPr>
          <p:cNvPr id="203" name="Google Shape;203;p6"/>
          <p:cNvSpPr/>
          <p:nvPr/>
        </p:nvSpPr>
        <p:spPr>
          <a:xfrm>
            <a:off x="8020050" y="1885950"/>
            <a:ext cx="3333750" cy="895350"/>
          </a:xfrm>
          <a:prstGeom prst="roundRect">
            <a:avLst>
              <a:gd fmla="val 17021" name="adj"/>
            </a:avLst>
          </a:prstGeom>
          <a:solidFill>
            <a:srgbClr val="E6EEF5"/>
          </a:solidFill>
          <a:ln cap="flat" cmpd="sng" w="9525">
            <a:solidFill>
              <a:srgbClr val="01416B"/>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4" name="Google Shape;204;p6"/>
          <p:cNvSpPr/>
          <p:nvPr/>
        </p:nvSpPr>
        <p:spPr>
          <a:xfrm>
            <a:off x="8191500" y="2000250"/>
            <a:ext cx="2990850" cy="28575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725">
                <a:solidFill>
                  <a:srgbClr val="01416B"/>
                </a:solidFill>
                <a:latin typeface="Arial"/>
                <a:ea typeface="Arial"/>
                <a:cs typeface="Arial"/>
                <a:sym typeface="Arial"/>
              </a:rPr>
              <a:t>3 Assignment</a:t>
            </a:r>
            <a:endParaRPr/>
          </a:p>
        </p:txBody>
      </p:sp>
      <p:sp>
        <p:nvSpPr>
          <p:cNvPr id="205" name="Google Shape;205;p6"/>
          <p:cNvSpPr/>
          <p:nvPr/>
        </p:nvSpPr>
        <p:spPr>
          <a:xfrm>
            <a:off x="8191500" y="2371725"/>
            <a:ext cx="2990850" cy="28575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350">
                <a:solidFill>
                  <a:srgbClr val="617487"/>
                </a:solidFill>
                <a:latin typeface="Arial"/>
                <a:ea typeface="Arial"/>
                <a:cs typeface="Arial"/>
                <a:sym typeface="Arial"/>
              </a:rPr>
              <a:t>Contract Net: three squads bid</a:t>
            </a:r>
            <a:endParaRPr/>
          </a:p>
        </p:txBody>
      </p:sp>
      <p:sp>
        <p:nvSpPr>
          <p:cNvPr id="206" name="Google Shape;206;p6"/>
          <p:cNvSpPr/>
          <p:nvPr/>
        </p:nvSpPr>
        <p:spPr>
          <a:xfrm>
            <a:off x="704850" y="3105150"/>
            <a:ext cx="3333750" cy="895350"/>
          </a:xfrm>
          <a:prstGeom prst="roundRect">
            <a:avLst>
              <a:gd fmla="val 17021" name="adj"/>
            </a:avLst>
          </a:prstGeom>
          <a:solidFill>
            <a:srgbClr val="E6EEF5"/>
          </a:solidFill>
          <a:ln cap="flat" cmpd="sng" w="9525">
            <a:solidFill>
              <a:srgbClr val="01416B"/>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7" name="Google Shape;207;p6"/>
          <p:cNvSpPr/>
          <p:nvPr/>
        </p:nvSpPr>
        <p:spPr>
          <a:xfrm>
            <a:off x="876300" y="3219450"/>
            <a:ext cx="2990850" cy="28575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725">
                <a:solidFill>
                  <a:srgbClr val="01416B"/>
                </a:solidFill>
                <a:latin typeface="Arial"/>
                <a:ea typeface="Arial"/>
                <a:cs typeface="Arial"/>
                <a:sym typeface="Arial"/>
              </a:rPr>
              <a:t>4 Investigation</a:t>
            </a:r>
            <a:endParaRPr/>
          </a:p>
        </p:txBody>
      </p:sp>
      <p:sp>
        <p:nvSpPr>
          <p:cNvPr id="208" name="Google Shape;208;p6"/>
          <p:cNvSpPr/>
          <p:nvPr/>
        </p:nvSpPr>
        <p:spPr>
          <a:xfrm>
            <a:off x="876300" y="3590925"/>
            <a:ext cx="2990850" cy="28575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350">
                <a:solidFill>
                  <a:srgbClr val="617487"/>
                </a:solidFill>
                <a:latin typeface="Arial"/>
                <a:ea typeface="Arial"/>
                <a:cs typeface="Arial"/>
                <a:sym typeface="Arial"/>
              </a:rPr>
              <a:t>6 node trips · suspect ranking</a:t>
            </a:r>
            <a:endParaRPr/>
          </a:p>
        </p:txBody>
      </p:sp>
      <p:sp>
        <p:nvSpPr>
          <p:cNvPr id="209" name="Google Shape;209;p6"/>
          <p:cNvSpPr/>
          <p:nvPr/>
        </p:nvSpPr>
        <p:spPr>
          <a:xfrm>
            <a:off x="4362450" y="3105150"/>
            <a:ext cx="3333750" cy="895350"/>
          </a:xfrm>
          <a:prstGeom prst="roundRect">
            <a:avLst>
              <a:gd fmla="val 17021" name="adj"/>
            </a:avLst>
          </a:prstGeom>
          <a:solidFill>
            <a:srgbClr val="E6EEF5"/>
          </a:solidFill>
          <a:ln cap="flat" cmpd="sng" w="9525">
            <a:solidFill>
              <a:srgbClr val="01416B"/>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0" name="Google Shape;210;p6"/>
          <p:cNvSpPr/>
          <p:nvPr/>
        </p:nvSpPr>
        <p:spPr>
          <a:xfrm>
            <a:off x="4533900" y="3219450"/>
            <a:ext cx="2990850" cy="28575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725">
                <a:solidFill>
                  <a:srgbClr val="01416B"/>
                </a:solidFill>
                <a:latin typeface="Arial"/>
                <a:ea typeface="Arial"/>
                <a:cs typeface="Arial"/>
                <a:sym typeface="Arial"/>
              </a:rPr>
              <a:t>5 Planning</a:t>
            </a:r>
            <a:endParaRPr/>
          </a:p>
        </p:txBody>
      </p:sp>
      <p:sp>
        <p:nvSpPr>
          <p:cNvPr id="211" name="Google Shape;211;p6"/>
          <p:cNvSpPr/>
          <p:nvPr/>
        </p:nvSpPr>
        <p:spPr>
          <a:xfrm>
            <a:off x="4533900" y="3590925"/>
            <a:ext cx="2990850" cy="28575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350">
                <a:solidFill>
                  <a:srgbClr val="617487"/>
                </a:solidFill>
                <a:latin typeface="Arial"/>
                <a:ea typeface="Arial"/>
                <a:cs typeface="Arial"/>
                <a:sym typeface="Arial"/>
              </a:rPr>
              <a:t>Subtasks · Given/When/Then</a:t>
            </a:r>
            <a:endParaRPr/>
          </a:p>
        </p:txBody>
      </p:sp>
      <p:sp>
        <p:nvSpPr>
          <p:cNvPr id="212" name="Google Shape;212;p6"/>
          <p:cNvSpPr/>
          <p:nvPr/>
        </p:nvSpPr>
        <p:spPr>
          <a:xfrm>
            <a:off x="8020050" y="3105150"/>
            <a:ext cx="3333750" cy="895350"/>
          </a:xfrm>
          <a:prstGeom prst="roundRect">
            <a:avLst>
              <a:gd fmla="val 17021" name="adj"/>
            </a:avLst>
          </a:prstGeom>
          <a:solidFill>
            <a:srgbClr val="E6EEF5"/>
          </a:solidFill>
          <a:ln cap="flat" cmpd="sng" w="9525">
            <a:solidFill>
              <a:srgbClr val="01416B"/>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3" name="Google Shape;213;p6"/>
          <p:cNvSpPr/>
          <p:nvPr/>
        </p:nvSpPr>
        <p:spPr>
          <a:xfrm>
            <a:off x="8191500" y="3219450"/>
            <a:ext cx="2990850" cy="28575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725">
                <a:solidFill>
                  <a:srgbClr val="01416B"/>
                </a:solidFill>
                <a:latin typeface="Arial"/>
                <a:ea typeface="Arial"/>
                <a:cs typeface="Arial"/>
                <a:sym typeface="Arial"/>
              </a:rPr>
              <a:t>6 Implementation</a:t>
            </a:r>
            <a:endParaRPr/>
          </a:p>
        </p:txBody>
      </p:sp>
      <p:sp>
        <p:nvSpPr>
          <p:cNvPr id="214" name="Google Shape;214;p6"/>
          <p:cNvSpPr/>
          <p:nvPr/>
        </p:nvSpPr>
        <p:spPr>
          <a:xfrm>
            <a:off x="8191500" y="3590925"/>
            <a:ext cx="2990850" cy="28575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350">
                <a:solidFill>
                  <a:srgbClr val="617487"/>
                </a:solidFill>
                <a:latin typeface="Arial"/>
                <a:ea typeface="Arial"/>
                <a:cs typeface="Arial"/>
                <a:sym typeface="Arial"/>
              </a:rPr>
              <a:t>Draft PR · secret scan</a:t>
            </a:r>
            <a:endParaRPr/>
          </a:p>
        </p:txBody>
      </p:sp>
      <p:sp>
        <p:nvSpPr>
          <p:cNvPr id="215" name="Google Shape;215;p6"/>
          <p:cNvSpPr/>
          <p:nvPr/>
        </p:nvSpPr>
        <p:spPr>
          <a:xfrm>
            <a:off x="704850" y="4324350"/>
            <a:ext cx="3333750" cy="895350"/>
          </a:xfrm>
          <a:prstGeom prst="roundRect">
            <a:avLst>
              <a:gd fmla="val 17021" name="adj"/>
            </a:avLst>
          </a:prstGeom>
          <a:solidFill>
            <a:srgbClr val="E6EEF5"/>
          </a:solidFill>
          <a:ln cap="flat" cmpd="sng" w="9525">
            <a:solidFill>
              <a:srgbClr val="01416B"/>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6" name="Google Shape;216;p6"/>
          <p:cNvSpPr/>
          <p:nvPr/>
        </p:nvSpPr>
        <p:spPr>
          <a:xfrm>
            <a:off x="876300" y="4438650"/>
            <a:ext cx="2990850" cy="28575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725">
                <a:solidFill>
                  <a:srgbClr val="01416B"/>
                </a:solidFill>
                <a:latin typeface="Arial"/>
                <a:ea typeface="Arial"/>
                <a:cs typeface="Arial"/>
                <a:sym typeface="Arial"/>
              </a:rPr>
              <a:t>7 QA</a:t>
            </a:r>
            <a:endParaRPr/>
          </a:p>
        </p:txBody>
      </p:sp>
      <p:sp>
        <p:nvSpPr>
          <p:cNvPr id="217" name="Google Shape;217;p6"/>
          <p:cNvSpPr/>
          <p:nvPr/>
        </p:nvSpPr>
        <p:spPr>
          <a:xfrm>
            <a:off x="876300" y="4810125"/>
            <a:ext cx="2990850" cy="28575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350">
                <a:solidFill>
                  <a:srgbClr val="617487"/>
                </a:solidFill>
                <a:latin typeface="Arial"/>
                <a:ea typeface="Arial"/>
                <a:cs typeface="Arial"/>
                <a:sym typeface="Arial"/>
              </a:rPr>
              <a:t>About 100 of 3,400 tests · NAPFD</a:t>
            </a:r>
            <a:endParaRPr/>
          </a:p>
        </p:txBody>
      </p:sp>
      <p:sp>
        <p:nvSpPr>
          <p:cNvPr id="218" name="Google Shape;218;p6"/>
          <p:cNvSpPr/>
          <p:nvPr/>
        </p:nvSpPr>
        <p:spPr>
          <a:xfrm>
            <a:off x="4362450" y="4324350"/>
            <a:ext cx="3333750" cy="895350"/>
          </a:xfrm>
          <a:prstGeom prst="roundRect">
            <a:avLst>
              <a:gd fmla="val 17021" name="adj"/>
            </a:avLst>
          </a:prstGeom>
          <a:solidFill>
            <a:srgbClr val="E6EEF5"/>
          </a:solidFill>
          <a:ln cap="flat" cmpd="sng" w="9525">
            <a:solidFill>
              <a:srgbClr val="01416B"/>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9" name="Google Shape;219;p6"/>
          <p:cNvSpPr/>
          <p:nvPr/>
        </p:nvSpPr>
        <p:spPr>
          <a:xfrm>
            <a:off x="4533900" y="4438650"/>
            <a:ext cx="2990850" cy="28575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725">
                <a:solidFill>
                  <a:srgbClr val="01416B"/>
                </a:solidFill>
                <a:latin typeface="Arial"/>
                <a:ea typeface="Arial"/>
                <a:cs typeface="Arial"/>
                <a:sym typeface="Arial"/>
              </a:rPr>
              <a:t>8 Deployment</a:t>
            </a:r>
            <a:endParaRPr/>
          </a:p>
        </p:txBody>
      </p:sp>
      <p:sp>
        <p:nvSpPr>
          <p:cNvPr id="220" name="Google Shape;220;p6"/>
          <p:cNvSpPr/>
          <p:nvPr/>
        </p:nvSpPr>
        <p:spPr>
          <a:xfrm>
            <a:off x="4533900" y="4810125"/>
            <a:ext cx="2990850" cy="28575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350">
                <a:solidFill>
                  <a:srgbClr val="617487"/>
                </a:solidFill>
                <a:latin typeface="Arial"/>
                <a:ea typeface="Arial"/>
                <a:cs typeface="Arial"/>
                <a:sym typeface="Arial"/>
              </a:rPr>
              <a:t>Risk score → 5% canary → release</a:t>
            </a:r>
            <a:endParaRPr/>
          </a:p>
        </p:txBody>
      </p:sp>
      <p:sp>
        <p:nvSpPr>
          <p:cNvPr id="221" name="Google Shape;221;p6"/>
          <p:cNvSpPr/>
          <p:nvPr/>
        </p:nvSpPr>
        <p:spPr>
          <a:xfrm>
            <a:off x="8020050" y="4324350"/>
            <a:ext cx="3333750" cy="895350"/>
          </a:xfrm>
          <a:prstGeom prst="roundRect">
            <a:avLst>
              <a:gd fmla="val 17021" name="adj"/>
            </a:avLst>
          </a:prstGeom>
          <a:solidFill>
            <a:srgbClr val="E6EEF5"/>
          </a:solidFill>
          <a:ln cap="flat" cmpd="sng" w="9525">
            <a:solidFill>
              <a:srgbClr val="01416B"/>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2" name="Google Shape;222;p6"/>
          <p:cNvSpPr/>
          <p:nvPr/>
        </p:nvSpPr>
        <p:spPr>
          <a:xfrm>
            <a:off x="8191500" y="4438650"/>
            <a:ext cx="2990850" cy="28575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725">
                <a:solidFill>
                  <a:srgbClr val="01416B"/>
                </a:solidFill>
                <a:latin typeface="Arial"/>
                <a:ea typeface="Arial"/>
                <a:cs typeface="Arial"/>
                <a:sym typeface="Arial"/>
              </a:rPr>
              <a:t>9 Monitoring</a:t>
            </a:r>
            <a:endParaRPr/>
          </a:p>
        </p:txBody>
      </p:sp>
      <p:sp>
        <p:nvSpPr>
          <p:cNvPr id="223" name="Google Shape;223;p6"/>
          <p:cNvSpPr/>
          <p:nvPr/>
        </p:nvSpPr>
        <p:spPr>
          <a:xfrm>
            <a:off x="8191500" y="4810125"/>
            <a:ext cx="2990850" cy="28575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350">
                <a:solidFill>
                  <a:srgbClr val="617487"/>
                </a:solidFill>
                <a:latin typeface="Arial"/>
                <a:ea typeface="Arial"/>
                <a:cs typeface="Arial"/>
                <a:sym typeface="Arial"/>
              </a:rPr>
              <a:t>SLO check → follow-up ticket</a:t>
            </a:r>
            <a:endParaRPr/>
          </a:p>
        </p:txBody>
      </p:sp>
      <p:sp>
        <p:nvSpPr>
          <p:cNvPr id="224" name="Google Shape;224;p6"/>
          <p:cNvSpPr/>
          <p:nvPr/>
        </p:nvSpPr>
        <p:spPr>
          <a:xfrm>
            <a:off x="704850" y="5581650"/>
            <a:ext cx="10315575" cy="457200"/>
          </a:xfrm>
          <a:prstGeom prst="roundRect">
            <a:avLst>
              <a:gd fmla="val 25000" name="adj"/>
            </a:avLst>
          </a:prstGeom>
          <a:solidFill>
            <a:srgbClr val="FFF6C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5" name="Google Shape;225;p6"/>
          <p:cNvSpPr/>
          <p:nvPr/>
        </p:nvSpPr>
        <p:spPr>
          <a:xfrm>
            <a:off x="895350" y="5657850"/>
            <a:ext cx="9982200" cy="30480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350">
                <a:solidFill>
                  <a:srgbClr val="01416B"/>
                </a:solidFill>
                <a:latin typeface="Arial"/>
                <a:ea typeface="Arial"/>
                <a:cs typeface="Arial"/>
                <a:sym typeface="Arial"/>
              </a:rPr>
              <a:t>Merge and release always wait for a person; four more gates stop only when their rule fires.</a:t>
            </a:r>
            <a:endParaRPr/>
          </a:p>
        </p:txBody>
      </p:sp>
      <p:cxnSp>
        <p:nvCxnSpPr>
          <p:cNvPr id="226" name="Connector 225"/>
          <p:cNvCxnSpPr/>
          <p:nvPr/>
        </p:nvCxnSpPr>
        <p:spPr>
          <a:xfrm>
            <a:off x="4059935" y="2331720"/>
            <a:ext cx="283465" cy="0"/>
          </a:xfrm>
          <a:prstGeom prst="line">
            <a:avLst/>
          </a:prstGeom>
          <a:ln w="22225">
            <a:solidFill>
              <a:srgbClr val="2F6EA3"/>
            </a:solidFill>
            <a:tailEnd type="triangle" w="med" len="med"/>
          </a:ln>
        </p:spPr>
      </p:cxnSp>
      <p:cxnSp>
        <p:nvCxnSpPr>
          <p:cNvPr id="227" name="Connector 226"/>
          <p:cNvCxnSpPr/>
          <p:nvPr/>
        </p:nvCxnSpPr>
        <p:spPr>
          <a:xfrm>
            <a:off x="7717536" y="2331720"/>
            <a:ext cx="283464" cy="0"/>
          </a:xfrm>
          <a:prstGeom prst="line">
            <a:avLst/>
          </a:prstGeom>
          <a:ln w="22225">
            <a:solidFill>
              <a:srgbClr val="2F6EA3"/>
            </a:solidFill>
            <a:tailEnd type="triangle" w="med" len="med"/>
          </a:ln>
        </p:spPr>
      </p:cxnSp>
      <p:cxnSp>
        <p:nvCxnSpPr>
          <p:cNvPr id="228" name="Connector 227"/>
          <p:cNvCxnSpPr/>
          <p:nvPr/>
        </p:nvCxnSpPr>
        <p:spPr>
          <a:xfrm>
            <a:off x="4059935" y="3557015"/>
            <a:ext cx="283465" cy="0"/>
          </a:xfrm>
          <a:prstGeom prst="line">
            <a:avLst/>
          </a:prstGeom>
          <a:ln w="22225">
            <a:solidFill>
              <a:srgbClr val="2F6EA3"/>
            </a:solidFill>
            <a:tailEnd type="triangle" w="med" len="med"/>
          </a:ln>
        </p:spPr>
      </p:cxnSp>
      <p:cxnSp>
        <p:nvCxnSpPr>
          <p:cNvPr id="229" name="Connector 228"/>
          <p:cNvCxnSpPr/>
          <p:nvPr/>
        </p:nvCxnSpPr>
        <p:spPr>
          <a:xfrm>
            <a:off x="7717536" y="3557015"/>
            <a:ext cx="283464" cy="0"/>
          </a:xfrm>
          <a:prstGeom prst="line">
            <a:avLst/>
          </a:prstGeom>
          <a:ln w="22225">
            <a:solidFill>
              <a:srgbClr val="2F6EA3"/>
            </a:solidFill>
            <a:tailEnd type="triangle" w="med" len="med"/>
          </a:ln>
        </p:spPr>
      </p:cxnSp>
      <p:cxnSp>
        <p:nvCxnSpPr>
          <p:cNvPr id="230" name="Connector 229"/>
          <p:cNvCxnSpPr/>
          <p:nvPr/>
        </p:nvCxnSpPr>
        <p:spPr>
          <a:xfrm>
            <a:off x="4059935" y="4773168"/>
            <a:ext cx="283465" cy="0"/>
          </a:xfrm>
          <a:prstGeom prst="line">
            <a:avLst/>
          </a:prstGeom>
          <a:ln w="22225">
            <a:solidFill>
              <a:srgbClr val="2F6EA3"/>
            </a:solidFill>
            <a:tailEnd type="triangle" w="med" len="med"/>
          </a:ln>
        </p:spPr>
      </p:cxnSp>
      <p:cxnSp>
        <p:nvCxnSpPr>
          <p:cNvPr id="231" name="Connector 230"/>
          <p:cNvCxnSpPr/>
          <p:nvPr/>
        </p:nvCxnSpPr>
        <p:spPr>
          <a:xfrm>
            <a:off x="7717536" y="4773168"/>
            <a:ext cx="283464" cy="0"/>
          </a:xfrm>
          <a:prstGeom prst="line">
            <a:avLst/>
          </a:prstGeom>
          <a:ln w="22225">
            <a:solidFill>
              <a:srgbClr val="2F6EA3"/>
            </a:solidFill>
            <a:tailEnd type="triangle" w="med" len="med"/>
          </a:ln>
        </p:spPr>
      </p:cxnSp>
      <p:sp>
        <p:nvSpPr>
          <p:cNvPr id="1" name="Freeform 0"/>
          <p:cNvSpPr/>
          <p:nvPr/>
        </p:nvSpPr>
        <p:spPr>
          <a:xfrm>
            <a:off x="1463040" y="2779776"/>
            <a:ext cx="9144000" cy="320040"/>
          </a:xfrm>
          <a:custGeom>
            <a:avLst/>
            <a:gdLst/>
            <a:ahLst/>
            <a:cxnLst/>
            <a:rect l="l" t="t" r="r" b="b"/>
            <a:pathLst>
              <a:path w="9144000" h="320040">
                <a:moveTo>
                  <a:pt x="9144000" y="0"/>
                </a:moveTo>
                <a:lnTo>
                  <a:pt x="9144000" y="137160"/>
                </a:lnTo>
                <a:lnTo>
                  <a:pt x="0" y="137160"/>
                </a:lnTo>
                <a:lnTo>
                  <a:pt x="0" y="320040"/>
                </a:lnTo>
              </a:path>
            </a:pathLst>
          </a:custGeom>
          <a:noFill/>
          <a:ln w="15875">
            <a:solidFill>
              <a:srgbClr val="2F6EA3"/>
            </a:solidFill>
            <a:tailEnd type="triangle" w="med" len="med"/>
          </a:ln>
          <a:effectLst/>
        </p:spPr>
        <p:txBody>
          <a:bodyPr rtlCol="0" anchor="ctr"/>
          <a:lstStyle/>
          <a:p>
            <a:pPr algn="ctr"/>
          </a:p>
        </p:txBody>
      </p:sp>
      <p:sp>
        <p:nvSpPr>
          <p:cNvPr id="2" name="Freeform 1"/>
          <p:cNvSpPr/>
          <p:nvPr/>
        </p:nvSpPr>
        <p:spPr>
          <a:xfrm>
            <a:off x="1463040" y="4005072"/>
            <a:ext cx="9144000" cy="310896"/>
          </a:xfrm>
          <a:custGeom>
            <a:avLst/>
            <a:gdLst/>
            <a:ahLst/>
            <a:cxnLst/>
            <a:rect l="l" t="t" r="r" b="b"/>
            <a:pathLst>
              <a:path w="9144000" h="310896">
                <a:moveTo>
                  <a:pt x="9144000" y="0"/>
                </a:moveTo>
                <a:lnTo>
                  <a:pt x="9144000" y="137160"/>
                </a:lnTo>
                <a:lnTo>
                  <a:pt x="0" y="137160"/>
                </a:lnTo>
                <a:lnTo>
                  <a:pt x="0" y="310896"/>
                </a:lnTo>
              </a:path>
            </a:pathLst>
          </a:custGeom>
          <a:noFill/>
          <a:ln w="15875">
            <a:solidFill>
              <a:srgbClr val="2F6EA3"/>
            </a:solidFill>
            <a:tailEnd type="triangle" w="med" len="med"/>
          </a:ln>
          <a:effectLst/>
        </p:spPr>
        <p:txBody>
          <a:bodyPr rtlCol="0" anchor="ctr"/>
          <a:lstStyle/>
          <a:p>
            <a:pPr algn="ctr"/>
          </a:p>
        </p:txBody>
      </p:sp>
      <p:sp>
        <p:nvSpPr>
          <p:cNvPr id="3" name="Freeform 2"/>
          <p:cNvSpPr/>
          <p:nvPr/>
        </p:nvSpPr>
        <p:spPr>
          <a:xfrm>
            <a:off x="5120640" y="1700784"/>
            <a:ext cx="6629400" cy="3072384"/>
          </a:xfrm>
          <a:custGeom>
            <a:avLst/>
            <a:gdLst/>
            <a:ahLst/>
            <a:cxnLst/>
            <a:rect l="l" t="t" r="r" b="b"/>
            <a:pathLst>
              <a:path w="6629400" h="3072384">
                <a:moveTo>
                  <a:pt x="6236208" y="3072384"/>
                </a:moveTo>
                <a:lnTo>
                  <a:pt x="6629400" y="3072384"/>
                </a:lnTo>
                <a:lnTo>
                  <a:pt x="6629400" y="0"/>
                </a:lnTo>
                <a:lnTo>
                  <a:pt x="0" y="0"/>
                </a:lnTo>
                <a:lnTo>
                  <a:pt x="0" y="173736"/>
                </a:lnTo>
              </a:path>
            </a:pathLst>
          </a:custGeom>
          <a:noFill/>
          <a:ln w="19050">
            <a:solidFill>
              <a:srgbClr val="C9A400"/>
            </a:solidFill>
            <a:prstDash val="dash"/>
            <a:tailEnd type="triangle" w="med" len="med"/>
          </a:ln>
          <a:effectLst/>
        </p:spPr>
        <p:txBody>
          <a:bodyPr rtlCol="0" anchor="ctr"/>
          <a:lstStyle/>
          <a:p>
            <a:pPr algn="ctr"/>
          </a:p>
        </p:txBody>
      </p:sp>
      <p:sp>
        <p:nvSpPr>
          <p:cNvPr id="232" name="Rounded Rectangle 231"/>
          <p:cNvSpPr/>
          <p:nvPr/>
        </p:nvSpPr>
        <p:spPr>
          <a:xfrm>
            <a:off x="7726679" y="1591056"/>
            <a:ext cx="1371600" cy="228600"/>
          </a:xfrm>
          <a:prstGeom prst="roundRect">
            <a:avLst>
              <a:gd name="adj" fmla="val 50000"/>
            </a:avLst>
          </a:prstGeom>
          <a:solidFill>
            <a:srgbClr val="FFF6C7"/>
          </a:solidFill>
          <a:ln w="12700">
            <a:solidFill>
              <a:srgbClr val="C9A400"/>
            </a:solidFill>
          </a:ln>
          <a:effectLst/>
        </p:spPr>
        <p:txBody>
          <a:bodyPr rtlCol="0" anchor="ctr" wrap="square" lIns="36576" tIns="0" rIns="36576" bIns="0">
            <a:noAutofit/>
          </a:bodyPr>
          <a:lstStyle/>
          <a:p>
            <a:pPr algn="ctr"/>
            <a:r>
              <a:rPr sz="1000" b="1">
                <a:solidFill>
                  <a:srgbClr val="8A6D00"/>
                </a:solidFill>
                <a:latin typeface="Arial"/>
              </a:rPr>
              <a:t>feedback loop</a:t>
            </a:r>
          </a:p>
        </p:txBody>
      </p:sp>
      <p:sp>
        <p:nvSpPr>
          <p:cNvPr id="233" name="Rounded Rectangle 232"/>
          <p:cNvSpPr/>
          <p:nvPr/>
        </p:nvSpPr>
        <p:spPr>
          <a:xfrm>
            <a:off x="5915145" y="1783080"/>
            <a:ext cx="1674374" cy="219456"/>
          </a:xfrm>
          <a:prstGeom prst="roundRect">
            <a:avLst>
              <a:gd name="adj" fmla="val 50000"/>
            </a:avLst>
          </a:prstGeom>
          <a:solidFill>
            <a:srgbClr val="FDD402"/>
          </a:solidFill>
          <a:ln>
            <a:noFill/>
          </a:ln>
          <a:effectLst/>
        </p:spPr>
        <p:txBody>
          <a:bodyPr rtlCol="0" anchor="ctr" wrap="square" lIns="36576" tIns="0" rIns="36576" bIns="0">
            <a:noAutofit/>
          </a:bodyPr>
          <a:lstStyle/>
          <a:p>
            <a:pPr algn="ctr"/>
            <a:r>
              <a:rPr sz="950" b="1">
                <a:solidFill>
                  <a:srgbClr val="01416B"/>
                </a:solidFill>
                <a:latin typeface="Arial"/>
              </a:rPr>
              <a:t>person: if unsure or risky</a:t>
            </a:r>
          </a:p>
        </p:txBody>
      </p:sp>
      <p:sp>
        <p:nvSpPr>
          <p:cNvPr id="234" name="Rounded Rectangle 233"/>
          <p:cNvSpPr/>
          <p:nvPr/>
        </p:nvSpPr>
        <p:spPr>
          <a:xfrm>
            <a:off x="9485636" y="3008376"/>
            <a:ext cx="1761483" cy="219456"/>
          </a:xfrm>
          <a:prstGeom prst="roundRect">
            <a:avLst>
              <a:gd name="adj" fmla="val 50000"/>
            </a:avLst>
          </a:prstGeom>
          <a:solidFill>
            <a:srgbClr val="FDD402"/>
          </a:solidFill>
          <a:ln>
            <a:noFill/>
          </a:ln>
          <a:effectLst/>
        </p:spPr>
        <p:txBody>
          <a:bodyPr rtlCol="0" anchor="ctr" wrap="square" lIns="36576" tIns="0" rIns="36576" bIns="0">
            <a:noAutofit/>
          </a:bodyPr>
          <a:lstStyle/>
          <a:p>
            <a:pPr algn="ctr"/>
            <a:r>
              <a:rPr sz="950" b="1">
                <a:solidFill>
                  <a:srgbClr val="01416B"/>
                </a:solidFill>
                <a:latin typeface="Arial"/>
              </a:rPr>
              <a:t>person: if a secret is found</a:t>
            </a:r>
          </a:p>
        </p:txBody>
      </p:sp>
      <p:sp>
        <p:nvSpPr>
          <p:cNvPr id="235" name="Rounded Rectangle 234"/>
          <p:cNvSpPr/>
          <p:nvPr/>
        </p:nvSpPr>
        <p:spPr>
          <a:xfrm>
            <a:off x="2364803" y="4224528"/>
            <a:ext cx="1567116" cy="219456"/>
          </a:xfrm>
          <a:prstGeom prst="roundRect">
            <a:avLst>
              <a:gd name="adj" fmla="val 50000"/>
            </a:avLst>
          </a:prstGeom>
          <a:solidFill>
            <a:srgbClr val="FDD402"/>
          </a:solidFill>
          <a:ln>
            <a:noFill/>
          </a:ln>
          <a:effectLst/>
        </p:spPr>
        <p:txBody>
          <a:bodyPr rtlCol="0" anchor="ctr" wrap="square" lIns="36576" tIns="0" rIns="36576" bIns="0">
            <a:noAutofit/>
          </a:bodyPr>
          <a:lstStyle/>
          <a:p>
            <a:pPr algn="ctr"/>
            <a:r>
              <a:rPr sz="950" b="1">
                <a:solidFill>
                  <a:srgbClr val="01416B"/>
                </a:solidFill>
                <a:latin typeface="Arial"/>
              </a:rPr>
              <a:t>person: always (merge)</a:t>
            </a:r>
          </a:p>
        </p:txBody>
      </p:sp>
      <p:sp>
        <p:nvSpPr>
          <p:cNvPr id="236" name="Rounded Rectangle 235"/>
          <p:cNvSpPr/>
          <p:nvPr/>
        </p:nvSpPr>
        <p:spPr>
          <a:xfrm>
            <a:off x="5968593" y="4224528"/>
            <a:ext cx="1620926" cy="219456"/>
          </a:xfrm>
          <a:prstGeom prst="roundRect">
            <a:avLst>
              <a:gd name="adj" fmla="val 50000"/>
            </a:avLst>
          </a:prstGeom>
          <a:solidFill>
            <a:srgbClr val="FDD402"/>
          </a:solidFill>
          <a:ln>
            <a:noFill/>
          </a:ln>
          <a:effectLst/>
        </p:spPr>
        <p:txBody>
          <a:bodyPr rtlCol="0" anchor="ctr" wrap="square" lIns="36576" tIns="0" rIns="36576" bIns="0">
            <a:noAutofit/>
          </a:bodyPr>
          <a:lstStyle/>
          <a:p>
            <a:pPr algn="ctr"/>
            <a:r>
              <a:rPr sz="950" b="1">
                <a:solidFill>
                  <a:srgbClr val="01416B"/>
                </a:solidFill>
                <a:latin typeface="Arial"/>
              </a:rPr>
              <a:t>person: always (release)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94;p6"/>
          <p:cNvSpPr txBox="1"/>
          <p:nvPr>
            <p:ph type="title"/>
          </p:nvPr>
        </p:nvSpPr>
        <p:spPr>
          <a:xfrm>
            <a:off x="594360" y="301752"/>
            <a:ext cx="9372600" cy="621792"/>
          </a:xfrm>
          <a:prstGeom prst="rect">
            <a:avLst/>
          </a:prstGeom>
          <a:noFill/>
          <a:ln>
            <a:noFill/>
          </a:ln>
        </p:spPr>
        <p:txBody>
          <a:bodyPr anchorCtr="0" anchor="b" bIns="0" lIns="0" spcFirstLastPara="1" rIns="0" wrap="square" tIns="0">
            <a:normAutofit/>
          </a:bodyPr>
          <a:lstStyle/>
          <a:p>
            <a:pPr indent="0" lvl="0" marL="0" rtl="0" algn="l">
              <a:lnSpc>
                <a:spcPct val="90000"/>
              </a:lnSpc>
              <a:spcBef>
                <a:spcPts val="0"/>
              </a:spcBef>
              <a:spcAft>
                <a:spcPts val="0"/>
              </a:spcAft>
              <a:buClr>
                <a:srgbClr val="01416B"/>
              </a:buClr>
              <a:buSzPts val="2800"/>
              <a:buFont typeface="Arial"/>
              <a:buNone/>
            </a:pPr>
            <a:r>
              <a:rPr b="1" lang="en-US" sz="2800"/>
              <a:t>When an agent may act alone</a:t>
            </a:r>
            <a:endParaRPr/>
          </a:p>
        </p:txBody>
      </p:sp>
      <p:sp>
        <p:nvSpPr>
          <p:cNvPr id="3" name="Google Shape;195;p6"/>
          <p:cNvSpPr/>
          <p:nvPr/>
        </p:nvSpPr>
        <p:spPr>
          <a:xfrm>
            <a:off x="590550" y="990600"/>
            <a:ext cx="685800" cy="47625"/>
          </a:xfrm>
          <a:prstGeom prst="rect">
            <a:avLst/>
          </a:prstGeom>
          <a:solidFill>
            <a:srgbClr val="FDD40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 name="Google Shape;196;p6"/>
          <p:cNvSpPr/>
          <p:nvPr/>
        </p:nvSpPr>
        <p:spPr>
          <a:xfrm>
            <a:off x="590550" y="1123950"/>
            <a:ext cx="11001375" cy="34290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575">
                <a:solidFill>
                  <a:srgbClr val="617487"/>
                </a:solidFill>
                <a:latin typeface="Arial"/>
                <a:ea typeface="Arial"/>
                <a:cs typeface="Arial"/>
                <a:sym typeface="Arial"/>
              </a:rPr>
              <a:t>Two checks at every decision; if either fails, a person decides</a:t>
            </a:r>
            <a:endParaRPr/>
          </a:p>
        </p:txBody>
      </p:sp>
      <p:sp>
        <p:nvSpPr>
          <p:cNvPr id="5" name="Rounded Rectangle 4"/>
          <p:cNvSpPr/>
          <p:nvPr/>
        </p:nvSpPr>
        <p:spPr>
          <a:xfrm>
            <a:off x="594360" y="2057400"/>
            <a:ext cx="1965960" cy="914400"/>
          </a:xfrm>
          <a:prstGeom prst="roundRect">
            <a:avLst>
              <a:gd name="adj" fmla="val 12000"/>
            </a:avLst>
          </a:prstGeom>
          <a:solidFill>
            <a:srgbClr val="FFFFFF"/>
          </a:solidFill>
          <a:ln w="12700">
            <a:solidFill>
              <a:srgbClr val="2F6EA3"/>
            </a:solidFill>
          </a:ln>
          <a:effectLst/>
        </p:spPr>
        <p:txBody>
          <a:bodyPr rtlCol="0" anchor="ctr" wrap="square">
            <a:noAutofit/>
          </a:bodyPr>
          <a:lstStyle/>
          <a:p>
            <a:pPr algn="ctr"/>
            <a:r>
              <a:rPr sz="1250" b="1">
                <a:solidFill>
                  <a:srgbClr val="01416B"/>
                </a:solidFill>
                <a:latin typeface="Arial"/>
              </a:rPr>
              <a:t>An agent proposes</a:t>
            </a:r>
          </a:p>
          <a:p>
            <a:pPr algn="ctr"/>
            <a:r>
              <a:rPr sz="1100" b="0">
                <a:solidFill>
                  <a:srgbClr val="2E4357"/>
                </a:solidFill>
                <a:latin typeface="Arial"/>
              </a:rPr>
              <a:t>e.g. FB-001 is Critical</a:t>
            </a:r>
          </a:p>
        </p:txBody>
      </p:sp>
      <p:sp>
        <p:nvSpPr>
          <p:cNvPr id="6" name="Diamond 5"/>
          <p:cNvSpPr/>
          <p:nvPr/>
        </p:nvSpPr>
        <p:spPr>
          <a:xfrm>
            <a:off x="2971800" y="1856231"/>
            <a:ext cx="2560320" cy="1325880"/>
          </a:xfrm>
          <a:prstGeom prst="diamond">
            <a:avLst/>
          </a:prstGeom>
          <a:solidFill>
            <a:srgbClr val="E6EEF5"/>
          </a:solidFill>
          <a:ln w="12700">
            <a:solidFill>
              <a:srgbClr val="2F6EA3"/>
            </a:solidFill>
          </a:ln>
          <a:effectLst/>
        </p:spPr>
        <p:txBody>
          <a:bodyPr rtlCol="0" anchor="ctr" wrap="square" lIns="0" tIns="0" rIns="0" bIns="0">
            <a:noAutofit/>
          </a:bodyPr>
          <a:lstStyle/>
          <a:p>
            <a:pPr algn="ctr"/>
            <a:r>
              <a:rPr sz="1250" b="1">
                <a:solidFill>
                  <a:srgbClr val="01416B"/>
                </a:solidFill>
                <a:latin typeface="Arial"/>
              </a:rPr>
              <a:t>confidence ≥ τ</a:t>
            </a:r>
          </a:p>
          <a:p>
            <a:pPr algn="ctr"/>
            <a:r>
              <a:rPr sz="1250" b="0">
                <a:solidFill>
                  <a:srgbClr val="01416B"/>
                </a:solidFill>
                <a:latin typeface="Arial"/>
              </a:rPr>
              <a:t>(0.70)?</a:t>
            </a:r>
          </a:p>
        </p:txBody>
      </p:sp>
      <p:sp>
        <p:nvSpPr>
          <p:cNvPr id="7" name="Diamond 6"/>
          <p:cNvSpPr/>
          <p:nvPr/>
        </p:nvSpPr>
        <p:spPr>
          <a:xfrm>
            <a:off x="5897880" y="1856231"/>
            <a:ext cx="2560320" cy="1325880"/>
          </a:xfrm>
          <a:prstGeom prst="diamond">
            <a:avLst/>
          </a:prstGeom>
          <a:solidFill>
            <a:srgbClr val="E6EEF5"/>
          </a:solidFill>
          <a:ln w="12700">
            <a:solidFill>
              <a:srgbClr val="2F6EA3"/>
            </a:solidFill>
          </a:ln>
          <a:effectLst/>
        </p:spPr>
        <p:txBody>
          <a:bodyPr rtlCol="0" anchor="ctr" wrap="square" lIns="0" tIns="0" rIns="0" bIns="0">
            <a:noAutofit/>
          </a:bodyPr>
          <a:lstStyle/>
          <a:p>
            <a:pPr algn="ctr"/>
            <a:r>
              <a:rPr sz="1250" b="1">
                <a:solidFill>
                  <a:srgbClr val="01416B"/>
                </a:solidFill>
                <a:latin typeface="Arial"/>
              </a:rPr>
              <a:t>risk ≤ R_max</a:t>
            </a:r>
          </a:p>
          <a:p>
            <a:pPr algn="ctr"/>
            <a:r>
              <a:rPr sz="1250" b="0">
                <a:solidFill>
                  <a:srgbClr val="01416B"/>
                </a:solidFill>
                <a:latin typeface="Arial"/>
              </a:rPr>
              <a:t>(0.60)?</a:t>
            </a:r>
          </a:p>
        </p:txBody>
      </p:sp>
      <p:sp>
        <p:nvSpPr>
          <p:cNvPr id="8" name="Rounded Rectangle 7"/>
          <p:cNvSpPr/>
          <p:nvPr/>
        </p:nvSpPr>
        <p:spPr>
          <a:xfrm>
            <a:off x="8869680" y="2057400"/>
            <a:ext cx="2724912" cy="914400"/>
          </a:xfrm>
          <a:prstGeom prst="roundRect">
            <a:avLst>
              <a:gd name="adj" fmla="val 12000"/>
            </a:avLst>
          </a:prstGeom>
          <a:solidFill>
            <a:srgbClr val="01416B"/>
          </a:solidFill>
          <a:ln>
            <a:noFill/>
          </a:ln>
          <a:effectLst/>
        </p:spPr>
        <p:txBody>
          <a:bodyPr rtlCol="0" anchor="ctr" wrap="square">
            <a:noAutofit/>
          </a:bodyPr>
          <a:lstStyle/>
          <a:p>
            <a:pPr algn="ctr"/>
            <a:r>
              <a:rPr sz="1250" b="1">
                <a:solidFill>
                  <a:srgbClr val="FFFFFF"/>
                </a:solidFill>
                <a:latin typeface="Arial"/>
              </a:rPr>
              <a:t>The agent acts alone</a:t>
            </a:r>
          </a:p>
          <a:p>
            <a:pPr algn="ctr"/>
            <a:r>
              <a:rPr sz="1100" b="0">
                <a:solidFill>
                  <a:srgbClr val="FFFFFF"/>
                </a:solidFill>
                <a:latin typeface="Arial"/>
              </a:rPr>
              <a:t>and logs the values it checked</a:t>
            </a:r>
          </a:p>
        </p:txBody>
      </p:sp>
      <p:cxnSp>
        <p:nvCxnSpPr>
          <p:cNvPr id="9" name="Connector 8"/>
          <p:cNvCxnSpPr/>
          <p:nvPr/>
        </p:nvCxnSpPr>
        <p:spPr>
          <a:xfrm>
            <a:off x="2560320" y="2514600"/>
            <a:ext cx="411480" cy="0"/>
          </a:xfrm>
          <a:prstGeom prst="line">
            <a:avLst/>
          </a:prstGeom>
          <a:ln w="19050">
            <a:solidFill>
              <a:srgbClr val="2F6EA3"/>
            </a:solidFill>
            <a:tailEnd type="triangle" w="med" len="med"/>
          </a:ln>
        </p:spPr>
      </p:cxnSp>
      <p:cxnSp>
        <p:nvCxnSpPr>
          <p:cNvPr id="10" name="Connector 9"/>
          <p:cNvCxnSpPr/>
          <p:nvPr/>
        </p:nvCxnSpPr>
        <p:spPr>
          <a:xfrm>
            <a:off x="5532120" y="2514600"/>
            <a:ext cx="365760" cy="0"/>
          </a:xfrm>
          <a:prstGeom prst="line">
            <a:avLst/>
          </a:prstGeom>
          <a:ln w="19050">
            <a:solidFill>
              <a:srgbClr val="2F6EA3"/>
            </a:solidFill>
            <a:tailEnd type="triangle" w="med" len="med"/>
          </a:ln>
        </p:spPr>
      </p:cxnSp>
      <p:sp>
        <p:nvSpPr>
          <p:cNvPr id="11" name="TextBox 10"/>
          <p:cNvSpPr txBox="1"/>
          <p:nvPr/>
        </p:nvSpPr>
        <p:spPr>
          <a:xfrm>
            <a:off x="5504688" y="2212848"/>
            <a:ext cx="420624" cy="237744"/>
          </a:xfrm>
          <a:prstGeom prst="rect">
            <a:avLst/>
          </a:prstGeom>
          <a:noFill/>
        </p:spPr>
        <p:txBody>
          <a:bodyPr wrap="square" lIns="18288" tIns="0" rIns="18288" bIns="0" anchor="t">
            <a:noAutofit/>
          </a:bodyPr>
          <a:lstStyle/>
          <a:p>
            <a:pPr algn="ctr"/>
            <a:r>
              <a:rPr sz="1050" b="1">
                <a:solidFill>
                  <a:srgbClr val="2F6EA3"/>
                </a:solidFill>
                <a:latin typeface="Arial"/>
              </a:rPr>
              <a:t>yes</a:t>
            </a:r>
          </a:p>
        </p:txBody>
      </p:sp>
      <p:cxnSp>
        <p:nvCxnSpPr>
          <p:cNvPr id="12" name="Connector 11"/>
          <p:cNvCxnSpPr/>
          <p:nvPr/>
        </p:nvCxnSpPr>
        <p:spPr>
          <a:xfrm>
            <a:off x="8458200" y="2514600"/>
            <a:ext cx="411480" cy="0"/>
          </a:xfrm>
          <a:prstGeom prst="line">
            <a:avLst/>
          </a:prstGeom>
          <a:ln w="19050">
            <a:solidFill>
              <a:srgbClr val="2F6EA3"/>
            </a:solidFill>
            <a:tailEnd type="triangle" w="med" len="med"/>
          </a:ln>
        </p:spPr>
      </p:cxnSp>
      <p:sp>
        <p:nvSpPr>
          <p:cNvPr id="13" name="TextBox 12"/>
          <p:cNvSpPr txBox="1"/>
          <p:nvPr/>
        </p:nvSpPr>
        <p:spPr>
          <a:xfrm>
            <a:off x="8430768" y="2212848"/>
            <a:ext cx="457200" cy="237744"/>
          </a:xfrm>
          <a:prstGeom prst="rect">
            <a:avLst/>
          </a:prstGeom>
          <a:noFill/>
        </p:spPr>
        <p:txBody>
          <a:bodyPr wrap="square" lIns="18288" tIns="0" rIns="18288" bIns="0" anchor="t">
            <a:noAutofit/>
          </a:bodyPr>
          <a:lstStyle/>
          <a:p>
            <a:pPr algn="ctr"/>
            <a:r>
              <a:rPr sz="1050" b="1">
                <a:solidFill>
                  <a:srgbClr val="2F6EA3"/>
                </a:solidFill>
                <a:latin typeface="Arial"/>
              </a:rPr>
              <a:t>yes</a:t>
            </a:r>
          </a:p>
        </p:txBody>
      </p:sp>
      <p:cxnSp>
        <p:nvCxnSpPr>
          <p:cNvPr id="14" name="Connector 13"/>
          <p:cNvCxnSpPr/>
          <p:nvPr/>
        </p:nvCxnSpPr>
        <p:spPr>
          <a:xfrm>
            <a:off x="4251960" y="3182112"/>
            <a:ext cx="0" cy="429768"/>
          </a:xfrm>
          <a:prstGeom prst="line">
            <a:avLst/>
          </a:prstGeom>
          <a:ln w="19050">
            <a:solidFill>
              <a:srgbClr val="8A6D00"/>
            </a:solidFill>
            <a:tailEnd type="triangle" w="med" len="med"/>
          </a:ln>
        </p:spPr>
      </p:cxnSp>
      <p:sp>
        <p:nvSpPr>
          <p:cNvPr id="15" name="TextBox 14"/>
          <p:cNvSpPr txBox="1"/>
          <p:nvPr/>
        </p:nvSpPr>
        <p:spPr>
          <a:xfrm>
            <a:off x="4325112" y="3246120"/>
            <a:ext cx="365760" cy="237744"/>
          </a:xfrm>
          <a:prstGeom prst="rect">
            <a:avLst/>
          </a:prstGeom>
          <a:noFill/>
        </p:spPr>
        <p:txBody>
          <a:bodyPr wrap="square" lIns="18288" tIns="0" rIns="18288" bIns="0" anchor="t">
            <a:noAutofit/>
          </a:bodyPr>
          <a:lstStyle/>
          <a:p>
            <a:pPr algn="l"/>
            <a:r>
              <a:rPr sz="1050" b="1">
                <a:solidFill>
                  <a:srgbClr val="8A6D00"/>
                </a:solidFill>
                <a:latin typeface="Arial"/>
              </a:rPr>
              <a:t>no</a:t>
            </a:r>
          </a:p>
        </p:txBody>
      </p:sp>
      <p:cxnSp>
        <p:nvCxnSpPr>
          <p:cNvPr id="16" name="Connector 15"/>
          <p:cNvCxnSpPr/>
          <p:nvPr/>
        </p:nvCxnSpPr>
        <p:spPr>
          <a:xfrm>
            <a:off x="7178040" y="3182112"/>
            <a:ext cx="0" cy="429768"/>
          </a:xfrm>
          <a:prstGeom prst="line">
            <a:avLst/>
          </a:prstGeom>
          <a:ln w="19050">
            <a:solidFill>
              <a:srgbClr val="8A6D00"/>
            </a:solidFill>
            <a:tailEnd type="triangle" w="med" len="med"/>
          </a:ln>
        </p:spPr>
      </p:cxnSp>
      <p:sp>
        <p:nvSpPr>
          <p:cNvPr id="17" name="TextBox 16"/>
          <p:cNvSpPr txBox="1"/>
          <p:nvPr/>
        </p:nvSpPr>
        <p:spPr>
          <a:xfrm>
            <a:off x="7251192" y="3246120"/>
            <a:ext cx="365760" cy="237744"/>
          </a:xfrm>
          <a:prstGeom prst="rect">
            <a:avLst/>
          </a:prstGeom>
          <a:noFill/>
        </p:spPr>
        <p:txBody>
          <a:bodyPr wrap="square" lIns="18288" tIns="0" rIns="18288" bIns="0" anchor="t">
            <a:noAutofit/>
          </a:bodyPr>
          <a:lstStyle/>
          <a:p>
            <a:pPr algn="l"/>
            <a:r>
              <a:rPr sz="1050" b="1">
                <a:solidFill>
                  <a:srgbClr val="8A6D00"/>
                </a:solidFill>
                <a:latin typeface="Arial"/>
              </a:rPr>
              <a:t>no</a:t>
            </a:r>
          </a:p>
        </p:txBody>
      </p:sp>
      <p:sp>
        <p:nvSpPr>
          <p:cNvPr id="18" name="Rounded Rectangle 17"/>
          <p:cNvSpPr/>
          <p:nvPr/>
        </p:nvSpPr>
        <p:spPr>
          <a:xfrm>
            <a:off x="2971800" y="3611880"/>
            <a:ext cx="5486400" cy="868680"/>
          </a:xfrm>
          <a:prstGeom prst="roundRect">
            <a:avLst>
              <a:gd name="adj" fmla="val 12000"/>
            </a:avLst>
          </a:prstGeom>
          <a:solidFill>
            <a:srgbClr val="FFF6C7"/>
          </a:solidFill>
          <a:ln w="12700">
            <a:solidFill>
              <a:srgbClr val="C9A400"/>
            </a:solidFill>
          </a:ln>
          <a:effectLst/>
        </p:spPr>
        <p:txBody>
          <a:bodyPr rtlCol="0" anchor="ctr" wrap="square" lIns="777240">
            <a:noAutofit/>
          </a:bodyPr>
          <a:lstStyle/>
          <a:p>
            <a:pPr algn="l"/>
            <a:r>
              <a:rPr sz="1200" b="1">
                <a:solidFill>
                  <a:srgbClr val="01416B"/>
                </a:solidFill>
                <a:latin typeface="Arial"/>
              </a:rPr>
              <a:t>A person reviews; the name and reason are recorded</a:t>
            </a:r>
          </a:p>
          <a:p>
            <a:pPr algn="l"/>
            <a:r>
              <a:rPr sz="1200" b="0">
                <a:solidFill>
                  <a:srgbClr val="2E4357"/>
                </a:solidFill>
                <a:latin typeface="Arial"/>
              </a:rPr>
              <a:t>Approve  ·  Request changes  ·  Reject and stop</a:t>
            </a:r>
          </a:p>
        </p:txBody>
      </p:sp>
      <p:sp>
        <p:nvSpPr>
          <p:cNvPr id="19" name="Oval 18"/>
          <p:cNvSpPr/>
          <p:nvPr/>
        </p:nvSpPr>
        <p:spPr>
          <a:xfrm>
            <a:off x="3297326" y="3767328"/>
            <a:ext cx="208483" cy="208483"/>
          </a:xfrm>
          <a:prstGeom prst="ellipse">
            <a:avLst/>
          </a:prstGeom>
          <a:solidFill>
            <a:srgbClr val="01416B"/>
          </a:solidFill>
          <a:ln>
            <a:noFill/>
          </a:ln>
          <a:effectLst/>
        </p:spPr>
        <p:txBody>
          <a:bodyPr rtlCol="0" anchor="ctr"/>
          <a:lstStyle/>
          <a:p>
            <a:pPr algn="ctr"/>
          </a:p>
        </p:txBody>
      </p:sp>
      <p:sp>
        <p:nvSpPr>
          <p:cNvPr id="20" name="Round Same Side Corner Rectangle 19"/>
          <p:cNvSpPr/>
          <p:nvPr/>
        </p:nvSpPr>
        <p:spPr>
          <a:xfrm>
            <a:off x="3193084" y="4008729"/>
            <a:ext cx="416966" cy="274320"/>
          </a:xfrm>
          <a:prstGeom prst="round2SameRect">
            <a:avLst>
              <a:gd name="adj1" fmla="val 50000"/>
              <a:gd name="adj2" fmla="val 0"/>
            </a:avLst>
          </a:prstGeom>
          <a:solidFill>
            <a:srgbClr val="01416B"/>
          </a:solidFill>
          <a:ln>
            <a:noFill/>
          </a:ln>
          <a:effectLst/>
        </p:spPr>
        <p:txBody>
          <a:bodyPr rtlCol="0" anchor="ctr"/>
          <a:lstStyle/>
          <a:p>
            <a:pPr algn="ctr"/>
          </a:p>
        </p:txBody>
      </p:sp>
      <p:sp>
        <p:nvSpPr>
          <p:cNvPr id="21" name="Rounded Rectangle 20"/>
          <p:cNvSpPr/>
          <p:nvPr/>
        </p:nvSpPr>
        <p:spPr>
          <a:xfrm>
            <a:off x="8869680" y="3611880"/>
            <a:ext cx="2724912" cy="868680"/>
          </a:xfrm>
          <a:prstGeom prst="roundRect">
            <a:avLst>
              <a:gd name="adj" fmla="val 12000"/>
            </a:avLst>
          </a:prstGeom>
          <a:solidFill>
            <a:srgbClr val="FFFFFF"/>
          </a:solidFill>
          <a:ln w="12700">
            <a:solidFill>
              <a:srgbClr val="D7E0E9"/>
            </a:solidFill>
          </a:ln>
          <a:effectLst/>
        </p:spPr>
        <p:txBody>
          <a:bodyPr rtlCol="0" anchor="ctr" wrap="square">
            <a:noAutofit/>
          </a:bodyPr>
          <a:lstStyle/>
          <a:p>
            <a:pPr algn="l"/>
            <a:r>
              <a:rPr sz="1050" b="1">
                <a:solidFill>
                  <a:srgbClr val="01416B"/>
                </a:solidFill>
                <a:latin typeface="Arial"/>
              </a:rPr>
              <a:t>FB-001</a:t>
            </a:r>
          </a:p>
          <a:p>
            <a:pPr algn="l"/>
            <a:r>
              <a:rPr sz="1050" b="0">
                <a:solidFill>
                  <a:srgbClr val="2E4357"/>
                </a:solidFill>
                <a:latin typeface="Arial"/>
              </a:rPr>
              <a:t>confidence 0.84 passes,</a:t>
            </a:r>
          </a:p>
          <a:p>
            <a:pPr algn="l"/>
            <a:r>
              <a:rPr sz="1050" b="0">
                <a:solidFill>
                  <a:srgbClr val="2E4357"/>
                </a:solidFill>
                <a:latin typeface="Arial"/>
              </a:rPr>
              <a:t>risk 1.00 fails: a person confirms</a:t>
            </a:r>
          </a:p>
        </p:txBody>
      </p:sp>
      <p:sp>
        <p:nvSpPr>
          <p:cNvPr id="22" name="Rounded Rectangle 21"/>
          <p:cNvSpPr/>
          <p:nvPr/>
        </p:nvSpPr>
        <p:spPr>
          <a:xfrm>
            <a:off x="594360" y="4709160"/>
            <a:ext cx="5257800" cy="1325880"/>
          </a:xfrm>
          <a:prstGeom prst="roundRect">
            <a:avLst>
              <a:gd name="adj" fmla="val 12000"/>
            </a:avLst>
          </a:prstGeom>
          <a:solidFill>
            <a:srgbClr val="FFFFFF"/>
          </a:solidFill>
          <a:ln w="12700">
            <a:solidFill>
              <a:srgbClr val="D7E0E9"/>
            </a:solidFill>
          </a:ln>
          <a:effectLst/>
        </p:spPr>
        <p:txBody>
          <a:bodyPr rtlCol="0" anchor="t" wrap="square" lIns="137160" tIns="73152">
            <a:noAutofit/>
          </a:bodyPr>
          <a:lstStyle/>
          <a:p>
            <a:pPr algn="l"/>
            <a:r>
              <a:rPr sz="1250" b="1">
                <a:solidFill>
                  <a:srgbClr val="01416B"/>
                </a:solidFill>
                <a:latin typeface="Arial"/>
              </a:rPr>
              <a:t>Risk comes from the severity</a:t>
            </a:r>
          </a:p>
        </p:txBody>
      </p:sp>
      <p:sp>
        <p:nvSpPr>
          <p:cNvPr id="23" name="Rectangle 22"/>
          <p:cNvSpPr/>
          <p:nvPr/>
        </p:nvSpPr>
        <p:spPr>
          <a:xfrm>
            <a:off x="868680" y="5486400"/>
            <a:ext cx="2825495" cy="146304"/>
          </a:xfrm>
          <a:prstGeom prst="rect">
            <a:avLst/>
          </a:prstGeom>
          <a:solidFill>
            <a:srgbClr val="C9D8EA"/>
          </a:solidFill>
          <a:ln>
            <a:noFill/>
          </a:ln>
          <a:effectLst/>
        </p:spPr>
        <p:txBody>
          <a:bodyPr rtlCol="0" anchor="ctr"/>
          <a:lstStyle/>
          <a:p>
            <a:pPr algn="ctr"/>
          </a:p>
        </p:txBody>
      </p:sp>
      <p:sp>
        <p:nvSpPr>
          <p:cNvPr id="24" name="Rectangle 23"/>
          <p:cNvSpPr/>
          <p:nvPr/>
        </p:nvSpPr>
        <p:spPr>
          <a:xfrm>
            <a:off x="3694175" y="5486400"/>
            <a:ext cx="1883664" cy="146304"/>
          </a:xfrm>
          <a:prstGeom prst="rect">
            <a:avLst/>
          </a:prstGeom>
          <a:solidFill>
            <a:srgbClr val="FFE680"/>
          </a:solidFill>
          <a:ln>
            <a:noFill/>
          </a:ln>
          <a:effectLst/>
        </p:spPr>
        <p:txBody>
          <a:bodyPr rtlCol="0" anchor="ctr"/>
          <a:lstStyle/>
          <a:p>
            <a:pPr algn="ctr"/>
          </a:p>
        </p:txBody>
      </p:sp>
      <p:sp>
        <p:nvSpPr>
          <p:cNvPr id="25" name="Oval 24"/>
          <p:cNvSpPr/>
          <p:nvPr/>
        </p:nvSpPr>
        <p:spPr>
          <a:xfrm>
            <a:off x="1266443" y="5486400"/>
            <a:ext cx="146304" cy="146304"/>
          </a:xfrm>
          <a:prstGeom prst="ellipse">
            <a:avLst/>
          </a:prstGeom>
          <a:solidFill>
            <a:srgbClr val="01416B"/>
          </a:solidFill>
          <a:ln>
            <a:noFill/>
          </a:ln>
          <a:effectLst/>
        </p:spPr>
        <p:txBody>
          <a:bodyPr rtlCol="0" anchor="ctr"/>
          <a:lstStyle/>
          <a:p>
            <a:pPr algn="ctr"/>
          </a:p>
        </p:txBody>
      </p:sp>
      <p:sp>
        <p:nvSpPr>
          <p:cNvPr id="26" name="TextBox 25"/>
          <p:cNvSpPr txBox="1"/>
          <p:nvPr/>
        </p:nvSpPr>
        <p:spPr>
          <a:xfrm>
            <a:off x="1049312" y="5193792"/>
            <a:ext cx="580567" cy="237744"/>
          </a:xfrm>
          <a:prstGeom prst="rect">
            <a:avLst/>
          </a:prstGeom>
          <a:noFill/>
        </p:spPr>
        <p:txBody>
          <a:bodyPr wrap="square" lIns="18288" tIns="0" rIns="18288" bIns="0" anchor="t">
            <a:noAutofit/>
          </a:bodyPr>
          <a:lstStyle/>
          <a:p>
            <a:pPr algn="ctr"/>
            <a:r>
              <a:rPr sz="1050" b="1">
                <a:solidFill>
                  <a:srgbClr val="01416B"/>
                </a:solidFill>
                <a:latin typeface="Arial"/>
              </a:rPr>
              <a:t>Low 0.1</a:t>
            </a:r>
          </a:p>
        </p:txBody>
      </p:sp>
      <p:sp>
        <p:nvSpPr>
          <p:cNvPr id="27" name="Oval 26"/>
          <p:cNvSpPr/>
          <p:nvPr/>
        </p:nvSpPr>
        <p:spPr>
          <a:xfrm>
            <a:off x="2208275" y="5486400"/>
            <a:ext cx="146304" cy="146304"/>
          </a:xfrm>
          <a:prstGeom prst="ellipse">
            <a:avLst/>
          </a:prstGeom>
          <a:solidFill>
            <a:srgbClr val="01416B"/>
          </a:solidFill>
          <a:ln>
            <a:noFill/>
          </a:ln>
          <a:effectLst/>
        </p:spPr>
        <p:txBody>
          <a:bodyPr rtlCol="0" anchor="ctr"/>
          <a:lstStyle/>
          <a:p>
            <a:pPr algn="ctr"/>
          </a:p>
        </p:txBody>
      </p:sp>
      <p:sp>
        <p:nvSpPr>
          <p:cNvPr id="28" name="TextBox 27"/>
          <p:cNvSpPr txBox="1"/>
          <p:nvPr/>
        </p:nvSpPr>
        <p:spPr>
          <a:xfrm>
            <a:off x="1872595" y="5193792"/>
            <a:ext cx="817664" cy="237744"/>
          </a:xfrm>
          <a:prstGeom prst="rect">
            <a:avLst/>
          </a:prstGeom>
          <a:noFill/>
        </p:spPr>
        <p:txBody>
          <a:bodyPr wrap="square" lIns="18288" tIns="0" rIns="18288" bIns="0" anchor="t">
            <a:noAutofit/>
          </a:bodyPr>
          <a:lstStyle/>
          <a:p>
            <a:pPr algn="ctr"/>
            <a:r>
              <a:rPr sz="1050" b="1">
                <a:solidFill>
                  <a:srgbClr val="01416B"/>
                </a:solidFill>
                <a:latin typeface="Arial"/>
              </a:rPr>
              <a:t>Medium 0.3</a:t>
            </a:r>
          </a:p>
        </p:txBody>
      </p:sp>
      <p:sp>
        <p:nvSpPr>
          <p:cNvPr id="29" name="Oval 28"/>
          <p:cNvSpPr/>
          <p:nvPr/>
        </p:nvSpPr>
        <p:spPr>
          <a:xfrm>
            <a:off x="3621023" y="5486400"/>
            <a:ext cx="146304" cy="146304"/>
          </a:xfrm>
          <a:prstGeom prst="ellipse">
            <a:avLst/>
          </a:prstGeom>
          <a:solidFill>
            <a:srgbClr val="01416B"/>
          </a:solidFill>
          <a:ln>
            <a:noFill/>
          </a:ln>
          <a:effectLst/>
        </p:spPr>
        <p:txBody>
          <a:bodyPr rtlCol="0" anchor="ctr"/>
          <a:lstStyle/>
          <a:p>
            <a:pPr algn="ctr"/>
          </a:p>
        </p:txBody>
      </p:sp>
      <p:sp>
        <p:nvSpPr>
          <p:cNvPr id="30" name="TextBox 29"/>
          <p:cNvSpPr txBox="1"/>
          <p:nvPr/>
        </p:nvSpPr>
        <p:spPr>
          <a:xfrm>
            <a:off x="3389090" y="5193792"/>
            <a:ext cx="610171" cy="237744"/>
          </a:xfrm>
          <a:prstGeom prst="rect">
            <a:avLst/>
          </a:prstGeom>
          <a:noFill/>
        </p:spPr>
        <p:txBody>
          <a:bodyPr wrap="square" lIns="18288" tIns="0" rIns="18288" bIns="0" anchor="t">
            <a:noAutofit/>
          </a:bodyPr>
          <a:lstStyle/>
          <a:p>
            <a:pPr algn="ctr"/>
            <a:r>
              <a:rPr sz="1050" b="1">
                <a:solidFill>
                  <a:srgbClr val="01416B"/>
                </a:solidFill>
                <a:latin typeface="Arial"/>
              </a:rPr>
              <a:t>High 0.6</a:t>
            </a:r>
          </a:p>
        </p:txBody>
      </p:sp>
      <p:sp>
        <p:nvSpPr>
          <p:cNvPr id="31" name="Oval 30"/>
          <p:cNvSpPr/>
          <p:nvPr/>
        </p:nvSpPr>
        <p:spPr>
          <a:xfrm>
            <a:off x="5504688" y="5486400"/>
            <a:ext cx="146304" cy="146304"/>
          </a:xfrm>
          <a:prstGeom prst="ellipse">
            <a:avLst/>
          </a:prstGeom>
          <a:solidFill>
            <a:srgbClr val="01416B"/>
          </a:solidFill>
          <a:ln>
            <a:noFill/>
          </a:ln>
          <a:effectLst/>
        </p:spPr>
        <p:txBody>
          <a:bodyPr rtlCol="0" anchor="ctr"/>
          <a:lstStyle/>
          <a:p>
            <a:pPr algn="ctr"/>
          </a:p>
        </p:txBody>
      </p:sp>
      <p:sp>
        <p:nvSpPr>
          <p:cNvPr id="32" name="TextBox 31"/>
          <p:cNvSpPr txBox="1"/>
          <p:nvPr/>
        </p:nvSpPr>
        <p:spPr>
          <a:xfrm>
            <a:off x="5040515" y="5193792"/>
            <a:ext cx="765924" cy="237744"/>
          </a:xfrm>
          <a:prstGeom prst="rect">
            <a:avLst/>
          </a:prstGeom>
          <a:noFill/>
        </p:spPr>
        <p:txBody>
          <a:bodyPr wrap="square" lIns="18288" tIns="0" rIns="18288" bIns="0" anchor="t">
            <a:noAutofit/>
          </a:bodyPr>
          <a:lstStyle/>
          <a:p>
            <a:pPr algn="ctr"/>
            <a:r>
              <a:rPr sz="1050" b="1">
                <a:solidFill>
                  <a:srgbClr val="01416B"/>
                </a:solidFill>
                <a:latin typeface="Arial"/>
              </a:rPr>
              <a:t>Critical 1.0</a:t>
            </a:r>
          </a:p>
        </p:txBody>
      </p:sp>
      <p:cxnSp>
        <p:nvCxnSpPr>
          <p:cNvPr id="33" name="Connector 32"/>
          <p:cNvCxnSpPr/>
          <p:nvPr/>
        </p:nvCxnSpPr>
        <p:spPr>
          <a:xfrm>
            <a:off x="3694175" y="5440680"/>
            <a:ext cx="0" cy="246888"/>
          </a:xfrm>
          <a:prstGeom prst="line">
            <a:avLst/>
          </a:prstGeom>
          <a:ln w="19050">
            <a:solidFill>
              <a:srgbClr val="8A6D00"/>
            </a:solidFill>
            <a:prstDash val="dash"/>
          </a:ln>
        </p:spPr>
      </p:cxnSp>
      <p:sp>
        <p:nvSpPr>
          <p:cNvPr id="34" name="TextBox 33"/>
          <p:cNvSpPr txBox="1"/>
          <p:nvPr/>
        </p:nvSpPr>
        <p:spPr>
          <a:xfrm>
            <a:off x="2276855" y="5705856"/>
            <a:ext cx="2834640" cy="237744"/>
          </a:xfrm>
          <a:prstGeom prst="rect">
            <a:avLst/>
          </a:prstGeom>
          <a:noFill/>
        </p:spPr>
        <p:txBody>
          <a:bodyPr wrap="square" lIns="18288" tIns="0" rIns="18288" bIns="0" anchor="t">
            <a:noAutofit/>
          </a:bodyPr>
          <a:lstStyle/>
          <a:p>
            <a:pPr algn="ctr"/>
            <a:r>
              <a:rPr sz="1000" b="0">
                <a:solidFill>
                  <a:srgbClr val="8A6D00"/>
                </a:solidFill>
                <a:latin typeface="Arial"/>
              </a:rPr>
              <a:t>R_max 0.60: above it, a person decides</a:t>
            </a:r>
          </a:p>
        </p:txBody>
      </p:sp>
      <p:sp>
        <p:nvSpPr>
          <p:cNvPr id="35" name="Rounded Rectangle 34"/>
          <p:cNvSpPr/>
          <p:nvPr/>
        </p:nvSpPr>
        <p:spPr>
          <a:xfrm>
            <a:off x="6172200" y="4709160"/>
            <a:ext cx="5422392" cy="1325880"/>
          </a:xfrm>
          <a:prstGeom prst="roundRect">
            <a:avLst>
              <a:gd name="adj" fmla="val 12000"/>
            </a:avLst>
          </a:prstGeom>
          <a:solidFill>
            <a:srgbClr val="E6EEF5"/>
          </a:solidFill>
          <a:ln>
            <a:noFill/>
          </a:ln>
          <a:effectLst/>
        </p:spPr>
        <p:txBody>
          <a:bodyPr rtlCol="0" anchor="t" wrap="square" lIns="137160" tIns="73152" rIns="109728">
            <a:noAutofit/>
          </a:bodyPr>
          <a:lstStyle/>
          <a:p>
            <a:pPr algn="l">
              <a:spcAft>
                <a:spcPts val="200"/>
              </a:spcAft>
            </a:pPr>
            <a:r>
              <a:rPr sz="1250" b="1">
                <a:solidFill>
                  <a:srgbClr val="01416B"/>
                </a:solidFill>
                <a:latin typeface="Arial"/>
              </a:rPr>
              <a:t>Six gates</a:t>
            </a:r>
          </a:p>
          <a:p>
            <a:pPr algn="l">
              <a:spcAft>
                <a:spcPts val="200"/>
              </a:spcAft>
            </a:pPr>
            <a:r>
              <a:rPr sz="1100" b="1">
                <a:solidFill>
                  <a:srgbClr val="01416B"/>
                </a:solidFill>
                <a:latin typeface="Arial"/>
              </a:rPr>
              <a:t>Always a person: </a:t>
            </a:r>
            <a:r>
              <a:rPr sz="1100" b="0">
                <a:solidFill>
                  <a:srgbClr val="2E4357"/>
                </a:solidFill>
                <a:latin typeface="Arial"/>
              </a:rPr>
              <a:t>merge review, release sign-off</a:t>
            </a:r>
          </a:p>
          <a:p>
            <a:pPr algn="l">
              <a:spcAft>
                <a:spcPts val="200"/>
              </a:spcAft>
            </a:pPr>
            <a:r>
              <a:rPr sz="1100" b="1">
                <a:solidFill>
                  <a:srgbClr val="01416B"/>
                </a:solidFill>
                <a:latin typeface="Arial"/>
              </a:rPr>
              <a:t>Only when a rule fires: </a:t>
            </a:r>
            <a:r>
              <a:rPr sz="1100" b="0">
                <a:solidFill>
                  <a:srgbClr val="2E4357"/>
                </a:solidFill>
                <a:latin typeface="Arial"/>
              </a:rPr>
              <a:t>duplicate 0.70–0.85, autonomy gate, secret found, canary risk &gt; 0.30</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7"/>
          <p:cNvSpPr txBox="1"/>
          <p:nvPr>
            <p:ph type="title"/>
          </p:nvPr>
        </p:nvSpPr>
        <p:spPr>
          <a:xfrm>
            <a:off x="594360" y="301752"/>
            <a:ext cx="9372600" cy="621792"/>
          </a:xfrm>
          <a:prstGeom prst="rect">
            <a:avLst/>
          </a:prstGeom>
          <a:noFill/>
          <a:ln>
            <a:noFill/>
          </a:ln>
        </p:spPr>
        <p:txBody>
          <a:bodyPr anchorCtr="0" anchor="b" bIns="0" lIns="0" spcFirstLastPara="1" rIns="0" wrap="square" tIns="0">
            <a:normAutofit/>
          </a:bodyPr>
          <a:lstStyle/>
          <a:p>
            <a:pPr indent="0" lvl="0" marL="0" rtl="0" algn="l">
              <a:lnSpc>
                <a:spcPct val="90000"/>
              </a:lnSpc>
              <a:spcBef>
                <a:spcPts val="0"/>
              </a:spcBef>
              <a:spcAft>
                <a:spcPts val="0"/>
              </a:spcAft>
              <a:buClr>
                <a:srgbClr val="01416B"/>
              </a:buClr>
              <a:buSzPts val="2800"/>
              <a:buFont typeface="Arial"/>
              <a:buNone/>
            </a:pPr>
            <a:r>
              <a:rPr b="1" lang="en-US" sz="2800"/>
              <a:t>Example: one flash-sale complaint, end to end</a:t>
            </a:r>
            <a:endParaRPr/>
          </a:p>
        </p:txBody>
      </p:sp>
      <p:sp>
        <p:nvSpPr>
          <p:cNvPr id="232" name="Google Shape;232;p7"/>
          <p:cNvSpPr/>
          <p:nvPr/>
        </p:nvSpPr>
        <p:spPr>
          <a:xfrm>
            <a:off x="590550" y="990600"/>
            <a:ext cx="685800" cy="47625"/>
          </a:xfrm>
          <a:prstGeom prst="rect">
            <a:avLst/>
          </a:prstGeom>
          <a:solidFill>
            <a:srgbClr val="FDD40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3" name="Google Shape;233;p7"/>
          <p:cNvSpPr/>
          <p:nvPr/>
        </p:nvSpPr>
        <p:spPr>
          <a:xfrm>
            <a:off x="590550" y="1123950"/>
            <a:ext cx="11001375" cy="34290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575">
                <a:solidFill>
                  <a:srgbClr val="617487"/>
                </a:solidFill>
                <a:latin typeface="Arial"/>
                <a:ea typeface="Arial"/>
                <a:cs typeface="Arial"/>
                <a:sym typeface="Arial"/>
              </a:rPr>
              <a:t>FB-001, a casual Indonesian crash report, waits for a person at triage, merge and release</a:t>
            </a:r>
            <a:endParaRPr/>
          </a:p>
        </p:txBody>
      </p:sp>
      <p:sp>
        <p:nvSpPr>
          <p:cNvPr id="234" name="Google Shape;234;p7"/>
          <p:cNvSpPr/>
          <p:nvPr/>
        </p:nvSpPr>
        <p:spPr>
          <a:xfrm>
            <a:off x="723900" y="1752600"/>
            <a:ext cx="3314700" cy="876300"/>
          </a:xfrm>
          <a:prstGeom prst="roundRect">
            <a:avLst>
              <a:gd fmla="val 15217" name="adj"/>
            </a:avLst>
          </a:prstGeom>
          <a:solidFill>
            <a:srgbClr val="FFFFFF"/>
          </a:solidFill>
          <a:ln cap="flat" cmpd="sng" w="9525">
            <a:solidFill>
              <a:srgbClr val="D7E0E9"/>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5" name="Google Shape;235;p7"/>
          <p:cNvSpPr/>
          <p:nvPr/>
        </p:nvSpPr>
        <p:spPr>
          <a:xfrm>
            <a:off x="876300" y="1866900"/>
            <a:ext cx="3009900" cy="276225"/>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575">
                <a:solidFill>
                  <a:srgbClr val="01416B"/>
                </a:solidFill>
                <a:latin typeface="Arial"/>
                <a:ea typeface="Arial"/>
                <a:cs typeface="Arial"/>
                <a:sym typeface="Arial"/>
              </a:rPr>
              <a:t>1 · Intake</a:t>
            </a:r>
            <a:endParaRPr/>
          </a:p>
        </p:txBody>
      </p:sp>
      <p:sp>
        <p:nvSpPr>
          <p:cNvPr id="236" name="Google Shape;236;p7"/>
          <p:cNvSpPr/>
          <p:nvPr/>
        </p:nvSpPr>
        <p:spPr>
          <a:xfrm>
            <a:off x="876300" y="2219325"/>
            <a:ext cx="3009900" cy="28575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425">
                <a:solidFill>
                  <a:srgbClr val="2E4357"/>
                </a:solidFill>
                <a:latin typeface="Arial"/>
                <a:ea typeface="Arial"/>
                <a:cs typeface="Arial"/>
                <a:sym typeface="Arial"/>
              </a:rPr>
              <a:t>Indonesian report, PII masked</a:t>
            </a:r>
            <a:endParaRPr/>
          </a:p>
        </p:txBody>
      </p:sp>
      <p:sp>
        <p:nvSpPr>
          <p:cNvPr id="237" name="Google Shape;237;p7"/>
          <p:cNvSpPr/>
          <p:nvPr/>
        </p:nvSpPr>
        <p:spPr>
          <a:xfrm>
            <a:off x="4305300" y="1752600"/>
            <a:ext cx="3314700" cy="876300"/>
          </a:xfrm>
          <a:prstGeom prst="roundRect">
            <a:avLst>
              <a:gd fmla="val 15217" name="adj"/>
            </a:avLst>
          </a:prstGeom>
          <a:solidFill>
            <a:srgbClr val="FFF6C7"/>
          </a:solidFill>
          <a:ln cap="flat" cmpd="sng" w="9525">
            <a:solidFill>
              <a:srgbClr val="C9A40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8" name="Google Shape;238;p7"/>
          <p:cNvSpPr/>
          <p:nvPr/>
        </p:nvSpPr>
        <p:spPr>
          <a:xfrm>
            <a:off x="4457700" y="1866900"/>
            <a:ext cx="3009900" cy="276225"/>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575">
                <a:solidFill>
                  <a:srgbClr val="8A6D00"/>
                </a:solidFill>
                <a:latin typeface="Arial"/>
                <a:ea typeface="Arial"/>
                <a:cs typeface="Arial"/>
                <a:sym typeface="Arial"/>
              </a:rPr>
              <a:t>2 · Triage</a:t>
            </a:r>
            <a:endParaRPr/>
          </a:p>
        </p:txBody>
      </p:sp>
      <p:sp>
        <p:nvSpPr>
          <p:cNvPr id="239" name="Google Shape;239;p7"/>
          <p:cNvSpPr/>
          <p:nvPr/>
        </p:nvSpPr>
        <p:spPr>
          <a:xfrm>
            <a:off x="4457700" y="2219325"/>
            <a:ext cx="3009900" cy="28575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425">
                <a:solidFill>
                  <a:srgbClr val="2E4357"/>
                </a:solidFill>
                <a:latin typeface="Arial"/>
                <a:ea typeface="Arial"/>
                <a:cs typeface="Arial"/>
                <a:sym typeface="Arial"/>
              </a:rPr>
              <a:t>Critical · 0.84 confidence</a:t>
            </a:r>
            <a:endParaRPr/>
          </a:p>
        </p:txBody>
      </p:sp>
      <p:sp>
        <p:nvSpPr>
          <p:cNvPr id="240" name="Google Shape;240;p7"/>
          <p:cNvSpPr/>
          <p:nvPr/>
        </p:nvSpPr>
        <p:spPr>
          <a:xfrm>
            <a:off x="7886700" y="1752600"/>
            <a:ext cx="3314700" cy="876300"/>
          </a:xfrm>
          <a:prstGeom prst="roundRect">
            <a:avLst>
              <a:gd fmla="val 15217" name="adj"/>
            </a:avLst>
          </a:prstGeom>
          <a:solidFill>
            <a:srgbClr val="FFFFFF"/>
          </a:solidFill>
          <a:ln cap="flat" cmpd="sng" w="9525">
            <a:solidFill>
              <a:srgbClr val="D7E0E9"/>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1" name="Google Shape;241;p7"/>
          <p:cNvSpPr/>
          <p:nvPr/>
        </p:nvSpPr>
        <p:spPr>
          <a:xfrm>
            <a:off x="8039100" y="1866900"/>
            <a:ext cx="3009900" cy="276225"/>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575">
                <a:solidFill>
                  <a:srgbClr val="01416B"/>
                </a:solidFill>
                <a:latin typeface="Arial"/>
                <a:ea typeface="Arial"/>
                <a:cs typeface="Arial"/>
                <a:sym typeface="Arial"/>
              </a:rPr>
              <a:t>3 · Assign</a:t>
            </a:r>
            <a:endParaRPr/>
          </a:p>
        </p:txBody>
      </p:sp>
      <p:sp>
        <p:nvSpPr>
          <p:cNvPr id="242" name="Google Shape;242;p7"/>
          <p:cNvSpPr/>
          <p:nvPr/>
        </p:nvSpPr>
        <p:spPr>
          <a:xfrm>
            <a:off x="8039100" y="2219325"/>
            <a:ext cx="3009900" cy="28575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425">
                <a:solidFill>
                  <a:srgbClr val="2E4357"/>
                </a:solidFill>
                <a:latin typeface="Arial"/>
                <a:ea typeface="Arial"/>
                <a:cs typeface="Arial"/>
                <a:sym typeface="Arial"/>
              </a:rPr>
              <a:t>Payments squad wins (U = 0.87)</a:t>
            </a:r>
            <a:endParaRPr/>
          </a:p>
        </p:txBody>
      </p:sp>
      <p:sp>
        <p:nvSpPr>
          <p:cNvPr id="243" name="Google Shape;243;p7"/>
          <p:cNvSpPr/>
          <p:nvPr/>
        </p:nvSpPr>
        <p:spPr>
          <a:xfrm>
            <a:off x="723900" y="2857500"/>
            <a:ext cx="3314700" cy="876300"/>
          </a:xfrm>
          <a:prstGeom prst="roundRect">
            <a:avLst>
              <a:gd fmla="val 15217" name="adj"/>
            </a:avLst>
          </a:prstGeom>
          <a:solidFill>
            <a:srgbClr val="FFFFFF"/>
          </a:solidFill>
          <a:ln cap="flat" cmpd="sng" w="9525">
            <a:solidFill>
              <a:srgbClr val="D7E0E9"/>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4" name="Google Shape;244;p7"/>
          <p:cNvSpPr/>
          <p:nvPr/>
        </p:nvSpPr>
        <p:spPr>
          <a:xfrm>
            <a:off x="876300" y="2971800"/>
            <a:ext cx="3009900" cy="276225"/>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575">
                <a:solidFill>
                  <a:srgbClr val="01416B"/>
                </a:solidFill>
                <a:latin typeface="Arial"/>
                <a:ea typeface="Arial"/>
                <a:cs typeface="Arial"/>
                <a:sym typeface="Arial"/>
              </a:rPr>
              <a:t>4 · Investigate</a:t>
            </a:r>
            <a:endParaRPr/>
          </a:p>
        </p:txBody>
      </p:sp>
      <p:sp>
        <p:nvSpPr>
          <p:cNvPr id="245" name="Google Shape;245;p7"/>
          <p:cNvSpPr/>
          <p:nvPr/>
        </p:nvSpPr>
        <p:spPr>
          <a:xfrm>
            <a:off x="876300" y="3324225"/>
            <a:ext cx="3009900" cy="28575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425">
                <a:solidFill>
                  <a:srgbClr val="2E4357"/>
                </a:solidFill>
                <a:latin typeface="Arial"/>
                <a:ea typeface="Arial"/>
                <a:cs typeface="Arial"/>
                <a:sym typeface="Arial"/>
              </a:rPr>
              <a:t>6 nodes · payment-db first</a:t>
            </a:r>
            <a:endParaRPr/>
          </a:p>
        </p:txBody>
      </p:sp>
      <p:sp>
        <p:nvSpPr>
          <p:cNvPr id="246" name="Google Shape;246;p7"/>
          <p:cNvSpPr/>
          <p:nvPr/>
        </p:nvSpPr>
        <p:spPr>
          <a:xfrm>
            <a:off x="4305300" y="2857500"/>
            <a:ext cx="3314700" cy="876300"/>
          </a:xfrm>
          <a:prstGeom prst="roundRect">
            <a:avLst>
              <a:gd fmla="val 15217" name="adj"/>
            </a:avLst>
          </a:prstGeom>
          <a:solidFill>
            <a:srgbClr val="FFFFFF"/>
          </a:solidFill>
          <a:ln cap="flat" cmpd="sng" w="9525">
            <a:solidFill>
              <a:srgbClr val="D7E0E9"/>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7" name="Google Shape;247;p7"/>
          <p:cNvSpPr/>
          <p:nvPr/>
        </p:nvSpPr>
        <p:spPr>
          <a:xfrm>
            <a:off x="4457700" y="2971800"/>
            <a:ext cx="3009900" cy="276225"/>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575">
                <a:solidFill>
                  <a:srgbClr val="01416B"/>
                </a:solidFill>
                <a:latin typeface="Arial"/>
                <a:ea typeface="Arial"/>
                <a:cs typeface="Arial"/>
                <a:sym typeface="Arial"/>
              </a:rPr>
              <a:t>5 · Plan</a:t>
            </a:r>
            <a:endParaRPr/>
          </a:p>
        </p:txBody>
      </p:sp>
      <p:sp>
        <p:nvSpPr>
          <p:cNvPr id="248" name="Google Shape;248;p7"/>
          <p:cNvSpPr/>
          <p:nvPr/>
        </p:nvSpPr>
        <p:spPr>
          <a:xfrm>
            <a:off x="4457700" y="3324225"/>
            <a:ext cx="3009900" cy="28575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425">
                <a:solidFill>
                  <a:srgbClr val="2E4357"/>
                </a:solidFill>
                <a:latin typeface="Arial"/>
                <a:ea typeface="Arial"/>
                <a:cs typeface="Arial"/>
                <a:sym typeface="Arial"/>
              </a:rPr>
              <a:t>Subtasks + Given/When/Then</a:t>
            </a:r>
            <a:endParaRPr/>
          </a:p>
        </p:txBody>
      </p:sp>
      <p:sp>
        <p:nvSpPr>
          <p:cNvPr id="249" name="Google Shape;249;p7"/>
          <p:cNvSpPr/>
          <p:nvPr/>
        </p:nvSpPr>
        <p:spPr>
          <a:xfrm>
            <a:off x="7886700" y="2857500"/>
            <a:ext cx="3314700" cy="876300"/>
          </a:xfrm>
          <a:prstGeom prst="roundRect">
            <a:avLst>
              <a:gd fmla="val 15217" name="adj"/>
            </a:avLst>
          </a:prstGeom>
          <a:solidFill>
            <a:srgbClr val="FFFFFF"/>
          </a:solidFill>
          <a:ln cap="flat" cmpd="sng" w="9525">
            <a:solidFill>
              <a:srgbClr val="D7E0E9"/>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0" name="Google Shape;250;p7"/>
          <p:cNvSpPr/>
          <p:nvPr/>
        </p:nvSpPr>
        <p:spPr>
          <a:xfrm>
            <a:off x="8039100" y="2971800"/>
            <a:ext cx="3009900" cy="276225"/>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575">
                <a:solidFill>
                  <a:srgbClr val="01416B"/>
                </a:solidFill>
                <a:latin typeface="Arial"/>
                <a:ea typeface="Arial"/>
                <a:cs typeface="Arial"/>
                <a:sym typeface="Arial"/>
              </a:rPr>
              <a:t>6 · Implement</a:t>
            </a:r>
            <a:endParaRPr/>
          </a:p>
        </p:txBody>
      </p:sp>
      <p:sp>
        <p:nvSpPr>
          <p:cNvPr id="251" name="Google Shape;251;p7"/>
          <p:cNvSpPr/>
          <p:nvPr/>
        </p:nvSpPr>
        <p:spPr>
          <a:xfrm>
            <a:off x="8039100" y="3324225"/>
            <a:ext cx="3009900" cy="28575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425">
                <a:solidFill>
                  <a:srgbClr val="2E4357"/>
                </a:solidFill>
                <a:latin typeface="Arial"/>
                <a:ea typeface="Arial"/>
                <a:cs typeface="Arial"/>
                <a:sym typeface="Arial"/>
              </a:rPr>
              <a:t>Draft PR passes secret scan</a:t>
            </a:r>
            <a:endParaRPr/>
          </a:p>
        </p:txBody>
      </p:sp>
      <p:sp>
        <p:nvSpPr>
          <p:cNvPr id="252" name="Google Shape;252;p7"/>
          <p:cNvSpPr/>
          <p:nvPr/>
        </p:nvSpPr>
        <p:spPr>
          <a:xfrm>
            <a:off x="723900" y="3962400"/>
            <a:ext cx="3314700" cy="876300"/>
          </a:xfrm>
          <a:prstGeom prst="roundRect">
            <a:avLst>
              <a:gd fmla="val 15217" name="adj"/>
            </a:avLst>
          </a:prstGeom>
          <a:solidFill>
            <a:srgbClr val="FFFFFF"/>
          </a:solidFill>
          <a:ln cap="flat" cmpd="sng" w="9525">
            <a:solidFill>
              <a:srgbClr val="D7E0E9"/>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3" name="Google Shape;253;p7"/>
          <p:cNvSpPr/>
          <p:nvPr/>
        </p:nvSpPr>
        <p:spPr>
          <a:xfrm>
            <a:off x="876300" y="4076700"/>
            <a:ext cx="3009900" cy="276225"/>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575">
                <a:solidFill>
                  <a:srgbClr val="01416B"/>
                </a:solidFill>
                <a:latin typeface="Arial"/>
                <a:ea typeface="Arial"/>
                <a:cs typeface="Arial"/>
                <a:sym typeface="Arial"/>
              </a:rPr>
              <a:t>7 · QA</a:t>
            </a:r>
            <a:endParaRPr/>
          </a:p>
        </p:txBody>
      </p:sp>
      <p:sp>
        <p:nvSpPr>
          <p:cNvPr id="254" name="Google Shape;254;p7"/>
          <p:cNvSpPr/>
          <p:nvPr/>
        </p:nvSpPr>
        <p:spPr>
          <a:xfrm>
            <a:off x="876300" y="4429125"/>
            <a:ext cx="3009900" cy="28575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425">
                <a:solidFill>
                  <a:srgbClr val="2E4357"/>
                </a:solidFill>
                <a:latin typeface="Arial"/>
                <a:ea typeface="Arial"/>
                <a:cs typeface="Arial"/>
                <a:sym typeface="Arial"/>
              </a:rPr>
              <a:t>About 100 tests; merge review</a:t>
            </a:r>
            <a:endParaRPr/>
          </a:p>
        </p:txBody>
      </p:sp>
      <p:sp>
        <p:nvSpPr>
          <p:cNvPr id="255" name="Google Shape;255;p7"/>
          <p:cNvSpPr/>
          <p:nvPr/>
        </p:nvSpPr>
        <p:spPr>
          <a:xfrm>
            <a:off x="4305300" y="3962400"/>
            <a:ext cx="3314700" cy="876300"/>
          </a:xfrm>
          <a:prstGeom prst="roundRect">
            <a:avLst>
              <a:gd fmla="val 15217" name="adj"/>
            </a:avLst>
          </a:prstGeom>
          <a:solidFill>
            <a:srgbClr val="FFFFFF"/>
          </a:solidFill>
          <a:ln cap="flat" cmpd="sng" w="9525">
            <a:solidFill>
              <a:srgbClr val="D7E0E9"/>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6" name="Google Shape;256;p7"/>
          <p:cNvSpPr/>
          <p:nvPr/>
        </p:nvSpPr>
        <p:spPr>
          <a:xfrm>
            <a:off x="4457700" y="4076700"/>
            <a:ext cx="3009900" cy="276225"/>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575">
                <a:solidFill>
                  <a:srgbClr val="01416B"/>
                </a:solidFill>
                <a:latin typeface="Arial"/>
                <a:ea typeface="Arial"/>
                <a:cs typeface="Arial"/>
                <a:sym typeface="Arial"/>
              </a:rPr>
              <a:t>8 · Deploy</a:t>
            </a:r>
            <a:endParaRPr/>
          </a:p>
        </p:txBody>
      </p:sp>
      <p:sp>
        <p:nvSpPr>
          <p:cNvPr id="257" name="Google Shape;257;p7"/>
          <p:cNvSpPr/>
          <p:nvPr/>
        </p:nvSpPr>
        <p:spPr>
          <a:xfrm>
            <a:off x="4457700" y="4429125"/>
            <a:ext cx="3009900" cy="28575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425">
                <a:solidFill>
                  <a:srgbClr val="2E4357"/>
                </a:solidFill>
                <a:latin typeface="Arial"/>
                <a:ea typeface="Arial"/>
                <a:cs typeface="Arial"/>
                <a:sym typeface="Arial"/>
              </a:rPr>
              <a:t>Canary, then release sign-off</a:t>
            </a:r>
            <a:endParaRPr/>
          </a:p>
        </p:txBody>
      </p:sp>
      <p:sp>
        <p:nvSpPr>
          <p:cNvPr id="258" name="Google Shape;258;p7"/>
          <p:cNvSpPr/>
          <p:nvPr/>
        </p:nvSpPr>
        <p:spPr>
          <a:xfrm>
            <a:off x="7886700" y="3962400"/>
            <a:ext cx="3314700" cy="876300"/>
          </a:xfrm>
          <a:prstGeom prst="roundRect">
            <a:avLst>
              <a:gd fmla="val 15217" name="adj"/>
            </a:avLst>
          </a:prstGeom>
          <a:solidFill>
            <a:srgbClr val="FFFFFF"/>
          </a:solidFill>
          <a:ln cap="flat" cmpd="sng" w="9525">
            <a:solidFill>
              <a:srgbClr val="D7E0E9"/>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9" name="Google Shape;259;p7"/>
          <p:cNvSpPr/>
          <p:nvPr/>
        </p:nvSpPr>
        <p:spPr>
          <a:xfrm>
            <a:off x="8039100" y="4076700"/>
            <a:ext cx="3009900" cy="276225"/>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575">
                <a:solidFill>
                  <a:srgbClr val="01416B"/>
                </a:solidFill>
                <a:latin typeface="Arial"/>
                <a:ea typeface="Arial"/>
                <a:cs typeface="Arial"/>
                <a:sym typeface="Arial"/>
              </a:rPr>
              <a:t>9 · Monitor</a:t>
            </a:r>
            <a:endParaRPr/>
          </a:p>
        </p:txBody>
      </p:sp>
      <p:sp>
        <p:nvSpPr>
          <p:cNvPr id="260" name="Google Shape;260;p7"/>
          <p:cNvSpPr/>
          <p:nvPr/>
        </p:nvSpPr>
        <p:spPr>
          <a:xfrm>
            <a:off x="8039100" y="4429125"/>
            <a:ext cx="3009900" cy="28575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425">
                <a:solidFill>
                  <a:srgbClr val="2E4357"/>
                </a:solidFill>
                <a:latin typeface="Arial"/>
                <a:ea typeface="Arial"/>
                <a:cs typeface="Arial"/>
                <a:sym typeface="Arial"/>
              </a:rPr>
              <a:t>Healthy vs SLO; ticket closed</a:t>
            </a:r>
            <a:endParaRPr/>
          </a:p>
        </p:txBody>
      </p:sp>
      <p:sp>
        <p:nvSpPr>
          <p:cNvPr id="261" name="Google Shape;261;p7"/>
          <p:cNvSpPr/>
          <p:nvPr/>
        </p:nvSpPr>
        <p:spPr>
          <a:xfrm>
            <a:off x="723900" y="5219700"/>
            <a:ext cx="10744200" cy="638175"/>
          </a:xfrm>
          <a:prstGeom prst="roundRect">
            <a:avLst>
              <a:gd fmla="val 20896" name="adj"/>
            </a:avLst>
          </a:prstGeom>
          <a:solidFill>
            <a:srgbClr val="E6EEF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2" name="Google Shape;262;p7"/>
          <p:cNvSpPr/>
          <p:nvPr/>
        </p:nvSpPr>
        <p:spPr>
          <a:xfrm>
            <a:off x="914400" y="5353050"/>
            <a:ext cx="10353675" cy="400050"/>
          </a:xfrm>
          <a:prstGeom prst="rect">
            <a:avLst/>
          </a:prstGeom>
          <a:noFill/>
          <a:ln>
            <a:noFill/>
          </a:ln>
        </p:spPr>
        <p:txBody>
          <a:bodyPr anchorCtr="0" anchor="ctr" bIns="0" lIns="0" spcFirstLastPara="1" rIns="0" wrap="square" tIns="0">
            <a:normAutofit/>
          </a:bodyPr>
          <a:lstStyle/>
          <a:p>
            <a:pPr indent="0" lvl="0" marL="0" marR="0" rtl="0" algn="l">
              <a:lnSpc>
                <a:spcPct val="90000"/>
              </a:lnSpc>
              <a:spcBef>
                <a:spcPts val="0"/>
              </a:spcBef>
              <a:spcAft>
                <a:spcPts val="0"/>
              </a:spcAft>
              <a:buNone/>
            </a:pPr>
            <a:r>
              <a:rPr b="1" lang="en-US" sz="1425">
                <a:solidFill>
                  <a:srgbClr val="01416B"/>
                </a:solidFill>
                <a:latin typeface="Arial"/>
                <a:ea typeface="Arial"/>
                <a:cs typeface="Arial"/>
                <a:sym typeface="Arial"/>
              </a:rPr>
              <a:t>Critical risk (1.0) is above R_max = 0.60, so triage waits for a person; merge and release always do. A repost of the complaint (FB-002) scores 0.956 and is auto-linked.</a:t>
            </a:r>
            <a:endParaRPr/>
          </a:p>
        </p:txBody>
      </p:sp>
      <p:cxnSp>
        <p:nvCxnSpPr>
          <p:cNvPr id="263" name="Connector 262"/>
          <p:cNvCxnSpPr/>
          <p:nvPr/>
        </p:nvCxnSpPr>
        <p:spPr>
          <a:xfrm>
            <a:off x="4050791" y="2194560"/>
            <a:ext cx="237745" cy="0"/>
          </a:xfrm>
          <a:prstGeom prst="line">
            <a:avLst/>
          </a:prstGeom>
          <a:ln w="22225">
            <a:solidFill>
              <a:srgbClr val="2F6EA3"/>
            </a:solidFill>
            <a:tailEnd type="triangle" w="med" len="med"/>
          </a:ln>
        </p:spPr>
      </p:cxnSp>
      <p:cxnSp>
        <p:nvCxnSpPr>
          <p:cNvPr id="264" name="Connector 263"/>
          <p:cNvCxnSpPr/>
          <p:nvPr/>
        </p:nvCxnSpPr>
        <p:spPr>
          <a:xfrm>
            <a:off x="7635240" y="2194560"/>
            <a:ext cx="228600" cy="0"/>
          </a:xfrm>
          <a:prstGeom prst="line">
            <a:avLst/>
          </a:prstGeom>
          <a:ln w="22225">
            <a:solidFill>
              <a:srgbClr val="2F6EA3"/>
            </a:solidFill>
            <a:tailEnd type="triangle" w="med" len="med"/>
          </a:ln>
        </p:spPr>
      </p:cxnSp>
      <p:cxnSp>
        <p:nvCxnSpPr>
          <p:cNvPr id="265" name="Connector 264"/>
          <p:cNvCxnSpPr/>
          <p:nvPr/>
        </p:nvCxnSpPr>
        <p:spPr>
          <a:xfrm>
            <a:off x="4050791" y="3291840"/>
            <a:ext cx="237745" cy="0"/>
          </a:xfrm>
          <a:prstGeom prst="line">
            <a:avLst/>
          </a:prstGeom>
          <a:ln w="22225">
            <a:solidFill>
              <a:srgbClr val="2F6EA3"/>
            </a:solidFill>
            <a:tailEnd type="triangle" w="med" len="med"/>
          </a:ln>
        </p:spPr>
      </p:cxnSp>
      <p:cxnSp>
        <p:nvCxnSpPr>
          <p:cNvPr id="266" name="Connector 265"/>
          <p:cNvCxnSpPr/>
          <p:nvPr/>
        </p:nvCxnSpPr>
        <p:spPr>
          <a:xfrm>
            <a:off x="7635240" y="3291840"/>
            <a:ext cx="228600" cy="0"/>
          </a:xfrm>
          <a:prstGeom prst="line">
            <a:avLst/>
          </a:prstGeom>
          <a:ln w="22225">
            <a:solidFill>
              <a:srgbClr val="2F6EA3"/>
            </a:solidFill>
            <a:tailEnd type="triangle" w="med" len="med"/>
          </a:ln>
        </p:spPr>
      </p:cxnSp>
      <p:cxnSp>
        <p:nvCxnSpPr>
          <p:cNvPr id="267" name="Connector 266"/>
          <p:cNvCxnSpPr/>
          <p:nvPr/>
        </p:nvCxnSpPr>
        <p:spPr>
          <a:xfrm>
            <a:off x="4050791" y="4398264"/>
            <a:ext cx="237745" cy="0"/>
          </a:xfrm>
          <a:prstGeom prst="line">
            <a:avLst/>
          </a:prstGeom>
          <a:ln w="22225">
            <a:solidFill>
              <a:srgbClr val="2F6EA3"/>
            </a:solidFill>
            <a:tailEnd type="triangle" w="med" len="med"/>
          </a:ln>
        </p:spPr>
      </p:cxnSp>
      <p:cxnSp>
        <p:nvCxnSpPr>
          <p:cNvPr id="268" name="Connector 267"/>
          <p:cNvCxnSpPr/>
          <p:nvPr/>
        </p:nvCxnSpPr>
        <p:spPr>
          <a:xfrm>
            <a:off x="7635240" y="4398264"/>
            <a:ext cx="228600" cy="0"/>
          </a:xfrm>
          <a:prstGeom prst="line">
            <a:avLst/>
          </a:prstGeom>
          <a:ln w="22225">
            <a:solidFill>
              <a:srgbClr val="2F6EA3"/>
            </a:solidFill>
            <a:tailEnd type="triangle" w="med" len="med"/>
          </a:ln>
        </p:spPr>
      </p:cxnSp>
      <p:sp>
        <p:nvSpPr>
          <p:cNvPr id="1" name="Freeform 0"/>
          <p:cNvSpPr/>
          <p:nvPr/>
        </p:nvSpPr>
        <p:spPr>
          <a:xfrm>
            <a:off x="1463040" y="2633472"/>
            <a:ext cx="9144000" cy="210312"/>
          </a:xfrm>
          <a:custGeom>
            <a:avLst/>
            <a:gdLst/>
            <a:ahLst/>
            <a:cxnLst/>
            <a:rect l="l" t="t" r="r" b="b"/>
            <a:pathLst>
              <a:path w="9144000" h="210312">
                <a:moveTo>
                  <a:pt x="9144000" y="0"/>
                </a:moveTo>
                <a:lnTo>
                  <a:pt x="9144000" y="109728"/>
                </a:lnTo>
                <a:lnTo>
                  <a:pt x="0" y="109728"/>
                </a:lnTo>
                <a:lnTo>
                  <a:pt x="0" y="210312"/>
                </a:lnTo>
              </a:path>
            </a:pathLst>
          </a:custGeom>
          <a:noFill/>
          <a:ln w="15875">
            <a:solidFill>
              <a:srgbClr val="2F6EA3"/>
            </a:solidFill>
            <a:tailEnd type="triangle" w="med" len="med"/>
          </a:ln>
          <a:effectLst/>
        </p:spPr>
        <p:txBody>
          <a:bodyPr rtlCol="0" anchor="ctr"/>
          <a:lstStyle/>
          <a:p>
            <a:pPr algn="ctr"/>
          </a:p>
        </p:txBody>
      </p:sp>
      <p:sp>
        <p:nvSpPr>
          <p:cNvPr id="2" name="Freeform 1"/>
          <p:cNvSpPr/>
          <p:nvPr/>
        </p:nvSpPr>
        <p:spPr>
          <a:xfrm>
            <a:off x="1463040" y="3730752"/>
            <a:ext cx="9144000" cy="219456"/>
          </a:xfrm>
          <a:custGeom>
            <a:avLst/>
            <a:gdLst/>
            <a:ahLst/>
            <a:cxnLst/>
            <a:rect l="l" t="t" r="r" b="b"/>
            <a:pathLst>
              <a:path w="9144000" h="219456">
                <a:moveTo>
                  <a:pt x="9144000" y="0"/>
                </a:moveTo>
                <a:lnTo>
                  <a:pt x="9144000" y="114300"/>
                </a:lnTo>
                <a:lnTo>
                  <a:pt x="0" y="114300"/>
                </a:lnTo>
                <a:lnTo>
                  <a:pt x="0" y="219456"/>
                </a:lnTo>
              </a:path>
            </a:pathLst>
          </a:custGeom>
          <a:noFill/>
          <a:ln w="15875">
            <a:solidFill>
              <a:srgbClr val="2F6EA3"/>
            </a:solidFill>
            <a:tailEnd type="triangle" w="med" len="med"/>
          </a:ln>
          <a:effectLst/>
        </p:spPr>
        <p:txBody>
          <a:bodyPr rtlCol="0" anchor="ctr"/>
          <a:lstStyle/>
          <a:p>
            <a:pPr algn="ctr"/>
          </a:p>
        </p:txBody>
      </p:sp>
      <p:sp>
        <p:nvSpPr>
          <p:cNvPr id="269" name="Rounded Rectangle 268"/>
          <p:cNvSpPr/>
          <p:nvPr/>
        </p:nvSpPr>
        <p:spPr>
          <a:xfrm>
            <a:off x="6342475" y="1865376"/>
            <a:ext cx="1164748" cy="219456"/>
          </a:xfrm>
          <a:prstGeom prst="roundRect">
            <a:avLst>
              <a:gd name="adj" fmla="val 50000"/>
            </a:avLst>
          </a:prstGeom>
          <a:solidFill>
            <a:srgbClr val="FDD402"/>
          </a:solidFill>
          <a:ln>
            <a:noFill/>
          </a:ln>
          <a:effectLst/>
        </p:spPr>
        <p:txBody>
          <a:bodyPr rtlCol="0" anchor="ctr" wrap="square" lIns="36576" tIns="0" rIns="36576" bIns="0">
            <a:noAutofit/>
          </a:bodyPr>
          <a:lstStyle/>
          <a:p>
            <a:pPr algn="ctr"/>
            <a:r>
              <a:rPr sz="950" b="1">
                <a:solidFill>
                  <a:srgbClr val="01416B"/>
                </a:solidFill>
                <a:latin typeface="Arial"/>
              </a:rPr>
              <a:t>person confirms</a:t>
            </a:r>
          </a:p>
        </p:txBody>
      </p:sp>
      <p:sp>
        <p:nvSpPr>
          <p:cNvPr id="270" name="Rounded Rectangle 269"/>
          <p:cNvSpPr/>
          <p:nvPr/>
        </p:nvSpPr>
        <p:spPr>
          <a:xfrm>
            <a:off x="2865285" y="4069080"/>
            <a:ext cx="1057490" cy="219456"/>
          </a:xfrm>
          <a:prstGeom prst="roundRect">
            <a:avLst>
              <a:gd name="adj" fmla="val 50000"/>
            </a:avLst>
          </a:prstGeom>
          <a:solidFill>
            <a:srgbClr val="FDD402"/>
          </a:solidFill>
          <a:ln>
            <a:noFill/>
          </a:ln>
          <a:effectLst/>
        </p:spPr>
        <p:txBody>
          <a:bodyPr rtlCol="0" anchor="ctr" wrap="square" lIns="36576" tIns="0" rIns="36576" bIns="0">
            <a:noAutofit/>
          </a:bodyPr>
          <a:lstStyle/>
          <a:p>
            <a:pPr algn="ctr"/>
            <a:r>
              <a:rPr sz="950" b="1">
                <a:solidFill>
                  <a:srgbClr val="01416B"/>
                </a:solidFill>
                <a:latin typeface="Arial"/>
              </a:rPr>
              <a:t>person: merge</a:t>
            </a:r>
          </a:p>
        </p:txBody>
      </p:sp>
      <p:sp>
        <p:nvSpPr>
          <p:cNvPr id="271" name="Rounded Rectangle 270"/>
          <p:cNvSpPr/>
          <p:nvPr/>
        </p:nvSpPr>
        <p:spPr>
          <a:xfrm>
            <a:off x="6395923" y="4069080"/>
            <a:ext cx="1111300" cy="219456"/>
          </a:xfrm>
          <a:prstGeom prst="roundRect">
            <a:avLst>
              <a:gd name="adj" fmla="val 50000"/>
            </a:avLst>
          </a:prstGeom>
          <a:solidFill>
            <a:srgbClr val="FDD402"/>
          </a:solidFill>
          <a:ln>
            <a:noFill/>
          </a:ln>
          <a:effectLst/>
        </p:spPr>
        <p:txBody>
          <a:bodyPr rtlCol="0" anchor="ctr" wrap="square" lIns="36576" tIns="0" rIns="36576" bIns="0">
            <a:noAutofit/>
          </a:bodyPr>
          <a:lstStyle/>
          <a:p>
            <a:pPr algn="ctr"/>
            <a:r>
              <a:rPr sz="950" b="1">
                <a:solidFill>
                  <a:srgbClr val="01416B"/>
                </a:solidFill>
                <a:latin typeface="Arial"/>
              </a:rPr>
              <a:t>person: release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94;p6"/>
          <p:cNvSpPr txBox="1"/>
          <p:nvPr>
            <p:ph type="title"/>
          </p:nvPr>
        </p:nvSpPr>
        <p:spPr>
          <a:xfrm>
            <a:off x="594360" y="301752"/>
            <a:ext cx="9372600" cy="621792"/>
          </a:xfrm>
          <a:prstGeom prst="rect">
            <a:avLst/>
          </a:prstGeom>
          <a:noFill/>
          <a:ln>
            <a:noFill/>
          </a:ln>
        </p:spPr>
        <p:txBody>
          <a:bodyPr anchorCtr="0" anchor="b" bIns="0" lIns="0" spcFirstLastPara="1" rIns="0" wrap="square" tIns="0">
            <a:normAutofit/>
          </a:bodyPr>
          <a:lstStyle/>
          <a:p>
            <a:pPr indent="0" lvl="0" marL="0" rtl="0" algn="l">
              <a:lnSpc>
                <a:spcPct val="90000"/>
              </a:lnSpc>
              <a:spcBef>
                <a:spcPts val="0"/>
              </a:spcBef>
              <a:spcAft>
                <a:spcPts val="0"/>
              </a:spcAft>
              <a:buClr>
                <a:srgbClr val="01416B"/>
              </a:buClr>
              <a:buSzPts val="2800"/>
              <a:buFont typeface="Arial"/>
              <a:buNone/>
            </a:pPr>
            <a:r>
              <a:rPr b="1" lang="en-US" sz="2800"/>
              <a:t>Contract Net: the squads bid for the ticket</a:t>
            </a:r>
            <a:endParaRPr/>
          </a:p>
        </p:txBody>
      </p:sp>
      <p:sp>
        <p:nvSpPr>
          <p:cNvPr id="3" name="Google Shape;195;p6"/>
          <p:cNvSpPr/>
          <p:nvPr/>
        </p:nvSpPr>
        <p:spPr>
          <a:xfrm>
            <a:off x="590550" y="990600"/>
            <a:ext cx="685800" cy="47625"/>
          </a:xfrm>
          <a:prstGeom prst="rect">
            <a:avLst/>
          </a:prstGeom>
          <a:solidFill>
            <a:srgbClr val="FDD40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 name="Google Shape;196;p6"/>
          <p:cNvSpPr/>
          <p:nvPr/>
        </p:nvSpPr>
        <p:spPr>
          <a:xfrm>
            <a:off x="590550" y="1123950"/>
            <a:ext cx="11001375" cy="34290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575">
                <a:solidFill>
                  <a:srgbClr val="617487"/>
                </a:solidFill>
                <a:latin typeface="Arial"/>
                <a:ea typeface="Arial"/>
                <a:cs typeface="Arial"/>
                <a:sym typeface="Arial"/>
              </a:rPr>
              <a:t>Broker-Assign announces the task, and the best bid wins the investigation</a:t>
            </a:r>
            <a:endParaRPr/>
          </a:p>
        </p:txBody>
      </p:sp>
      <p:sp>
        <p:nvSpPr>
          <p:cNvPr id="5" name="Rounded Rectangle 4"/>
          <p:cNvSpPr/>
          <p:nvPr/>
        </p:nvSpPr>
        <p:spPr>
          <a:xfrm>
            <a:off x="685800" y="1783080"/>
            <a:ext cx="1920240" cy="457200"/>
          </a:xfrm>
          <a:prstGeom prst="roundRect">
            <a:avLst>
              <a:gd name="adj" fmla="val 12000"/>
            </a:avLst>
          </a:prstGeom>
          <a:solidFill>
            <a:srgbClr val="01416B"/>
          </a:solidFill>
          <a:ln>
            <a:noFill/>
          </a:ln>
          <a:effectLst/>
        </p:spPr>
        <p:txBody>
          <a:bodyPr rtlCol="0" anchor="ctr" wrap="square">
            <a:noAutofit/>
          </a:bodyPr>
          <a:lstStyle/>
          <a:p>
            <a:pPr algn="ctr"/>
            <a:r>
              <a:rPr sz="1250" b="1">
                <a:solidFill>
                  <a:srgbClr val="FFFFFF"/>
                </a:solidFill>
                <a:latin typeface="Arial"/>
              </a:rPr>
              <a:t>Broker-Assign</a:t>
            </a:r>
          </a:p>
        </p:txBody>
      </p:sp>
      <p:cxnSp>
        <p:nvCxnSpPr>
          <p:cNvPr id="6" name="Connector 5"/>
          <p:cNvCxnSpPr/>
          <p:nvPr/>
        </p:nvCxnSpPr>
        <p:spPr>
          <a:xfrm>
            <a:off x="1645920" y="2240280"/>
            <a:ext cx="0" cy="3657600"/>
          </a:xfrm>
          <a:prstGeom prst="line">
            <a:avLst/>
          </a:prstGeom>
          <a:ln w="15875">
            <a:solidFill>
              <a:srgbClr val="9FB3C8"/>
            </a:solidFill>
            <a:prstDash val="dash"/>
          </a:ln>
        </p:spPr>
      </p:cxnSp>
      <p:sp>
        <p:nvSpPr>
          <p:cNvPr id="7" name="Rounded Rectangle 6"/>
          <p:cNvSpPr/>
          <p:nvPr/>
        </p:nvSpPr>
        <p:spPr>
          <a:xfrm>
            <a:off x="3886200" y="1783080"/>
            <a:ext cx="1920240" cy="457200"/>
          </a:xfrm>
          <a:prstGeom prst="roundRect">
            <a:avLst>
              <a:gd name="adj" fmla="val 12000"/>
            </a:avLst>
          </a:prstGeom>
          <a:solidFill>
            <a:srgbClr val="01416B"/>
          </a:solidFill>
          <a:ln>
            <a:noFill/>
          </a:ln>
          <a:effectLst/>
        </p:spPr>
        <p:txBody>
          <a:bodyPr rtlCol="0" anchor="ctr" wrap="square">
            <a:noAutofit/>
          </a:bodyPr>
          <a:lstStyle/>
          <a:p>
            <a:pPr algn="ctr"/>
            <a:r>
              <a:rPr sz="1250" b="1">
                <a:solidFill>
                  <a:srgbClr val="FFFFFF"/>
                </a:solidFill>
                <a:latin typeface="Arial"/>
              </a:rPr>
              <a:t>Three squads</a:t>
            </a:r>
          </a:p>
        </p:txBody>
      </p:sp>
      <p:cxnSp>
        <p:nvCxnSpPr>
          <p:cNvPr id="8" name="Connector 7"/>
          <p:cNvCxnSpPr/>
          <p:nvPr/>
        </p:nvCxnSpPr>
        <p:spPr>
          <a:xfrm>
            <a:off x="4846320" y="2240280"/>
            <a:ext cx="0" cy="3657600"/>
          </a:xfrm>
          <a:prstGeom prst="line">
            <a:avLst/>
          </a:prstGeom>
          <a:ln w="15875">
            <a:solidFill>
              <a:srgbClr val="9FB3C8"/>
            </a:solidFill>
            <a:prstDash val="dash"/>
          </a:ln>
        </p:spPr>
      </p:cxnSp>
      <p:cxnSp>
        <p:nvCxnSpPr>
          <p:cNvPr id="9" name="Connector 8"/>
          <p:cNvCxnSpPr/>
          <p:nvPr/>
        </p:nvCxnSpPr>
        <p:spPr>
          <a:xfrm>
            <a:off x="1691640" y="2788920"/>
            <a:ext cx="3108960" cy="0"/>
          </a:xfrm>
          <a:prstGeom prst="line">
            <a:avLst/>
          </a:prstGeom>
          <a:ln w="19050">
            <a:solidFill>
              <a:srgbClr val="2F6EA3"/>
            </a:solidFill>
            <a:tailEnd type="triangle" w="med" len="med"/>
          </a:ln>
        </p:spPr>
      </p:cxnSp>
      <p:sp>
        <p:nvSpPr>
          <p:cNvPr id="10" name="TextBox 9"/>
          <p:cNvSpPr txBox="1"/>
          <p:nvPr/>
        </p:nvSpPr>
        <p:spPr>
          <a:xfrm>
            <a:off x="1737360" y="2487168"/>
            <a:ext cx="3017520" cy="256032"/>
          </a:xfrm>
          <a:prstGeom prst="rect">
            <a:avLst/>
          </a:prstGeom>
          <a:noFill/>
        </p:spPr>
        <p:txBody>
          <a:bodyPr wrap="square" lIns="18288" tIns="0" rIns="18288" bIns="0" anchor="t">
            <a:noAutofit/>
          </a:bodyPr>
          <a:lstStyle/>
          <a:p>
            <a:pPr algn="ctr"/>
            <a:r>
              <a:rPr sz="1100" b="1">
                <a:solidFill>
                  <a:srgbClr val="01416B"/>
                </a:solidFill>
                <a:latin typeface="Arial"/>
              </a:rPr>
              <a:t>1  cfp: call for proposals</a:t>
            </a:r>
          </a:p>
        </p:txBody>
      </p:sp>
      <p:cxnSp>
        <p:nvCxnSpPr>
          <p:cNvPr id="11" name="Connector 10"/>
          <p:cNvCxnSpPr/>
          <p:nvPr/>
        </p:nvCxnSpPr>
        <p:spPr>
          <a:xfrm flipH="1">
            <a:off x="1691640" y="3520440"/>
            <a:ext cx="3108960" cy="0"/>
          </a:xfrm>
          <a:prstGeom prst="line">
            <a:avLst/>
          </a:prstGeom>
          <a:ln w="19050">
            <a:solidFill>
              <a:srgbClr val="2F6EA3"/>
            </a:solidFill>
            <a:tailEnd type="triangle" w="med" len="med"/>
          </a:ln>
        </p:spPr>
      </p:cxnSp>
      <p:sp>
        <p:nvSpPr>
          <p:cNvPr id="12" name="TextBox 11"/>
          <p:cNvSpPr txBox="1"/>
          <p:nvPr/>
        </p:nvSpPr>
        <p:spPr>
          <a:xfrm>
            <a:off x="1737360" y="3218688"/>
            <a:ext cx="3017520" cy="256032"/>
          </a:xfrm>
          <a:prstGeom prst="rect">
            <a:avLst/>
          </a:prstGeom>
          <a:noFill/>
        </p:spPr>
        <p:txBody>
          <a:bodyPr wrap="square" lIns="18288" tIns="0" rIns="18288" bIns="0" anchor="t">
            <a:noAutofit/>
          </a:bodyPr>
          <a:lstStyle/>
          <a:p>
            <a:pPr algn="ctr"/>
            <a:r>
              <a:rPr sz="1100" b="1">
                <a:solidFill>
                  <a:srgbClr val="01416B"/>
                </a:solidFill>
                <a:latin typeface="Arial"/>
              </a:rPr>
              <a:t>2  propose: each squad bids U</a:t>
            </a:r>
          </a:p>
        </p:txBody>
      </p:sp>
      <p:cxnSp>
        <p:nvCxnSpPr>
          <p:cNvPr id="13" name="Connector 12"/>
          <p:cNvCxnSpPr/>
          <p:nvPr/>
        </p:nvCxnSpPr>
        <p:spPr>
          <a:xfrm>
            <a:off x="1691640" y="4251960"/>
            <a:ext cx="3108960" cy="0"/>
          </a:xfrm>
          <a:prstGeom prst="line">
            <a:avLst/>
          </a:prstGeom>
          <a:ln w="19050">
            <a:solidFill>
              <a:srgbClr val="2F6EA3"/>
            </a:solidFill>
            <a:tailEnd type="triangle" w="med" len="med"/>
          </a:ln>
        </p:spPr>
      </p:cxnSp>
      <p:sp>
        <p:nvSpPr>
          <p:cNvPr id="14" name="TextBox 13"/>
          <p:cNvSpPr txBox="1"/>
          <p:nvPr/>
        </p:nvSpPr>
        <p:spPr>
          <a:xfrm>
            <a:off x="1737360" y="3950208"/>
            <a:ext cx="3017520" cy="256032"/>
          </a:xfrm>
          <a:prstGeom prst="rect">
            <a:avLst/>
          </a:prstGeom>
          <a:noFill/>
        </p:spPr>
        <p:txBody>
          <a:bodyPr wrap="square" lIns="18288" tIns="0" rIns="18288" bIns="0" anchor="t">
            <a:noAutofit/>
          </a:bodyPr>
          <a:lstStyle/>
          <a:p>
            <a:pPr algn="ctr"/>
            <a:r>
              <a:rPr sz="1100" b="1">
                <a:solidFill>
                  <a:srgbClr val="01416B"/>
                </a:solidFill>
                <a:latin typeface="Arial"/>
              </a:rPr>
              <a:t>3  accept-proposal: Payments</a:t>
            </a:r>
          </a:p>
        </p:txBody>
      </p:sp>
      <p:sp>
        <p:nvSpPr>
          <p:cNvPr id="15" name="TextBox 14"/>
          <p:cNvSpPr txBox="1"/>
          <p:nvPr/>
        </p:nvSpPr>
        <p:spPr>
          <a:xfrm>
            <a:off x="1737360" y="4297680"/>
            <a:ext cx="3017520" cy="237744"/>
          </a:xfrm>
          <a:prstGeom prst="rect">
            <a:avLst/>
          </a:prstGeom>
          <a:noFill/>
        </p:spPr>
        <p:txBody>
          <a:bodyPr wrap="square" lIns="18288" tIns="0" rIns="18288" bIns="0" anchor="t">
            <a:noAutofit/>
          </a:bodyPr>
          <a:lstStyle/>
          <a:p>
            <a:pPr algn="ctr"/>
            <a:r>
              <a:rPr sz="1000" b="0">
                <a:solidFill>
                  <a:srgbClr val="617487"/>
                </a:solidFill>
                <a:latin typeface="Arial"/>
              </a:rPr>
              <a:t>reject-proposal: the other two</a:t>
            </a:r>
          </a:p>
        </p:txBody>
      </p:sp>
      <p:cxnSp>
        <p:nvCxnSpPr>
          <p:cNvPr id="16" name="Connector 15"/>
          <p:cNvCxnSpPr/>
          <p:nvPr/>
        </p:nvCxnSpPr>
        <p:spPr>
          <a:xfrm flipH="1">
            <a:off x="1691640" y="4983480"/>
            <a:ext cx="3108960" cy="0"/>
          </a:xfrm>
          <a:prstGeom prst="line">
            <a:avLst/>
          </a:prstGeom>
          <a:ln w="19050">
            <a:solidFill>
              <a:srgbClr val="2F6EA3"/>
            </a:solidFill>
            <a:tailEnd type="triangle" w="med" len="med"/>
          </a:ln>
        </p:spPr>
      </p:cxnSp>
      <p:sp>
        <p:nvSpPr>
          <p:cNvPr id="17" name="TextBox 16"/>
          <p:cNvSpPr txBox="1"/>
          <p:nvPr/>
        </p:nvSpPr>
        <p:spPr>
          <a:xfrm>
            <a:off x="1737360" y="4681728"/>
            <a:ext cx="3017520" cy="256032"/>
          </a:xfrm>
          <a:prstGeom prst="rect">
            <a:avLst/>
          </a:prstGeom>
          <a:noFill/>
        </p:spPr>
        <p:txBody>
          <a:bodyPr wrap="square" lIns="18288" tIns="0" rIns="18288" bIns="0" anchor="t">
            <a:noAutofit/>
          </a:bodyPr>
          <a:lstStyle/>
          <a:p>
            <a:pPr algn="ctr"/>
            <a:r>
              <a:rPr sz="1100" b="1">
                <a:solidFill>
                  <a:srgbClr val="01416B"/>
                </a:solidFill>
                <a:latin typeface="Arial"/>
              </a:rPr>
              <a:t>4  inform: the investigation result</a:t>
            </a:r>
          </a:p>
        </p:txBody>
      </p:sp>
      <p:sp>
        <p:nvSpPr>
          <p:cNvPr id="18" name="TextBox 17"/>
          <p:cNvSpPr txBox="1"/>
          <p:nvPr/>
        </p:nvSpPr>
        <p:spPr>
          <a:xfrm>
            <a:off x="6400800" y="1783080"/>
            <a:ext cx="5120640" cy="320040"/>
          </a:xfrm>
          <a:prstGeom prst="rect">
            <a:avLst/>
          </a:prstGeom>
          <a:noFill/>
        </p:spPr>
        <p:txBody>
          <a:bodyPr wrap="square" lIns="18288" tIns="0" rIns="18288" bIns="0" anchor="t">
            <a:noAutofit/>
          </a:bodyPr>
          <a:lstStyle/>
          <a:p>
            <a:pPr algn="l"/>
            <a:r>
              <a:rPr sz="1400" b="1">
                <a:solidFill>
                  <a:srgbClr val="01416B"/>
                </a:solidFill>
                <a:latin typeface="Arial"/>
              </a:rPr>
              <a:t>FB-001: the bids</a:t>
            </a:r>
          </a:p>
        </p:txBody>
      </p:sp>
      <p:sp>
        <p:nvSpPr>
          <p:cNvPr id="19" name="TextBox 18"/>
          <p:cNvSpPr txBox="1"/>
          <p:nvPr/>
        </p:nvSpPr>
        <p:spPr>
          <a:xfrm>
            <a:off x="6400800" y="2350008"/>
            <a:ext cx="1325880" cy="274320"/>
          </a:xfrm>
          <a:prstGeom prst="rect">
            <a:avLst/>
          </a:prstGeom>
          <a:noFill/>
        </p:spPr>
        <p:txBody>
          <a:bodyPr wrap="square" lIns="18288" tIns="0" rIns="18288" bIns="0" anchor="t">
            <a:noAutofit/>
          </a:bodyPr>
          <a:lstStyle/>
          <a:p>
            <a:pPr algn="r"/>
            <a:r>
              <a:rPr sz="1150" b="1">
                <a:solidFill>
                  <a:srgbClr val="01416B"/>
                </a:solidFill>
                <a:latin typeface="Arial"/>
              </a:rPr>
              <a:t>Payments</a:t>
            </a:r>
          </a:p>
        </p:txBody>
      </p:sp>
      <p:sp>
        <p:nvSpPr>
          <p:cNvPr id="20" name="Rounded Rectangle 19"/>
          <p:cNvSpPr/>
          <p:nvPr/>
        </p:nvSpPr>
        <p:spPr>
          <a:xfrm>
            <a:off x="7818120" y="2286000"/>
            <a:ext cx="2784348" cy="411480"/>
          </a:xfrm>
          <a:prstGeom prst="roundRect">
            <a:avLst>
              <a:gd name="adj" fmla="val 15000"/>
            </a:avLst>
          </a:prstGeom>
          <a:solidFill>
            <a:srgbClr val="01416B"/>
          </a:solidFill>
          <a:ln>
            <a:noFill/>
          </a:ln>
          <a:effectLst/>
        </p:spPr>
        <p:txBody>
          <a:bodyPr rtlCol="0" anchor="ctr"/>
          <a:lstStyle/>
          <a:p>
            <a:pPr algn="ctr"/>
          </a:p>
        </p:txBody>
      </p:sp>
      <p:sp>
        <p:nvSpPr>
          <p:cNvPr id="21" name="TextBox 20"/>
          <p:cNvSpPr txBox="1"/>
          <p:nvPr/>
        </p:nvSpPr>
        <p:spPr>
          <a:xfrm>
            <a:off x="10666476" y="2350008"/>
            <a:ext cx="914400" cy="274320"/>
          </a:xfrm>
          <a:prstGeom prst="rect">
            <a:avLst/>
          </a:prstGeom>
          <a:noFill/>
        </p:spPr>
        <p:txBody>
          <a:bodyPr wrap="square" lIns="18288" tIns="0" rIns="18288" bIns="0" anchor="t">
            <a:noAutofit/>
          </a:bodyPr>
          <a:lstStyle/>
          <a:p>
            <a:pPr algn="l"/>
            <a:r>
              <a:rPr sz="1150" b="1">
                <a:solidFill>
                  <a:srgbClr val="01416B"/>
                </a:solidFill>
                <a:latin typeface="Arial"/>
              </a:rPr>
              <a:t>0.87  wins</a:t>
            </a:r>
          </a:p>
        </p:txBody>
      </p:sp>
      <p:sp>
        <p:nvSpPr>
          <p:cNvPr id="22" name="TextBox 21"/>
          <p:cNvSpPr txBox="1"/>
          <p:nvPr/>
        </p:nvSpPr>
        <p:spPr>
          <a:xfrm>
            <a:off x="6400800" y="2898648"/>
            <a:ext cx="1325880" cy="274320"/>
          </a:xfrm>
          <a:prstGeom prst="rect">
            <a:avLst/>
          </a:prstGeom>
          <a:noFill/>
        </p:spPr>
        <p:txBody>
          <a:bodyPr wrap="square" lIns="18288" tIns="0" rIns="18288" bIns="0" anchor="t">
            <a:noAutofit/>
          </a:bodyPr>
          <a:lstStyle/>
          <a:p>
            <a:pPr algn="r"/>
            <a:r>
              <a:rPr sz="1150" b="0">
                <a:solidFill>
                  <a:srgbClr val="01416B"/>
                </a:solidFill>
                <a:latin typeface="Arial"/>
              </a:rPr>
              <a:t>Platform</a:t>
            </a:r>
          </a:p>
        </p:txBody>
      </p:sp>
      <p:sp>
        <p:nvSpPr>
          <p:cNvPr id="23" name="Rounded Rectangle 22"/>
          <p:cNvSpPr/>
          <p:nvPr/>
        </p:nvSpPr>
        <p:spPr>
          <a:xfrm>
            <a:off x="7818120" y="2834640"/>
            <a:ext cx="2240279" cy="411480"/>
          </a:xfrm>
          <a:prstGeom prst="roundRect">
            <a:avLst>
              <a:gd name="adj" fmla="val 15000"/>
            </a:avLst>
          </a:prstGeom>
          <a:solidFill>
            <a:srgbClr val="9FB3C8"/>
          </a:solidFill>
          <a:ln>
            <a:noFill/>
          </a:ln>
          <a:effectLst/>
        </p:spPr>
        <p:txBody>
          <a:bodyPr rtlCol="0" anchor="ctr"/>
          <a:lstStyle/>
          <a:p>
            <a:pPr algn="ctr"/>
          </a:p>
        </p:txBody>
      </p:sp>
      <p:sp>
        <p:nvSpPr>
          <p:cNvPr id="24" name="TextBox 23"/>
          <p:cNvSpPr txBox="1"/>
          <p:nvPr/>
        </p:nvSpPr>
        <p:spPr>
          <a:xfrm>
            <a:off x="10122407" y="2898648"/>
            <a:ext cx="914400" cy="274320"/>
          </a:xfrm>
          <a:prstGeom prst="rect">
            <a:avLst/>
          </a:prstGeom>
          <a:noFill/>
        </p:spPr>
        <p:txBody>
          <a:bodyPr wrap="square" lIns="18288" tIns="0" rIns="18288" bIns="0" anchor="t">
            <a:noAutofit/>
          </a:bodyPr>
          <a:lstStyle/>
          <a:p>
            <a:pPr algn="l"/>
            <a:r>
              <a:rPr sz="1150" b="1">
                <a:solidFill>
                  <a:srgbClr val="01416B"/>
                </a:solidFill>
                <a:latin typeface="Arial"/>
              </a:rPr>
              <a:t>0.70</a:t>
            </a:r>
          </a:p>
        </p:txBody>
      </p:sp>
      <p:sp>
        <p:nvSpPr>
          <p:cNvPr id="25" name="TextBox 24"/>
          <p:cNvSpPr txBox="1"/>
          <p:nvPr/>
        </p:nvSpPr>
        <p:spPr>
          <a:xfrm>
            <a:off x="6400800" y="3447288"/>
            <a:ext cx="1325880" cy="274320"/>
          </a:xfrm>
          <a:prstGeom prst="rect">
            <a:avLst/>
          </a:prstGeom>
          <a:noFill/>
        </p:spPr>
        <p:txBody>
          <a:bodyPr wrap="square" lIns="18288" tIns="0" rIns="18288" bIns="0" anchor="t">
            <a:noAutofit/>
          </a:bodyPr>
          <a:lstStyle/>
          <a:p>
            <a:pPr algn="r"/>
            <a:r>
              <a:rPr sz="1150" b="0">
                <a:solidFill>
                  <a:srgbClr val="01416B"/>
                </a:solidFill>
                <a:latin typeface="Arial"/>
              </a:rPr>
              <a:t>Mobile app</a:t>
            </a:r>
          </a:p>
        </p:txBody>
      </p:sp>
      <p:sp>
        <p:nvSpPr>
          <p:cNvPr id="26" name="Rounded Rectangle 25"/>
          <p:cNvSpPr/>
          <p:nvPr/>
        </p:nvSpPr>
        <p:spPr>
          <a:xfrm>
            <a:off x="7818120" y="3383280"/>
            <a:ext cx="2144268" cy="411480"/>
          </a:xfrm>
          <a:prstGeom prst="roundRect">
            <a:avLst>
              <a:gd name="adj" fmla="val 15000"/>
            </a:avLst>
          </a:prstGeom>
          <a:solidFill>
            <a:srgbClr val="9FB3C8"/>
          </a:solidFill>
          <a:ln>
            <a:noFill/>
          </a:ln>
          <a:effectLst/>
        </p:spPr>
        <p:txBody>
          <a:bodyPr rtlCol="0" anchor="ctr"/>
          <a:lstStyle/>
          <a:p>
            <a:pPr algn="ctr"/>
          </a:p>
        </p:txBody>
      </p:sp>
      <p:sp>
        <p:nvSpPr>
          <p:cNvPr id="27" name="TextBox 26"/>
          <p:cNvSpPr txBox="1"/>
          <p:nvPr/>
        </p:nvSpPr>
        <p:spPr>
          <a:xfrm>
            <a:off x="10026396" y="3447288"/>
            <a:ext cx="914400" cy="274320"/>
          </a:xfrm>
          <a:prstGeom prst="rect">
            <a:avLst/>
          </a:prstGeom>
          <a:noFill/>
        </p:spPr>
        <p:txBody>
          <a:bodyPr wrap="square" lIns="18288" tIns="0" rIns="18288" bIns="0" anchor="t">
            <a:noAutofit/>
          </a:bodyPr>
          <a:lstStyle/>
          <a:p>
            <a:pPr algn="l"/>
            <a:r>
              <a:rPr sz="1150" b="1">
                <a:solidFill>
                  <a:srgbClr val="01416B"/>
                </a:solidFill>
                <a:latin typeface="Arial"/>
              </a:rPr>
              <a:t>0.67</a:t>
            </a:r>
          </a:p>
        </p:txBody>
      </p:sp>
      <p:sp>
        <p:nvSpPr>
          <p:cNvPr id="28" name="Rounded Rectangle 27"/>
          <p:cNvSpPr/>
          <p:nvPr/>
        </p:nvSpPr>
        <p:spPr>
          <a:xfrm>
            <a:off x="6400800" y="4069080"/>
            <a:ext cx="5193792" cy="960120"/>
          </a:xfrm>
          <a:prstGeom prst="roundRect">
            <a:avLst>
              <a:gd name="adj" fmla="val 12000"/>
            </a:avLst>
          </a:prstGeom>
          <a:solidFill>
            <a:srgbClr val="E6EEF5"/>
          </a:solidFill>
          <a:ln>
            <a:noFill/>
          </a:ln>
          <a:effectLst/>
        </p:spPr>
        <p:txBody>
          <a:bodyPr rtlCol="0" anchor="ctr" wrap="square" lIns="137160">
            <a:noAutofit/>
          </a:bodyPr>
          <a:lstStyle/>
          <a:p>
            <a:pPr algn="l">
              <a:spcAft>
                <a:spcPts val="200"/>
              </a:spcAft>
            </a:pPr>
            <a:r>
              <a:rPr sz="1250" b="1">
                <a:solidFill>
                  <a:srgbClr val="01416B"/>
                </a:solidFill>
                <a:latin typeface="Arial"/>
              </a:rPr>
              <a:t>U = 0.5·skill + 0.3·(1 − load) + 0.2·(1 − cost)</a:t>
            </a:r>
          </a:p>
          <a:p>
            <a:pPr algn="l">
              <a:spcAft>
                <a:spcPts val="200"/>
              </a:spcAft>
            </a:pPr>
            <a:r>
              <a:rPr sz="1150" b="0">
                <a:solidFill>
                  <a:srgbClr val="2E4357"/>
                </a:solidFill>
                <a:latin typeface="Arial"/>
              </a:rPr>
              <a:t>Payments: 0.5·0.92 + 0.3·0.90 + 0.2·0.70 = 0.87</a:t>
            </a:r>
          </a:p>
        </p:txBody>
      </p:sp>
      <p:sp>
        <p:nvSpPr>
          <p:cNvPr id="29" name="Rounded Rectangle 28"/>
          <p:cNvSpPr/>
          <p:nvPr/>
        </p:nvSpPr>
        <p:spPr>
          <a:xfrm>
            <a:off x="6400800" y="5212080"/>
            <a:ext cx="5193792" cy="685800"/>
          </a:xfrm>
          <a:prstGeom prst="roundRect">
            <a:avLst>
              <a:gd name="adj" fmla="val 12000"/>
            </a:avLst>
          </a:prstGeom>
          <a:solidFill>
            <a:srgbClr val="FFF6C7"/>
          </a:solidFill>
          <a:ln>
            <a:noFill/>
          </a:ln>
          <a:effectLst/>
        </p:spPr>
        <p:txBody>
          <a:bodyPr rtlCol="0" anchor="ctr" wrap="square" lIns="137160">
            <a:noAutofit/>
          </a:bodyPr>
          <a:lstStyle/>
          <a:p>
            <a:pPr algn="l"/>
            <a:r>
              <a:rPr sz="1150" b="0">
                <a:solidFill>
                  <a:srgbClr val="01416B"/>
                </a:solidFill>
                <a:latin typeface="Arial"/>
              </a:rPr>
              <a:t>The winner investigates. The SLA follows</a:t>
            </a:r>
          </a:p>
          <a:p>
            <a:pPr algn="l"/>
            <a:r>
              <a:rPr sz="1150" b="0">
                <a:solidFill>
                  <a:srgbClr val="01416B"/>
                </a:solidFill>
                <a:latin typeface="Arial"/>
              </a:rPr>
              <a:t>the severity: Critical means 2 hours.</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7" name="Shape 267"/>
        <p:cNvGrpSpPr/>
        <p:nvPr/>
      </p:nvGrpSpPr>
      <p:grpSpPr>
        <a:xfrm>
          <a:off x="0" y="0"/>
          <a:ext cx="0" cy="0"/>
          <a:chOff x="0" y="0"/>
          <a:chExt cx="0" cy="0"/>
        </a:xfrm>
      </p:grpSpPr>
      <p:sp>
        <p:nvSpPr>
          <p:cNvPr id="268" name="Google Shape;268;p8"/>
          <p:cNvSpPr txBox="1"/>
          <p:nvPr>
            <p:ph type="title"/>
          </p:nvPr>
        </p:nvSpPr>
        <p:spPr>
          <a:xfrm>
            <a:off x="594360" y="301752"/>
            <a:ext cx="9372600" cy="621792"/>
          </a:xfrm>
          <a:prstGeom prst="rect">
            <a:avLst/>
          </a:prstGeom>
          <a:noFill/>
          <a:ln>
            <a:noFill/>
          </a:ln>
        </p:spPr>
        <p:txBody>
          <a:bodyPr anchorCtr="0" anchor="b" bIns="0" lIns="0" spcFirstLastPara="1" rIns="0" wrap="square" tIns="0">
            <a:normAutofit/>
          </a:bodyPr>
          <a:lstStyle/>
          <a:p>
            <a:pPr indent="0" lvl="0" marL="0" rtl="0" algn="l">
              <a:lnSpc>
                <a:spcPct val="90000"/>
              </a:lnSpc>
              <a:spcBef>
                <a:spcPts val="0"/>
              </a:spcBef>
              <a:spcAft>
                <a:spcPts val="0"/>
              </a:spcAft>
              <a:buClr>
                <a:srgbClr val="01416B"/>
              </a:buClr>
              <a:buSzPts val="2800"/>
              <a:buFont typeface="Arial"/>
              <a:buNone/>
            </a:pPr>
            <a:r>
              <a:rPr b="1" lang="en-US" sz="2800"/>
              <a:t>AI integration is hybrid, with a bounded optional LLM</a:t>
            </a:r>
            <a:endParaRPr/>
          </a:p>
        </p:txBody>
      </p:sp>
      <p:sp>
        <p:nvSpPr>
          <p:cNvPr id="269" name="Google Shape;269;p8"/>
          <p:cNvSpPr/>
          <p:nvPr/>
        </p:nvSpPr>
        <p:spPr>
          <a:xfrm>
            <a:off x="590550" y="990600"/>
            <a:ext cx="685800" cy="47625"/>
          </a:xfrm>
          <a:prstGeom prst="rect">
            <a:avLst/>
          </a:prstGeom>
          <a:solidFill>
            <a:srgbClr val="FDD40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70" name="Google Shape;270;p8"/>
          <p:cNvSpPr/>
          <p:nvPr/>
        </p:nvSpPr>
        <p:spPr>
          <a:xfrm>
            <a:off x="590550" y="1123950"/>
            <a:ext cx="11001375" cy="34290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575">
                <a:solidFill>
                  <a:srgbClr val="617487"/>
                </a:solidFill>
                <a:latin typeface="Arial"/>
                <a:ea typeface="Arial"/>
                <a:cs typeface="Arial"/>
                <a:sym typeface="Arial"/>
              </a:rPr>
              <a:t>The interactive path, benchmark and separate ML modules use different methods</a:t>
            </a:r>
            <a:endParaRPr/>
          </a:p>
        </p:txBody>
      </p:sp>
      <p:sp>
        <p:nvSpPr>
          <p:cNvPr id="271" name="Rounded Rectangle 270"/>
          <p:cNvSpPr/>
          <p:nvPr/>
        </p:nvSpPr>
        <p:spPr>
          <a:xfrm>
            <a:off x="594360" y="1783080"/>
            <a:ext cx="3483864" cy="457200"/>
          </a:xfrm>
          <a:prstGeom prst="roundRect">
            <a:avLst>
              <a:gd name="adj" fmla="val 15000"/>
            </a:avLst>
          </a:prstGeom>
          <a:solidFill>
            <a:srgbClr val="01416B"/>
          </a:solidFill>
          <a:ln>
            <a:noFill/>
          </a:ln>
          <a:effectLst/>
        </p:spPr>
        <p:txBody>
          <a:bodyPr rtlCol="0" anchor="ctr" wrap="square" lIns="137160" tIns="0" bIns="0">
            <a:noAutofit/>
          </a:bodyPr>
          <a:lstStyle/>
          <a:p>
            <a:pPr algn="l"/>
            <a:r>
              <a:rPr sz="1300" b="1">
                <a:solidFill>
                  <a:srgbClr val="FFFFFF"/>
                </a:solidFill>
                <a:latin typeface="Arial"/>
              </a:rPr>
              <a:t>Live in the dashboard</a:t>
            </a:r>
          </a:p>
        </p:txBody>
      </p:sp>
      <p:sp>
        <p:nvSpPr>
          <p:cNvPr id="272" name="Rounded Rectangle 271"/>
          <p:cNvSpPr/>
          <p:nvPr/>
        </p:nvSpPr>
        <p:spPr>
          <a:xfrm>
            <a:off x="594360" y="2304288"/>
            <a:ext cx="3483864" cy="2834640"/>
          </a:xfrm>
          <a:prstGeom prst="roundRect">
            <a:avLst>
              <a:gd name="adj" fmla="val 12000"/>
            </a:avLst>
          </a:prstGeom>
          <a:solidFill>
            <a:srgbClr val="E6EEF5"/>
          </a:solidFill>
          <a:ln>
            <a:noFill/>
          </a:ln>
          <a:effectLst/>
        </p:spPr>
        <p:txBody>
          <a:bodyPr rtlCol="0" anchor="t" wrap="square" lIns="137160" tIns="109728" rIns="109728" bIns="73152">
            <a:noAutofit/>
          </a:bodyPr>
          <a:lstStyle/>
          <a:p>
            <a:pPr algn="l">
              <a:spcAft>
                <a:spcPts val="700"/>
              </a:spcAft>
            </a:pPr>
            <a:r>
              <a:rPr sz="1150" b="1">
                <a:solidFill>
                  <a:srgbClr val="01416B"/>
                </a:solidFill>
                <a:latin typeface="Arial"/>
              </a:rPr>
              <a:t>Severity: </a:t>
            </a:r>
            <a:r>
              <a:rPr sz="1150" b="0">
                <a:solidFill>
                  <a:srgbClr val="2E4357"/>
                </a:solidFill>
                <a:latin typeface="Arial"/>
              </a:rPr>
              <a:t>English and Indonesian rules; an optional free OpenRouter model may propose, with confidence capped at 0.69</a:t>
            </a:r>
          </a:p>
          <a:p>
            <a:pPr algn="l">
              <a:spcAft>
                <a:spcPts val="700"/>
              </a:spcAft>
            </a:pPr>
            <a:r>
              <a:rPr sz="1150" b="1">
                <a:solidFill>
                  <a:srgbClr val="01416B"/>
                </a:solidFill>
                <a:latin typeface="Arial"/>
              </a:rPr>
              <a:t>Duplicates: </a:t>
            </a:r>
            <a:r>
              <a:rPr sz="1150" b="0">
                <a:solidFill>
                  <a:srgbClr val="2E4357"/>
                </a:solidFill>
                <a:latin typeface="Arial"/>
              </a:rPr>
              <a:t>TF-IDF cosine over character n-grams</a:t>
            </a:r>
          </a:p>
          <a:p>
            <a:pPr algn="l">
              <a:spcAft>
                <a:spcPts val="700"/>
              </a:spcAft>
            </a:pPr>
            <a:r>
              <a:rPr sz="1150" b="1">
                <a:solidFill>
                  <a:srgbClr val="01416B"/>
                </a:solidFill>
                <a:latin typeface="Arial"/>
              </a:rPr>
              <a:t>Assignment: </a:t>
            </a:r>
            <a:r>
              <a:rPr sz="1150" b="0">
                <a:solidFill>
                  <a:srgbClr val="2E4357"/>
                </a:solidFill>
                <a:latin typeface="Arial"/>
              </a:rPr>
              <a:t>the Contract Net auction</a:t>
            </a:r>
          </a:p>
          <a:p>
            <a:pPr algn="l">
              <a:spcAft>
                <a:spcPts val="700"/>
              </a:spcAft>
            </a:pPr>
            <a:r>
              <a:rPr sz="1150" b="1">
                <a:solidFill>
                  <a:srgbClr val="01416B"/>
                </a:solidFill>
                <a:latin typeface="Arial"/>
              </a:rPr>
              <a:t>Root cause: </a:t>
            </a:r>
            <a:r>
              <a:rPr sz="1150" b="0">
                <a:solidFill>
                  <a:srgbClr val="2E4357"/>
                </a:solidFill>
                <a:latin typeface="Arial"/>
              </a:rPr>
              <a:t>GraphSAGE-mean ranking over the call chain</a:t>
            </a:r>
          </a:p>
          <a:p>
            <a:pPr algn="l">
              <a:spcAft>
                <a:spcPts val="700"/>
              </a:spcAft>
            </a:pPr>
            <a:r>
              <a:rPr sz="1150" b="1">
                <a:solidFill>
                  <a:srgbClr val="01416B"/>
                </a:solidFill>
                <a:latin typeface="Arial"/>
              </a:rPr>
              <a:t>Reviewer notes: </a:t>
            </a:r>
            <a:r>
              <a:rPr sz="1150" b="0">
                <a:solidFill>
                  <a:srgbClr val="2E4357"/>
                </a:solidFill>
                <a:latin typeface="Arial"/>
              </a:rPr>
              <a:t>the optional model can structure a note; a person decides</a:t>
            </a:r>
          </a:p>
        </p:txBody>
      </p:sp>
      <p:sp>
        <p:nvSpPr>
          <p:cNvPr id="273" name="Rounded Rectangle 272"/>
          <p:cNvSpPr/>
          <p:nvPr/>
        </p:nvSpPr>
        <p:spPr>
          <a:xfrm>
            <a:off x="4352544" y="1783080"/>
            <a:ext cx="3483864" cy="457200"/>
          </a:xfrm>
          <a:prstGeom prst="roundRect">
            <a:avLst>
              <a:gd name="adj" fmla="val 15000"/>
            </a:avLst>
          </a:prstGeom>
          <a:solidFill>
            <a:srgbClr val="2F6EA3"/>
          </a:solidFill>
          <a:ln>
            <a:noFill/>
          </a:ln>
          <a:effectLst/>
        </p:spPr>
        <p:txBody>
          <a:bodyPr rtlCol="0" anchor="ctr" wrap="square" lIns="137160" tIns="0" bIns="0">
            <a:noAutofit/>
          </a:bodyPr>
          <a:lstStyle/>
          <a:p>
            <a:pPr algn="l"/>
            <a:r>
              <a:rPr sz="1300" b="1">
                <a:solidFill>
                  <a:srgbClr val="FFFFFF"/>
                </a:solidFill>
                <a:latin typeface="Arial"/>
              </a:rPr>
              <a:t>In the benchmark (A0–A3)</a:t>
            </a:r>
          </a:p>
        </p:txBody>
      </p:sp>
      <p:sp>
        <p:nvSpPr>
          <p:cNvPr id="274" name="Rounded Rectangle 273"/>
          <p:cNvSpPr/>
          <p:nvPr/>
        </p:nvSpPr>
        <p:spPr>
          <a:xfrm>
            <a:off x="4352544" y="2304288"/>
            <a:ext cx="3483864" cy="2834640"/>
          </a:xfrm>
          <a:prstGeom prst="roundRect">
            <a:avLst>
              <a:gd name="adj" fmla="val 12000"/>
            </a:avLst>
          </a:prstGeom>
          <a:solidFill>
            <a:srgbClr val="FFFFFF"/>
          </a:solidFill>
          <a:ln w="12700">
            <a:solidFill>
              <a:srgbClr val="D7E0E9"/>
            </a:solidFill>
          </a:ln>
          <a:effectLst/>
        </p:spPr>
        <p:txBody>
          <a:bodyPr rtlCol="0" anchor="t" wrap="square" lIns="137160" tIns="109728" rIns="109728" bIns="73152">
            <a:noAutofit/>
          </a:bodyPr>
          <a:lstStyle/>
          <a:p>
            <a:pPr algn="l">
              <a:spcAft>
                <a:spcPts val="700"/>
              </a:spcAft>
            </a:pPr>
            <a:r>
              <a:rPr sz="1150" b="1">
                <a:solidFill>
                  <a:srgbClr val="01416B"/>
                </a:solidFill>
                <a:latin typeface="Arial"/>
              </a:rPr>
              <a:t>LLM: </a:t>
            </a:r>
            <a:r>
              <a:rPr sz="1150" b="0">
                <a:solidFill>
                  <a:srgbClr val="2E4357"/>
                </a:solidFill>
                <a:latin typeface="Arial"/>
              </a:rPr>
              <a:t>none; every run is seeded and deterministic</a:t>
            </a:r>
          </a:p>
          <a:p>
            <a:pPr algn="l">
              <a:spcAft>
                <a:spcPts val="700"/>
              </a:spcAft>
            </a:pPr>
            <a:r>
              <a:rPr sz="1150" b="1">
                <a:solidFill>
                  <a:srgbClr val="01416B"/>
                </a:solidFill>
                <a:latin typeface="Arial"/>
              </a:rPr>
              <a:t>Severity ROC: </a:t>
            </a:r>
            <a:r>
              <a:rPr sz="1150" b="0">
                <a:solidFill>
                  <a:srgbClr val="2E4357"/>
                </a:solidFill>
                <a:latin typeface="Arial"/>
              </a:rPr>
              <a:t>TF-IDF with a calibrated LinearSVC</a:t>
            </a:r>
          </a:p>
          <a:p>
            <a:pPr algn="l">
              <a:spcAft>
                <a:spcPts val="700"/>
              </a:spcAft>
            </a:pPr>
            <a:r>
              <a:rPr sz="1150" b="1">
                <a:solidFill>
                  <a:srgbClr val="01416B"/>
                </a:solidFill>
                <a:latin typeface="Arial"/>
              </a:rPr>
              <a:t>Duplicates: </a:t>
            </a:r>
            <a:r>
              <a:rPr sz="1150" b="0">
                <a:solidFill>
                  <a:srgbClr val="2E4357"/>
                </a:solidFill>
                <a:latin typeface="Arial"/>
              </a:rPr>
              <a:t>a word-overlap stand-in for Recall@5 and MAP</a:t>
            </a:r>
          </a:p>
          <a:p>
            <a:pPr algn="l">
              <a:spcAft>
                <a:spcPts val="700"/>
              </a:spcAft>
            </a:pPr>
            <a:r>
              <a:rPr sz="1150" b="1">
                <a:solidFill>
                  <a:srgbClr val="01416B"/>
                </a:solidFill>
                <a:latin typeface="Arial"/>
              </a:rPr>
              <a:t>Test order: </a:t>
            </a:r>
            <a:r>
              <a:rPr sz="1150" b="0">
                <a:solidFill>
                  <a:srgbClr val="2E4357"/>
                </a:solidFill>
                <a:latin typeface="Arial"/>
              </a:rPr>
              <a:t>scored with NAPFD</a:t>
            </a:r>
          </a:p>
        </p:txBody>
      </p:sp>
      <p:sp>
        <p:nvSpPr>
          <p:cNvPr id="275" name="Rounded Rectangle 274"/>
          <p:cNvSpPr/>
          <p:nvPr/>
        </p:nvSpPr>
        <p:spPr>
          <a:xfrm>
            <a:off x="8110728" y="1783080"/>
            <a:ext cx="3483864" cy="457200"/>
          </a:xfrm>
          <a:prstGeom prst="roundRect">
            <a:avLst>
              <a:gd name="adj" fmla="val 15000"/>
            </a:avLst>
          </a:prstGeom>
          <a:solidFill>
            <a:srgbClr val="617487"/>
          </a:solidFill>
          <a:ln>
            <a:noFill/>
          </a:ln>
          <a:effectLst/>
        </p:spPr>
        <p:txBody>
          <a:bodyPr rtlCol="0" anchor="ctr" wrap="square" lIns="137160" tIns="0" bIns="0">
            <a:noAutofit/>
          </a:bodyPr>
          <a:lstStyle/>
          <a:p>
            <a:pPr algn="l"/>
            <a:r>
              <a:rPr sz="1300" b="1">
                <a:solidFill>
                  <a:srgbClr val="FFFFFF"/>
                </a:solidFill>
                <a:latin typeface="Arial"/>
              </a:rPr>
              <a:t>Offline modules (trained, not live)</a:t>
            </a:r>
          </a:p>
        </p:txBody>
      </p:sp>
      <p:sp>
        <p:nvSpPr>
          <p:cNvPr id="276" name="Rounded Rectangle 275"/>
          <p:cNvSpPr/>
          <p:nvPr/>
        </p:nvSpPr>
        <p:spPr>
          <a:xfrm>
            <a:off x="8110728" y="2304288"/>
            <a:ext cx="3483864" cy="2834640"/>
          </a:xfrm>
          <a:prstGeom prst="roundRect">
            <a:avLst>
              <a:gd name="adj" fmla="val 12000"/>
            </a:avLst>
          </a:prstGeom>
          <a:solidFill>
            <a:srgbClr val="FFFFFF"/>
          </a:solidFill>
          <a:ln w="12700">
            <a:solidFill>
              <a:srgbClr val="D7E0E9"/>
            </a:solidFill>
          </a:ln>
          <a:effectLst/>
        </p:spPr>
        <p:txBody>
          <a:bodyPr rtlCol="0" anchor="t" wrap="square" lIns="137160" tIns="109728" rIns="109728" bIns="73152">
            <a:noAutofit/>
          </a:bodyPr>
          <a:lstStyle/>
          <a:p>
            <a:pPr algn="l">
              <a:spcAft>
                <a:spcPts val="700"/>
              </a:spcAft>
            </a:pPr>
            <a:r>
              <a:rPr sz="1150" b="1">
                <a:solidFill>
                  <a:srgbClr val="01416B"/>
                </a:solidFill>
                <a:latin typeface="Arial"/>
              </a:rPr>
              <a:t>Duplicates: </a:t>
            </a:r>
            <a:r>
              <a:rPr sz="1150" b="0">
                <a:solidFill>
                  <a:srgbClr val="2E4357"/>
                </a:solidFill>
                <a:latin typeface="Arial"/>
              </a:rPr>
              <a:t>MiniLM embeddings with FAISS</a:t>
            </a:r>
          </a:p>
          <a:p>
            <a:pPr algn="l">
              <a:spcAft>
                <a:spcPts val="700"/>
              </a:spcAft>
            </a:pPr>
            <a:r>
              <a:rPr sz="1150" b="1">
                <a:solidFill>
                  <a:srgbClr val="01416B"/>
                </a:solidFill>
                <a:latin typeface="Arial"/>
              </a:rPr>
              <a:t>Severity: </a:t>
            </a:r>
            <a:r>
              <a:rPr sz="1150" b="0">
                <a:solidFill>
                  <a:srgbClr val="2E4357"/>
                </a:solidFill>
                <a:latin typeface="Arial"/>
              </a:rPr>
              <a:t>DistilBERT</a:t>
            </a:r>
          </a:p>
          <a:p>
            <a:pPr algn="l">
              <a:spcAft>
                <a:spcPts val="700"/>
              </a:spcAft>
            </a:pPr>
            <a:r>
              <a:rPr sz="1150" b="1">
                <a:solidFill>
                  <a:srgbClr val="01416B"/>
                </a:solidFill>
                <a:latin typeface="Arial"/>
              </a:rPr>
              <a:t>Root cause: </a:t>
            </a:r>
            <a:r>
              <a:rPr sz="1150" b="0">
                <a:solidFill>
                  <a:srgbClr val="2E4357"/>
                </a:solidFill>
                <a:latin typeface="Arial"/>
              </a:rPr>
              <a:t>trained GraphSAGE, GNNExplainer, PageRank</a:t>
            </a:r>
          </a:p>
          <a:p>
            <a:pPr algn="l">
              <a:spcAft>
                <a:spcPts val="700"/>
              </a:spcAft>
            </a:pPr>
            <a:r>
              <a:rPr sz="1150" b="1">
                <a:solidFill>
                  <a:srgbClr val="01416B"/>
                </a:solidFill>
                <a:latin typeface="Arial"/>
              </a:rPr>
              <a:t>CI and canary: </a:t>
            </a:r>
            <a:r>
              <a:rPr sz="1150" b="0">
                <a:solidFill>
                  <a:srgbClr val="2E4357"/>
                </a:solidFill>
                <a:latin typeface="Arial"/>
              </a:rPr>
              <a:t>PPO and DQN policies</a:t>
            </a:r>
          </a:p>
        </p:txBody>
      </p:sp>
      <p:sp>
        <p:nvSpPr>
          <p:cNvPr id="277" name="Rounded Rectangle 276"/>
          <p:cNvSpPr/>
          <p:nvPr/>
        </p:nvSpPr>
        <p:spPr>
          <a:xfrm>
            <a:off x="594360" y="5349240"/>
            <a:ext cx="11000232" cy="640080"/>
          </a:xfrm>
          <a:prstGeom prst="roundRect">
            <a:avLst>
              <a:gd name="adj" fmla="val 12000"/>
            </a:avLst>
          </a:prstGeom>
          <a:solidFill>
            <a:srgbClr val="FFF6C7"/>
          </a:solidFill>
          <a:ln>
            <a:noFill/>
          </a:ln>
          <a:effectLst/>
        </p:spPr>
        <p:txBody>
          <a:bodyPr rtlCol="0" anchor="ctr" wrap="square" lIns="182880" rIns="182880">
            <a:noAutofit/>
          </a:bodyPr>
          <a:lstStyle/>
          <a:p>
            <a:pPr algn="l"/>
            <a:r>
              <a:rPr sz="1250" b="1">
                <a:solidFill>
                  <a:srgbClr val="01416B"/>
                </a:solidFill>
                <a:latin typeface="Arial"/>
              </a:rPr>
              <a:t>Models propose; people decide. No model writes code, and CI and deploys are seeded simulators.</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6" name="Shape 296"/>
        <p:cNvGrpSpPr/>
        <p:nvPr/>
      </p:nvGrpSpPr>
      <p:grpSpPr>
        <a:xfrm>
          <a:off x="0" y="0"/>
          <a:ext cx="0" cy="0"/>
          <a:chOff x="0" y="0"/>
          <a:chExt cx="0" cy="0"/>
        </a:xfrm>
      </p:grpSpPr>
      <p:sp>
        <p:nvSpPr>
          <p:cNvPr id="297" name="Google Shape;297;p9"/>
          <p:cNvSpPr txBox="1"/>
          <p:nvPr>
            <p:ph type="title"/>
          </p:nvPr>
        </p:nvSpPr>
        <p:spPr>
          <a:xfrm>
            <a:off x="594360" y="301752"/>
            <a:ext cx="9372600" cy="621792"/>
          </a:xfrm>
          <a:prstGeom prst="rect">
            <a:avLst/>
          </a:prstGeom>
          <a:noFill/>
          <a:ln>
            <a:noFill/>
          </a:ln>
        </p:spPr>
        <p:txBody>
          <a:bodyPr anchorCtr="0" anchor="b" bIns="0" lIns="0" spcFirstLastPara="1" rIns="0" wrap="square" tIns="0">
            <a:normAutofit/>
          </a:bodyPr>
          <a:lstStyle/>
          <a:p>
            <a:pPr indent="0" lvl="0" marL="0" rtl="0" algn="l">
              <a:lnSpc>
                <a:spcPct val="90000"/>
              </a:lnSpc>
              <a:spcBef>
                <a:spcPts val="0"/>
              </a:spcBef>
              <a:spcAft>
                <a:spcPts val="0"/>
              </a:spcAft>
              <a:buClr>
                <a:srgbClr val="01416B"/>
              </a:buClr>
              <a:buSzPts val="2800"/>
              <a:buFont typeface="Arial"/>
              <a:buNone/>
            </a:pPr>
            <a:r>
              <a:rPr b="1" lang="en-US" sz="2800"/>
              <a:t>A2 vs A3: static and mobile execution</a:t>
            </a:r>
            <a:endParaRPr/>
          </a:p>
        </p:txBody>
      </p:sp>
      <p:sp>
        <p:nvSpPr>
          <p:cNvPr id="298" name="Google Shape;298;p9"/>
          <p:cNvSpPr/>
          <p:nvPr/>
        </p:nvSpPr>
        <p:spPr>
          <a:xfrm>
            <a:off x="590550" y="990600"/>
            <a:ext cx="685800" cy="47625"/>
          </a:xfrm>
          <a:prstGeom prst="rect">
            <a:avLst/>
          </a:prstGeom>
          <a:solidFill>
            <a:srgbClr val="FDD40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9" name="Google Shape;299;p9"/>
          <p:cNvSpPr/>
          <p:nvPr/>
        </p:nvSpPr>
        <p:spPr>
          <a:xfrm>
            <a:off x="590550" y="1123950"/>
            <a:ext cx="11001375" cy="34290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575">
                <a:solidFill>
                  <a:srgbClr val="617487"/>
                </a:solidFill>
                <a:latin typeface="Arial"/>
                <a:ea typeface="Arial"/>
                <a:cs typeface="Arial"/>
                <a:sym typeface="Arial"/>
              </a:rPr>
              <a:t>Mobility is about moving a signed agent to the data, not adding another role</a:t>
            </a:r>
            <a:endParaRPr/>
          </a:p>
        </p:txBody>
      </p:sp>
      <p:cxnSp>
        <p:nvCxnSpPr>
          <p:cNvPr id="300" name="Connector 299"/>
          <p:cNvCxnSpPr/>
          <p:nvPr/>
        </p:nvCxnSpPr>
        <p:spPr>
          <a:xfrm>
            <a:off x="6089904" y="1783080"/>
            <a:ext cx="0" cy="3154680"/>
          </a:xfrm>
          <a:prstGeom prst="line">
            <a:avLst/>
          </a:prstGeom>
          <a:ln w="12700">
            <a:solidFill>
              <a:srgbClr val="D7E0E9"/>
            </a:solidFill>
          </a:ln>
        </p:spPr>
      </p:cxnSp>
      <p:sp>
        <p:nvSpPr>
          <p:cNvPr id="301" name="TextBox 300"/>
          <p:cNvSpPr txBox="1"/>
          <p:nvPr/>
        </p:nvSpPr>
        <p:spPr>
          <a:xfrm>
            <a:off x="594360" y="1783080"/>
            <a:ext cx="5212080" cy="365760"/>
          </a:xfrm>
          <a:prstGeom prst="rect">
            <a:avLst/>
          </a:prstGeom>
          <a:noFill/>
        </p:spPr>
        <p:txBody>
          <a:bodyPr wrap="square" lIns="18288" tIns="0" rIns="18288" bIns="0" anchor="t">
            <a:noAutofit/>
          </a:bodyPr>
          <a:lstStyle/>
          <a:p>
            <a:pPr algn="l"/>
            <a:r>
              <a:rPr sz="1700" b="1">
                <a:solidFill>
                  <a:srgbClr val="2F6EA3"/>
                </a:solidFill>
                <a:latin typeface="Arial"/>
              </a:rPr>
              <a:t>A2 · static agents</a:t>
            </a:r>
          </a:p>
        </p:txBody>
      </p:sp>
      <p:sp>
        <p:nvSpPr>
          <p:cNvPr id="302" name="TextBox 301"/>
          <p:cNvSpPr txBox="1"/>
          <p:nvPr/>
        </p:nvSpPr>
        <p:spPr>
          <a:xfrm>
            <a:off x="594360" y="2212848"/>
            <a:ext cx="5212080" cy="640080"/>
          </a:xfrm>
          <a:prstGeom prst="rect">
            <a:avLst/>
          </a:prstGeom>
          <a:noFill/>
        </p:spPr>
        <p:txBody>
          <a:bodyPr wrap="square" lIns="18288" tIns="0" rIns="18288" bIns="0" anchor="t">
            <a:noAutofit/>
          </a:bodyPr>
          <a:lstStyle/>
          <a:p>
            <a:pPr algn="l"/>
            <a:r>
              <a:rPr sz="1250" b="0">
                <a:solidFill>
                  <a:srgbClr val="2E4357"/>
                </a:solidFill>
                <a:latin typeface="Arial"/>
              </a:rPr>
              <a:t>Agents run centrally. To investigate, the coordinator pulls data or evidence from the node.</a:t>
            </a:r>
          </a:p>
        </p:txBody>
      </p:sp>
      <p:sp>
        <p:nvSpPr>
          <p:cNvPr id="303" name="Rounded Rectangle 302"/>
          <p:cNvSpPr/>
          <p:nvPr/>
        </p:nvSpPr>
        <p:spPr>
          <a:xfrm>
            <a:off x="594360" y="3063240"/>
            <a:ext cx="1600200" cy="868680"/>
          </a:xfrm>
          <a:prstGeom prst="roundRect">
            <a:avLst>
              <a:gd name="adj" fmla="val 12000"/>
            </a:avLst>
          </a:prstGeom>
          <a:solidFill>
            <a:srgbClr val="E6EEF5"/>
          </a:solidFill>
          <a:ln>
            <a:noFill/>
          </a:ln>
          <a:effectLst/>
        </p:spPr>
        <p:txBody>
          <a:bodyPr rtlCol="0" anchor="ctr" wrap="square">
            <a:noAutofit/>
          </a:bodyPr>
          <a:lstStyle/>
          <a:p>
            <a:pPr algn="ctr"/>
            <a:r>
              <a:rPr sz="1200" b="1">
                <a:solidFill>
                  <a:srgbClr val="01416B"/>
                </a:solidFill>
                <a:latin typeface="Arial"/>
              </a:rPr>
              <a:t>Coordinator</a:t>
            </a:r>
          </a:p>
        </p:txBody>
      </p:sp>
      <p:sp>
        <p:nvSpPr>
          <p:cNvPr id="304" name="Rounded Rectangle 303"/>
          <p:cNvSpPr/>
          <p:nvPr/>
        </p:nvSpPr>
        <p:spPr>
          <a:xfrm>
            <a:off x="4206240" y="3063240"/>
            <a:ext cx="1600200" cy="868680"/>
          </a:xfrm>
          <a:prstGeom prst="roundRect">
            <a:avLst>
              <a:gd name="adj" fmla="val 12000"/>
            </a:avLst>
          </a:prstGeom>
          <a:solidFill>
            <a:srgbClr val="FFFFFF"/>
          </a:solidFill>
          <a:ln w="12700">
            <a:solidFill>
              <a:srgbClr val="2F6EA3"/>
            </a:solidFill>
          </a:ln>
          <a:effectLst/>
        </p:spPr>
        <p:txBody>
          <a:bodyPr rtlCol="0" anchor="ctr" wrap="square">
            <a:noAutofit/>
          </a:bodyPr>
          <a:lstStyle/>
          <a:p>
            <a:pPr algn="ctr">
              <a:spcAft>
                <a:spcPts val="100"/>
              </a:spcAft>
            </a:pPr>
            <a:r>
              <a:rPr sz="1200" b="1">
                <a:solidFill>
                  <a:srgbClr val="01416B"/>
                </a:solidFill>
                <a:latin typeface="Arial"/>
              </a:rPr>
              <a:t>Data node</a:t>
            </a:r>
          </a:p>
          <a:p>
            <a:pPr algn="ctr">
              <a:spcAft>
                <a:spcPts val="100"/>
              </a:spcAft>
            </a:pPr>
            <a:r>
              <a:rPr sz="1000" b="0">
                <a:solidFill>
                  <a:srgbClr val="617487"/>
                </a:solidFill>
                <a:latin typeface="Arial"/>
              </a:rPr>
              <a:t>raw logs</a:t>
            </a:r>
          </a:p>
        </p:txBody>
      </p:sp>
      <p:cxnSp>
        <p:nvCxnSpPr>
          <p:cNvPr id="305" name="Connector 304"/>
          <p:cNvCxnSpPr/>
          <p:nvPr/>
        </p:nvCxnSpPr>
        <p:spPr>
          <a:xfrm>
            <a:off x="2240280" y="3291840"/>
            <a:ext cx="1920240" cy="0"/>
          </a:xfrm>
          <a:prstGeom prst="line">
            <a:avLst/>
          </a:prstGeom>
          <a:ln w="15875">
            <a:solidFill>
              <a:srgbClr val="9FB3C8"/>
            </a:solidFill>
            <a:tailEnd type="triangle" w="med" len="med"/>
          </a:ln>
        </p:spPr>
      </p:cxnSp>
      <p:sp>
        <p:nvSpPr>
          <p:cNvPr id="306" name="TextBox 305"/>
          <p:cNvSpPr txBox="1"/>
          <p:nvPr/>
        </p:nvSpPr>
        <p:spPr>
          <a:xfrm>
            <a:off x="2240280" y="3017520"/>
            <a:ext cx="1920240" cy="237744"/>
          </a:xfrm>
          <a:prstGeom prst="rect">
            <a:avLst/>
          </a:prstGeom>
          <a:noFill/>
        </p:spPr>
        <p:txBody>
          <a:bodyPr wrap="square" lIns="18288" tIns="0" rIns="18288" bIns="0" anchor="t">
            <a:noAutofit/>
          </a:bodyPr>
          <a:lstStyle/>
          <a:p>
            <a:pPr algn="ctr"/>
            <a:r>
              <a:rPr sz="1000" b="1">
                <a:solidFill>
                  <a:srgbClr val="9FB3C8"/>
                </a:solidFill>
                <a:latin typeface="Arial"/>
              </a:rPr>
              <a:t>query</a:t>
            </a:r>
          </a:p>
        </p:txBody>
      </p:sp>
      <p:cxnSp>
        <p:nvCxnSpPr>
          <p:cNvPr id="307" name="Connector 306"/>
          <p:cNvCxnSpPr/>
          <p:nvPr/>
        </p:nvCxnSpPr>
        <p:spPr>
          <a:xfrm flipH="1">
            <a:off x="2240280" y="3703320"/>
            <a:ext cx="1920240" cy="0"/>
          </a:xfrm>
          <a:prstGeom prst="line">
            <a:avLst/>
          </a:prstGeom>
          <a:ln w="57150">
            <a:solidFill>
              <a:srgbClr val="617487"/>
            </a:solidFill>
            <a:tailEnd type="triangle" w="med" len="med"/>
          </a:ln>
        </p:spPr>
      </p:cxnSp>
      <p:sp>
        <p:nvSpPr>
          <p:cNvPr id="308" name="TextBox 307"/>
          <p:cNvSpPr txBox="1"/>
          <p:nvPr/>
        </p:nvSpPr>
        <p:spPr>
          <a:xfrm>
            <a:off x="2240280" y="3785615"/>
            <a:ext cx="1920240" cy="237744"/>
          </a:xfrm>
          <a:prstGeom prst="rect">
            <a:avLst/>
          </a:prstGeom>
          <a:noFill/>
        </p:spPr>
        <p:txBody>
          <a:bodyPr wrap="square" lIns="18288" tIns="0" rIns="18288" bIns="0" anchor="t">
            <a:noAutofit/>
          </a:bodyPr>
          <a:lstStyle/>
          <a:p>
            <a:pPr algn="ctr"/>
            <a:r>
              <a:rPr sz="1000" b="1">
                <a:solidFill>
                  <a:srgbClr val="617487"/>
                </a:solidFill>
                <a:latin typeface="Arial"/>
              </a:rPr>
              <a:t>raw data or evidence</a:t>
            </a:r>
          </a:p>
        </p:txBody>
      </p:sp>
      <p:sp>
        <p:nvSpPr>
          <p:cNvPr id="309" name="TextBox 308"/>
          <p:cNvSpPr txBox="1"/>
          <p:nvPr/>
        </p:nvSpPr>
        <p:spPr>
          <a:xfrm>
            <a:off x="594360" y="4251960"/>
            <a:ext cx="5212080" cy="292608"/>
          </a:xfrm>
          <a:prstGeom prst="rect">
            <a:avLst/>
          </a:prstGeom>
          <a:noFill/>
        </p:spPr>
        <p:txBody>
          <a:bodyPr wrap="square" lIns="18288" tIns="0" rIns="18288" bIns="0" anchor="t">
            <a:noAutofit/>
          </a:bodyPr>
          <a:lstStyle/>
          <a:p>
            <a:pPr algn="l"/>
            <a:r>
              <a:rPr sz="1250" b="1">
                <a:solidFill>
                  <a:srgbClr val="2F6EA3"/>
                </a:solidFill>
                <a:latin typeface="Arial"/>
              </a:rPr>
              <a:t>Moves the data: heavy when the logs are large.</a:t>
            </a:r>
          </a:p>
        </p:txBody>
      </p:sp>
      <p:sp>
        <p:nvSpPr>
          <p:cNvPr id="310" name="TextBox 309"/>
          <p:cNvSpPr txBox="1"/>
          <p:nvPr/>
        </p:nvSpPr>
        <p:spPr>
          <a:xfrm>
            <a:off x="6382512" y="1783080"/>
            <a:ext cx="5212080" cy="365760"/>
          </a:xfrm>
          <a:prstGeom prst="rect">
            <a:avLst/>
          </a:prstGeom>
          <a:noFill/>
        </p:spPr>
        <p:txBody>
          <a:bodyPr wrap="square" lIns="18288" tIns="0" rIns="18288" bIns="0" anchor="t">
            <a:noAutofit/>
          </a:bodyPr>
          <a:lstStyle/>
          <a:p>
            <a:pPr algn="l"/>
            <a:r>
              <a:rPr sz="1700" b="1">
                <a:solidFill>
                  <a:srgbClr val="01416B"/>
                </a:solidFill>
                <a:latin typeface="Arial"/>
              </a:rPr>
              <a:t>A3 · with a mobile agent</a:t>
            </a:r>
          </a:p>
        </p:txBody>
      </p:sp>
      <p:sp>
        <p:nvSpPr>
          <p:cNvPr id="311" name="TextBox 310"/>
          <p:cNvSpPr txBox="1"/>
          <p:nvPr/>
        </p:nvSpPr>
        <p:spPr>
          <a:xfrm>
            <a:off x="6382512" y="2212848"/>
            <a:ext cx="5212080" cy="640080"/>
          </a:xfrm>
          <a:prstGeom prst="rect">
            <a:avLst/>
          </a:prstGeom>
          <a:noFill/>
        </p:spPr>
        <p:txBody>
          <a:bodyPr wrap="square" lIns="18288" tIns="0" rIns="18288" bIns="0" anchor="t">
            <a:noAutofit/>
          </a:bodyPr>
          <a:lstStyle/>
          <a:p>
            <a:pPr algn="l"/>
            <a:r>
              <a:rPr sz="1250" b="0">
                <a:solidFill>
                  <a:srgbClr val="2E4357"/>
                </a:solidFill>
                <a:latin typeface="Arial"/>
              </a:rPr>
              <a:t>A signed bundle runs at the node. The node keeps its raw data and returns allowlisted aggregates.</a:t>
            </a:r>
          </a:p>
        </p:txBody>
      </p:sp>
      <p:sp>
        <p:nvSpPr>
          <p:cNvPr id="312" name="Rounded Rectangle 311"/>
          <p:cNvSpPr/>
          <p:nvPr/>
        </p:nvSpPr>
        <p:spPr>
          <a:xfrm>
            <a:off x="6382512" y="3063240"/>
            <a:ext cx="1600200" cy="868680"/>
          </a:xfrm>
          <a:prstGeom prst="roundRect">
            <a:avLst>
              <a:gd name="adj" fmla="val 12000"/>
            </a:avLst>
          </a:prstGeom>
          <a:solidFill>
            <a:srgbClr val="E6EEF5"/>
          </a:solidFill>
          <a:ln>
            <a:noFill/>
          </a:ln>
          <a:effectLst/>
        </p:spPr>
        <p:txBody>
          <a:bodyPr rtlCol="0" anchor="ctr" wrap="square">
            <a:noAutofit/>
          </a:bodyPr>
          <a:lstStyle/>
          <a:p>
            <a:pPr algn="ctr"/>
            <a:r>
              <a:rPr sz="1200" b="1">
                <a:solidFill>
                  <a:srgbClr val="01416B"/>
                </a:solidFill>
                <a:latin typeface="Arial"/>
              </a:rPr>
              <a:t>Coordinator</a:t>
            </a:r>
          </a:p>
        </p:txBody>
      </p:sp>
      <p:sp>
        <p:nvSpPr>
          <p:cNvPr id="313" name="Rounded Rectangle 312"/>
          <p:cNvSpPr/>
          <p:nvPr/>
        </p:nvSpPr>
        <p:spPr>
          <a:xfrm>
            <a:off x="9994392" y="3063240"/>
            <a:ext cx="1600200" cy="868680"/>
          </a:xfrm>
          <a:prstGeom prst="roundRect">
            <a:avLst>
              <a:gd name="adj" fmla="val 12000"/>
            </a:avLst>
          </a:prstGeom>
          <a:solidFill>
            <a:srgbClr val="FFFFFF"/>
          </a:solidFill>
          <a:ln w="12700">
            <a:solidFill>
              <a:srgbClr val="01416B"/>
            </a:solidFill>
          </a:ln>
          <a:effectLst/>
        </p:spPr>
        <p:txBody>
          <a:bodyPr rtlCol="0" anchor="ctr" wrap="square">
            <a:noAutofit/>
          </a:bodyPr>
          <a:lstStyle/>
          <a:p>
            <a:pPr algn="ctr">
              <a:spcAft>
                <a:spcPts val="100"/>
              </a:spcAft>
            </a:pPr>
            <a:r>
              <a:rPr sz="1200" b="1">
                <a:solidFill>
                  <a:srgbClr val="01416B"/>
                </a:solidFill>
                <a:latin typeface="Arial"/>
              </a:rPr>
              <a:t>Data node</a:t>
            </a:r>
          </a:p>
          <a:p>
            <a:pPr algn="ctr">
              <a:spcAft>
                <a:spcPts val="100"/>
              </a:spcAft>
            </a:pPr>
            <a:r>
              <a:rPr sz="1000" b="0">
                <a:solidFill>
                  <a:srgbClr val="617487"/>
                </a:solidFill>
                <a:latin typeface="Arial"/>
              </a:rPr>
              <a:t>raw logs stay here</a:t>
            </a:r>
          </a:p>
        </p:txBody>
      </p:sp>
      <p:cxnSp>
        <p:nvCxnSpPr>
          <p:cNvPr id="314" name="Connector 313"/>
          <p:cNvCxnSpPr/>
          <p:nvPr/>
        </p:nvCxnSpPr>
        <p:spPr>
          <a:xfrm>
            <a:off x="8028432" y="3291840"/>
            <a:ext cx="1920240" cy="0"/>
          </a:xfrm>
          <a:prstGeom prst="line">
            <a:avLst/>
          </a:prstGeom>
          <a:ln w="31750">
            <a:solidFill>
              <a:srgbClr val="01416B"/>
            </a:solidFill>
            <a:tailEnd type="triangle" w="med" len="med"/>
          </a:ln>
        </p:spPr>
      </p:cxnSp>
      <p:sp>
        <p:nvSpPr>
          <p:cNvPr id="315" name="TextBox 314"/>
          <p:cNvSpPr txBox="1"/>
          <p:nvPr/>
        </p:nvSpPr>
        <p:spPr>
          <a:xfrm>
            <a:off x="8028432" y="3017520"/>
            <a:ext cx="1920240" cy="237744"/>
          </a:xfrm>
          <a:prstGeom prst="rect">
            <a:avLst/>
          </a:prstGeom>
          <a:noFill/>
        </p:spPr>
        <p:txBody>
          <a:bodyPr wrap="square" lIns="18288" tIns="0" rIns="18288" bIns="0" anchor="t">
            <a:noAutofit/>
          </a:bodyPr>
          <a:lstStyle/>
          <a:p>
            <a:pPr algn="ctr"/>
            <a:r>
              <a:rPr sz="1000" b="1">
                <a:solidFill>
                  <a:srgbClr val="01416B"/>
                </a:solidFill>
                <a:latin typeface="Arial"/>
              </a:rPr>
              <a:t>signed bundle</a:t>
            </a:r>
          </a:p>
        </p:txBody>
      </p:sp>
      <p:cxnSp>
        <p:nvCxnSpPr>
          <p:cNvPr id="316" name="Connector 315"/>
          <p:cNvCxnSpPr/>
          <p:nvPr/>
        </p:nvCxnSpPr>
        <p:spPr>
          <a:xfrm flipH="1">
            <a:off x="8028432" y="3703320"/>
            <a:ext cx="1920240" cy="0"/>
          </a:xfrm>
          <a:prstGeom prst="line">
            <a:avLst/>
          </a:prstGeom>
          <a:ln w="12700">
            <a:solidFill>
              <a:srgbClr val="01416B"/>
            </a:solidFill>
            <a:tailEnd type="triangle" w="med" len="med"/>
          </a:ln>
        </p:spPr>
      </p:cxnSp>
      <p:sp>
        <p:nvSpPr>
          <p:cNvPr id="317" name="TextBox 316"/>
          <p:cNvSpPr txBox="1"/>
          <p:nvPr/>
        </p:nvSpPr>
        <p:spPr>
          <a:xfrm>
            <a:off x="8028432" y="3785615"/>
            <a:ext cx="1920240" cy="237744"/>
          </a:xfrm>
          <a:prstGeom prst="rect">
            <a:avLst/>
          </a:prstGeom>
          <a:noFill/>
        </p:spPr>
        <p:txBody>
          <a:bodyPr wrap="square" lIns="18288" tIns="0" rIns="18288" bIns="0" anchor="t">
            <a:noAutofit/>
          </a:bodyPr>
          <a:lstStyle/>
          <a:p>
            <a:pPr algn="ctr"/>
            <a:r>
              <a:rPr sz="1000" b="1">
                <a:solidFill>
                  <a:srgbClr val="01416B"/>
                </a:solidFill>
                <a:latin typeface="Arial"/>
              </a:rPr>
              <a:t>aggregates only</a:t>
            </a:r>
          </a:p>
        </p:txBody>
      </p:sp>
      <p:sp>
        <p:nvSpPr>
          <p:cNvPr id="318" name="TextBox 317"/>
          <p:cNvSpPr txBox="1"/>
          <p:nvPr/>
        </p:nvSpPr>
        <p:spPr>
          <a:xfrm>
            <a:off x="6382512" y="4251960"/>
            <a:ext cx="5212080" cy="292608"/>
          </a:xfrm>
          <a:prstGeom prst="rect">
            <a:avLst/>
          </a:prstGeom>
          <a:noFill/>
        </p:spPr>
        <p:txBody>
          <a:bodyPr wrap="square" lIns="18288" tIns="0" rIns="18288" bIns="0" anchor="t">
            <a:noAutofit/>
          </a:bodyPr>
          <a:lstStyle/>
          <a:p>
            <a:pPr algn="l"/>
            <a:r>
              <a:rPr sz="1250" b="1">
                <a:solidFill>
                  <a:srgbClr val="01416B"/>
                </a:solidFill>
                <a:latin typeface="Arial"/>
              </a:rPr>
              <a:t>Moves the code: pays off above about 14 MB per node.</a:t>
            </a:r>
          </a:p>
        </p:txBody>
      </p:sp>
      <p:sp>
        <p:nvSpPr>
          <p:cNvPr id="319" name="Rounded Rectangle 318"/>
          <p:cNvSpPr/>
          <p:nvPr/>
        </p:nvSpPr>
        <p:spPr>
          <a:xfrm>
            <a:off x="594360" y="5120640"/>
            <a:ext cx="11000232" cy="868680"/>
          </a:xfrm>
          <a:prstGeom prst="roundRect">
            <a:avLst>
              <a:gd name="adj" fmla="val 12000"/>
            </a:avLst>
          </a:prstGeom>
          <a:solidFill>
            <a:srgbClr val="FFF6C7"/>
          </a:solidFill>
          <a:ln>
            <a:noFill/>
          </a:ln>
          <a:effectLst/>
        </p:spPr>
        <p:txBody>
          <a:bodyPr rtlCol="0" anchor="ctr" wrap="square" lIns="182880" rIns="182880">
            <a:noAutofit/>
          </a:bodyPr>
          <a:lstStyle/>
          <a:p>
            <a:pPr algn="l"/>
            <a:r>
              <a:rPr sz="1200" b="1">
                <a:solidFill>
                  <a:srgbClr val="01416B"/>
                </a:solidFill>
                <a:latin typeface="Arial"/>
              </a:rPr>
              <a:t>In the benchmark, </a:t>
            </a:r>
            <a:r>
              <a:rPr sz="1200" b="0">
                <a:solidFill>
                  <a:srgbClr val="01416B"/>
                </a:solidFill>
                <a:latin typeface="Arial"/>
              </a:rPr>
              <a:t>A3 sends 4,161 bytes per ticket against 3,556 for A2: the generated logs are tiny, so the bundle is overhead. In the dashboard, Scout-Log makes these trips during investigation (next slide).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94;p6"/>
          <p:cNvSpPr txBox="1"/>
          <p:nvPr>
            <p:ph type="title"/>
          </p:nvPr>
        </p:nvSpPr>
        <p:spPr>
          <a:xfrm>
            <a:off x="594360" y="301752"/>
            <a:ext cx="9372600" cy="621792"/>
          </a:xfrm>
          <a:prstGeom prst="rect">
            <a:avLst/>
          </a:prstGeom>
          <a:noFill/>
          <a:ln>
            <a:noFill/>
          </a:ln>
        </p:spPr>
        <p:txBody>
          <a:bodyPr anchorCtr="0" anchor="b" bIns="0" lIns="0" spcFirstLastPara="1" rIns="0" wrap="square" tIns="0">
            <a:normAutofit/>
          </a:bodyPr>
          <a:lstStyle/>
          <a:p>
            <a:pPr indent="0" lvl="0" marL="0" rtl="0" algn="l">
              <a:lnSpc>
                <a:spcPct val="90000"/>
              </a:lnSpc>
              <a:spcBef>
                <a:spcPts val="0"/>
              </a:spcBef>
              <a:spcAft>
                <a:spcPts val="0"/>
              </a:spcAft>
              <a:buClr>
                <a:srgbClr val="01416B"/>
              </a:buClr>
              <a:buSzPts val="2800"/>
              <a:buFont typeface="Arial"/>
              <a:buNone/>
            </a:pPr>
            <a:r>
              <a:rPr b="1" lang="en-US" sz="2800"/>
              <a:t>Scout-Log: moving the code to the data</a:t>
            </a:r>
            <a:endParaRPr/>
          </a:p>
        </p:txBody>
      </p:sp>
      <p:sp>
        <p:nvSpPr>
          <p:cNvPr id="3" name="Google Shape;195;p6"/>
          <p:cNvSpPr/>
          <p:nvPr/>
        </p:nvSpPr>
        <p:spPr>
          <a:xfrm>
            <a:off x="590550" y="990600"/>
            <a:ext cx="685800" cy="47625"/>
          </a:xfrm>
          <a:prstGeom prst="rect">
            <a:avLst/>
          </a:prstGeom>
          <a:solidFill>
            <a:srgbClr val="FDD40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 name="Google Shape;196;p6"/>
          <p:cNvSpPr/>
          <p:nvPr/>
        </p:nvSpPr>
        <p:spPr>
          <a:xfrm>
            <a:off x="590550" y="1123950"/>
            <a:ext cx="11001375" cy="34290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575">
                <a:solidFill>
                  <a:srgbClr val="617487"/>
                </a:solidFill>
                <a:latin typeface="Arial"/>
                <a:ea typeface="Arial"/>
                <a:cs typeface="Arial"/>
                <a:sym typeface="Arial"/>
              </a:rPr>
              <a:t>The mobile agent visits six data nodes; the raw logs never leave them</a:t>
            </a:r>
            <a:endParaRPr/>
          </a:p>
        </p:txBody>
      </p:sp>
      <p:sp>
        <p:nvSpPr>
          <p:cNvPr id="5" name="Rounded Rectangle 4"/>
          <p:cNvSpPr/>
          <p:nvPr/>
        </p:nvSpPr>
        <p:spPr>
          <a:xfrm>
            <a:off x="594360" y="2103120"/>
            <a:ext cx="2103120" cy="2011680"/>
          </a:xfrm>
          <a:prstGeom prst="roundRect">
            <a:avLst>
              <a:gd name="adj" fmla="val 12000"/>
            </a:avLst>
          </a:prstGeom>
          <a:solidFill>
            <a:srgbClr val="E6EEF5"/>
          </a:solidFill>
          <a:ln>
            <a:noFill/>
          </a:ln>
          <a:effectLst/>
        </p:spPr>
        <p:txBody>
          <a:bodyPr rtlCol="0" anchor="t" wrap="square" lIns="137160" tIns="91440">
            <a:noAutofit/>
          </a:bodyPr>
          <a:lstStyle/>
          <a:p>
            <a:pPr algn="l"/>
            <a:r>
              <a:rPr sz="1300" b="1">
                <a:solidFill>
                  <a:srgbClr val="01416B"/>
                </a:solidFill>
                <a:latin typeface="Arial"/>
              </a:rPr>
              <a:t>Orchestrator</a:t>
            </a:r>
          </a:p>
          <a:p>
            <a:pPr algn="l"/>
            <a:r>
              <a:rPr sz="1050" b="0">
                <a:solidFill>
                  <a:srgbClr val="2E4357"/>
                </a:solidFill>
                <a:latin typeface="Arial"/>
              </a:rPr>
              <a:t>Security-Policy signs</a:t>
            </a:r>
          </a:p>
          <a:p>
            <a:pPr algn="l"/>
            <a:r>
              <a:rPr sz="1050" b="0">
                <a:solidFill>
                  <a:srgbClr val="2E4357"/>
                </a:solidFill>
                <a:latin typeface="Arial"/>
              </a:rPr>
              <a:t>the bundle (Ed25519)</a:t>
            </a:r>
          </a:p>
        </p:txBody>
      </p:sp>
      <p:sp>
        <p:nvSpPr>
          <p:cNvPr id="6" name="Rounded Rectangle 5"/>
          <p:cNvSpPr/>
          <p:nvPr/>
        </p:nvSpPr>
        <p:spPr>
          <a:xfrm>
            <a:off x="777240" y="3246120"/>
            <a:ext cx="411480" cy="411480"/>
          </a:xfrm>
          <a:prstGeom prst="roundRect">
            <a:avLst>
              <a:gd name="adj" fmla="val 15000"/>
            </a:avLst>
          </a:prstGeom>
          <a:solidFill>
            <a:srgbClr val="01416B"/>
          </a:solidFill>
          <a:ln>
            <a:noFill/>
          </a:ln>
          <a:effectLst/>
        </p:spPr>
        <p:txBody>
          <a:bodyPr rtlCol="0" anchor="ctr"/>
          <a:lstStyle/>
          <a:p>
            <a:pPr algn="ctr"/>
          </a:p>
        </p:txBody>
      </p:sp>
      <p:sp>
        <p:nvSpPr>
          <p:cNvPr id="7" name="Rounded Rectangle 6"/>
          <p:cNvSpPr/>
          <p:nvPr/>
        </p:nvSpPr>
        <p:spPr>
          <a:xfrm>
            <a:off x="826617" y="3418941"/>
            <a:ext cx="312724" cy="28803"/>
          </a:xfrm>
          <a:prstGeom prst="roundRect">
            <a:avLst>
              <a:gd name="adj" fmla="val 50000"/>
            </a:avLst>
          </a:prstGeom>
          <a:solidFill>
            <a:srgbClr val="FFFFFF"/>
          </a:solidFill>
          <a:ln>
            <a:noFill/>
          </a:ln>
          <a:effectLst/>
        </p:spPr>
        <p:txBody>
          <a:bodyPr rtlCol="0" anchor="ctr"/>
          <a:lstStyle/>
          <a:p>
            <a:pPr algn="ctr"/>
          </a:p>
        </p:txBody>
      </p:sp>
      <p:sp>
        <p:nvSpPr>
          <p:cNvPr id="8" name="Oval 7"/>
          <p:cNvSpPr/>
          <p:nvPr/>
        </p:nvSpPr>
        <p:spPr>
          <a:xfrm>
            <a:off x="1032357" y="3196742"/>
            <a:ext cx="205740" cy="205740"/>
          </a:xfrm>
          <a:prstGeom prst="ellipse">
            <a:avLst/>
          </a:prstGeom>
          <a:solidFill>
            <a:srgbClr val="FDD402"/>
          </a:solidFill>
          <a:ln>
            <a:noFill/>
          </a:ln>
          <a:effectLst/>
        </p:spPr>
        <p:txBody>
          <a:bodyPr rtlCol="0" anchor="ctr"/>
          <a:lstStyle/>
          <a:p>
            <a:pPr algn="ctr"/>
          </a:p>
        </p:txBody>
      </p:sp>
      <p:sp>
        <p:nvSpPr>
          <p:cNvPr id="9" name="TextBox 8"/>
          <p:cNvSpPr txBox="1"/>
          <p:nvPr/>
        </p:nvSpPr>
        <p:spPr>
          <a:xfrm>
            <a:off x="1298448" y="3154680"/>
            <a:ext cx="1371600" cy="640080"/>
          </a:xfrm>
          <a:prstGeom prst="rect">
            <a:avLst/>
          </a:prstGeom>
          <a:noFill/>
        </p:spPr>
        <p:txBody>
          <a:bodyPr wrap="square" lIns="18288" tIns="0" rIns="18288" bIns="0" anchor="t">
            <a:noAutofit/>
          </a:bodyPr>
          <a:lstStyle/>
          <a:p>
            <a:pPr algn="l"/>
            <a:r>
              <a:rPr sz="950" b="0">
                <a:solidFill>
                  <a:srgbClr val="01416B"/>
                </a:solidFill>
                <a:latin typeface="Arial"/>
              </a:rPr>
              <a:t>2.11 KB bundle:</a:t>
            </a:r>
          </a:p>
          <a:p>
            <a:pPr algn="l"/>
            <a:r>
              <a:rPr sz="950" b="0">
                <a:solidFill>
                  <a:srgbClr val="01416B"/>
                </a:solidFill>
                <a:latin typeface="Arial"/>
              </a:rPr>
              <a:t>code, state,</a:t>
            </a:r>
          </a:p>
          <a:p>
            <a:pPr algn="l"/>
            <a:r>
              <a:rPr sz="950" b="0">
                <a:solidFill>
                  <a:srgbClr val="01416B"/>
                </a:solidFill>
                <a:latin typeface="Arial"/>
              </a:rPr>
              <a:t>signature</a:t>
            </a:r>
          </a:p>
        </p:txBody>
      </p:sp>
      <p:sp>
        <p:nvSpPr>
          <p:cNvPr id="10" name="Rounded Rectangle 9"/>
          <p:cNvSpPr/>
          <p:nvPr/>
        </p:nvSpPr>
        <p:spPr>
          <a:xfrm>
            <a:off x="4892040" y="1783080"/>
            <a:ext cx="2331720" cy="384048"/>
          </a:xfrm>
          <a:prstGeom prst="roundRect">
            <a:avLst>
              <a:gd name="adj" fmla="val 20000"/>
            </a:avLst>
          </a:prstGeom>
          <a:solidFill>
            <a:srgbClr val="FFFFFF"/>
          </a:solidFill>
          <a:ln w="12700">
            <a:solidFill>
              <a:srgbClr val="2F6EA3"/>
            </a:solidFill>
          </a:ln>
          <a:effectLst/>
        </p:spPr>
        <p:txBody>
          <a:bodyPr rtlCol="0" anchor="ctr" wrap="square" tIns="0" rIns="640080" bIns="0">
            <a:noAutofit/>
          </a:bodyPr>
          <a:lstStyle/>
          <a:p>
            <a:pPr algn="l"/>
            <a:r>
              <a:rPr sz="1000" b="1">
                <a:solidFill>
                  <a:srgbClr val="01416B"/>
                </a:solidFill>
                <a:latin typeface="Arial"/>
              </a:rPr>
              <a:t>node-1 </a:t>
            </a:r>
            <a:r>
              <a:rPr sz="1000" b="0">
                <a:solidFill>
                  <a:srgbClr val="2E4357"/>
                </a:solidFill>
                <a:latin typeface="Arial"/>
              </a:rPr>
              <a:t>api-gateway</a:t>
            </a:r>
          </a:p>
        </p:txBody>
      </p:sp>
      <p:sp>
        <p:nvSpPr>
          <p:cNvPr id="11" name="TextBox 10"/>
          <p:cNvSpPr txBox="1"/>
          <p:nvPr/>
        </p:nvSpPr>
        <p:spPr>
          <a:xfrm>
            <a:off x="6510528" y="1856231"/>
            <a:ext cx="658368" cy="237744"/>
          </a:xfrm>
          <a:prstGeom prst="rect">
            <a:avLst/>
          </a:prstGeom>
          <a:noFill/>
        </p:spPr>
        <p:txBody>
          <a:bodyPr wrap="square" lIns="18288" tIns="0" rIns="18288" bIns="0" anchor="ctr">
            <a:noAutofit/>
          </a:bodyPr>
          <a:lstStyle/>
          <a:p>
            <a:pPr algn="r"/>
            <a:r>
              <a:rPr sz="950" b="0">
                <a:solidFill>
                  <a:srgbClr val="617487"/>
                </a:solidFill>
                <a:latin typeface="Arial"/>
              </a:rPr>
              <a:t>1,365 MB</a:t>
            </a:r>
          </a:p>
        </p:txBody>
      </p:sp>
      <p:cxnSp>
        <p:nvCxnSpPr>
          <p:cNvPr id="12" name="Connector 11"/>
          <p:cNvCxnSpPr/>
          <p:nvPr/>
        </p:nvCxnSpPr>
        <p:spPr>
          <a:xfrm flipV="1">
            <a:off x="2697480" y="1975104"/>
            <a:ext cx="2176272" cy="1133856"/>
          </a:xfrm>
          <a:prstGeom prst="line">
            <a:avLst/>
          </a:prstGeom>
          <a:ln w="15875">
            <a:solidFill>
              <a:srgbClr val="2F6EA3"/>
            </a:solidFill>
            <a:tailEnd type="triangle" w="med" len="med"/>
          </a:ln>
        </p:spPr>
      </p:cxnSp>
      <p:sp>
        <p:nvSpPr>
          <p:cNvPr id="13" name="Rounded Rectangle 12"/>
          <p:cNvSpPr/>
          <p:nvPr/>
        </p:nvSpPr>
        <p:spPr>
          <a:xfrm>
            <a:off x="4892040" y="2240280"/>
            <a:ext cx="2331720" cy="384048"/>
          </a:xfrm>
          <a:prstGeom prst="roundRect">
            <a:avLst>
              <a:gd name="adj" fmla="val 20000"/>
            </a:avLst>
          </a:prstGeom>
          <a:solidFill>
            <a:srgbClr val="FFFFFF"/>
          </a:solidFill>
          <a:ln w="12700">
            <a:solidFill>
              <a:srgbClr val="2F6EA3"/>
            </a:solidFill>
          </a:ln>
          <a:effectLst/>
        </p:spPr>
        <p:txBody>
          <a:bodyPr rtlCol="0" anchor="ctr" wrap="square" tIns="0" rIns="640080" bIns="0">
            <a:noAutofit/>
          </a:bodyPr>
          <a:lstStyle/>
          <a:p>
            <a:pPr algn="l"/>
            <a:r>
              <a:rPr sz="1000" b="1">
                <a:solidFill>
                  <a:srgbClr val="01416B"/>
                </a:solidFill>
                <a:latin typeface="Arial"/>
              </a:rPr>
              <a:t>node-2 </a:t>
            </a:r>
            <a:r>
              <a:rPr sz="1000" b="0">
                <a:solidFill>
                  <a:srgbClr val="2E4357"/>
                </a:solidFill>
                <a:latin typeface="Arial"/>
              </a:rPr>
              <a:t>order-service</a:t>
            </a:r>
          </a:p>
        </p:txBody>
      </p:sp>
      <p:sp>
        <p:nvSpPr>
          <p:cNvPr id="14" name="TextBox 13"/>
          <p:cNvSpPr txBox="1"/>
          <p:nvPr/>
        </p:nvSpPr>
        <p:spPr>
          <a:xfrm>
            <a:off x="6510528" y="2313432"/>
            <a:ext cx="658368" cy="237744"/>
          </a:xfrm>
          <a:prstGeom prst="rect">
            <a:avLst/>
          </a:prstGeom>
          <a:noFill/>
        </p:spPr>
        <p:txBody>
          <a:bodyPr wrap="square" lIns="18288" tIns="0" rIns="18288" bIns="0" anchor="ctr">
            <a:noAutofit/>
          </a:bodyPr>
          <a:lstStyle/>
          <a:p>
            <a:pPr algn="r"/>
            <a:r>
              <a:rPr sz="950" b="0">
                <a:solidFill>
                  <a:srgbClr val="617487"/>
                </a:solidFill>
                <a:latin typeface="Arial"/>
              </a:rPr>
              <a:t>1,365 MB</a:t>
            </a:r>
          </a:p>
        </p:txBody>
      </p:sp>
      <p:cxnSp>
        <p:nvCxnSpPr>
          <p:cNvPr id="15" name="Connector 14"/>
          <p:cNvCxnSpPr/>
          <p:nvPr/>
        </p:nvCxnSpPr>
        <p:spPr>
          <a:xfrm flipV="1">
            <a:off x="2697480" y="2432304"/>
            <a:ext cx="2176272" cy="676656"/>
          </a:xfrm>
          <a:prstGeom prst="line">
            <a:avLst/>
          </a:prstGeom>
          <a:ln w="15875">
            <a:solidFill>
              <a:srgbClr val="2F6EA3"/>
            </a:solidFill>
            <a:tailEnd type="triangle" w="med" len="med"/>
          </a:ln>
        </p:spPr>
      </p:cxnSp>
      <p:sp>
        <p:nvSpPr>
          <p:cNvPr id="16" name="Rounded Rectangle 15"/>
          <p:cNvSpPr/>
          <p:nvPr/>
        </p:nvSpPr>
        <p:spPr>
          <a:xfrm>
            <a:off x="4892040" y="2697480"/>
            <a:ext cx="2331720" cy="384048"/>
          </a:xfrm>
          <a:prstGeom prst="roundRect">
            <a:avLst>
              <a:gd name="adj" fmla="val 20000"/>
            </a:avLst>
          </a:prstGeom>
          <a:solidFill>
            <a:srgbClr val="FFFFFF"/>
          </a:solidFill>
          <a:ln w="12700">
            <a:solidFill>
              <a:srgbClr val="2F6EA3"/>
            </a:solidFill>
          </a:ln>
          <a:effectLst/>
        </p:spPr>
        <p:txBody>
          <a:bodyPr rtlCol="0" anchor="ctr" wrap="square" tIns="0" rIns="640080" bIns="0">
            <a:noAutofit/>
          </a:bodyPr>
          <a:lstStyle/>
          <a:p>
            <a:pPr algn="l"/>
            <a:r>
              <a:rPr sz="1000" b="1">
                <a:solidFill>
                  <a:srgbClr val="01416B"/>
                </a:solidFill>
                <a:latin typeface="Arial"/>
              </a:rPr>
              <a:t>node-3 </a:t>
            </a:r>
            <a:r>
              <a:rPr sz="1000" b="0">
                <a:solidFill>
                  <a:srgbClr val="2E4357"/>
                </a:solidFill>
                <a:latin typeface="Arial"/>
              </a:rPr>
              <a:t>payment-db</a:t>
            </a:r>
          </a:p>
        </p:txBody>
      </p:sp>
      <p:sp>
        <p:nvSpPr>
          <p:cNvPr id="17" name="TextBox 16"/>
          <p:cNvSpPr txBox="1"/>
          <p:nvPr/>
        </p:nvSpPr>
        <p:spPr>
          <a:xfrm>
            <a:off x="6510528" y="2770632"/>
            <a:ext cx="658368" cy="237744"/>
          </a:xfrm>
          <a:prstGeom prst="rect">
            <a:avLst/>
          </a:prstGeom>
          <a:noFill/>
        </p:spPr>
        <p:txBody>
          <a:bodyPr wrap="square" lIns="18288" tIns="0" rIns="18288" bIns="0" anchor="ctr">
            <a:noAutofit/>
          </a:bodyPr>
          <a:lstStyle/>
          <a:p>
            <a:pPr algn="r"/>
            <a:r>
              <a:rPr sz="950" b="0">
                <a:solidFill>
                  <a:srgbClr val="617487"/>
                </a:solidFill>
                <a:latin typeface="Arial"/>
              </a:rPr>
              <a:t>1,365 MB</a:t>
            </a:r>
          </a:p>
        </p:txBody>
      </p:sp>
      <p:cxnSp>
        <p:nvCxnSpPr>
          <p:cNvPr id="18" name="Connector 17"/>
          <p:cNvCxnSpPr/>
          <p:nvPr/>
        </p:nvCxnSpPr>
        <p:spPr>
          <a:xfrm flipV="1">
            <a:off x="2697480" y="2889504"/>
            <a:ext cx="2176272" cy="219456"/>
          </a:xfrm>
          <a:prstGeom prst="line">
            <a:avLst/>
          </a:prstGeom>
          <a:ln w="15875">
            <a:solidFill>
              <a:srgbClr val="2F6EA3"/>
            </a:solidFill>
            <a:tailEnd type="triangle" w="med" len="med"/>
          </a:ln>
        </p:spPr>
      </p:cxnSp>
      <p:sp>
        <p:nvSpPr>
          <p:cNvPr id="19" name="Rounded Rectangle 18"/>
          <p:cNvSpPr/>
          <p:nvPr/>
        </p:nvSpPr>
        <p:spPr>
          <a:xfrm>
            <a:off x="4892040" y="3154680"/>
            <a:ext cx="2331720" cy="384048"/>
          </a:xfrm>
          <a:prstGeom prst="roundRect">
            <a:avLst>
              <a:gd name="adj" fmla="val 20000"/>
            </a:avLst>
          </a:prstGeom>
          <a:solidFill>
            <a:srgbClr val="FFFFFF"/>
          </a:solidFill>
          <a:ln w="12700">
            <a:solidFill>
              <a:srgbClr val="2F6EA3"/>
            </a:solidFill>
          </a:ln>
          <a:effectLst/>
        </p:spPr>
        <p:txBody>
          <a:bodyPr rtlCol="0" anchor="ctr" wrap="square" tIns="0" rIns="640080" bIns="0">
            <a:noAutofit/>
          </a:bodyPr>
          <a:lstStyle/>
          <a:p>
            <a:pPr algn="l"/>
            <a:r>
              <a:rPr sz="1000" b="1">
                <a:solidFill>
                  <a:srgbClr val="01416B"/>
                </a:solidFill>
                <a:latin typeface="Arial"/>
              </a:rPr>
              <a:t>node-4 </a:t>
            </a:r>
            <a:r>
              <a:rPr sz="1000" b="0">
                <a:solidFill>
                  <a:srgbClr val="2E4357"/>
                </a:solidFill>
                <a:latin typeface="Arial"/>
              </a:rPr>
              <a:t>auth-service</a:t>
            </a:r>
          </a:p>
        </p:txBody>
      </p:sp>
      <p:sp>
        <p:nvSpPr>
          <p:cNvPr id="20" name="TextBox 19"/>
          <p:cNvSpPr txBox="1"/>
          <p:nvPr/>
        </p:nvSpPr>
        <p:spPr>
          <a:xfrm>
            <a:off x="6510528" y="3227832"/>
            <a:ext cx="658368" cy="237744"/>
          </a:xfrm>
          <a:prstGeom prst="rect">
            <a:avLst/>
          </a:prstGeom>
          <a:noFill/>
        </p:spPr>
        <p:txBody>
          <a:bodyPr wrap="square" lIns="18288" tIns="0" rIns="18288" bIns="0" anchor="ctr">
            <a:noAutofit/>
          </a:bodyPr>
          <a:lstStyle/>
          <a:p>
            <a:pPr algn="r"/>
            <a:r>
              <a:rPr sz="950" b="0">
                <a:solidFill>
                  <a:srgbClr val="617487"/>
                </a:solidFill>
                <a:latin typeface="Arial"/>
              </a:rPr>
              <a:t>1,365 MB</a:t>
            </a:r>
          </a:p>
        </p:txBody>
      </p:sp>
      <p:cxnSp>
        <p:nvCxnSpPr>
          <p:cNvPr id="21" name="Connector 20"/>
          <p:cNvCxnSpPr/>
          <p:nvPr/>
        </p:nvCxnSpPr>
        <p:spPr>
          <a:xfrm>
            <a:off x="2697480" y="3108960"/>
            <a:ext cx="2176272" cy="237744"/>
          </a:xfrm>
          <a:prstGeom prst="line">
            <a:avLst/>
          </a:prstGeom>
          <a:ln w="15875">
            <a:solidFill>
              <a:srgbClr val="2F6EA3"/>
            </a:solidFill>
            <a:tailEnd type="triangle" w="med" len="med"/>
          </a:ln>
        </p:spPr>
      </p:cxnSp>
      <p:sp>
        <p:nvSpPr>
          <p:cNvPr id="22" name="Rounded Rectangle 21"/>
          <p:cNvSpPr/>
          <p:nvPr/>
        </p:nvSpPr>
        <p:spPr>
          <a:xfrm>
            <a:off x="4892040" y="3611880"/>
            <a:ext cx="2331720" cy="384048"/>
          </a:xfrm>
          <a:prstGeom prst="roundRect">
            <a:avLst>
              <a:gd name="adj" fmla="val 20000"/>
            </a:avLst>
          </a:prstGeom>
          <a:solidFill>
            <a:srgbClr val="FFFFFF"/>
          </a:solidFill>
          <a:ln w="12700">
            <a:solidFill>
              <a:srgbClr val="2F6EA3"/>
            </a:solidFill>
          </a:ln>
          <a:effectLst/>
        </p:spPr>
        <p:txBody>
          <a:bodyPr rtlCol="0" anchor="ctr" wrap="square" tIns="0" rIns="640080" bIns="0">
            <a:noAutofit/>
          </a:bodyPr>
          <a:lstStyle/>
          <a:p>
            <a:pPr algn="l"/>
            <a:r>
              <a:rPr sz="1000" b="1">
                <a:solidFill>
                  <a:srgbClr val="01416B"/>
                </a:solidFill>
                <a:latin typeface="Arial"/>
              </a:rPr>
              <a:t>node-5 </a:t>
            </a:r>
            <a:r>
              <a:rPr sz="1000" b="0">
                <a:solidFill>
                  <a:srgbClr val="2E4357"/>
                </a:solidFill>
                <a:latin typeface="Arial"/>
              </a:rPr>
              <a:t>search-service</a:t>
            </a:r>
          </a:p>
        </p:txBody>
      </p:sp>
      <p:sp>
        <p:nvSpPr>
          <p:cNvPr id="23" name="TextBox 22"/>
          <p:cNvSpPr txBox="1"/>
          <p:nvPr/>
        </p:nvSpPr>
        <p:spPr>
          <a:xfrm>
            <a:off x="6510528" y="3685032"/>
            <a:ext cx="658368" cy="237744"/>
          </a:xfrm>
          <a:prstGeom prst="rect">
            <a:avLst/>
          </a:prstGeom>
          <a:noFill/>
        </p:spPr>
        <p:txBody>
          <a:bodyPr wrap="square" lIns="18288" tIns="0" rIns="18288" bIns="0" anchor="ctr">
            <a:noAutofit/>
          </a:bodyPr>
          <a:lstStyle/>
          <a:p>
            <a:pPr algn="r"/>
            <a:r>
              <a:rPr sz="950" b="0">
                <a:solidFill>
                  <a:srgbClr val="617487"/>
                </a:solidFill>
                <a:latin typeface="Arial"/>
              </a:rPr>
              <a:t>1,365 MB</a:t>
            </a:r>
          </a:p>
        </p:txBody>
      </p:sp>
      <p:cxnSp>
        <p:nvCxnSpPr>
          <p:cNvPr id="24" name="Connector 23"/>
          <p:cNvCxnSpPr/>
          <p:nvPr/>
        </p:nvCxnSpPr>
        <p:spPr>
          <a:xfrm>
            <a:off x="2697480" y="3108960"/>
            <a:ext cx="2176272" cy="694944"/>
          </a:xfrm>
          <a:prstGeom prst="line">
            <a:avLst/>
          </a:prstGeom>
          <a:ln w="15875">
            <a:solidFill>
              <a:srgbClr val="2F6EA3"/>
            </a:solidFill>
            <a:tailEnd type="triangle" w="med" len="med"/>
          </a:ln>
        </p:spPr>
      </p:cxnSp>
      <p:sp>
        <p:nvSpPr>
          <p:cNvPr id="25" name="Rounded Rectangle 24"/>
          <p:cNvSpPr/>
          <p:nvPr/>
        </p:nvSpPr>
        <p:spPr>
          <a:xfrm>
            <a:off x="4892040" y="4069080"/>
            <a:ext cx="2331720" cy="384048"/>
          </a:xfrm>
          <a:prstGeom prst="roundRect">
            <a:avLst>
              <a:gd name="adj" fmla="val 20000"/>
            </a:avLst>
          </a:prstGeom>
          <a:solidFill>
            <a:srgbClr val="FFFFFF"/>
          </a:solidFill>
          <a:ln w="12700">
            <a:solidFill>
              <a:srgbClr val="9FB3C8"/>
            </a:solidFill>
            <a:prstDash val="dash"/>
          </a:ln>
          <a:effectLst/>
        </p:spPr>
        <p:txBody>
          <a:bodyPr rtlCol="0" anchor="ctr" wrap="square" tIns="0" rIns="640080" bIns="0">
            <a:noAutofit/>
          </a:bodyPr>
          <a:lstStyle/>
          <a:p>
            <a:pPr algn="l"/>
            <a:r>
              <a:rPr sz="1000" b="1">
                <a:solidFill>
                  <a:srgbClr val="01416B"/>
                </a:solidFill>
                <a:latin typeface="Arial"/>
              </a:rPr>
              <a:t>node-6 </a:t>
            </a:r>
            <a:r>
              <a:rPr sz="1000" b="0">
                <a:solidFill>
                  <a:srgbClr val="2E4357"/>
                </a:solidFill>
                <a:latin typeface="Arial"/>
              </a:rPr>
              <a:t>notification</a:t>
            </a:r>
          </a:p>
        </p:txBody>
      </p:sp>
      <p:sp>
        <p:nvSpPr>
          <p:cNvPr id="26" name="TextBox 25"/>
          <p:cNvSpPr txBox="1"/>
          <p:nvPr/>
        </p:nvSpPr>
        <p:spPr>
          <a:xfrm>
            <a:off x="6510528" y="4142232"/>
            <a:ext cx="658368" cy="237744"/>
          </a:xfrm>
          <a:prstGeom prst="rect">
            <a:avLst/>
          </a:prstGeom>
          <a:noFill/>
        </p:spPr>
        <p:txBody>
          <a:bodyPr wrap="square" lIns="18288" tIns="0" rIns="18288" bIns="0" anchor="ctr">
            <a:noAutofit/>
          </a:bodyPr>
          <a:lstStyle/>
          <a:p>
            <a:pPr algn="r"/>
            <a:r>
              <a:rPr sz="950" b="0">
                <a:solidFill>
                  <a:srgbClr val="617487"/>
                </a:solidFill>
                <a:latin typeface="Arial"/>
              </a:rPr>
              <a:t>30 MB</a:t>
            </a:r>
          </a:p>
        </p:txBody>
      </p:sp>
      <p:cxnSp>
        <p:nvCxnSpPr>
          <p:cNvPr id="27" name="Connector 26"/>
          <p:cNvCxnSpPr/>
          <p:nvPr/>
        </p:nvCxnSpPr>
        <p:spPr>
          <a:xfrm>
            <a:off x="2697480" y="3108960"/>
            <a:ext cx="2176272" cy="1152144"/>
          </a:xfrm>
          <a:prstGeom prst="line">
            <a:avLst/>
          </a:prstGeom>
          <a:ln w="15875">
            <a:solidFill>
              <a:srgbClr val="9FB3C8"/>
            </a:solidFill>
            <a:prstDash val="dash"/>
            <a:tailEnd type="triangle" w="med" len="med"/>
          </a:ln>
        </p:spPr>
      </p:cxnSp>
      <p:sp>
        <p:nvSpPr>
          <p:cNvPr id="28" name="TextBox 27"/>
          <p:cNvSpPr txBox="1"/>
          <p:nvPr/>
        </p:nvSpPr>
        <p:spPr>
          <a:xfrm>
            <a:off x="2743200" y="1737360"/>
            <a:ext cx="1783080" cy="384048"/>
          </a:xfrm>
          <a:prstGeom prst="rect">
            <a:avLst/>
          </a:prstGeom>
          <a:noFill/>
        </p:spPr>
        <p:txBody>
          <a:bodyPr wrap="square" lIns="18288" tIns="0" rIns="18288" bIns="0" anchor="t">
            <a:noAutofit/>
          </a:bodyPr>
          <a:lstStyle/>
          <a:p>
            <a:pPr algn="l"/>
            <a:r>
              <a:rPr sz="1000" b="0">
                <a:solidFill>
                  <a:srgbClr val="01416B"/>
                </a:solidFill>
                <a:latin typeface="Arial"/>
              </a:rPr>
              <a:t>signed bundle out,</a:t>
            </a:r>
          </a:p>
          <a:p>
            <a:pPr algn="l"/>
            <a:r>
              <a:rPr sz="1000" b="0">
                <a:solidFill>
                  <a:srgbClr val="01416B"/>
                </a:solidFill>
                <a:latin typeface="Arial"/>
              </a:rPr>
              <a:t>~150 B of numbers back</a:t>
            </a:r>
          </a:p>
        </p:txBody>
      </p:sp>
      <p:sp>
        <p:nvSpPr>
          <p:cNvPr id="29" name="TextBox 28"/>
          <p:cNvSpPr txBox="1"/>
          <p:nvPr/>
        </p:nvSpPr>
        <p:spPr>
          <a:xfrm>
            <a:off x="2743200" y="4224528"/>
            <a:ext cx="1600200" cy="384048"/>
          </a:xfrm>
          <a:prstGeom prst="rect">
            <a:avLst/>
          </a:prstGeom>
          <a:noFill/>
        </p:spPr>
        <p:txBody>
          <a:bodyPr wrap="square" lIns="18288" tIns="0" rIns="18288" bIns="0" anchor="t">
            <a:noAutofit/>
          </a:bodyPr>
          <a:lstStyle/>
          <a:p>
            <a:pPr algn="l"/>
            <a:r>
              <a:rPr sz="950" b="0">
                <a:solidFill>
                  <a:srgbClr val="617487"/>
                </a:solidFill>
                <a:latin typeface="Arial"/>
              </a:rPr>
              <a:t>node-6: 30 MB &lt; 42 MB,</a:t>
            </a:r>
          </a:p>
          <a:p>
            <a:pPr algn="l"/>
            <a:r>
              <a:rPr sz="950" b="0">
                <a:solidFill>
                  <a:srgbClr val="617487"/>
                </a:solidFill>
                <a:latin typeface="Arial"/>
              </a:rPr>
              <a:t>its exporter answers</a:t>
            </a:r>
          </a:p>
        </p:txBody>
      </p:sp>
      <p:sp>
        <p:nvSpPr>
          <p:cNvPr id="30" name="Rounded Rectangle 29"/>
          <p:cNvSpPr/>
          <p:nvPr/>
        </p:nvSpPr>
        <p:spPr>
          <a:xfrm>
            <a:off x="594360" y="4754880"/>
            <a:ext cx="1463040" cy="1280160"/>
          </a:xfrm>
          <a:prstGeom prst="roundRect">
            <a:avLst>
              <a:gd name="adj" fmla="val 12000"/>
            </a:avLst>
          </a:prstGeom>
          <a:solidFill>
            <a:srgbClr val="E6EEF5"/>
          </a:solidFill>
          <a:ln>
            <a:noFill/>
          </a:ln>
          <a:effectLst/>
        </p:spPr>
        <p:txBody>
          <a:bodyPr rtlCol="0" anchor="t" wrap="square" lIns="109728" tIns="91440">
            <a:noAutofit/>
          </a:bodyPr>
          <a:lstStyle/>
          <a:p>
            <a:pPr algn="l">
              <a:spcAft>
                <a:spcPts val="200"/>
              </a:spcAft>
            </a:pPr>
            <a:r>
              <a:rPr sz="1200" b="1">
                <a:solidFill>
                  <a:srgbClr val="01416B"/>
                </a:solidFill>
                <a:latin typeface="Arial"/>
              </a:rPr>
              <a:t>1  Sign</a:t>
            </a:r>
          </a:p>
          <a:p>
            <a:pPr algn="l">
              <a:spcAft>
                <a:spcPts val="200"/>
              </a:spcAft>
            </a:pPr>
            <a:r>
              <a:rPr sz="1050" b="0">
                <a:solidFill>
                  <a:srgbClr val="2E4357"/>
                </a:solidFill>
                <a:latin typeface="Arial"/>
              </a:rPr>
              <a:t>the key never leaves the orchestrator</a:t>
            </a:r>
          </a:p>
        </p:txBody>
      </p:sp>
      <p:cxnSp>
        <p:nvCxnSpPr>
          <p:cNvPr id="31" name="Connector 30"/>
          <p:cNvCxnSpPr/>
          <p:nvPr/>
        </p:nvCxnSpPr>
        <p:spPr>
          <a:xfrm>
            <a:off x="2075688" y="5394960"/>
            <a:ext cx="210312" cy="0"/>
          </a:xfrm>
          <a:prstGeom prst="line">
            <a:avLst/>
          </a:prstGeom>
          <a:ln w="19050">
            <a:solidFill>
              <a:srgbClr val="2F6EA3"/>
            </a:solidFill>
            <a:tailEnd type="triangle" w="med" len="med"/>
          </a:ln>
        </p:spPr>
      </p:cxnSp>
      <p:sp>
        <p:nvSpPr>
          <p:cNvPr id="32" name="Rounded Rectangle 31"/>
          <p:cNvSpPr/>
          <p:nvPr/>
        </p:nvSpPr>
        <p:spPr>
          <a:xfrm>
            <a:off x="2304288" y="4754880"/>
            <a:ext cx="1463040" cy="1280160"/>
          </a:xfrm>
          <a:prstGeom prst="roundRect">
            <a:avLst>
              <a:gd name="adj" fmla="val 12000"/>
            </a:avLst>
          </a:prstGeom>
          <a:solidFill>
            <a:srgbClr val="E6EEF5"/>
          </a:solidFill>
          <a:ln>
            <a:noFill/>
          </a:ln>
          <a:effectLst/>
        </p:spPr>
        <p:txBody>
          <a:bodyPr rtlCol="0" anchor="t" wrap="square" lIns="109728" tIns="91440">
            <a:noAutofit/>
          </a:bodyPr>
          <a:lstStyle/>
          <a:p>
            <a:pPr algn="l">
              <a:spcAft>
                <a:spcPts val="200"/>
              </a:spcAft>
            </a:pPr>
            <a:r>
              <a:rPr sz="1200" b="1">
                <a:solidFill>
                  <a:srgbClr val="01416B"/>
                </a:solidFill>
                <a:latin typeface="Arial"/>
              </a:rPr>
              <a:t>2  Travel</a:t>
            </a:r>
          </a:p>
          <a:p>
            <a:pPr algn="l">
              <a:spcAft>
                <a:spcPts val="200"/>
              </a:spcAft>
            </a:pPr>
            <a:r>
              <a:rPr sz="1050" b="0">
                <a:solidFill>
                  <a:srgbClr val="2E4357"/>
                </a:solidFill>
                <a:latin typeface="Arial"/>
              </a:rPr>
              <a:t>one hop to each node</a:t>
            </a:r>
          </a:p>
        </p:txBody>
      </p:sp>
      <p:cxnSp>
        <p:nvCxnSpPr>
          <p:cNvPr id="33" name="Connector 32"/>
          <p:cNvCxnSpPr/>
          <p:nvPr/>
        </p:nvCxnSpPr>
        <p:spPr>
          <a:xfrm>
            <a:off x="3785616" y="5394960"/>
            <a:ext cx="210312" cy="0"/>
          </a:xfrm>
          <a:prstGeom prst="line">
            <a:avLst/>
          </a:prstGeom>
          <a:ln w="19050">
            <a:solidFill>
              <a:srgbClr val="2F6EA3"/>
            </a:solidFill>
            <a:tailEnd type="triangle" w="med" len="med"/>
          </a:ln>
        </p:spPr>
      </p:cxnSp>
      <p:sp>
        <p:nvSpPr>
          <p:cNvPr id="34" name="Rounded Rectangle 33"/>
          <p:cNvSpPr/>
          <p:nvPr/>
        </p:nvSpPr>
        <p:spPr>
          <a:xfrm>
            <a:off x="4014216" y="4754880"/>
            <a:ext cx="1463040" cy="1280160"/>
          </a:xfrm>
          <a:prstGeom prst="roundRect">
            <a:avLst>
              <a:gd name="adj" fmla="val 12000"/>
            </a:avLst>
          </a:prstGeom>
          <a:solidFill>
            <a:srgbClr val="E6EEF5"/>
          </a:solidFill>
          <a:ln>
            <a:noFill/>
          </a:ln>
          <a:effectLst/>
        </p:spPr>
        <p:txBody>
          <a:bodyPr rtlCol="0" anchor="t" wrap="square" lIns="109728" tIns="91440">
            <a:noAutofit/>
          </a:bodyPr>
          <a:lstStyle/>
          <a:p>
            <a:pPr algn="l">
              <a:spcAft>
                <a:spcPts val="200"/>
              </a:spcAft>
            </a:pPr>
            <a:r>
              <a:rPr sz="1200" b="1">
                <a:solidFill>
                  <a:srgbClr val="01416B"/>
                </a:solidFill>
                <a:latin typeface="Arial"/>
              </a:rPr>
              <a:t>3  Verify, run</a:t>
            </a:r>
          </a:p>
          <a:p>
            <a:pPr algn="l">
              <a:spcAft>
                <a:spcPts val="200"/>
              </a:spcAft>
            </a:pPr>
            <a:r>
              <a:rPr sz="1050" b="0">
                <a:solidFill>
                  <a:srgbClr val="2E4357"/>
                </a:solidFill>
                <a:latin typeface="Arial"/>
              </a:rPr>
              <a:t>isolated process, 20-second limit</a:t>
            </a:r>
          </a:p>
        </p:txBody>
      </p:sp>
      <p:cxnSp>
        <p:nvCxnSpPr>
          <p:cNvPr id="35" name="Connector 34"/>
          <p:cNvCxnSpPr/>
          <p:nvPr/>
        </p:nvCxnSpPr>
        <p:spPr>
          <a:xfrm>
            <a:off x="5495544" y="5394960"/>
            <a:ext cx="210312" cy="0"/>
          </a:xfrm>
          <a:prstGeom prst="line">
            <a:avLst/>
          </a:prstGeom>
          <a:ln w="19050">
            <a:solidFill>
              <a:srgbClr val="2F6EA3"/>
            </a:solidFill>
            <a:tailEnd type="triangle" w="med" len="med"/>
          </a:ln>
        </p:spPr>
      </p:cxnSp>
      <p:sp>
        <p:nvSpPr>
          <p:cNvPr id="36" name="Rounded Rectangle 35"/>
          <p:cNvSpPr/>
          <p:nvPr/>
        </p:nvSpPr>
        <p:spPr>
          <a:xfrm>
            <a:off x="5724144" y="4754880"/>
            <a:ext cx="1463040" cy="1280160"/>
          </a:xfrm>
          <a:prstGeom prst="roundRect">
            <a:avLst>
              <a:gd name="adj" fmla="val 12000"/>
            </a:avLst>
          </a:prstGeom>
          <a:solidFill>
            <a:srgbClr val="E6EEF5"/>
          </a:solidFill>
          <a:ln>
            <a:noFill/>
          </a:ln>
          <a:effectLst/>
        </p:spPr>
        <p:txBody>
          <a:bodyPr rtlCol="0" anchor="t" wrap="square" lIns="109728" tIns="91440">
            <a:noAutofit/>
          </a:bodyPr>
          <a:lstStyle/>
          <a:p>
            <a:pPr algn="l">
              <a:spcAft>
                <a:spcPts val="200"/>
              </a:spcAft>
            </a:pPr>
            <a:r>
              <a:rPr sz="1200" b="1">
                <a:solidFill>
                  <a:srgbClr val="01416B"/>
                </a:solidFill>
                <a:latin typeface="Arial"/>
              </a:rPr>
              <a:t>4  Return</a:t>
            </a:r>
          </a:p>
          <a:p>
            <a:pPr algn="l">
              <a:spcAft>
                <a:spcPts val="200"/>
              </a:spcAft>
            </a:pPr>
            <a:r>
              <a:rPr sz="1050" b="0">
                <a:solidFill>
                  <a:srgbClr val="2E4357"/>
                </a:solidFill>
                <a:latin typeface="Arial"/>
              </a:rPr>
              <a:t>allowlisted numbers only</a:t>
            </a:r>
          </a:p>
        </p:txBody>
      </p:sp>
      <p:sp>
        <p:nvSpPr>
          <p:cNvPr id="37" name="TextBox 36"/>
          <p:cNvSpPr txBox="1"/>
          <p:nvPr/>
        </p:nvSpPr>
        <p:spPr>
          <a:xfrm>
            <a:off x="7726679" y="1737360"/>
            <a:ext cx="3867912" cy="292608"/>
          </a:xfrm>
          <a:prstGeom prst="rect">
            <a:avLst/>
          </a:prstGeom>
          <a:noFill/>
        </p:spPr>
        <p:txBody>
          <a:bodyPr wrap="square" lIns="18288" tIns="0" rIns="18288" bIns="0" anchor="t">
            <a:noAutofit/>
          </a:bodyPr>
          <a:lstStyle/>
          <a:p>
            <a:pPr algn="l"/>
            <a:r>
              <a:rPr sz="1300" b="1">
                <a:solidFill>
                  <a:srgbClr val="01416B"/>
                </a:solidFill>
                <a:latin typeface="Arial"/>
              </a:rPr>
              <a:t>Static pull vs mobile agent</a:t>
            </a:r>
          </a:p>
        </p:txBody>
      </p:sp>
      <p:sp>
        <p:nvSpPr>
          <p:cNvPr id="38" name="TextBox 37"/>
          <p:cNvSpPr txBox="1"/>
          <p:nvPr/>
        </p:nvSpPr>
        <p:spPr>
          <a:xfrm>
            <a:off x="7726679" y="2029968"/>
            <a:ext cx="3867912" cy="256032"/>
          </a:xfrm>
          <a:prstGeom prst="rect">
            <a:avLst/>
          </a:prstGeom>
          <a:noFill/>
        </p:spPr>
        <p:txBody>
          <a:bodyPr wrap="square" lIns="18288" tIns="0" rIns="18288" bIns="0" anchor="t">
            <a:noAutofit/>
          </a:bodyPr>
          <a:lstStyle/>
          <a:p>
            <a:pPr algn="l"/>
            <a:r>
              <a:rPr sz="1000" b="0">
                <a:solidFill>
                  <a:srgbClr val="617487"/>
                </a:solidFill>
                <a:latin typeface="Arial"/>
              </a:rPr>
              <a:t>Report cost model, TCK-1042: 6 nodes × 1,365 MB</a:t>
            </a:r>
          </a:p>
        </p:txBody>
      </p:sp>
      <p:sp>
        <p:nvSpPr>
          <p:cNvPr id="39" name="TextBox 38"/>
          <p:cNvSpPr txBox="1"/>
          <p:nvPr/>
        </p:nvSpPr>
        <p:spPr>
          <a:xfrm>
            <a:off x="7726679" y="2377440"/>
            <a:ext cx="3867912" cy="256032"/>
          </a:xfrm>
          <a:prstGeom prst="rect">
            <a:avLst/>
          </a:prstGeom>
          <a:noFill/>
        </p:spPr>
        <p:txBody>
          <a:bodyPr wrap="square" lIns="18288" tIns="0" rIns="18288" bIns="0" anchor="t">
            <a:noAutofit/>
          </a:bodyPr>
          <a:lstStyle/>
          <a:p>
            <a:pPr algn="l"/>
            <a:r>
              <a:rPr sz="1050" b="0">
                <a:solidFill>
                  <a:srgbClr val="2E4357"/>
                </a:solidFill>
                <a:latin typeface="Arial"/>
              </a:rPr>
              <a:t>Static pull: every raw log to one server</a:t>
            </a:r>
          </a:p>
        </p:txBody>
      </p:sp>
      <p:sp>
        <p:nvSpPr>
          <p:cNvPr id="40" name="Rounded Rectangle 39"/>
          <p:cNvSpPr/>
          <p:nvPr/>
        </p:nvSpPr>
        <p:spPr>
          <a:xfrm>
            <a:off x="7726679" y="2651760"/>
            <a:ext cx="3840480" cy="384048"/>
          </a:xfrm>
          <a:prstGeom prst="roundRect">
            <a:avLst>
              <a:gd name="adj" fmla="val 10000"/>
            </a:avLst>
          </a:prstGeom>
          <a:solidFill>
            <a:srgbClr val="617487"/>
          </a:solidFill>
          <a:ln>
            <a:noFill/>
          </a:ln>
          <a:effectLst/>
        </p:spPr>
        <p:txBody>
          <a:bodyPr rtlCol="0" anchor="ctr" wrap="square">
            <a:noAutofit/>
          </a:bodyPr>
          <a:lstStyle/>
          <a:p>
            <a:pPr algn="l"/>
            <a:r>
              <a:rPr sz="1150" b="1">
                <a:solidFill>
                  <a:srgbClr val="FFFFFF"/>
                </a:solidFill>
                <a:latin typeface="Arial"/>
              </a:rPr>
              <a:t>8,190 MB  ·  ≈ 10 min 55 s</a:t>
            </a:r>
          </a:p>
        </p:txBody>
      </p:sp>
      <p:sp>
        <p:nvSpPr>
          <p:cNvPr id="41" name="TextBox 40"/>
          <p:cNvSpPr txBox="1"/>
          <p:nvPr/>
        </p:nvSpPr>
        <p:spPr>
          <a:xfrm>
            <a:off x="7726679" y="3154680"/>
            <a:ext cx="3867912" cy="256032"/>
          </a:xfrm>
          <a:prstGeom prst="rect">
            <a:avLst/>
          </a:prstGeom>
          <a:noFill/>
        </p:spPr>
        <p:txBody>
          <a:bodyPr wrap="square" lIns="18288" tIns="0" rIns="18288" bIns="0" anchor="t">
            <a:noAutofit/>
          </a:bodyPr>
          <a:lstStyle/>
          <a:p>
            <a:pPr algn="l"/>
            <a:r>
              <a:rPr sz="1050" b="0">
                <a:solidFill>
                  <a:srgbClr val="2E4357"/>
                </a:solidFill>
                <a:latin typeface="Arial"/>
              </a:rPr>
              <a:t>Mobile agent: the code goes to the data</a:t>
            </a:r>
          </a:p>
        </p:txBody>
      </p:sp>
      <p:sp>
        <p:nvSpPr>
          <p:cNvPr id="42" name="Rectangle 41"/>
          <p:cNvSpPr/>
          <p:nvPr/>
        </p:nvSpPr>
        <p:spPr>
          <a:xfrm>
            <a:off x="7726679" y="3429000"/>
            <a:ext cx="64008" cy="384048"/>
          </a:xfrm>
          <a:prstGeom prst="rect">
            <a:avLst/>
          </a:prstGeom>
          <a:solidFill>
            <a:srgbClr val="01416B"/>
          </a:solidFill>
          <a:ln>
            <a:noFill/>
          </a:ln>
          <a:effectLst/>
        </p:spPr>
        <p:txBody>
          <a:bodyPr rtlCol="0" anchor="ctr"/>
          <a:lstStyle/>
          <a:p>
            <a:pPr algn="ctr"/>
          </a:p>
        </p:txBody>
      </p:sp>
      <p:sp>
        <p:nvSpPr>
          <p:cNvPr id="43" name="TextBox 42"/>
          <p:cNvSpPr txBox="1"/>
          <p:nvPr/>
        </p:nvSpPr>
        <p:spPr>
          <a:xfrm>
            <a:off x="7863840" y="3493008"/>
            <a:ext cx="2743200" cy="274320"/>
          </a:xfrm>
          <a:prstGeom prst="rect">
            <a:avLst/>
          </a:prstGeom>
          <a:noFill/>
        </p:spPr>
        <p:txBody>
          <a:bodyPr wrap="square" lIns="18288" tIns="0" rIns="18288" bIns="0" anchor="t">
            <a:noAutofit/>
          </a:bodyPr>
          <a:lstStyle/>
          <a:p>
            <a:pPr algn="l"/>
            <a:r>
              <a:rPr sz="1150" b="1">
                <a:solidFill>
                  <a:srgbClr val="01416B"/>
                </a:solidFill>
                <a:latin typeface="Arial"/>
              </a:rPr>
              <a:t>84 MB  ·  ≈ 27 s</a:t>
            </a:r>
          </a:p>
        </p:txBody>
      </p:sp>
      <p:sp>
        <p:nvSpPr>
          <p:cNvPr id="44" name="TextBox 43"/>
          <p:cNvSpPr txBox="1"/>
          <p:nvPr/>
        </p:nvSpPr>
        <p:spPr>
          <a:xfrm>
            <a:off x="7726679" y="3931920"/>
            <a:ext cx="3867912" cy="292608"/>
          </a:xfrm>
          <a:prstGeom prst="rect">
            <a:avLst/>
          </a:prstGeom>
          <a:noFill/>
        </p:spPr>
        <p:txBody>
          <a:bodyPr wrap="square" lIns="18288" tIns="0" rIns="18288" bIns="0" anchor="t">
            <a:noAutofit/>
          </a:bodyPr>
          <a:lstStyle/>
          <a:p>
            <a:pPr algn="l"/>
            <a:r>
              <a:rPr sz="1250" b="1">
                <a:solidFill>
                  <a:srgbClr val="01416B"/>
                </a:solidFill>
                <a:latin typeface="Arial"/>
              </a:rPr>
              <a:t>98.97% fewer bytes, about 24× faster</a:t>
            </a:r>
          </a:p>
        </p:txBody>
      </p:sp>
      <p:sp>
        <p:nvSpPr>
          <p:cNvPr id="45" name="Rounded Rectangle 44"/>
          <p:cNvSpPr/>
          <p:nvPr/>
        </p:nvSpPr>
        <p:spPr>
          <a:xfrm>
            <a:off x="7726679" y="4343400"/>
            <a:ext cx="3867912" cy="731520"/>
          </a:xfrm>
          <a:prstGeom prst="roundRect">
            <a:avLst>
              <a:gd name="adj" fmla="val 12000"/>
            </a:avLst>
          </a:prstGeom>
          <a:solidFill>
            <a:srgbClr val="E6EEF5"/>
          </a:solidFill>
          <a:ln>
            <a:noFill/>
          </a:ln>
          <a:effectLst/>
        </p:spPr>
        <p:txBody>
          <a:bodyPr rtlCol="0" anchor="ctr" wrap="square" lIns="137160">
            <a:noAutofit/>
          </a:bodyPr>
          <a:lstStyle/>
          <a:p>
            <a:pPr algn="l"/>
            <a:r>
              <a:rPr sz="1100" b="0">
                <a:solidFill>
                  <a:srgbClr val="01416B"/>
                </a:solidFill>
                <a:latin typeface="Arial"/>
              </a:rPr>
              <a:t>Move only if the node holds more than</a:t>
            </a:r>
          </a:p>
          <a:p>
            <a:pPr algn="l"/>
            <a:r>
              <a:rPr sz="1100" b="1">
                <a:solidFill>
                  <a:srgbClr val="01416B"/>
                </a:solidFill>
                <a:latin typeface="Arial"/>
              </a:rPr>
              <a:t>(12 + 2) × 3 = 42 MB of logs</a:t>
            </a:r>
          </a:p>
        </p:txBody>
      </p:sp>
      <p:sp>
        <p:nvSpPr>
          <p:cNvPr id="46" name="Rounded Rectangle 45"/>
          <p:cNvSpPr/>
          <p:nvPr/>
        </p:nvSpPr>
        <p:spPr>
          <a:xfrm>
            <a:off x="7726679" y="5212080"/>
            <a:ext cx="3867912" cy="822960"/>
          </a:xfrm>
          <a:prstGeom prst="roundRect">
            <a:avLst>
              <a:gd name="adj" fmla="val 12000"/>
            </a:avLst>
          </a:prstGeom>
          <a:solidFill>
            <a:srgbClr val="FFF6C7"/>
          </a:solidFill>
          <a:ln>
            <a:noFill/>
          </a:ln>
          <a:effectLst/>
        </p:spPr>
        <p:txBody>
          <a:bodyPr rtlCol="0" anchor="ctr" wrap="square" lIns="137160">
            <a:noAutofit/>
          </a:bodyPr>
          <a:lstStyle/>
          <a:p>
            <a:pPr algn="l"/>
            <a:r>
              <a:rPr sz="1100" b="1">
                <a:solidFill>
                  <a:srgbClr val="01416B"/>
                </a:solidFill>
                <a:latin typeface="Arial"/>
              </a:rPr>
              <a:t>Live trip in the demo</a:t>
            </a:r>
          </a:p>
          <a:p>
            <a:pPr algn="l"/>
            <a:r>
              <a:rPr sz="1100" b="0">
                <a:solidFill>
                  <a:srgbClr val="01416B"/>
                </a:solidFill>
                <a:latin typeface="Arial"/>
              </a:rPr>
              <a:t>11.5 KB moved; 6,855 MB of raw logs</a:t>
            </a:r>
          </a:p>
          <a:p>
            <a:pPr algn="l"/>
            <a:r>
              <a:rPr sz="1100" b="0">
                <a:solidFill>
                  <a:srgbClr val="01416B"/>
                </a:solidFill>
                <a:latin typeface="Arial"/>
              </a:rPr>
              <a:t>stayed on the nodes</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7" name="Shape 317"/>
        <p:cNvGrpSpPr/>
        <p:nvPr/>
      </p:nvGrpSpPr>
      <p:grpSpPr>
        <a:xfrm>
          <a:off x="0" y="0"/>
          <a:ext cx="0" cy="0"/>
          <a:chOff x="0" y="0"/>
          <a:chExt cx="0" cy="0"/>
        </a:xfrm>
      </p:grpSpPr>
      <p:sp>
        <p:nvSpPr>
          <p:cNvPr id="318" name="Google Shape;318;p10"/>
          <p:cNvSpPr txBox="1"/>
          <p:nvPr>
            <p:ph type="title"/>
          </p:nvPr>
        </p:nvSpPr>
        <p:spPr>
          <a:xfrm>
            <a:off x="594360" y="301752"/>
            <a:ext cx="9372600" cy="621792"/>
          </a:xfrm>
          <a:prstGeom prst="rect">
            <a:avLst/>
          </a:prstGeom>
          <a:noFill/>
          <a:ln>
            <a:noFill/>
          </a:ln>
        </p:spPr>
        <p:txBody>
          <a:bodyPr anchorCtr="0" anchor="b" bIns="0" lIns="0" spcFirstLastPara="1" rIns="0" wrap="square" tIns="0">
            <a:normAutofit/>
          </a:bodyPr>
          <a:lstStyle/>
          <a:p>
            <a:pPr indent="0" lvl="0" marL="0" rtl="0" algn="l">
              <a:lnSpc>
                <a:spcPct val="90000"/>
              </a:lnSpc>
              <a:spcBef>
                <a:spcPts val="0"/>
              </a:spcBef>
              <a:spcAft>
                <a:spcPts val="0"/>
              </a:spcAft>
              <a:buClr>
                <a:srgbClr val="01416B"/>
              </a:buClr>
              <a:buSzPts val="2800"/>
              <a:buFont typeface="Arial"/>
              <a:buNone/>
            </a:pPr>
            <a:r>
              <a:rPr b="1" lang="en-US" sz="2800"/>
              <a:t>The benchmark result set is synthetic</a:t>
            </a:r>
            <a:endParaRPr/>
          </a:p>
        </p:txBody>
      </p:sp>
      <p:sp>
        <p:nvSpPr>
          <p:cNvPr id="319" name="Google Shape;319;p10"/>
          <p:cNvSpPr/>
          <p:nvPr/>
        </p:nvSpPr>
        <p:spPr>
          <a:xfrm>
            <a:off x="590550" y="990600"/>
            <a:ext cx="685800" cy="47625"/>
          </a:xfrm>
          <a:prstGeom prst="rect">
            <a:avLst/>
          </a:prstGeom>
          <a:solidFill>
            <a:srgbClr val="FDD40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0" name="Google Shape;320;p10"/>
          <p:cNvSpPr/>
          <p:nvPr/>
        </p:nvSpPr>
        <p:spPr>
          <a:xfrm>
            <a:off x="590550" y="1123950"/>
            <a:ext cx="11001375" cy="34290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575">
                <a:solidFill>
                  <a:srgbClr val="617487"/>
                </a:solidFill>
                <a:latin typeface="Arial"/>
                <a:ea typeface="Arial"/>
                <a:cs typeface="Arial"/>
                <a:sym typeface="Arial"/>
              </a:rPr>
              <a:t>The repository can load public bug data, but the reported A0–A3 experiment used generated tickets</a:t>
            </a:r>
            <a:endParaRPr/>
          </a:p>
        </p:txBody>
      </p:sp>
      <p:sp>
        <p:nvSpPr>
          <p:cNvPr id="321" name="Google Shape;321;p10"/>
          <p:cNvSpPr/>
          <p:nvPr/>
        </p:nvSpPr>
        <p:spPr>
          <a:xfrm>
            <a:off x="762000" y="1743075"/>
            <a:ext cx="4476750" cy="32385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725">
                <a:solidFill>
                  <a:srgbClr val="01416B"/>
                </a:solidFill>
                <a:latin typeface="Arial"/>
                <a:ea typeface="Arial"/>
                <a:cs typeface="Arial"/>
                <a:sym typeface="Arial"/>
              </a:rPr>
              <a:t>A0–A3 benchmark</a:t>
            </a:r>
            <a:endParaRPr/>
          </a:p>
        </p:txBody>
      </p:sp>
      <p:sp>
        <p:nvSpPr>
          <p:cNvPr id="322" name="Google Shape;322;p10"/>
          <p:cNvSpPr/>
          <p:nvPr/>
        </p:nvSpPr>
        <p:spPr>
          <a:xfrm>
            <a:off x="762000" y="2190750"/>
            <a:ext cx="4800600" cy="110490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None/>
            </a:pPr>
            <a:r>
              <a:rPr b="0" lang="en-US" sz="1725">
                <a:solidFill>
                  <a:srgbClr val="2E4357"/>
                </a:solidFill>
                <a:latin typeface="Arial"/>
                <a:ea typeface="Arial"/>
                <a:cs typeface="Arial"/>
                <a:sym typeface="Arial"/>
              </a:rPr>
              <a:t>500 tickets per arm: 100 generated tickets × 5 seeds (42–46). Version: synthetic-eval-v1. The same generated cases feed all four arms.</a:t>
            </a:r>
            <a:endParaRPr/>
          </a:p>
        </p:txBody>
      </p:sp>
      <p:sp>
        <p:nvSpPr>
          <p:cNvPr id="323" name="Google Shape;323;p10"/>
          <p:cNvSpPr/>
          <p:nvPr/>
        </p:nvSpPr>
        <p:spPr>
          <a:xfrm>
            <a:off x="762000" y="3609975"/>
            <a:ext cx="3810000" cy="295275"/>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650">
                <a:solidFill>
                  <a:srgbClr val="01416B"/>
                </a:solidFill>
                <a:latin typeface="Arial"/>
                <a:ea typeface="Arial"/>
                <a:cs typeface="Arial"/>
                <a:sym typeface="Arial"/>
              </a:rPr>
              <a:t>Ticket fields</a:t>
            </a:r>
            <a:endParaRPr/>
          </a:p>
        </p:txBody>
      </p:sp>
      <p:sp>
        <p:nvSpPr>
          <p:cNvPr id="324" name="Google Shape;324;p10"/>
          <p:cNvSpPr/>
          <p:nvPr/>
        </p:nvSpPr>
        <p:spPr>
          <a:xfrm>
            <a:off x="762000" y="4019550"/>
            <a:ext cx="4762500" cy="85725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None/>
            </a:pPr>
            <a:r>
              <a:rPr b="0" lang="en-US" sz="1575">
                <a:solidFill>
                  <a:srgbClr val="2E4357"/>
                </a:solidFill>
                <a:latin typeface="Arial"/>
                <a:ea typeface="Arial"/>
                <a:cs typeface="Arial"/>
                <a:sym typeface="Arial"/>
              </a:rPr>
              <a:t>ID · title · body · component · severity · creation time · duplicate link · fault label</a:t>
            </a:r>
            <a:endParaRPr/>
          </a:p>
        </p:txBody>
      </p:sp>
      <p:sp>
        <p:nvSpPr>
          <p:cNvPr id="325" name="Google Shape;325;p10"/>
          <p:cNvSpPr/>
          <p:nvPr/>
        </p:nvSpPr>
        <p:spPr>
          <a:xfrm>
            <a:off x="5981700" y="1724025"/>
            <a:ext cx="9525" cy="3514725"/>
          </a:xfrm>
          <a:prstGeom prst="rect">
            <a:avLst/>
          </a:prstGeom>
          <a:solidFill>
            <a:srgbClr val="D7E0E9"/>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6" name="Google Shape;326;p10"/>
          <p:cNvSpPr/>
          <p:nvPr/>
        </p:nvSpPr>
        <p:spPr>
          <a:xfrm>
            <a:off x="6515100" y="1743075"/>
            <a:ext cx="4667250" cy="32385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725">
                <a:solidFill>
                  <a:srgbClr val="2F6EA3"/>
                </a:solidFill>
                <a:latin typeface="Arial"/>
                <a:ea typeface="Arial"/>
                <a:cs typeface="Arial"/>
                <a:sym typeface="Arial"/>
              </a:rPr>
              <a:t>Optional source datasets</a:t>
            </a:r>
            <a:endParaRPr/>
          </a:p>
        </p:txBody>
      </p:sp>
      <p:sp>
        <p:nvSpPr>
          <p:cNvPr id="327" name="Google Shape;327;p10"/>
          <p:cNvSpPr/>
          <p:nvPr/>
        </p:nvSpPr>
        <p:spPr>
          <a:xfrm>
            <a:off x="6515100" y="2190750"/>
            <a:ext cx="4819650" cy="1552575"/>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None/>
            </a:pPr>
            <a:r>
              <a:rPr b="0" lang="en-US" sz="1650">
                <a:solidFill>
                  <a:srgbClr val="2E4357"/>
                </a:solidFill>
                <a:latin typeface="Arial"/>
                <a:ea typeface="Arial"/>
                <a:cs typeface="Arial"/>
                <a:sym typeface="Arial"/>
              </a:rPr>
              <a:t>Loaders support GitBugs and Eclipse/Mozilla issue exports. Preprocessing masks common PII patterns, collapses repeated stack-trace lines and creates chronological 70/10/20 train, validation and test splits.</a:t>
            </a:r>
            <a:endParaRPr/>
          </a:p>
        </p:txBody>
      </p:sp>
      <p:sp>
        <p:nvSpPr>
          <p:cNvPr id="328" name="Google Shape;328;p10"/>
          <p:cNvSpPr/>
          <p:nvPr/>
        </p:nvSpPr>
        <p:spPr>
          <a:xfrm>
            <a:off x="6515100" y="4000500"/>
            <a:ext cx="3810000" cy="295275"/>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650">
                <a:solidFill>
                  <a:srgbClr val="01416B"/>
                </a:solidFill>
                <a:latin typeface="Arial"/>
                <a:ea typeface="Arial"/>
                <a:cs typeface="Arial"/>
                <a:sym typeface="Arial"/>
              </a:rPr>
              <a:t>Interpretation</a:t>
            </a:r>
            <a:endParaRPr/>
          </a:p>
        </p:txBody>
      </p:sp>
      <p:sp>
        <p:nvSpPr>
          <p:cNvPr id="329" name="Google Shape;329;p10"/>
          <p:cNvSpPr/>
          <p:nvPr/>
        </p:nvSpPr>
        <p:spPr>
          <a:xfrm>
            <a:off x="6515100" y="4400550"/>
            <a:ext cx="4838700" cy="885825"/>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None/>
            </a:pPr>
            <a:r>
              <a:rPr b="0" lang="en-US" sz="1575">
                <a:solidFill>
                  <a:srgbClr val="2E4357"/>
                </a:solidFill>
                <a:latin typeface="Arial"/>
                <a:ea typeface="Arial"/>
                <a:cs typeface="Arial"/>
                <a:sym typeface="Arial"/>
              </a:rPr>
              <a:t>Benchmark split: first 70% train, final 30% evaluate. General data loader split is 70/10/20. DORA-style outcomes are simulated; token use is estimated.</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11"/>
          <p:cNvSpPr txBox="1"/>
          <p:nvPr>
            <p:ph type="title"/>
          </p:nvPr>
        </p:nvSpPr>
        <p:spPr>
          <a:xfrm>
            <a:off x="594360" y="301752"/>
            <a:ext cx="9372600" cy="621792"/>
          </a:xfrm>
          <a:prstGeom prst="rect">
            <a:avLst/>
          </a:prstGeom>
          <a:noFill/>
          <a:ln>
            <a:noFill/>
          </a:ln>
        </p:spPr>
        <p:txBody>
          <a:bodyPr anchorCtr="0" anchor="b" bIns="0" lIns="0" spcFirstLastPara="1" rIns="0" wrap="square" tIns="0">
            <a:normAutofit/>
          </a:bodyPr>
          <a:lstStyle/>
          <a:p>
            <a:pPr indent="0" lvl="0" marL="0" rtl="0" algn="l">
              <a:lnSpc>
                <a:spcPct val="90000"/>
              </a:lnSpc>
              <a:spcBef>
                <a:spcPts val="0"/>
              </a:spcBef>
              <a:spcAft>
                <a:spcPts val="0"/>
              </a:spcAft>
              <a:buClr>
                <a:srgbClr val="01416B"/>
              </a:buClr>
              <a:buSzPts val="2800"/>
              <a:buFont typeface="Arial"/>
              <a:buNone/>
            </a:pPr>
            <a:r>
              <a:rPr b="1" lang="en-US" sz="2800"/>
              <a:t>A1–A3 improve synthetic retrieval and fault ordering</a:t>
            </a:r>
            <a:endParaRPr/>
          </a:p>
        </p:txBody>
      </p:sp>
      <p:sp>
        <p:nvSpPr>
          <p:cNvPr id="336" name="Google Shape;336;p11"/>
          <p:cNvSpPr/>
          <p:nvPr/>
        </p:nvSpPr>
        <p:spPr>
          <a:xfrm>
            <a:off x="590550" y="990600"/>
            <a:ext cx="685800" cy="47625"/>
          </a:xfrm>
          <a:prstGeom prst="rect">
            <a:avLst/>
          </a:prstGeom>
          <a:solidFill>
            <a:srgbClr val="FDD40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37" name="Google Shape;337;p11"/>
          <p:cNvSpPr/>
          <p:nvPr/>
        </p:nvSpPr>
        <p:spPr>
          <a:xfrm>
            <a:off x="590550" y="1123950"/>
            <a:ext cx="11001375" cy="34290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575">
                <a:solidFill>
                  <a:srgbClr val="617487"/>
                </a:solidFill>
                <a:latin typeface="Arial"/>
                <a:ea typeface="Arial"/>
                <a:cs typeface="Arial"/>
                <a:sym typeface="Arial"/>
              </a:rPr>
              <a:t>Run cited in the report · 500 generated tickets per arm · host timings are only workload proxies</a:t>
            </a:r>
            <a:endParaRPr/>
          </a:p>
        </p:txBody>
      </p:sp>
      <p:sp>
        <p:nvSpPr>
          <p:cNvPr id="338" name="Google Shape;338;p11"/>
          <p:cNvSpPr/>
          <p:nvPr/>
        </p:nvSpPr>
        <p:spPr>
          <a:xfrm>
            <a:off x="762000" y="1714500"/>
            <a:ext cx="2000250" cy="30480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500">
                <a:solidFill>
                  <a:srgbClr val="617487"/>
                </a:solidFill>
                <a:latin typeface="Arial"/>
                <a:ea typeface="Arial"/>
                <a:cs typeface="Arial"/>
                <a:sym typeface="Arial"/>
              </a:rPr>
              <a:t>Metric</a:t>
            </a:r>
            <a:endParaRPr/>
          </a:p>
        </p:txBody>
      </p:sp>
      <p:sp>
        <p:nvSpPr>
          <p:cNvPr id="339" name="Google Shape;339;p11"/>
          <p:cNvSpPr/>
          <p:nvPr/>
        </p:nvSpPr>
        <p:spPr>
          <a:xfrm>
            <a:off x="2933700" y="1714500"/>
            <a:ext cx="1714500" cy="30480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500">
                <a:solidFill>
                  <a:srgbClr val="01416B"/>
                </a:solidFill>
                <a:latin typeface="Arial"/>
                <a:ea typeface="Arial"/>
                <a:cs typeface="Arial"/>
                <a:sym typeface="Arial"/>
              </a:rPr>
              <a:t>A0</a:t>
            </a:r>
            <a:endParaRPr/>
          </a:p>
        </p:txBody>
      </p:sp>
      <p:sp>
        <p:nvSpPr>
          <p:cNvPr id="340" name="Google Shape;340;p11"/>
          <p:cNvSpPr/>
          <p:nvPr/>
        </p:nvSpPr>
        <p:spPr>
          <a:xfrm>
            <a:off x="4905375" y="1714500"/>
            <a:ext cx="1714500" cy="30480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500">
                <a:solidFill>
                  <a:srgbClr val="01416B"/>
                </a:solidFill>
                <a:latin typeface="Arial"/>
                <a:ea typeface="Arial"/>
                <a:cs typeface="Arial"/>
                <a:sym typeface="Arial"/>
              </a:rPr>
              <a:t>A1</a:t>
            </a:r>
            <a:endParaRPr/>
          </a:p>
        </p:txBody>
      </p:sp>
      <p:sp>
        <p:nvSpPr>
          <p:cNvPr id="341" name="Google Shape;341;p11"/>
          <p:cNvSpPr/>
          <p:nvPr/>
        </p:nvSpPr>
        <p:spPr>
          <a:xfrm>
            <a:off x="7000875" y="1714500"/>
            <a:ext cx="1714500" cy="30480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500">
                <a:solidFill>
                  <a:srgbClr val="01416B"/>
                </a:solidFill>
                <a:latin typeface="Arial"/>
                <a:ea typeface="Arial"/>
                <a:cs typeface="Arial"/>
                <a:sym typeface="Arial"/>
              </a:rPr>
              <a:t>A2</a:t>
            </a:r>
            <a:endParaRPr/>
          </a:p>
        </p:txBody>
      </p:sp>
      <p:sp>
        <p:nvSpPr>
          <p:cNvPr id="342" name="Google Shape;342;p11"/>
          <p:cNvSpPr/>
          <p:nvPr/>
        </p:nvSpPr>
        <p:spPr>
          <a:xfrm>
            <a:off x="9067800" y="1714500"/>
            <a:ext cx="1714500" cy="30480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500">
                <a:solidFill>
                  <a:srgbClr val="01416B"/>
                </a:solidFill>
                <a:latin typeface="Arial"/>
                <a:ea typeface="Arial"/>
                <a:cs typeface="Arial"/>
                <a:sym typeface="Arial"/>
              </a:rPr>
              <a:t>A3</a:t>
            </a:r>
            <a:endParaRPr/>
          </a:p>
        </p:txBody>
      </p:sp>
      <p:sp>
        <p:nvSpPr>
          <p:cNvPr id="343" name="Google Shape;343;p11"/>
          <p:cNvSpPr/>
          <p:nvPr/>
        </p:nvSpPr>
        <p:spPr>
          <a:xfrm>
            <a:off x="762000" y="2076450"/>
            <a:ext cx="10648950" cy="19050"/>
          </a:xfrm>
          <a:prstGeom prst="rect">
            <a:avLst/>
          </a:prstGeom>
          <a:solidFill>
            <a:srgbClr val="D7E0E9"/>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44" name="Google Shape;344;p11"/>
          <p:cNvSpPr/>
          <p:nvPr/>
        </p:nvSpPr>
        <p:spPr>
          <a:xfrm>
            <a:off x="762000" y="2171700"/>
            <a:ext cx="2000250" cy="371475"/>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350">
                <a:solidFill>
                  <a:srgbClr val="01416B"/>
                </a:solidFill>
                <a:latin typeface="Arial"/>
                <a:ea typeface="Arial"/>
                <a:cs typeface="Arial"/>
                <a:sym typeface="Arial"/>
              </a:rPr>
              <a:t>Mean wall time / ticket</a:t>
            </a:r>
            <a:endParaRPr/>
          </a:p>
        </p:txBody>
      </p:sp>
      <p:sp>
        <p:nvSpPr>
          <p:cNvPr id="345" name="Google Shape;345;p11"/>
          <p:cNvSpPr/>
          <p:nvPr/>
        </p:nvSpPr>
        <p:spPr>
          <a:xfrm>
            <a:off x="2933700" y="2171700"/>
            <a:ext cx="1714500" cy="371475"/>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425">
                <a:solidFill>
                  <a:srgbClr val="2E4357"/>
                </a:solidFill>
                <a:latin typeface="Arial"/>
                <a:ea typeface="Arial"/>
                <a:cs typeface="Arial"/>
                <a:sym typeface="Arial"/>
              </a:rPr>
              <a:t>0.102 ms</a:t>
            </a:r>
            <a:endParaRPr/>
          </a:p>
        </p:txBody>
      </p:sp>
      <p:sp>
        <p:nvSpPr>
          <p:cNvPr id="346" name="Google Shape;346;p11"/>
          <p:cNvSpPr/>
          <p:nvPr/>
        </p:nvSpPr>
        <p:spPr>
          <a:xfrm>
            <a:off x="4905375" y="2171700"/>
            <a:ext cx="1714500" cy="371475"/>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425">
                <a:solidFill>
                  <a:srgbClr val="2E4357"/>
                </a:solidFill>
                <a:latin typeface="Arial"/>
                <a:ea typeface="Arial"/>
                <a:cs typeface="Arial"/>
                <a:sym typeface="Arial"/>
              </a:rPr>
              <a:t>0.155 ms</a:t>
            </a:r>
            <a:endParaRPr/>
          </a:p>
        </p:txBody>
      </p:sp>
      <p:sp>
        <p:nvSpPr>
          <p:cNvPr id="347" name="Google Shape;347;p11"/>
          <p:cNvSpPr/>
          <p:nvPr/>
        </p:nvSpPr>
        <p:spPr>
          <a:xfrm>
            <a:off x="7000875" y="2171700"/>
            <a:ext cx="1714500" cy="371475"/>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425">
                <a:solidFill>
                  <a:srgbClr val="2E4357"/>
                </a:solidFill>
                <a:latin typeface="Arial"/>
                <a:ea typeface="Arial"/>
                <a:cs typeface="Arial"/>
                <a:sym typeface="Arial"/>
              </a:rPr>
              <a:t>0.184 ms</a:t>
            </a:r>
            <a:endParaRPr/>
          </a:p>
        </p:txBody>
      </p:sp>
      <p:sp>
        <p:nvSpPr>
          <p:cNvPr id="348" name="Google Shape;348;p11"/>
          <p:cNvSpPr/>
          <p:nvPr/>
        </p:nvSpPr>
        <p:spPr>
          <a:xfrm>
            <a:off x="9067800" y="2171700"/>
            <a:ext cx="1714500" cy="371475"/>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425">
                <a:solidFill>
                  <a:srgbClr val="2E4357"/>
                </a:solidFill>
                <a:latin typeface="Arial"/>
                <a:ea typeface="Arial"/>
                <a:cs typeface="Arial"/>
                <a:sym typeface="Arial"/>
              </a:rPr>
              <a:t>0.198 ms</a:t>
            </a:r>
            <a:endParaRPr/>
          </a:p>
        </p:txBody>
      </p:sp>
      <p:sp>
        <p:nvSpPr>
          <p:cNvPr id="349" name="Google Shape;349;p11"/>
          <p:cNvSpPr/>
          <p:nvPr/>
        </p:nvSpPr>
        <p:spPr>
          <a:xfrm>
            <a:off x="762000" y="2571750"/>
            <a:ext cx="10648950" cy="9525"/>
          </a:xfrm>
          <a:prstGeom prst="rect">
            <a:avLst/>
          </a:prstGeom>
          <a:solidFill>
            <a:srgbClr val="D7E0E9"/>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50" name="Google Shape;350;p11"/>
          <p:cNvSpPr/>
          <p:nvPr/>
        </p:nvSpPr>
        <p:spPr>
          <a:xfrm>
            <a:off x="762000" y="2638425"/>
            <a:ext cx="2000250" cy="371475"/>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350">
                <a:solidFill>
                  <a:srgbClr val="01416B"/>
                </a:solidFill>
                <a:latin typeface="Arial"/>
                <a:ea typeface="Arial"/>
                <a:cs typeface="Arial"/>
                <a:sym typeface="Arial"/>
              </a:rPr>
              <a:t>Network bytes / ticket</a:t>
            </a:r>
            <a:endParaRPr/>
          </a:p>
        </p:txBody>
      </p:sp>
      <p:sp>
        <p:nvSpPr>
          <p:cNvPr id="351" name="Google Shape;351;p11"/>
          <p:cNvSpPr/>
          <p:nvPr/>
        </p:nvSpPr>
        <p:spPr>
          <a:xfrm>
            <a:off x="2933700" y="2638425"/>
            <a:ext cx="1714500" cy="371475"/>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425">
                <a:solidFill>
                  <a:srgbClr val="2E4357"/>
                </a:solidFill>
                <a:latin typeface="Arial"/>
                <a:ea typeface="Arial"/>
                <a:cs typeface="Arial"/>
                <a:sym typeface="Arial"/>
              </a:rPr>
              <a:t>0</a:t>
            </a:r>
            <a:endParaRPr/>
          </a:p>
        </p:txBody>
      </p:sp>
      <p:sp>
        <p:nvSpPr>
          <p:cNvPr id="352" name="Google Shape;352;p11"/>
          <p:cNvSpPr/>
          <p:nvPr/>
        </p:nvSpPr>
        <p:spPr>
          <a:xfrm>
            <a:off x="4905375" y="2638425"/>
            <a:ext cx="1714500" cy="371475"/>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425">
                <a:solidFill>
                  <a:srgbClr val="2E4357"/>
                </a:solidFill>
                <a:latin typeface="Arial"/>
                <a:ea typeface="Arial"/>
                <a:cs typeface="Arial"/>
                <a:sym typeface="Arial"/>
              </a:rPr>
              <a:t>1,778</a:t>
            </a:r>
            <a:endParaRPr/>
          </a:p>
        </p:txBody>
      </p:sp>
      <p:sp>
        <p:nvSpPr>
          <p:cNvPr id="353" name="Google Shape;353;p11"/>
          <p:cNvSpPr/>
          <p:nvPr/>
        </p:nvSpPr>
        <p:spPr>
          <a:xfrm>
            <a:off x="7000875" y="2638425"/>
            <a:ext cx="1714500" cy="371475"/>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425">
                <a:solidFill>
                  <a:srgbClr val="2E4357"/>
                </a:solidFill>
                <a:latin typeface="Arial"/>
                <a:ea typeface="Arial"/>
                <a:cs typeface="Arial"/>
                <a:sym typeface="Arial"/>
              </a:rPr>
              <a:t>3,556</a:t>
            </a:r>
            <a:endParaRPr/>
          </a:p>
        </p:txBody>
      </p:sp>
      <p:sp>
        <p:nvSpPr>
          <p:cNvPr id="354" name="Google Shape;354;p11"/>
          <p:cNvSpPr/>
          <p:nvPr/>
        </p:nvSpPr>
        <p:spPr>
          <a:xfrm>
            <a:off x="9067800" y="2638425"/>
            <a:ext cx="1714500" cy="371475"/>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425">
                <a:solidFill>
                  <a:srgbClr val="2E4357"/>
                </a:solidFill>
                <a:latin typeface="Arial"/>
                <a:ea typeface="Arial"/>
                <a:cs typeface="Arial"/>
                <a:sym typeface="Arial"/>
              </a:rPr>
              <a:t>4,161</a:t>
            </a:r>
            <a:endParaRPr/>
          </a:p>
        </p:txBody>
      </p:sp>
      <p:sp>
        <p:nvSpPr>
          <p:cNvPr id="355" name="Google Shape;355;p11"/>
          <p:cNvSpPr/>
          <p:nvPr/>
        </p:nvSpPr>
        <p:spPr>
          <a:xfrm>
            <a:off x="762000" y="3038475"/>
            <a:ext cx="10648950" cy="9525"/>
          </a:xfrm>
          <a:prstGeom prst="rect">
            <a:avLst/>
          </a:prstGeom>
          <a:solidFill>
            <a:srgbClr val="D7E0E9"/>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56" name="Google Shape;356;p11"/>
          <p:cNvSpPr/>
          <p:nvPr/>
        </p:nvSpPr>
        <p:spPr>
          <a:xfrm>
            <a:off x="762000" y="3105150"/>
            <a:ext cx="2000250" cy="371475"/>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350">
                <a:solidFill>
                  <a:srgbClr val="01416B"/>
                </a:solidFill>
                <a:latin typeface="Arial"/>
                <a:ea typeface="Arial"/>
                <a:cs typeface="Arial"/>
                <a:sym typeface="Arial"/>
              </a:rPr>
              <a:t>Duplicate Recall@5</a:t>
            </a:r>
            <a:endParaRPr/>
          </a:p>
        </p:txBody>
      </p:sp>
      <p:sp>
        <p:nvSpPr>
          <p:cNvPr id="357" name="Google Shape;357;p11"/>
          <p:cNvSpPr/>
          <p:nvPr/>
        </p:nvSpPr>
        <p:spPr>
          <a:xfrm>
            <a:off x="2933700" y="3105150"/>
            <a:ext cx="1714500" cy="371475"/>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425">
                <a:solidFill>
                  <a:srgbClr val="2E4357"/>
                </a:solidFill>
                <a:latin typeface="Arial"/>
                <a:ea typeface="Arial"/>
                <a:cs typeface="Arial"/>
                <a:sym typeface="Arial"/>
              </a:rPr>
              <a:t>0.429</a:t>
            </a:r>
            <a:endParaRPr/>
          </a:p>
        </p:txBody>
      </p:sp>
      <p:sp>
        <p:nvSpPr>
          <p:cNvPr id="358" name="Google Shape;358;p11"/>
          <p:cNvSpPr/>
          <p:nvPr/>
        </p:nvSpPr>
        <p:spPr>
          <a:xfrm>
            <a:off x="4905375" y="3105150"/>
            <a:ext cx="1714500" cy="371475"/>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425">
                <a:solidFill>
                  <a:srgbClr val="2E4357"/>
                </a:solidFill>
                <a:latin typeface="Arial"/>
                <a:ea typeface="Arial"/>
                <a:cs typeface="Arial"/>
                <a:sym typeface="Arial"/>
              </a:rPr>
              <a:t>1.000</a:t>
            </a:r>
            <a:endParaRPr/>
          </a:p>
        </p:txBody>
      </p:sp>
      <p:sp>
        <p:nvSpPr>
          <p:cNvPr id="359" name="Google Shape;359;p11"/>
          <p:cNvSpPr/>
          <p:nvPr/>
        </p:nvSpPr>
        <p:spPr>
          <a:xfrm>
            <a:off x="7000875" y="3105150"/>
            <a:ext cx="1714500" cy="371475"/>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425">
                <a:solidFill>
                  <a:srgbClr val="2E4357"/>
                </a:solidFill>
                <a:latin typeface="Arial"/>
                <a:ea typeface="Arial"/>
                <a:cs typeface="Arial"/>
                <a:sym typeface="Arial"/>
              </a:rPr>
              <a:t>1.000</a:t>
            </a:r>
            <a:endParaRPr/>
          </a:p>
        </p:txBody>
      </p:sp>
      <p:sp>
        <p:nvSpPr>
          <p:cNvPr id="360" name="Google Shape;360;p11"/>
          <p:cNvSpPr/>
          <p:nvPr/>
        </p:nvSpPr>
        <p:spPr>
          <a:xfrm>
            <a:off x="9067800" y="3105150"/>
            <a:ext cx="1714500" cy="371475"/>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425">
                <a:solidFill>
                  <a:srgbClr val="2E4357"/>
                </a:solidFill>
                <a:latin typeface="Arial"/>
                <a:ea typeface="Arial"/>
                <a:cs typeface="Arial"/>
                <a:sym typeface="Arial"/>
              </a:rPr>
              <a:t>1.000</a:t>
            </a:r>
            <a:endParaRPr/>
          </a:p>
        </p:txBody>
      </p:sp>
      <p:sp>
        <p:nvSpPr>
          <p:cNvPr id="361" name="Google Shape;361;p11"/>
          <p:cNvSpPr/>
          <p:nvPr/>
        </p:nvSpPr>
        <p:spPr>
          <a:xfrm>
            <a:off x="762000" y="3505200"/>
            <a:ext cx="10648950" cy="9525"/>
          </a:xfrm>
          <a:prstGeom prst="rect">
            <a:avLst/>
          </a:prstGeom>
          <a:solidFill>
            <a:srgbClr val="D7E0E9"/>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2" name="Google Shape;362;p11"/>
          <p:cNvSpPr/>
          <p:nvPr/>
        </p:nvSpPr>
        <p:spPr>
          <a:xfrm>
            <a:off x="762000" y="3571875"/>
            <a:ext cx="2000250" cy="371475"/>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350">
                <a:solidFill>
                  <a:srgbClr val="01416B"/>
                </a:solidFill>
                <a:latin typeface="Arial"/>
                <a:ea typeface="Arial"/>
                <a:cs typeface="Arial"/>
                <a:sym typeface="Arial"/>
              </a:rPr>
              <a:t>Duplicate MAP</a:t>
            </a:r>
            <a:endParaRPr/>
          </a:p>
        </p:txBody>
      </p:sp>
      <p:sp>
        <p:nvSpPr>
          <p:cNvPr id="363" name="Google Shape;363;p11"/>
          <p:cNvSpPr/>
          <p:nvPr/>
        </p:nvSpPr>
        <p:spPr>
          <a:xfrm>
            <a:off x="2933700" y="3571875"/>
            <a:ext cx="1714500" cy="371475"/>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425">
                <a:solidFill>
                  <a:srgbClr val="2E4357"/>
                </a:solidFill>
                <a:latin typeface="Arial"/>
                <a:ea typeface="Arial"/>
                <a:cs typeface="Arial"/>
                <a:sym typeface="Arial"/>
              </a:rPr>
              <a:t>0.242</a:t>
            </a:r>
            <a:endParaRPr/>
          </a:p>
        </p:txBody>
      </p:sp>
      <p:sp>
        <p:nvSpPr>
          <p:cNvPr id="364" name="Google Shape;364;p11"/>
          <p:cNvSpPr/>
          <p:nvPr/>
        </p:nvSpPr>
        <p:spPr>
          <a:xfrm>
            <a:off x="4905375" y="3571875"/>
            <a:ext cx="1714500" cy="371475"/>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425">
                <a:solidFill>
                  <a:srgbClr val="2E4357"/>
                </a:solidFill>
                <a:latin typeface="Arial"/>
                <a:ea typeface="Arial"/>
                <a:cs typeface="Arial"/>
                <a:sym typeface="Arial"/>
              </a:rPr>
              <a:t>0.680</a:t>
            </a:r>
            <a:endParaRPr/>
          </a:p>
        </p:txBody>
      </p:sp>
      <p:sp>
        <p:nvSpPr>
          <p:cNvPr id="365" name="Google Shape;365;p11"/>
          <p:cNvSpPr/>
          <p:nvPr/>
        </p:nvSpPr>
        <p:spPr>
          <a:xfrm>
            <a:off x="7000875" y="3571875"/>
            <a:ext cx="1714500" cy="371475"/>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425">
                <a:solidFill>
                  <a:srgbClr val="2E4357"/>
                </a:solidFill>
                <a:latin typeface="Arial"/>
                <a:ea typeface="Arial"/>
                <a:cs typeface="Arial"/>
                <a:sym typeface="Arial"/>
              </a:rPr>
              <a:t>0.687</a:t>
            </a:r>
            <a:endParaRPr/>
          </a:p>
        </p:txBody>
      </p:sp>
      <p:sp>
        <p:nvSpPr>
          <p:cNvPr id="366" name="Google Shape;366;p11"/>
          <p:cNvSpPr/>
          <p:nvPr/>
        </p:nvSpPr>
        <p:spPr>
          <a:xfrm>
            <a:off x="9067800" y="3571875"/>
            <a:ext cx="1714500" cy="371475"/>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425">
                <a:solidFill>
                  <a:srgbClr val="2E4357"/>
                </a:solidFill>
                <a:latin typeface="Arial"/>
                <a:ea typeface="Arial"/>
                <a:cs typeface="Arial"/>
                <a:sym typeface="Arial"/>
              </a:rPr>
              <a:t>0.685</a:t>
            </a:r>
            <a:endParaRPr/>
          </a:p>
        </p:txBody>
      </p:sp>
      <p:sp>
        <p:nvSpPr>
          <p:cNvPr id="367" name="Google Shape;367;p11"/>
          <p:cNvSpPr/>
          <p:nvPr/>
        </p:nvSpPr>
        <p:spPr>
          <a:xfrm>
            <a:off x="762000" y="3971925"/>
            <a:ext cx="10648950" cy="9525"/>
          </a:xfrm>
          <a:prstGeom prst="rect">
            <a:avLst/>
          </a:prstGeom>
          <a:solidFill>
            <a:srgbClr val="D7E0E9"/>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8" name="Google Shape;368;p11"/>
          <p:cNvSpPr/>
          <p:nvPr/>
        </p:nvSpPr>
        <p:spPr>
          <a:xfrm>
            <a:off x="762000" y="4038600"/>
            <a:ext cx="2000250" cy="371475"/>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350">
                <a:solidFill>
                  <a:srgbClr val="01416B"/>
                </a:solidFill>
                <a:latin typeface="Arial"/>
                <a:ea typeface="Arial"/>
                <a:cs typeface="Arial"/>
                <a:sym typeface="Arial"/>
              </a:rPr>
              <a:t>Severity macro-F1</a:t>
            </a:r>
            <a:endParaRPr/>
          </a:p>
        </p:txBody>
      </p:sp>
      <p:sp>
        <p:nvSpPr>
          <p:cNvPr id="369" name="Google Shape;369;p11"/>
          <p:cNvSpPr/>
          <p:nvPr/>
        </p:nvSpPr>
        <p:spPr>
          <a:xfrm>
            <a:off x="2933700" y="4038600"/>
            <a:ext cx="1714500" cy="371475"/>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425">
                <a:solidFill>
                  <a:srgbClr val="2E4357"/>
                </a:solidFill>
                <a:latin typeface="Arial"/>
                <a:ea typeface="Arial"/>
                <a:cs typeface="Arial"/>
                <a:sym typeface="Arial"/>
              </a:rPr>
              <a:t>1.000</a:t>
            </a:r>
            <a:endParaRPr/>
          </a:p>
        </p:txBody>
      </p:sp>
      <p:sp>
        <p:nvSpPr>
          <p:cNvPr id="370" name="Google Shape;370;p11"/>
          <p:cNvSpPr/>
          <p:nvPr/>
        </p:nvSpPr>
        <p:spPr>
          <a:xfrm>
            <a:off x="4905375" y="4038600"/>
            <a:ext cx="1714500" cy="371475"/>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425">
                <a:solidFill>
                  <a:srgbClr val="2E4357"/>
                </a:solidFill>
                <a:latin typeface="Arial"/>
                <a:ea typeface="Arial"/>
                <a:cs typeface="Arial"/>
                <a:sym typeface="Arial"/>
              </a:rPr>
              <a:t>1.000</a:t>
            </a:r>
            <a:endParaRPr/>
          </a:p>
        </p:txBody>
      </p:sp>
      <p:sp>
        <p:nvSpPr>
          <p:cNvPr id="371" name="Google Shape;371;p11"/>
          <p:cNvSpPr/>
          <p:nvPr/>
        </p:nvSpPr>
        <p:spPr>
          <a:xfrm>
            <a:off x="7000875" y="4038600"/>
            <a:ext cx="1714500" cy="371475"/>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425">
                <a:solidFill>
                  <a:srgbClr val="2E4357"/>
                </a:solidFill>
                <a:latin typeface="Arial"/>
                <a:ea typeface="Arial"/>
                <a:cs typeface="Arial"/>
                <a:sym typeface="Arial"/>
              </a:rPr>
              <a:t>1.000</a:t>
            </a:r>
            <a:endParaRPr/>
          </a:p>
        </p:txBody>
      </p:sp>
      <p:sp>
        <p:nvSpPr>
          <p:cNvPr id="372" name="Google Shape;372;p11"/>
          <p:cNvSpPr/>
          <p:nvPr/>
        </p:nvSpPr>
        <p:spPr>
          <a:xfrm>
            <a:off x="9067800" y="4038600"/>
            <a:ext cx="1714500" cy="371475"/>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425">
                <a:solidFill>
                  <a:srgbClr val="2E4357"/>
                </a:solidFill>
                <a:latin typeface="Arial"/>
                <a:ea typeface="Arial"/>
                <a:cs typeface="Arial"/>
                <a:sym typeface="Arial"/>
              </a:rPr>
              <a:t>1.000</a:t>
            </a:r>
            <a:endParaRPr/>
          </a:p>
        </p:txBody>
      </p:sp>
      <p:sp>
        <p:nvSpPr>
          <p:cNvPr id="373" name="Google Shape;373;p11"/>
          <p:cNvSpPr/>
          <p:nvPr/>
        </p:nvSpPr>
        <p:spPr>
          <a:xfrm>
            <a:off x="762000" y="4438650"/>
            <a:ext cx="10648950" cy="9525"/>
          </a:xfrm>
          <a:prstGeom prst="rect">
            <a:avLst/>
          </a:prstGeom>
          <a:solidFill>
            <a:srgbClr val="D7E0E9"/>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74" name="Google Shape;374;p11"/>
          <p:cNvSpPr/>
          <p:nvPr/>
        </p:nvSpPr>
        <p:spPr>
          <a:xfrm>
            <a:off x="762000" y="4505325"/>
            <a:ext cx="2000250" cy="371475"/>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350">
                <a:solidFill>
                  <a:srgbClr val="01416B"/>
                </a:solidFill>
                <a:latin typeface="Arial"/>
                <a:ea typeface="Arial"/>
                <a:cs typeface="Arial"/>
                <a:sym typeface="Arial"/>
              </a:rPr>
              <a:t>Fault ordering NAPFD</a:t>
            </a:r>
            <a:endParaRPr/>
          </a:p>
        </p:txBody>
      </p:sp>
      <p:sp>
        <p:nvSpPr>
          <p:cNvPr id="375" name="Google Shape;375;p11"/>
          <p:cNvSpPr/>
          <p:nvPr/>
        </p:nvSpPr>
        <p:spPr>
          <a:xfrm>
            <a:off x="2933700" y="4505325"/>
            <a:ext cx="1714500" cy="371475"/>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425">
                <a:solidFill>
                  <a:srgbClr val="2E4357"/>
                </a:solidFill>
                <a:latin typeface="Arial"/>
                <a:ea typeface="Arial"/>
                <a:cs typeface="Arial"/>
                <a:sym typeface="Arial"/>
              </a:rPr>
              <a:t>0.490</a:t>
            </a:r>
            <a:endParaRPr/>
          </a:p>
        </p:txBody>
      </p:sp>
      <p:sp>
        <p:nvSpPr>
          <p:cNvPr id="376" name="Google Shape;376;p11"/>
          <p:cNvSpPr/>
          <p:nvPr/>
        </p:nvSpPr>
        <p:spPr>
          <a:xfrm>
            <a:off x="4905375" y="4505325"/>
            <a:ext cx="1714500" cy="371475"/>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425">
                <a:solidFill>
                  <a:srgbClr val="2E4357"/>
                </a:solidFill>
                <a:latin typeface="Arial"/>
                <a:ea typeface="Arial"/>
                <a:cs typeface="Arial"/>
                <a:sym typeface="Arial"/>
              </a:rPr>
              <a:t>0.750</a:t>
            </a:r>
            <a:endParaRPr/>
          </a:p>
        </p:txBody>
      </p:sp>
      <p:sp>
        <p:nvSpPr>
          <p:cNvPr id="377" name="Google Shape;377;p11"/>
          <p:cNvSpPr/>
          <p:nvPr/>
        </p:nvSpPr>
        <p:spPr>
          <a:xfrm>
            <a:off x="7000875" y="4505325"/>
            <a:ext cx="1714500" cy="371475"/>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425">
                <a:solidFill>
                  <a:srgbClr val="2E4357"/>
                </a:solidFill>
                <a:latin typeface="Arial"/>
                <a:ea typeface="Arial"/>
                <a:cs typeface="Arial"/>
                <a:sym typeface="Arial"/>
              </a:rPr>
              <a:t>0.750</a:t>
            </a:r>
            <a:endParaRPr/>
          </a:p>
        </p:txBody>
      </p:sp>
      <p:sp>
        <p:nvSpPr>
          <p:cNvPr id="378" name="Google Shape;378;p11"/>
          <p:cNvSpPr/>
          <p:nvPr/>
        </p:nvSpPr>
        <p:spPr>
          <a:xfrm>
            <a:off x="9067800" y="4505325"/>
            <a:ext cx="1714500" cy="371475"/>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425">
                <a:solidFill>
                  <a:srgbClr val="2E4357"/>
                </a:solidFill>
                <a:latin typeface="Arial"/>
                <a:ea typeface="Arial"/>
                <a:cs typeface="Arial"/>
                <a:sym typeface="Arial"/>
              </a:rPr>
              <a:t>0.750</a:t>
            </a:r>
            <a:endParaRPr/>
          </a:p>
        </p:txBody>
      </p:sp>
      <p:sp>
        <p:nvSpPr>
          <p:cNvPr id="379" name="Google Shape;379;p11"/>
          <p:cNvSpPr/>
          <p:nvPr/>
        </p:nvSpPr>
        <p:spPr>
          <a:xfrm>
            <a:off x="762000" y="4905375"/>
            <a:ext cx="10648950" cy="9525"/>
          </a:xfrm>
          <a:prstGeom prst="rect">
            <a:avLst/>
          </a:prstGeom>
          <a:solidFill>
            <a:srgbClr val="D7E0E9"/>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80" name="Google Shape;380;p11"/>
          <p:cNvSpPr/>
          <p:nvPr/>
        </p:nvSpPr>
        <p:spPr>
          <a:xfrm>
            <a:off x="762000" y="4972050"/>
            <a:ext cx="2000250" cy="371475"/>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350">
                <a:solidFill>
                  <a:srgbClr val="01416B"/>
                </a:solidFill>
                <a:latin typeface="Arial"/>
                <a:ea typeface="Arial"/>
                <a:cs typeface="Arial"/>
                <a:sym typeface="Arial"/>
              </a:rPr>
              <a:t>Simulated rollback rate</a:t>
            </a:r>
            <a:endParaRPr/>
          </a:p>
        </p:txBody>
      </p:sp>
      <p:sp>
        <p:nvSpPr>
          <p:cNvPr id="381" name="Google Shape;381;p11"/>
          <p:cNvSpPr/>
          <p:nvPr/>
        </p:nvSpPr>
        <p:spPr>
          <a:xfrm>
            <a:off x="2933700" y="4972050"/>
            <a:ext cx="1714500" cy="371475"/>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425">
                <a:solidFill>
                  <a:srgbClr val="2E4357"/>
                </a:solidFill>
                <a:latin typeface="Arial"/>
                <a:ea typeface="Arial"/>
                <a:cs typeface="Arial"/>
                <a:sym typeface="Arial"/>
              </a:rPr>
              <a:t>5.6%</a:t>
            </a:r>
            <a:endParaRPr/>
          </a:p>
        </p:txBody>
      </p:sp>
      <p:sp>
        <p:nvSpPr>
          <p:cNvPr id="382" name="Google Shape;382;p11"/>
          <p:cNvSpPr/>
          <p:nvPr/>
        </p:nvSpPr>
        <p:spPr>
          <a:xfrm>
            <a:off x="4905375" y="4972050"/>
            <a:ext cx="1714500" cy="371475"/>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425">
                <a:solidFill>
                  <a:srgbClr val="2E4357"/>
                </a:solidFill>
                <a:latin typeface="Arial"/>
                <a:ea typeface="Arial"/>
                <a:cs typeface="Arial"/>
                <a:sym typeface="Arial"/>
              </a:rPr>
              <a:t>5.4%</a:t>
            </a:r>
            <a:endParaRPr/>
          </a:p>
        </p:txBody>
      </p:sp>
      <p:sp>
        <p:nvSpPr>
          <p:cNvPr id="383" name="Google Shape;383;p11"/>
          <p:cNvSpPr/>
          <p:nvPr/>
        </p:nvSpPr>
        <p:spPr>
          <a:xfrm>
            <a:off x="7000875" y="4972050"/>
            <a:ext cx="1714500" cy="371475"/>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425">
                <a:solidFill>
                  <a:srgbClr val="2E4357"/>
                </a:solidFill>
                <a:latin typeface="Arial"/>
                <a:ea typeface="Arial"/>
                <a:cs typeface="Arial"/>
                <a:sym typeface="Arial"/>
              </a:rPr>
              <a:t>5.8%</a:t>
            </a:r>
            <a:endParaRPr/>
          </a:p>
        </p:txBody>
      </p:sp>
      <p:sp>
        <p:nvSpPr>
          <p:cNvPr id="384" name="Google Shape;384;p11"/>
          <p:cNvSpPr/>
          <p:nvPr/>
        </p:nvSpPr>
        <p:spPr>
          <a:xfrm>
            <a:off x="9067800" y="4972050"/>
            <a:ext cx="1714500" cy="371475"/>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425">
                <a:solidFill>
                  <a:srgbClr val="2E4357"/>
                </a:solidFill>
                <a:latin typeface="Arial"/>
                <a:ea typeface="Arial"/>
                <a:cs typeface="Arial"/>
                <a:sym typeface="Arial"/>
              </a:rPr>
              <a:t>7.4%</a:t>
            </a:r>
            <a:endParaRPr/>
          </a:p>
        </p:txBody>
      </p:sp>
      <p:sp>
        <p:nvSpPr>
          <p:cNvPr id="385" name="Google Shape;385;p11"/>
          <p:cNvSpPr/>
          <p:nvPr/>
        </p:nvSpPr>
        <p:spPr>
          <a:xfrm>
            <a:off x="762000" y="5543550"/>
            <a:ext cx="10648950" cy="552450"/>
          </a:xfrm>
          <a:prstGeom prst="roundRect">
            <a:avLst>
              <a:gd fmla="val 20690" name="adj"/>
            </a:avLst>
          </a:prstGeom>
          <a:solidFill>
            <a:srgbClr val="E6EEF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86" name="Google Shape;386;p11"/>
          <p:cNvSpPr/>
          <p:nvPr/>
        </p:nvSpPr>
        <p:spPr>
          <a:xfrm>
            <a:off x="923925" y="5638800"/>
            <a:ext cx="10287000" cy="36195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425">
                <a:solidFill>
                  <a:srgbClr val="01416B"/>
                </a:solidFill>
                <a:latin typeface="Arial"/>
                <a:ea typeface="Arial"/>
                <a:cs typeface="Arial"/>
                <a:sym typeface="Arial"/>
              </a:rPr>
              <a:t>A3 adds the most bytes and has the highest rollback rate. All arms reach F1 = 1.0 on distinctive synthetic labels.</a:t>
            </a:r>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94;p6"/>
          <p:cNvSpPr txBox="1"/>
          <p:nvPr>
            <p:ph type="title"/>
          </p:nvPr>
        </p:nvSpPr>
        <p:spPr>
          <a:xfrm>
            <a:off x="594360" y="301752"/>
            <a:ext cx="9372600" cy="621792"/>
          </a:xfrm>
          <a:prstGeom prst="rect">
            <a:avLst/>
          </a:prstGeom>
          <a:noFill/>
          <a:ln>
            <a:noFill/>
          </a:ln>
        </p:spPr>
        <p:txBody>
          <a:bodyPr anchorCtr="0" anchor="b" bIns="0" lIns="0" spcFirstLastPara="1" rIns="0" wrap="square" tIns="0">
            <a:normAutofit/>
          </a:bodyPr>
          <a:lstStyle/>
          <a:p>
            <a:pPr indent="0" lvl="0" marL="0" rtl="0" algn="l">
              <a:lnSpc>
                <a:spcPct val="90000"/>
              </a:lnSpc>
              <a:spcBef>
                <a:spcPts val="0"/>
              </a:spcBef>
              <a:spcAft>
                <a:spcPts val="0"/>
              </a:spcAft>
              <a:buClr>
                <a:srgbClr val="01416B"/>
              </a:buClr>
              <a:buSzPts val="2800"/>
              <a:buFont typeface="Arial"/>
              <a:buNone/>
            </a:pPr>
            <a:r>
              <a:rPr b="1" lang="en-US" sz="2800"/>
              <a:t>Results at a glance</a:t>
            </a:r>
            <a:endParaRPr/>
          </a:p>
        </p:txBody>
      </p:sp>
      <p:sp>
        <p:nvSpPr>
          <p:cNvPr id="3" name="Google Shape;195;p6"/>
          <p:cNvSpPr/>
          <p:nvPr/>
        </p:nvSpPr>
        <p:spPr>
          <a:xfrm>
            <a:off x="590550" y="990600"/>
            <a:ext cx="685800" cy="47625"/>
          </a:xfrm>
          <a:prstGeom prst="rect">
            <a:avLst/>
          </a:prstGeom>
          <a:solidFill>
            <a:srgbClr val="FDD40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 name="Google Shape;196;p6"/>
          <p:cNvSpPr/>
          <p:nvPr/>
        </p:nvSpPr>
        <p:spPr>
          <a:xfrm>
            <a:off x="590550" y="1123950"/>
            <a:ext cx="11001375" cy="34290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575">
                <a:solidFill>
                  <a:srgbClr val="617487"/>
                </a:solidFill>
                <a:latin typeface="Arial"/>
                <a:ea typeface="Arial"/>
                <a:cs typeface="Arial"/>
                <a:sym typeface="Arial"/>
              </a:rPr>
              <a:t>The run the report cites: 500 generated tickets per set-up, five seeds</a:t>
            </a:r>
            <a:endParaRPr/>
          </a:p>
        </p:txBody>
      </p:sp>
      <p:graphicFrame>
        <p:nvGraphicFramePr>
          <p:cNvPr id="5" name="Chart 4"/>
          <p:cNvGraphicFramePr>
            <a:graphicFrameLocks noGrp="1"/>
          </p:cNvGraphicFramePr>
          <p:nvPr/>
        </p:nvGraphicFramePr>
        <p:xfrm>
          <a:off x="594360" y="1645920"/>
          <a:ext cx="5486400" cy="3611880"/>
        </p:xfrm>
        <a:graphic>
          <a:graphicData uri="http://schemas.openxmlformats.org/drawingml/2006/chart">
            <c:chart xmlns:c="http://schemas.openxmlformats.org/drawingml/2006/chart" r:id="rId3"/>
          </a:graphicData>
        </a:graphic>
      </p:graphicFrame>
      <p:graphicFrame>
        <p:nvGraphicFramePr>
          <p:cNvPr id="6" name="Chart 5"/>
          <p:cNvGraphicFramePr>
            <a:graphicFrameLocks noGrp="1"/>
          </p:cNvGraphicFramePr>
          <p:nvPr/>
        </p:nvGraphicFramePr>
        <p:xfrm>
          <a:off x="6355080" y="1645920"/>
          <a:ext cx="5239512" cy="3611880"/>
        </p:xfrm>
        <a:graphic>
          <a:graphicData uri="http://schemas.openxmlformats.org/drawingml/2006/chart">
            <c:chart xmlns:c="http://schemas.openxmlformats.org/drawingml/2006/chart" r:id="rId4"/>
          </a:graphicData>
        </a:graphic>
      </p:graphicFrame>
      <p:sp>
        <p:nvSpPr>
          <p:cNvPr id="7" name="Rounded Rectangle 6"/>
          <p:cNvSpPr/>
          <p:nvPr/>
        </p:nvSpPr>
        <p:spPr>
          <a:xfrm>
            <a:off x="594360" y="5394960"/>
            <a:ext cx="11000232" cy="640080"/>
          </a:xfrm>
          <a:prstGeom prst="roundRect">
            <a:avLst>
              <a:gd name="adj" fmla="val 12000"/>
            </a:avLst>
          </a:prstGeom>
          <a:solidFill>
            <a:srgbClr val="FFF6C7"/>
          </a:solidFill>
          <a:ln>
            <a:noFill/>
          </a:ln>
          <a:effectLst/>
        </p:spPr>
        <p:txBody>
          <a:bodyPr rtlCol="0" anchor="ctr" wrap="square" lIns="182880" rIns="182880">
            <a:noAutofit/>
          </a:bodyPr>
          <a:lstStyle/>
          <a:p>
            <a:pPr algn="l"/>
            <a:r>
              <a:rPr sz="1150" b="0">
                <a:solidFill>
                  <a:srgbClr val="01416B"/>
                </a:solidFill>
                <a:latin typeface="Arial"/>
              </a:rPr>
              <a:t>Agents beat the rules at finding duplicates and ordering tests. Several agents do not beat one on accuracy. The mobile bundle adds bytes on tiny logs.</a:t>
            </a: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1" name="Shape 391"/>
        <p:cNvGrpSpPr/>
        <p:nvPr/>
      </p:nvGrpSpPr>
      <p:grpSpPr>
        <a:xfrm>
          <a:off x="0" y="0"/>
          <a:ext cx="0" cy="0"/>
          <a:chOff x="0" y="0"/>
          <a:chExt cx="0" cy="0"/>
        </a:xfrm>
      </p:grpSpPr>
      <p:sp>
        <p:nvSpPr>
          <p:cNvPr id="392" name="Google Shape;392;p12"/>
          <p:cNvSpPr txBox="1"/>
          <p:nvPr>
            <p:ph type="title"/>
          </p:nvPr>
        </p:nvSpPr>
        <p:spPr>
          <a:xfrm>
            <a:off x="594360" y="301752"/>
            <a:ext cx="9372600" cy="621792"/>
          </a:xfrm>
          <a:prstGeom prst="rect">
            <a:avLst/>
          </a:prstGeom>
          <a:noFill/>
          <a:ln>
            <a:noFill/>
          </a:ln>
        </p:spPr>
        <p:txBody>
          <a:bodyPr anchorCtr="0" anchor="b" bIns="0" lIns="0" spcFirstLastPara="1" rIns="0" wrap="square" tIns="0">
            <a:normAutofit/>
          </a:bodyPr>
          <a:lstStyle/>
          <a:p>
            <a:pPr indent="0" lvl="0" marL="0" rtl="0" algn="l">
              <a:lnSpc>
                <a:spcPct val="90000"/>
              </a:lnSpc>
              <a:spcBef>
                <a:spcPts val="0"/>
              </a:spcBef>
              <a:spcAft>
                <a:spcPts val="0"/>
              </a:spcAft>
              <a:buClr>
                <a:srgbClr val="01416B"/>
              </a:buClr>
              <a:buSzPts val="2800"/>
              <a:buFont typeface="Arial"/>
              <a:buNone/>
            </a:pPr>
            <a:r>
              <a:rPr b="1" lang="en-US" sz="2800"/>
              <a:t>Treat these as classroom results, not field evidence</a:t>
            </a:r>
            <a:endParaRPr/>
          </a:p>
        </p:txBody>
      </p:sp>
      <p:sp>
        <p:nvSpPr>
          <p:cNvPr id="393" name="Google Shape;393;p12"/>
          <p:cNvSpPr/>
          <p:nvPr/>
        </p:nvSpPr>
        <p:spPr>
          <a:xfrm>
            <a:off x="590550" y="990600"/>
            <a:ext cx="685800" cy="47625"/>
          </a:xfrm>
          <a:prstGeom prst="rect">
            <a:avLst/>
          </a:prstGeom>
          <a:solidFill>
            <a:srgbClr val="FDD40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4" name="Google Shape;394;p12"/>
          <p:cNvSpPr/>
          <p:nvPr/>
        </p:nvSpPr>
        <p:spPr>
          <a:xfrm>
            <a:off x="590550" y="1123950"/>
            <a:ext cx="11001375" cy="34290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575">
                <a:solidFill>
                  <a:srgbClr val="617487"/>
                </a:solidFill>
                <a:latin typeface="Arial"/>
                <a:ea typeface="Arial"/>
                <a:cs typeface="Arial"/>
                <a:sym typeface="Arial"/>
              </a:rPr>
              <a:t>Seeded results support discussion of trade-offs; they do not validate business impact</a:t>
            </a:r>
            <a:endParaRPr/>
          </a:p>
        </p:txBody>
      </p:sp>
      <p:sp>
        <p:nvSpPr>
          <p:cNvPr id="395" name="Rounded Rectangle 394"/>
          <p:cNvSpPr/>
          <p:nvPr/>
        </p:nvSpPr>
        <p:spPr>
          <a:xfrm>
            <a:off x="594360" y="1783080"/>
            <a:ext cx="2578608" cy="2240280"/>
          </a:xfrm>
          <a:prstGeom prst="roundRect">
            <a:avLst>
              <a:gd name="adj" fmla="val 12000"/>
            </a:avLst>
          </a:prstGeom>
          <a:solidFill>
            <a:srgbClr val="E6EEF5"/>
          </a:solidFill>
          <a:ln>
            <a:noFill/>
          </a:ln>
          <a:effectLst/>
        </p:spPr>
        <p:txBody>
          <a:bodyPr rtlCol="0" anchor="t" wrap="square" lIns="164592" tIns="137160" rIns="137160" bIns="91440">
            <a:noAutofit/>
          </a:bodyPr>
          <a:lstStyle/>
          <a:p>
            <a:pPr algn="l">
              <a:spcAft>
                <a:spcPts val="400"/>
              </a:spcAft>
            </a:pPr>
            <a:r>
              <a:rPr sz="3400" b="1">
                <a:solidFill>
                  <a:srgbClr val="01416B"/>
                </a:solidFill>
                <a:latin typeface="Arial"/>
              </a:rPr>
              <a:t>0.0018</a:t>
            </a:r>
          </a:p>
          <a:p>
            <a:pPr algn="l">
              <a:spcAft>
                <a:spcPts val="400"/>
              </a:spcAft>
            </a:pPr>
            <a:r>
              <a:rPr sz="1250" b="1">
                <a:solidFill>
                  <a:srgbClr val="01416B"/>
                </a:solidFill>
                <a:latin typeface="Arial"/>
              </a:rPr>
              <a:t>Friedman p, data sent</a:t>
            </a:r>
          </a:p>
          <a:p>
            <a:pPr algn="l">
              <a:spcAft>
                <a:spcPts val="400"/>
              </a:spcAft>
            </a:pPr>
            <a:r>
              <a:rPr sz="1150" b="0">
                <a:solidFill>
                  <a:srgbClr val="2E4357"/>
                </a:solidFill>
                <a:latin typeface="Arial"/>
              </a:rPr>
              <a:t>The set-ups differ; A3 sends the most bytes.</a:t>
            </a:r>
          </a:p>
        </p:txBody>
      </p:sp>
      <p:sp>
        <p:nvSpPr>
          <p:cNvPr id="396" name="Rounded Rectangle 395"/>
          <p:cNvSpPr/>
          <p:nvPr/>
        </p:nvSpPr>
        <p:spPr>
          <a:xfrm>
            <a:off x="3401568" y="1783080"/>
            <a:ext cx="2578608" cy="2240280"/>
          </a:xfrm>
          <a:prstGeom prst="roundRect">
            <a:avLst>
              <a:gd name="adj" fmla="val 12000"/>
            </a:avLst>
          </a:prstGeom>
          <a:solidFill>
            <a:srgbClr val="E6EEF5"/>
          </a:solidFill>
          <a:ln>
            <a:noFill/>
          </a:ln>
          <a:effectLst/>
        </p:spPr>
        <p:txBody>
          <a:bodyPr rtlCol="0" anchor="t" wrap="square" lIns="164592" tIns="137160" rIns="137160" bIns="91440">
            <a:noAutofit/>
          </a:bodyPr>
          <a:lstStyle/>
          <a:p>
            <a:pPr algn="l">
              <a:spcAft>
                <a:spcPts val="400"/>
              </a:spcAft>
            </a:pPr>
            <a:r>
              <a:rPr sz="3400" b="1">
                <a:solidFill>
                  <a:srgbClr val="01416B"/>
                </a:solidFill>
                <a:latin typeface="Arial"/>
              </a:rPr>
              <a:t>0.0136</a:t>
            </a:r>
          </a:p>
          <a:p>
            <a:pPr algn="l">
              <a:spcAft>
                <a:spcPts val="400"/>
              </a:spcAft>
            </a:pPr>
            <a:r>
              <a:rPr sz="1250" b="1">
                <a:solidFill>
                  <a:srgbClr val="01416B"/>
                </a:solidFill>
                <a:latin typeface="Arial"/>
              </a:rPr>
              <a:t>Friedman p, wall time</a:t>
            </a:r>
          </a:p>
          <a:p>
            <a:pPr algn="l">
              <a:spcAft>
                <a:spcPts val="400"/>
              </a:spcAft>
            </a:pPr>
            <a:r>
              <a:rPr sz="1150" b="0">
                <a:solidFill>
                  <a:srgbClr val="2E4357"/>
                </a:solidFill>
                <a:latin typeface="Arial"/>
              </a:rPr>
              <a:t>Tiny CPU-proxy timings, not service latency.</a:t>
            </a:r>
          </a:p>
        </p:txBody>
      </p:sp>
      <p:sp>
        <p:nvSpPr>
          <p:cNvPr id="397" name="Rounded Rectangle 396"/>
          <p:cNvSpPr/>
          <p:nvPr/>
        </p:nvSpPr>
        <p:spPr>
          <a:xfrm>
            <a:off x="6208776" y="1783080"/>
            <a:ext cx="2578608" cy="2240280"/>
          </a:xfrm>
          <a:prstGeom prst="roundRect">
            <a:avLst>
              <a:gd name="adj" fmla="val 12000"/>
            </a:avLst>
          </a:prstGeom>
          <a:solidFill>
            <a:srgbClr val="E6EEF5"/>
          </a:solidFill>
          <a:ln>
            <a:noFill/>
          </a:ln>
          <a:effectLst/>
        </p:spPr>
        <p:txBody>
          <a:bodyPr rtlCol="0" anchor="t" wrap="square" lIns="164592" tIns="137160" rIns="137160" bIns="91440">
            <a:noAutofit/>
          </a:bodyPr>
          <a:lstStyle/>
          <a:p>
            <a:pPr algn="l">
              <a:spcAft>
                <a:spcPts val="400"/>
              </a:spcAft>
            </a:pPr>
            <a:r>
              <a:rPr sz="3400" b="1">
                <a:solidFill>
                  <a:srgbClr val="01416B"/>
                </a:solidFill>
                <a:latin typeface="Arial"/>
              </a:rPr>
              <a:t>0.604</a:t>
            </a:r>
          </a:p>
          <a:p>
            <a:pPr algn="l">
              <a:spcAft>
                <a:spcPts val="400"/>
              </a:spcAft>
            </a:pPr>
            <a:r>
              <a:rPr sz="1250" b="1">
                <a:solidFill>
                  <a:srgbClr val="01416B"/>
                </a:solidFill>
                <a:latin typeface="Arial"/>
              </a:rPr>
              <a:t>Friedman p, rollback</a:t>
            </a:r>
          </a:p>
          <a:p>
            <a:pPr algn="l">
              <a:spcAft>
                <a:spcPts val="400"/>
              </a:spcAft>
            </a:pPr>
            <a:r>
              <a:rPr sz="1150" b="0">
                <a:solidFill>
                  <a:srgbClr val="2E4357"/>
                </a:solidFill>
                <a:latin typeface="Arial"/>
              </a:rPr>
              <a:t>Not significant; neither is CPU (p = 0.926).</a:t>
            </a:r>
          </a:p>
        </p:txBody>
      </p:sp>
      <p:sp>
        <p:nvSpPr>
          <p:cNvPr id="398" name="Rounded Rectangle 397"/>
          <p:cNvSpPr/>
          <p:nvPr/>
        </p:nvSpPr>
        <p:spPr>
          <a:xfrm>
            <a:off x="9015984" y="1783080"/>
            <a:ext cx="2578608" cy="2240280"/>
          </a:xfrm>
          <a:prstGeom prst="roundRect">
            <a:avLst>
              <a:gd name="adj" fmla="val 12000"/>
            </a:avLst>
          </a:prstGeom>
          <a:solidFill>
            <a:srgbClr val="E6EEF5"/>
          </a:solidFill>
          <a:ln>
            <a:noFill/>
          </a:ln>
          <a:effectLst/>
        </p:spPr>
        <p:txBody>
          <a:bodyPr rtlCol="0" anchor="t" wrap="square" lIns="164592" tIns="137160" rIns="137160" bIns="91440">
            <a:noAutofit/>
          </a:bodyPr>
          <a:lstStyle/>
          <a:p>
            <a:pPr algn="l">
              <a:spcAft>
                <a:spcPts val="400"/>
              </a:spcAft>
            </a:pPr>
            <a:r>
              <a:rPr sz="3400" b="1">
                <a:solidFill>
                  <a:srgbClr val="01416B"/>
                </a:solidFill>
                <a:latin typeface="Arial"/>
              </a:rPr>
              <a:t>20 / 20</a:t>
            </a:r>
          </a:p>
          <a:p>
            <a:pPr algn="l">
              <a:spcAft>
                <a:spcPts val="400"/>
              </a:spcAft>
            </a:pPr>
            <a:r>
              <a:rPr sz="1250" b="1">
                <a:solidFill>
                  <a:srgbClr val="01416B"/>
                </a:solidFill>
                <a:latin typeface="Arial"/>
              </a:rPr>
              <a:t>violations blocked</a:t>
            </a:r>
          </a:p>
          <a:p>
            <a:pPr algn="l">
              <a:spcAft>
                <a:spcPts val="400"/>
              </a:spcAft>
            </a:pPr>
            <a:r>
              <a:rPr sz="1150" b="0">
                <a:solidFill>
                  <a:srgbClr val="2E4357"/>
                </a:solidFill>
                <a:latin typeface="Arial"/>
              </a:rPr>
              <a:t>No full release without approval; A3 had 11 approved simulated releases.</a:t>
            </a:r>
          </a:p>
        </p:txBody>
      </p:sp>
      <p:sp>
        <p:nvSpPr>
          <p:cNvPr id="399" name="Rounded Rectangle 398"/>
          <p:cNvSpPr/>
          <p:nvPr/>
        </p:nvSpPr>
        <p:spPr>
          <a:xfrm>
            <a:off x="594360" y="4251960"/>
            <a:ext cx="5394960" cy="1737360"/>
          </a:xfrm>
          <a:prstGeom prst="roundRect">
            <a:avLst>
              <a:gd name="adj" fmla="val 12000"/>
            </a:avLst>
          </a:prstGeom>
          <a:solidFill>
            <a:srgbClr val="FFFFFF"/>
          </a:solidFill>
          <a:ln w="12700">
            <a:solidFill>
              <a:srgbClr val="D7E0E9"/>
            </a:solidFill>
          </a:ln>
          <a:effectLst/>
        </p:spPr>
        <p:txBody>
          <a:bodyPr rtlCol="0" anchor="t" wrap="square" lIns="182880" tIns="109728" rIns="164592" bIns="73152">
            <a:noAutofit/>
          </a:bodyPr>
          <a:lstStyle/>
          <a:p>
            <a:pPr algn="l">
              <a:spcAft>
                <a:spcPts val="400"/>
              </a:spcAft>
            </a:pPr>
            <a:r>
              <a:rPr sz="1350" b="1">
                <a:solidFill>
                  <a:srgbClr val="01416B"/>
                </a:solidFill>
                <a:latin typeface="Arial"/>
              </a:rPr>
              <a:t>What the result says</a:t>
            </a:r>
          </a:p>
          <a:p>
            <a:pPr algn="l">
              <a:spcAft>
                <a:spcPts val="400"/>
              </a:spcAft>
            </a:pPr>
            <a:r>
              <a:rPr sz="1200" b="0">
                <a:solidFill>
                  <a:srgbClr val="2E4357"/>
                </a:solidFill>
                <a:latin typeface="Arial"/>
              </a:rPr>
              <a:t>Coordination and mobility add serialized work in this set-up. Whether running the analysis next to the data is worth that cost depends on data locality and privacy, which this benchmark does not measure.</a:t>
            </a:r>
          </a:p>
        </p:txBody>
      </p:sp>
      <p:sp>
        <p:nvSpPr>
          <p:cNvPr id="400" name="Rounded Rectangle 399"/>
          <p:cNvSpPr/>
          <p:nvPr/>
        </p:nvSpPr>
        <p:spPr>
          <a:xfrm>
            <a:off x="6199632" y="4251960"/>
            <a:ext cx="5394960" cy="1737360"/>
          </a:xfrm>
          <a:prstGeom prst="roundRect">
            <a:avLst>
              <a:gd name="adj" fmla="val 12000"/>
            </a:avLst>
          </a:prstGeom>
          <a:solidFill>
            <a:srgbClr val="FFF6C7"/>
          </a:solidFill>
          <a:ln>
            <a:noFill/>
          </a:ln>
          <a:effectLst/>
        </p:spPr>
        <p:txBody>
          <a:bodyPr rtlCol="0" anchor="t" wrap="square" lIns="182880" tIns="109728" rIns="164592" bIns="73152">
            <a:noAutofit/>
          </a:bodyPr>
          <a:lstStyle/>
          <a:p>
            <a:pPr algn="l">
              <a:spcAft>
                <a:spcPts val="400"/>
              </a:spcAft>
            </a:pPr>
            <a:r>
              <a:rPr sz="1350" b="1">
                <a:solidFill>
                  <a:srgbClr val="01416B"/>
                </a:solidFill>
                <a:latin typeface="Arial"/>
              </a:rPr>
              <a:t>No field productivity claim</a:t>
            </a:r>
          </a:p>
          <a:p>
            <a:pPr algn="l">
              <a:spcAft>
                <a:spcPts val="400"/>
              </a:spcAft>
            </a:pPr>
            <a:r>
              <a:rPr sz="1200" b="0">
                <a:solidFill>
                  <a:srgbClr val="2E4357"/>
                </a:solidFill>
                <a:latin typeface="Arial"/>
              </a:rPr>
              <a:t>The harness runs no hosted LLM, Redis, real CI or production deployment, and its DORA-style outcomes are simulated.</a:t>
            </a: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4" name="Shape 414"/>
        <p:cNvGrpSpPr/>
        <p:nvPr/>
      </p:nvGrpSpPr>
      <p:grpSpPr>
        <a:xfrm>
          <a:off x="0" y="0"/>
          <a:ext cx="0" cy="0"/>
          <a:chOff x="0" y="0"/>
          <a:chExt cx="0" cy="0"/>
        </a:xfrm>
      </p:grpSpPr>
      <p:sp>
        <p:nvSpPr>
          <p:cNvPr id="415" name="Google Shape;415;p13"/>
          <p:cNvSpPr txBox="1"/>
          <p:nvPr>
            <p:ph type="title"/>
          </p:nvPr>
        </p:nvSpPr>
        <p:spPr>
          <a:xfrm>
            <a:off x="594360" y="301752"/>
            <a:ext cx="9372600" cy="621792"/>
          </a:xfrm>
          <a:prstGeom prst="rect">
            <a:avLst/>
          </a:prstGeom>
          <a:noFill/>
          <a:ln>
            <a:noFill/>
          </a:ln>
        </p:spPr>
        <p:txBody>
          <a:bodyPr anchorCtr="0" anchor="b" bIns="0" lIns="0" spcFirstLastPara="1" rIns="0" wrap="square" tIns="0">
            <a:normAutofit/>
          </a:bodyPr>
          <a:lstStyle/>
          <a:p>
            <a:pPr indent="0" lvl="0" marL="0" rtl="0" algn="l">
              <a:lnSpc>
                <a:spcPct val="90000"/>
              </a:lnSpc>
              <a:spcBef>
                <a:spcPts val="0"/>
              </a:spcBef>
              <a:spcAft>
                <a:spcPts val="0"/>
              </a:spcAft>
              <a:buClr>
                <a:srgbClr val="01416B"/>
              </a:buClr>
              <a:buSzPts val="2800"/>
              <a:buFont typeface="Arial"/>
              <a:buNone/>
            </a:pPr>
            <a:r>
              <a:rPr b="1" lang="en-US" sz="2800"/>
              <a:t>Conclusion: a useful prototype, not autonomous delivery</a:t>
            </a:r>
            <a:endParaRPr/>
          </a:p>
        </p:txBody>
      </p:sp>
      <p:sp>
        <p:nvSpPr>
          <p:cNvPr id="416" name="Google Shape;416;p13"/>
          <p:cNvSpPr/>
          <p:nvPr/>
        </p:nvSpPr>
        <p:spPr>
          <a:xfrm>
            <a:off x="590550" y="990600"/>
            <a:ext cx="685800" cy="47625"/>
          </a:xfrm>
          <a:prstGeom prst="rect">
            <a:avLst/>
          </a:prstGeom>
          <a:solidFill>
            <a:srgbClr val="FDD40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17" name="Google Shape;417;p13"/>
          <p:cNvSpPr/>
          <p:nvPr/>
        </p:nvSpPr>
        <p:spPr>
          <a:xfrm>
            <a:off x="590550" y="1123950"/>
            <a:ext cx="11001375" cy="34290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575">
                <a:solidFill>
                  <a:srgbClr val="617487"/>
                </a:solidFill>
                <a:latin typeface="Arial"/>
                <a:ea typeface="Arial"/>
                <a:cs typeface="Arial"/>
                <a:sym typeface="Arial"/>
              </a:rPr>
              <a:t>The implemented boundary is clear, and it gives the next evaluation a practical target</a:t>
            </a:r>
            <a:endParaRPr/>
          </a:p>
        </p:txBody>
      </p:sp>
      <p:sp>
        <p:nvSpPr>
          <p:cNvPr id="418" name="Google Shape;418;p13"/>
          <p:cNvSpPr/>
          <p:nvPr/>
        </p:nvSpPr>
        <p:spPr>
          <a:xfrm>
            <a:off x="781050" y="1743075"/>
            <a:ext cx="4524375" cy="32385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725">
                <a:solidFill>
                  <a:srgbClr val="01416B"/>
                </a:solidFill>
                <a:latin typeface="Arial"/>
                <a:ea typeface="Arial"/>
                <a:cs typeface="Arial"/>
                <a:sym typeface="Arial"/>
              </a:rPr>
              <a:t>What works today</a:t>
            </a:r>
            <a:endParaRPr/>
          </a:p>
        </p:txBody>
      </p:sp>
      <p:sp>
        <p:nvSpPr>
          <p:cNvPr id="419" name="Google Shape;419;p13"/>
          <p:cNvSpPr/>
          <p:nvPr/>
        </p:nvSpPr>
        <p:spPr>
          <a:xfrm>
            <a:off x="781050" y="2190750"/>
            <a:ext cx="4762500" cy="120015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None/>
            </a:pPr>
            <a:r>
              <a:rPr b="0" lang="en-US" sz="1575">
                <a:solidFill>
                  <a:srgbClr val="2E4357"/>
                </a:solidFill>
                <a:latin typeface="Arial"/>
                <a:ea typeface="Arial"/>
                <a:cs typeface="Arial"/>
                <a:sym typeface="Arial"/>
              </a:rPr>
              <a:t>Nine agents take natural-language feedback to a monitored release: live duplicate search, a squad auction whose winner investigates, signed node trips, six gates and a monitoring loop.</a:t>
            </a:r>
            <a:endParaRPr/>
          </a:p>
        </p:txBody>
      </p:sp>
      <p:sp>
        <p:nvSpPr>
          <p:cNvPr id="420" name="Google Shape;420;p13"/>
          <p:cNvSpPr/>
          <p:nvPr/>
        </p:nvSpPr>
        <p:spPr>
          <a:xfrm>
            <a:off x="6457950" y="1743075"/>
            <a:ext cx="4762500" cy="32385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725">
                <a:solidFill>
                  <a:srgbClr val="2F6EA3"/>
                </a:solidFill>
                <a:latin typeface="Arial"/>
                <a:ea typeface="Arial"/>
                <a:cs typeface="Arial"/>
                <a:sym typeface="Arial"/>
              </a:rPr>
              <a:t>What the experiment shows</a:t>
            </a:r>
            <a:endParaRPr/>
          </a:p>
        </p:txBody>
      </p:sp>
      <p:sp>
        <p:nvSpPr>
          <p:cNvPr id="421" name="Google Shape;421;p13"/>
          <p:cNvSpPr/>
          <p:nvPr/>
        </p:nvSpPr>
        <p:spPr>
          <a:xfrm>
            <a:off x="6457950" y="2190750"/>
            <a:ext cx="4762500" cy="125730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None/>
            </a:pPr>
            <a:r>
              <a:rPr b="0" lang="en-US" sz="1650">
                <a:solidFill>
                  <a:srgbClr val="2E4357"/>
                </a:solidFill>
                <a:latin typeface="Arial"/>
                <a:ea typeface="Arial"/>
                <a:cs typeface="Arial"/>
                <a:sym typeface="Arial"/>
              </a:rPr>
              <a:t>Agent arms improve duplicate retrieval and fault ordering in generated data. A3 adds transfer cost; the interactive dashboard is a different path, and real data locality is not measured.</a:t>
            </a:r>
            <a:endParaRPr/>
          </a:p>
        </p:txBody>
      </p:sp>
      <p:sp>
        <p:nvSpPr>
          <p:cNvPr id="422" name="Google Shape;422;p13"/>
          <p:cNvSpPr/>
          <p:nvPr/>
        </p:nvSpPr>
        <p:spPr>
          <a:xfrm>
            <a:off x="781050" y="3771900"/>
            <a:ext cx="10439400" cy="19050"/>
          </a:xfrm>
          <a:prstGeom prst="rect">
            <a:avLst/>
          </a:prstGeom>
          <a:solidFill>
            <a:srgbClr val="D7E0E9"/>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3" name="Google Shape;423;p13"/>
          <p:cNvSpPr/>
          <p:nvPr/>
        </p:nvSpPr>
        <p:spPr>
          <a:xfrm>
            <a:off x="781050" y="4019550"/>
            <a:ext cx="2381250" cy="314325"/>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725">
                <a:solidFill>
                  <a:srgbClr val="01416B"/>
                </a:solidFill>
                <a:latin typeface="Arial"/>
                <a:ea typeface="Arial"/>
                <a:cs typeface="Arial"/>
                <a:sym typeface="Arial"/>
              </a:rPr>
              <a:t>Conclusion</a:t>
            </a:r>
            <a:endParaRPr/>
          </a:p>
        </p:txBody>
      </p:sp>
      <p:sp>
        <p:nvSpPr>
          <p:cNvPr id="424" name="Google Shape;424;p13"/>
          <p:cNvSpPr/>
          <p:nvPr/>
        </p:nvSpPr>
        <p:spPr>
          <a:xfrm>
            <a:off x="781050" y="4438650"/>
            <a:ext cx="10382250" cy="904875"/>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800">
                <a:solidFill>
                  <a:srgbClr val="01416B"/>
                </a:solidFill>
                <a:latin typeface="Arial"/>
                <a:ea typeface="Arial"/>
                <a:cs typeface="Arial"/>
                <a:sym typeface="Arial"/>
              </a:rPr>
              <a:t>T2D-MAS shows inspectable agent collaboration with people in control. Next, replace the simulators with a real repository, CI, release pipeline and telemetry, move the offline models into the live path, and evaluate on public data.</a:t>
            </a:r>
            <a:endParaRPr/>
          </a:p>
        </p:txBody>
      </p:sp>
      <p:sp>
        <p:nvSpPr>
          <p:cNvPr id="425" name="Google Shape;425;p13"/>
          <p:cNvSpPr/>
          <p:nvPr/>
        </p:nvSpPr>
        <p:spPr>
          <a:xfrm>
            <a:off x="781050" y="5629275"/>
            <a:ext cx="10429875" cy="504825"/>
          </a:xfrm>
          <a:prstGeom prst="roundRect">
            <a:avLst>
              <a:gd fmla="val 22642" name="adj"/>
            </a:avLst>
          </a:prstGeom>
          <a:solidFill>
            <a:srgbClr val="E6EEF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6" name="Google Shape;426;p13"/>
          <p:cNvSpPr/>
          <p:nvPr/>
        </p:nvSpPr>
        <p:spPr>
          <a:xfrm>
            <a:off x="962025" y="5715000"/>
            <a:ext cx="10086975" cy="333375"/>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1" lang="en-US" sz="1575">
                <a:solidFill>
                  <a:srgbClr val="01416B"/>
                </a:solidFill>
                <a:latin typeface="Arial"/>
                <a:ea typeface="Arial"/>
                <a:cs typeface="Arial"/>
                <a:sym typeface="Arial"/>
              </a:rPr>
              <a:t>Keep the boundary clear: models propose, humans decide, irreversible actions remain gated.</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1" name="Shape 431"/>
        <p:cNvGrpSpPr/>
        <p:nvPr/>
      </p:nvGrpSpPr>
      <p:grpSpPr>
        <a:xfrm>
          <a:off x="0" y="0"/>
          <a:ext cx="0" cy="0"/>
          <a:chOff x="0" y="0"/>
          <a:chExt cx="0" cy="0"/>
        </a:xfrm>
      </p:grpSpPr>
      <p:sp>
        <p:nvSpPr>
          <p:cNvPr id="432" name="Google Shape;432;p14"/>
          <p:cNvSpPr txBox="1"/>
          <p:nvPr>
            <p:ph type="title"/>
          </p:nvPr>
        </p:nvSpPr>
        <p:spPr>
          <a:xfrm>
            <a:off x="594360" y="301752"/>
            <a:ext cx="9372600" cy="621792"/>
          </a:xfrm>
          <a:prstGeom prst="rect">
            <a:avLst/>
          </a:prstGeom>
          <a:noFill/>
          <a:ln>
            <a:noFill/>
          </a:ln>
        </p:spPr>
        <p:txBody>
          <a:bodyPr anchorCtr="0" anchor="b" bIns="0" lIns="0" spcFirstLastPara="1" rIns="0" wrap="square" tIns="0">
            <a:normAutofit/>
          </a:bodyPr>
          <a:lstStyle/>
          <a:p>
            <a:pPr indent="0" lvl="0" marL="0" rtl="0" algn="l">
              <a:lnSpc>
                <a:spcPct val="90000"/>
              </a:lnSpc>
              <a:spcBef>
                <a:spcPts val="0"/>
              </a:spcBef>
              <a:spcAft>
                <a:spcPts val="0"/>
              </a:spcAft>
              <a:buClr>
                <a:srgbClr val="01416B"/>
              </a:buClr>
              <a:buSzPts val="2800"/>
              <a:buFont typeface="Arial"/>
              <a:buNone/>
            </a:pPr>
            <a:r>
              <a:rPr b="1" lang="en-US" sz="2800"/>
              <a:t>Sources and scope notes</a:t>
            </a:r>
            <a:endParaRPr/>
          </a:p>
        </p:txBody>
      </p:sp>
      <p:sp>
        <p:nvSpPr>
          <p:cNvPr id="433" name="Google Shape;433;p14"/>
          <p:cNvSpPr/>
          <p:nvPr/>
        </p:nvSpPr>
        <p:spPr>
          <a:xfrm>
            <a:off x="590550" y="990600"/>
            <a:ext cx="685800" cy="47625"/>
          </a:xfrm>
          <a:prstGeom prst="rect">
            <a:avLst/>
          </a:prstGeom>
          <a:solidFill>
            <a:srgbClr val="FDD40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34" name="Google Shape;434;p14"/>
          <p:cNvSpPr/>
          <p:nvPr/>
        </p:nvSpPr>
        <p:spPr>
          <a:xfrm>
            <a:off x="590550" y="1123950"/>
            <a:ext cx="11001375" cy="34290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575">
                <a:solidFill>
                  <a:srgbClr val="617487"/>
                </a:solidFill>
                <a:latin typeface="Arial"/>
                <a:ea typeface="Arial"/>
                <a:cs typeface="Arial"/>
                <a:sym typeface="Arial"/>
              </a:rPr>
              <a:t>Repository and supplied project documents checked for this deck</a:t>
            </a:r>
            <a:endParaRPr/>
          </a:p>
        </p:txBody>
      </p:sp>
      <p:sp>
        <p:nvSpPr>
          <p:cNvPr id="435" name="Google Shape;435;p14"/>
          <p:cNvSpPr/>
          <p:nvPr/>
        </p:nvSpPr>
        <p:spPr>
          <a:xfrm>
            <a:off x="800100" y="1704975"/>
            <a:ext cx="114300" cy="114300"/>
          </a:xfrm>
          <a:prstGeom prst="ellipse">
            <a:avLst/>
          </a:prstGeom>
          <a:solidFill>
            <a:srgbClr val="01416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36" name="Google Shape;436;p14"/>
          <p:cNvSpPr/>
          <p:nvPr/>
        </p:nvSpPr>
        <p:spPr>
          <a:xfrm>
            <a:off x="1057275" y="1619250"/>
            <a:ext cx="10191750" cy="55245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None/>
            </a:pPr>
            <a:r>
              <a:rPr b="0" lang="en-US" sz="1425">
                <a:solidFill>
                  <a:srgbClr val="2E4357"/>
                </a:solidFill>
                <a:latin typeface="Arial"/>
                <a:ea typeface="Arial"/>
                <a:cs typeface="Arial"/>
                <a:sym typeface="Arial"/>
              </a:rPr>
              <a:t>Project 1 - Idea.pdf — original problem, illustrative cosine example, agent design and AI capability roadmap.</a:t>
            </a:r>
            <a:endParaRPr/>
          </a:p>
        </p:txBody>
      </p:sp>
      <p:sp>
        <p:nvSpPr>
          <p:cNvPr id="437" name="Google Shape;437;p14"/>
          <p:cNvSpPr/>
          <p:nvPr/>
        </p:nvSpPr>
        <p:spPr>
          <a:xfrm>
            <a:off x="800100" y="2314575"/>
            <a:ext cx="114300" cy="114300"/>
          </a:xfrm>
          <a:prstGeom prst="ellipse">
            <a:avLst/>
          </a:prstGeom>
          <a:solidFill>
            <a:srgbClr val="01416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38" name="Google Shape;438;p14"/>
          <p:cNvSpPr/>
          <p:nvPr/>
        </p:nvSpPr>
        <p:spPr>
          <a:xfrm>
            <a:off x="1057275" y="2228850"/>
            <a:ext cx="10191750" cy="55245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None/>
            </a:pPr>
            <a:r>
              <a:rPr b="0" lang="en-US" sz="1425">
                <a:solidFill>
                  <a:srgbClr val="2E4357"/>
                </a:solidFill>
                <a:latin typeface="Arial"/>
                <a:ea typeface="Arial"/>
                <a:cs typeface="Arial"/>
                <a:sym typeface="Arial"/>
              </a:rPr>
              <a:t>Laporan_Proyek1_T2D-MAS_Final.pdf — expanded design, agent taxonomy, methods, intended workflow and the cited results (§9.4–9.5).</a:t>
            </a:r>
            <a:endParaRPr/>
          </a:p>
        </p:txBody>
      </p:sp>
      <p:sp>
        <p:nvSpPr>
          <p:cNvPr id="439" name="Google Shape;439;p14"/>
          <p:cNvSpPr/>
          <p:nvPr/>
        </p:nvSpPr>
        <p:spPr>
          <a:xfrm>
            <a:off x="800100" y="2924175"/>
            <a:ext cx="114300" cy="114300"/>
          </a:xfrm>
          <a:prstGeom prst="ellipse">
            <a:avLst/>
          </a:prstGeom>
          <a:solidFill>
            <a:srgbClr val="01416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40" name="Google Shape;440;p14"/>
          <p:cNvSpPr/>
          <p:nvPr/>
        </p:nvSpPr>
        <p:spPr>
          <a:xfrm>
            <a:off x="1057275" y="2838450"/>
            <a:ext cx="10191750" cy="55245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None/>
            </a:pPr>
            <a:r>
              <a:rPr b="0" lang="en-US" sz="1425">
                <a:solidFill>
                  <a:srgbClr val="2E4357"/>
                </a:solidFill>
                <a:latin typeface="Arial"/>
                <a:ea typeface="Arial"/>
                <a:cs typeface="Arial"/>
                <a:sym typeface="Arial"/>
              </a:rPr>
              <a:t>README.md; docs/AUDIT.md; docs/process_and_experiments.md; agents/AGENT_CATALOG.md — architecture, pipeline and what is real, simulated or not built.</a:t>
            </a:r>
            <a:endParaRPr/>
          </a:p>
        </p:txBody>
      </p:sp>
      <p:sp>
        <p:nvSpPr>
          <p:cNvPr id="441" name="Google Shape;441;p14"/>
          <p:cNvSpPr/>
          <p:nvPr/>
        </p:nvSpPr>
        <p:spPr>
          <a:xfrm>
            <a:off x="800100" y="3533775"/>
            <a:ext cx="114300" cy="114300"/>
          </a:xfrm>
          <a:prstGeom prst="ellipse">
            <a:avLst/>
          </a:prstGeom>
          <a:solidFill>
            <a:srgbClr val="01416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42" name="Google Shape;442;p14"/>
          <p:cNvSpPr/>
          <p:nvPr/>
        </p:nvSpPr>
        <p:spPr>
          <a:xfrm>
            <a:off x="1057275" y="3448050"/>
            <a:ext cx="10191750" cy="55245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None/>
            </a:pPr>
            <a:r>
              <a:rPr b="0" lang="en-US" sz="1425">
                <a:solidFill>
                  <a:srgbClr val="2E4357"/>
                </a:solidFill>
                <a:latin typeface="Arial"/>
                <a:ea typeface="Arial"/>
                <a:cs typeface="Arial"/>
                <a:sym typeface="Arial"/>
              </a:rPr>
              <a:t>agents/pipeline.py; scouts.py, brokers.py, workers.py; policy.py; severity_triage.py; deliverables/T2D-MAS-Live-Demo-Guide.md — the nine agents, their gates, optional OpenRouter and the demo walkthrough.</a:t>
            </a:r>
            <a:endParaRPr/>
          </a:p>
        </p:txBody>
      </p:sp>
      <p:sp>
        <p:nvSpPr>
          <p:cNvPr id="443" name="Google Shape;443;p14"/>
          <p:cNvSpPr/>
          <p:nvPr/>
        </p:nvSpPr>
        <p:spPr>
          <a:xfrm>
            <a:off x="800100" y="4143375"/>
            <a:ext cx="114300" cy="114300"/>
          </a:xfrm>
          <a:prstGeom prst="ellipse">
            <a:avLst/>
          </a:prstGeom>
          <a:solidFill>
            <a:srgbClr val="01416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44" name="Google Shape;444;p14"/>
          <p:cNvSpPr/>
          <p:nvPr/>
        </p:nvSpPr>
        <p:spPr>
          <a:xfrm>
            <a:off x="1057275" y="4057650"/>
            <a:ext cx="10191750" cy="55245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None/>
            </a:pPr>
            <a:r>
              <a:rPr b="0" lang="en-US" sz="1425">
                <a:solidFill>
                  <a:srgbClr val="2E4357"/>
                </a:solidFill>
                <a:latin typeface="Arial"/>
                <a:ea typeface="Arial"/>
                <a:cs typeface="Arial"/>
                <a:sym typeface="Arial"/>
              </a:rPr>
              <a:t>eval/runner.py; eval/config.json; results/20260930T020846305626/summary.csv, statistical_tests.csv and security_injection_summary.csv — the benchmark outputs the report cites.</a:t>
            </a:r>
            <a:endParaRPr/>
          </a:p>
        </p:txBody>
      </p:sp>
      <p:sp>
        <p:nvSpPr>
          <p:cNvPr id="445" name="Google Shape;445;p14"/>
          <p:cNvSpPr/>
          <p:nvPr/>
        </p:nvSpPr>
        <p:spPr>
          <a:xfrm>
            <a:off x="800100" y="4752975"/>
            <a:ext cx="114300" cy="114300"/>
          </a:xfrm>
          <a:prstGeom prst="ellipse">
            <a:avLst/>
          </a:prstGeom>
          <a:solidFill>
            <a:srgbClr val="01416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46" name="Google Shape;446;p14"/>
          <p:cNvSpPr/>
          <p:nvPr/>
        </p:nvSpPr>
        <p:spPr>
          <a:xfrm>
            <a:off x="1057275" y="4667250"/>
            <a:ext cx="10191750" cy="552450"/>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None/>
            </a:pPr>
            <a:r>
              <a:rPr b="0" lang="en-US" sz="1425">
                <a:solidFill>
                  <a:srgbClr val="2E4357"/>
                </a:solidFill>
                <a:latin typeface="Arial"/>
                <a:ea typeface="Arial"/>
                <a:cs typeface="Arial"/>
                <a:sym typeface="Arial"/>
              </a:rPr>
              <a:t>data/README.md; triage/README.md; rca/README.md; envs/README.md — dataset loaders and separate model/simulation modules.</a:t>
            </a:r>
            <a:endParaRPr/>
          </a:p>
        </p:txBody>
      </p:sp>
      <p:sp>
        <p:nvSpPr>
          <p:cNvPr id="447" name="Google Shape;447;p14"/>
          <p:cNvSpPr/>
          <p:nvPr/>
        </p:nvSpPr>
        <p:spPr>
          <a:xfrm>
            <a:off x="800100" y="5905500"/>
            <a:ext cx="10334625" cy="381000"/>
          </a:xfrm>
          <a:prstGeom prst="rect">
            <a:avLst/>
          </a:prstGeom>
          <a:noFill/>
          <a:ln>
            <a:noFill/>
          </a:ln>
        </p:spPr>
        <p:txBody>
          <a:bodyPr anchorCtr="0" anchor="ctr" bIns="0" lIns="0" spcFirstLastPara="1" rIns="0" wrap="square" tIns="0">
            <a:normAutofit/>
          </a:bodyPr>
          <a:lstStyle/>
          <a:p>
            <a:pPr indent="0" lvl="0" marL="0" marR="0" rtl="0" algn="l">
              <a:spcBef>
                <a:spcPts val="0"/>
              </a:spcBef>
              <a:spcAft>
                <a:spcPts val="0"/>
              </a:spcAft>
              <a:buNone/>
            </a:pPr>
            <a:r>
              <a:rPr b="0" lang="en-US" sz="1281">
                <a:solidFill>
                  <a:srgbClr val="617487"/>
                </a:solidFill>
                <a:latin typeface="Arial"/>
                <a:ea typeface="Arial"/>
                <a:cs typeface="Arial"/>
                <a:sym typeface="Arial"/>
              </a:rPr>
              <a:t>A fresh run matches the cited CSVs on every non-timing value (eval.compare_runs). Timing, simulation and estimate labels remain explicit.</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452" name="Shape 452"/>
        <p:cNvGrpSpPr/>
        <p:nvPr/>
      </p:nvGrpSpPr>
      <p:grpSpPr>
        <a:xfrm>
          <a:off x="0" y="0"/>
          <a:ext cx="0" cy="0"/>
          <a:chOff x="0" y="0"/>
          <a:chExt cx="0" cy="0"/>
        </a:xfrm>
      </p:grpSpPr>
      <p:sp>
        <p:nvSpPr>
          <p:cNvPr id="453" name="Google Shape;453;p15"/>
          <p:cNvSpPr/>
          <p:nvPr/>
        </p:nvSpPr>
        <p:spPr>
          <a:xfrm rot="-5400000">
            <a:off x="10565161" y="5231161"/>
            <a:ext cx="357822" cy="2895854"/>
          </a:xfrm>
          <a:custGeom>
            <a:rect b="b" l="l" r="r" t="t"/>
            <a:pathLst>
              <a:path extrusionOk="0" h="2895854" w="357822">
                <a:moveTo>
                  <a:pt x="0" y="0"/>
                </a:moveTo>
                <a:lnTo>
                  <a:pt x="357823" y="0"/>
                </a:lnTo>
                <a:lnTo>
                  <a:pt x="357823" y="2895854"/>
                </a:lnTo>
                <a:lnTo>
                  <a:pt x="0" y="2895854"/>
                </a:lnTo>
                <a:close/>
              </a:path>
            </a:pathLst>
          </a:custGeom>
          <a:solidFill>
            <a:srgbClr val="FDD402"/>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54" name="Google Shape;454;p15"/>
          <p:cNvSpPr/>
          <p:nvPr/>
        </p:nvSpPr>
        <p:spPr>
          <a:xfrm rot="-5400000">
            <a:off x="4469161" y="2031015"/>
            <a:ext cx="357822" cy="9296146"/>
          </a:xfrm>
          <a:custGeom>
            <a:rect b="b" l="l" r="r" t="t"/>
            <a:pathLst>
              <a:path extrusionOk="0" h="9296146" w="357822">
                <a:moveTo>
                  <a:pt x="0" y="0"/>
                </a:moveTo>
                <a:lnTo>
                  <a:pt x="357822" y="0"/>
                </a:lnTo>
                <a:lnTo>
                  <a:pt x="357822" y="9296146"/>
                </a:lnTo>
                <a:lnTo>
                  <a:pt x="0" y="9296146"/>
                </a:lnTo>
                <a:close/>
              </a:path>
            </a:pathLst>
          </a:custGeom>
          <a:solidFill>
            <a:srgbClr val="00416B"/>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55" name="Google Shape;455;p15"/>
          <p:cNvSpPr txBox="1"/>
          <p:nvPr/>
        </p:nvSpPr>
        <p:spPr>
          <a:xfrm>
            <a:off x="1100772" y="6512242"/>
            <a:ext cx="4739118" cy="3231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500">
                <a:solidFill>
                  <a:schemeClr val="lt1"/>
                </a:solidFill>
                <a:latin typeface="Arial"/>
                <a:ea typeface="Arial"/>
                <a:cs typeface="Arial"/>
                <a:sym typeface="Arial"/>
              </a:rPr>
              <a:t>LOCALLY ROOTED, GLOBALLY RESPECTED</a:t>
            </a:r>
            <a:endParaRPr/>
          </a:p>
        </p:txBody>
      </p:sp>
      <p:sp>
        <p:nvSpPr>
          <p:cNvPr id="456" name="Google Shape;456;p15"/>
          <p:cNvSpPr txBox="1"/>
          <p:nvPr/>
        </p:nvSpPr>
        <p:spPr>
          <a:xfrm>
            <a:off x="10079736" y="6512242"/>
            <a:ext cx="156210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500">
                <a:solidFill>
                  <a:srgbClr val="00416B"/>
                </a:solidFill>
                <a:latin typeface="Arial"/>
                <a:ea typeface="Arial"/>
                <a:cs typeface="Arial"/>
                <a:sym typeface="Arial"/>
              </a:rPr>
              <a:t>ugm.ac.id</a:t>
            </a:r>
            <a:endParaRPr sz="1500">
              <a:solidFill>
                <a:srgbClr val="00416B"/>
              </a:solidFill>
              <a:latin typeface="Arial"/>
              <a:ea typeface="Arial"/>
              <a:cs typeface="Arial"/>
              <a:sym typeface="Arial"/>
            </a:endParaRPr>
          </a:p>
        </p:txBody>
      </p:sp>
      <p:grpSp>
        <p:nvGrpSpPr>
          <p:cNvPr id="458" name="Google Shape;458;p15"/>
          <p:cNvGrpSpPr/>
          <p:nvPr/>
        </p:nvGrpSpPr>
        <p:grpSpPr>
          <a:xfrm>
            <a:off x="6091745" y="1890839"/>
            <a:ext cx="6100445" cy="4061269"/>
            <a:chOff x="6091745" y="1890839"/>
            <a:chExt cx="6100445" cy="4061269"/>
          </a:xfrm>
        </p:grpSpPr>
        <p:sp>
          <p:nvSpPr>
            <p:cNvPr id="459" name="Google Shape;459;p15"/>
            <p:cNvSpPr/>
            <p:nvPr/>
          </p:nvSpPr>
          <p:spPr>
            <a:xfrm>
              <a:off x="6099302" y="1890839"/>
              <a:ext cx="6092697" cy="2277999"/>
            </a:xfrm>
            <a:custGeom>
              <a:rect b="b" l="l" r="r" t="t"/>
              <a:pathLst>
                <a:path extrusionOk="0" h="2277999" w="6092697">
                  <a:moveTo>
                    <a:pt x="6092698" y="0"/>
                  </a:moveTo>
                  <a:lnTo>
                    <a:pt x="3759962" y="958596"/>
                  </a:lnTo>
                  <a:lnTo>
                    <a:pt x="3757930" y="950913"/>
                  </a:lnTo>
                  <a:lnTo>
                    <a:pt x="1948434" y="1430401"/>
                  </a:lnTo>
                  <a:lnTo>
                    <a:pt x="0" y="2218563"/>
                  </a:lnTo>
                  <a:lnTo>
                    <a:pt x="0" y="2277999"/>
                  </a:lnTo>
                  <a:lnTo>
                    <a:pt x="5143" y="2276729"/>
                  </a:lnTo>
                  <a:lnTo>
                    <a:pt x="3233293" y="1483805"/>
                  </a:lnTo>
                  <a:lnTo>
                    <a:pt x="2892869" y="1416241"/>
                  </a:lnTo>
                  <a:lnTo>
                    <a:pt x="6092698" y="579501"/>
                  </a:lnTo>
                  <a:lnTo>
                    <a:pt x="6092698" y="570865"/>
                  </a:lnTo>
                  <a:lnTo>
                    <a:pt x="2878518" y="1411351"/>
                  </a:lnTo>
                  <a:lnTo>
                    <a:pt x="2878518" y="1330198"/>
                  </a:lnTo>
                  <a:lnTo>
                    <a:pt x="6092698" y="480886"/>
                  </a:lnTo>
                  <a:lnTo>
                    <a:pt x="6092698" y="472250"/>
                  </a:lnTo>
                  <a:lnTo>
                    <a:pt x="2934335" y="1306767"/>
                  </a:lnTo>
                  <a:lnTo>
                    <a:pt x="6092698" y="8954"/>
                  </a:lnTo>
                  <a:lnTo>
                    <a:pt x="6092698" y="0"/>
                  </a:lnTo>
                  <a:close/>
                  <a:moveTo>
                    <a:pt x="111125" y="2182622"/>
                  </a:moveTo>
                  <a:lnTo>
                    <a:pt x="3017139" y="1449324"/>
                  </a:lnTo>
                  <a:lnTo>
                    <a:pt x="3194939" y="1484630"/>
                  </a:lnTo>
                  <a:lnTo>
                    <a:pt x="8382" y="2267331"/>
                  </a:lnTo>
                  <a:lnTo>
                    <a:pt x="8382" y="2224151"/>
                  </a:lnTo>
                  <a:lnTo>
                    <a:pt x="111125" y="2182622"/>
                  </a:lnTo>
                  <a:close/>
                  <a:moveTo>
                    <a:pt x="479044" y="2033778"/>
                  </a:moveTo>
                  <a:lnTo>
                    <a:pt x="2874454" y="1421003"/>
                  </a:lnTo>
                  <a:lnTo>
                    <a:pt x="2998089" y="1445514"/>
                  </a:lnTo>
                  <a:lnTo>
                    <a:pt x="167513" y="2159762"/>
                  </a:lnTo>
                  <a:lnTo>
                    <a:pt x="479044" y="2033778"/>
                  </a:lnTo>
                  <a:close/>
                  <a:moveTo>
                    <a:pt x="3757422" y="959612"/>
                  </a:moveTo>
                  <a:lnTo>
                    <a:pt x="2872994" y="1323023"/>
                  </a:lnTo>
                  <a:lnTo>
                    <a:pt x="2870137" y="1323785"/>
                  </a:lnTo>
                  <a:lnTo>
                    <a:pt x="2870137" y="1413510"/>
                  </a:lnTo>
                  <a:lnTo>
                    <a:pt x="536766" y="2010410"/>
                  </a:lnTo>
                  <a:lnTo>
                    <a:pt x="1951038" y="1438275"/>
                  </a:lnTo>
                  <a:lnTo>
                    <a:pt x="3757422" y="959612"/>
                  </a:lnTo>
                  <a:close/>
                </a:path>
              </a:pathLst>
            </a:custGeom>
            <a:solidFill>
              <a:srgbClr val="0D436B"/>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0" name="Google Shape;460;p15"/>
            <p:cNvSpPr/>
            <p:nvPr/>
          </p:nvSpPr>
          <p:spPr>
            <a:xfrm>
              <a:off x="12012993" y="4780343"/>
              <a:ext cx="179069" cy="825563"/>
            </a:xfrm>
            <a:custGeom>
              <a:rect b="b" l="l" r="r" t="t"/>
              <a:pathLst>
                <a:path extrusionOk="0" h="825563" w="179069">
                  <a:moveTo>
                    <a:pt x="0" y="825564"/>
                  </a:moveTo>
                  <a:lnTo>
                    <a:pt x="0" y="305372"/>
                  </a:lnTo>
                  <a:cubicBezTo>
                    <a:pt x="0" y="120904"/>
                    <a:pt x="10604" y="0"/>
                    <a:pt x="152336" y="0"/>
                  </a:cubicBezTo>
                  <a:cubicBezTo>
                    <a:pt x="161417" y="0"/>
                    <a:pt x="170307" y="1143"/>
                    <a:pt x="179070" y="3302"/>
                  </a:cubicBezTo>
                  <a:lnTo>
                    <a:pt x="179070" y="12002"/>
                  </a:lnTo>
                  <a:cubicBezTo>
                    <a:pt x="170370" y="9652"/>
                    <a:pt x="161417" y="8318"/>
                    <a:pt x="152336" y="8318"/>
                  </a:cubicBezTo>
                  <a:cubicBezTo>
                    <a:pt x="90488" y="8318"/>
                    <a:pt x="53657" y="30988"/>
                    <a:pt x="32893" y="81788"/>
                  </a:cubicBezTo>
                  <a:cubicBezTo>
                    <a:pt x="12573" y="131572"/>
                    <a:pt x="8382" y="207201"/>
                    <a:pt x="8382" y="305372"/>
                  </a:cubicBezTo>
                  <a:lnTo>
                    <a:pt x="8382" y="825564"/>
                  </a:lnTo>
                  <a:lnTo>
                    <a:pt x="0" y="825564"/>
                  </a:lnTo>
                  <a:close/>
                </a:path>
              </a:pathLst>
            </a:custGeom>
            <a:solidFill>
              <a:srgbClr val="0D436B"/>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1" name="Google Shape;461;p15"/>
            <p:cNvSpPr/>
            <p:nvPr/>
          </p:nvSpPr>
          <p:spPr>
            <a:xfrm>
              <a:off x="6506673" y="4222051"/>
              <a:ext cx="74862" cy="1211643"/>
            </a:xfrm>
            <a:custGeom>
              <a:rect b="b" l="l" r="r" t="t"/>
              <a:pathLst>
                <a:path extrusionOk="0" h="1211643" w="74862">
                  <a:moveTo>
                    <a:pt x="25000" y="8572"/>
                  </a:moveTo>
                  <a:cubicBezTo>
                    <a:pt x="30334" y="2921"/>
                    <a:pt x="36557" y="64"/>
                    <a:pt x="43479" y="0"/>
                  </a:cubicBezTo>
                  <a:cubicBezTo>
                    <a:pt x="43479" y="0"/>
                    <a:pt x="43479" y="0"/>
                    <a:pt x="43479" y="0"/>
                  </a:cubicBezTo>
                  <a:cubicBezTo>
                    <a:pt x="47479" y="0"/>
                    <a:pt x="51098" y="1651"/>
                    <a:pt x="54337" y="5016"/>
                  </a:cubicBezTo>
                  <a:cubicBezTo>
                    <a:pt x="77769" y="29146"/>
                    <a:pt x="74974" y="145669"/>
                    <a:pt x="74530" y="158750"/>
                  </a:cubicBezTo>
                  <a:lnTo>
                    <a:pt x="74530" y="1210945"/>
                  </a:lnTo>
                  <a:lnTo>
                    <a:pt x="66211" y="1210945"/>
                  </a:lnTo>
                  <a:lnTo>
                    <a:pt x="66211" y="158559"/>
                  </a:lnTo>
                  <a:cubicBezTo>
                    <a:pt x="67291" y="123634"/>
                    <a:pt x="66084" y="29020"/>
                    <a:pt x="48368" y="10795"/>
                  </a:cubicBezTo>
                  <a:cubicBezTo>
                    <a:pt x="46781" y="9144"/>
                    <a:pt x="45193" y="8318"/>
                    <a:pt x="43479" y="8318"/>
                  </a:cubicBezTo>
                  <a:cubicBezTo>
                    <a:pt x="43479" y="8318"/>
                    <a:pt x="43479" y="8318"/>
                    <a:pt x="43479" y="8318"/>
                  </a:cubicBezTo>
                  <a:cubicBezTo>
                    <a:pt x="38907" y="8318"/>
                    <a:pt x="34843" y="10287"/>
                    <a:pt x="31033" y="14224"/>
                  </a:cubicBezTo>
                  <a:cubicBezTo>
                    <a:pt x="2204" y="44831"/>
                    <a:pt x="9061" y="171259"/>
                    <a:pt x="9125" y="172783"/>
                  </a:cubicBezTo>
                  <a:lnTo>
                    <a:pt x="9125" y="1211644"/>
                  </a:lnTo>
                  <a:lnTo>
                    <a:pt x="807" y="1211644"/>
                  </a:lnTo>
                  <a:lnTo>
                    <a:pt x="807" y="172974"/>
                  </a:lnTo>
                  <a:cubicBezTo>
                    <a:pt x="553" y="167703"/>
                    <a:pt x="-6305" y="41720"/>
                    <a:pt x="25000" y="8572"/>
                  </a:cubicBezTo>
                  <a:close/>
                </a:path>
              </a:pathLst>
            </a:custGeom>
            <a:solidFill>
              <a:srgbClr val="0D436B"/>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2" name="Google Shape;462;p15"/>
            <p:cNvSpPr/>
            <p:nvPr/>
          </p:nvSpPr>
          <p:spPr>
            <a:xfrm>
              <a:off x="11909488" y="4740783"/>
              <a:ext cx="282511" cy="868362"/>
            </a:xfrm>
            <a:custGeom>
              <a:rect b="b" l="l" r="r" t="t"/>
              <a:pathLst>
                <a:path extrusionOk="0" h="868362" w="282511">
                  <a:moveTo>
                    <a:pt x="0" y="868363"/>
                  </a:moveTo>
                  <a:lnTo>
                    <a:pt x="0" y="295465"/>
                  </a:lnTo>
                  <a:cubicBezTo>
                    <a:pt x="0" y="28765"/>
                    <a:pt x="153860" y="0"/>
                    <a:pt x="219964" y="0"/>
                  </a:cubicBezTo>
                  <a:cubicBezTo>
                    <a:pt x="241554" y="0"/>
                    <a:pt x="262509" y="5080"/>
                    <a:pt x="282511" y="14922"/>
                  </a:cubicBezTo>
                  <a:lnTo>
                    <a:pt x="282511" y="24320"/>
                  </a:lnTo>
                  <a:cubicBezTo>
                    <a:pt x="264223" y="14605"/>
                    <a:pt x="243395" y="8318"/>
                    <a:pt x="219964" y="8318"/>
                  </a:cubicBezTo>
                  <a:cubicBezTo>
                    <a:pt x="156337" y="8318"/>
                    <a:pt x="8318" y="36322"/>
                    <a:pt x="8318" y="295465"/>
                  </a:cubicBezTo>
                  <a:lnTo>
                    <a:pt x="8318" y="868363"/>
                  </a:lnTo>
                  <a:lnTo>
                    <a:pt x="0" y="868363"/>
                  </a:lnTo>
                  <a:close/>
                </a:path>
              </a:pathLst>
            </a:custGeom>
            <a:solidFill>
              <a:srgbClr val="0D436B"/>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3" name="Google Shape;463;p15"/>
            <p:cNvSpPr/>
            <p:nvPr/>
          </p:nvSpPr>
          <p:spPr>
            <a:xfrm>
              <a:off x="8431783" y="5835586"/>
              <a:ext cx="3760216" cy="116522"/>
            </a:xfrm>
            <a:custGeom>
              <a:rect b="b" l="l" r="r" t="t"/>
              <a:pathLst>
                <a:path extrusionOk="0" h="116522" w="3760216">
                  <a:moveTo>
                    <a:pt x="5588" y="45847"/>
                  </a:moveTo>
                  <a:lnTo>
                    <a:pt x="5588" y="0"/>
                  </a:lnTo>
                  <a:lnTo>
                    <a:pt x="3760216" y="58229"/>
                  </a:lnTo>
                  <a:lnTo>
                    <a:pt x="3760216" y="66548"/>
                  </a:lnTo>
                  <a:lnTo>
                    <a:pt x="13970" y="8509"/>
                  </a:lnTo>
                  <a:lnTo>
                    <a:pt x="13970" y="46038"/>
                  </a:lnTo>
                  <a:lnTo>
                    <a:pt x="3760216" y="108204"/>
                  </a:lnTo>
                  <a:lnTo>
                    <a:pt x="3760216" y="116523"/>
                  </a:lnTo>
                  <a:lnTo>
                    <a:pt x="0" y="54102"/>
                  </a:lnTo>
                  <a:lnTo>
                    <a:pt x="191" y="45784"/>
                  </a:lnTo>
                  <a:close/>
                </a:path>
              </a:pathLst>
            </a:custGeom>
            <a:solidFill>
              <a:srgbClr val="0D436B"/>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4" name="Google Shape;464;p15"/>
            <p:cNvSpPr/>
            <p:nvPr/>
          </p:nvSpPr>
          <p:spPr>
            <a:xfrm>
              <a:off x="11104943" y="4486465"/>
              <a:ext cx="8318" cy="183387"/>
            </a:xfrm>
            <a:custGeom>
              <a:rect b="b" l="l" r="r" t="t"/>
              <a:pathLst>
                <a:path extrusionOk="0" h="183387" w="8318">
                  <a:moveTo>
                    <a:pt x="0" y="0"/>
                  </a:moveTo>
                  <a:lnTo>
                    <a:pt x="8319" y="0"/>
                  </a:lnTo>
                  <a:lnTo>
                    <a:pt x="8319" y="183388"/>
                  </a:lnTo>
                  <a:lnTo>
                    <a:pt x="0" y="183388"/>
                  </a:lnTo>
                  <a:close/>
                </a:path>
              </a:pathLst>
            </a:custGeom>
            <a:solidFill>
              <a:srgbClr val="0D436B"/>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5" name="Google Shape;465;p15"/>
            <p:cNvSpPr/>
            <p:nvPr/>
          </p:nvSpPr>
          <p:spPr>
            <a:xfrm>
              <a:off x="11811546" y="4683569"/>
              <a:ext cx="380453" cy="922273"/>
            </a:xfrm>
            <a:custGeom>
              <a:rect b="b" l="l" r="r" t="t"/>
              <a:pathLst>
                <a:path extrusionOk="0" h="922273" w="380453">
                  <a:moveTo>
                    <a:pt x="95211" y="65659"/>
                  </a:moveTo>
                  <a:cubicBezTo>
                    <a:pt x="136931" y="22098"/>
                    <a:pt x="191287" y="0"/>
                    <a:pt x="256756" y="0"/>
                  </a:cubicBezTo>
                  <a:cubicBezTo>
                    <a:pt x="256883" y="0"/>
                    <a:pt x="257010" y="0"/>
                    <a:pt x="257073" y="0"/>
                  </a:cubicBezTo>
                  <a:cubicBezTo>
                    <a:pt x="304571" y="64"/>
                    <a:pt x="345783" y="9970"/>
                    <a:pt x="380453" y="29401"/>
                  </a:cubicBezTo>
                  <a:lnTo>
                    <a:pt x="380453" y="38989"/>
                  </a:lnTo>
                  <a:cubicBezTo>
                    <a:pt x="346227" y="18669"/>
                    <a:pt x="304952" y="8382"/>
                    <a:pt x="257073" y="8318"/>
                  </a:cubicBezTo>
                  <a:cubicBezTo>
                    <a:pt x="256946" y="8318"/>
                    <a:pt x="256883" y="8318"/>
                    <a:pt x="256756" y="8318"/>
                  </a:cubicBezTo>
                  <a:cubicBezTo>
                    <a:pt x="193700" y="8318"/>
                    <a:pt x="141376" y="29527"/>
                    <a:pt x="101244" y="71374"/>
                  </a:cubicBezTo>
                  <a:cubicBezTo>
                    <a:pt x="914" y="176022"/>
                    <a:pt x="8407" y="377127"/>
                    <a:pt x="8471" y="379349"/>
                  </a:cubicBezTo>
                  <a:lnTo>
                    <a:pt x="8471" y="922274"/>
                  </a:lnTo>
                  <a:lnTo>
                    <a:pt x="152" y="922274"/>
                  </a:lnTo>
                  <a:lnTo>
                    <a:pt x="152" y="379540"/>
                  </a:lnTo>
                  <a:cubicBezTo>
                    <a:pt x="88" y="377508"/>
                    <a:pt x="-7595" y="172910"/>
                    <a:pt x="95211" y="65659"/>
                  </a:cubicBezTo>
                  <a:close/>
                </a:path>
              </a:pathLst>
            </a:custGeom>
            <a:solidFill>
              <a:srgbClr val="0D436B"/>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6" name="Google Shape;466;p15"/>
            <p:cNvSpPr/>
            <p:nvPr/>
          </p:nvSpPr>
          <p:spPr>
            <a:xfrm>
              <a:off x="6091745" y="2697607"/>
              <a:ext cx="6100445" cy="3144964"/>
            </a:xfrm>
            <a:custGeom>
              <a:rect b="b" l="l" r="r" t="t"/>
              <a:pathLst>
                <a:path extrusionOk="0" h="3144964" w="6100445">
                  <a:moveTo>
                    <a:pt x="0" y="1479359"/>
                  </a:moveTo>
                  <a:lnTo>
                    <a:pt x="0" y="1487678"/>
                  </a:lnTo>
                  <a:lnTo>
                    <a:pt x="217043" y="1487615"/>
                  </a:lnTo>
                  <a:lnTo>
                    <a:pt x="217043" y="3047175"/>
                  </a:lnTo>
                  <a:lnTo>
                    <a:pt x="221170" y="3047238"/>
                  </a:lnTo>
                  <a:lnTo>
                    <a:pt x="648779" y="3052890"/>
                  </a:lnTo>
                  <a:lnTo>
                    <a:pt x="648779" y="3098483"/>
                  </a:lnTo>
                  <a:lnTo>
                    <a:pt x="652907" y="3098546"/>
                  </a:lnTo>
                  <a:lnTo>
                    <a:pt x="2384108" y="3123184"/>
                  </a:lnTo>
                  <a:lnTo>
                    <a:pt x="2384108" y="3124200"/>
                  </a:lnTo>
                  <a:lnTo>
                    <a:pt x="2480120" y="3124200"/>
                  </a:lnTo>
                  <a:lnTo>
                    <a:pt x="2480120" y="3101340"/>
                  </a:lnTo>
                  <a:lnTo>
                    <a:pt x="6100382" y="3144965"/>
                  </a:lnTo>
                  <a:lnTo>
                    <a:pt x="6100382" y="3136646"/>
                  </a:lnTo>
                  <a:lnTo>
                    <a:pt x="2606802" y="3094546"/>
                  </a:lnTo>
                  <a:lnTo>
                    <a:pt x="2606802" y="3055049"/>
                  </a:lnTo>
                  <a:lnTo>
                    <a:pt x="6100382" y="3090863"/>
                  </a:lnTo>
                  <a:lnTo>
                    <a:pt x="6100382" y="3082544"/>
                  </a:lnTo>
                  <a:lnTo>
                    <a:pt x="2717927" y="3047873"/>
                  </a:lnTo>
                  <a:lnTo>
                    <a:pt x="2717927" y="3009328"/>
                  </a:lnTo>
                  <a:lnTo>
                    <a:pt x="6100382" y="3034157"/>
                  </a:lnTo>
                  <a:lnTo>
                    <a:pt x="6100382" y="3025839"/>
                  </a:lnTo>
                  <a:lnTo>
                    <a:pt x="2821114" y="3001772"/>
                  </a:lnTo>
                  <a:lnTo>
                    <a:pt x="2821114" y="2963672"/>
                  </a:lnTo>
                  <a:lnTo>
                    <a:pt x="6100382" y="2987358"/>
                  </a:lnTo>
                  <a:lnTo>
                    <a:pt x="6100382" y="2979039"/>
                  </a:lnTo>
                  <a:lnTo>
                    <a:pt x="2935351" y="2956179"/>
                  </a:lnTo>
                  <a:lnTo>
                    <a:pt x="2935351" y="2922270"/>
                  </a:lnTo>
                  <a:lnTo>
                    <a:pt x="3179191" y="2922270"/>
                  </a:lnTo>
                  <a:lnTo>
                    <a:pt x="3183382" y="2922270"/>
                  </a:lnTo>
                  <a:lnTo>
                    <a:pt x="6100255" y="2922270"/>
                  </a:lnTo>
                  <a:lnTo>
                    <a:pt x="6100255" y="2913952"/>
                  </a:lnTo>
                  <a:lnTo>
                    <a:pt x="5217732" y="2913952"/>
                  </a:lnTo>
                  <a:lnTo>
                    <a:pt x="5217732" y="2374075"/>
                  </a:lnTo>
                  <a:cubicBezTo>
                    <a:pt x="5217732" y="2129346"/>
                    <a:pt x="5354574" y="2102930"/>
                    <a:pt x="5413375" y="2102930"/>
                  </a:cubicBezTo>
                  <a:cubicBezTo>
                    <a:pt x="5464937" y="2102930"/>
                    <a:pt x="5503037" y="2136203"/>
                    <a:pt x="5527993" y="2168652"/>
                  </a:cubicBezTo>
                  <a:cubicBezTo>
                    <a:pt x="5503989" y="2144966"/>
                    <a:pt x="5476113" y="2131949"/>
                    <a:pt x="5446522" y="2131949"/>
                  </a:cubicBezTo>
                  <a:cubicBezTo>
                    <a:pt x="5315013" y="2131949"/>
                    <a:pt x="5305171" y="2246313"/>
                    <a:pt x="5305171" y="2420811"/>
                  </a:cubicBezTo>
                  <a:lnTo>
                    <a:pt x="5305171" y="2912427"/>
                  </a:lnTo>
                  <a:lnTo>
                    <a:pt x="5313489" y="2912427"/>
                  </a:lnTo>
                  <a:lnTo>
                    <a:pt x="5313489" y="2420811"/>
                  </a:lnTo>
                  <a:cubicBezTo>
                    <a:pt x="5313489" y="2328037"/>
                    <a:pt x="5317363" y="2256600"/>
                    <a:pt x="5336159" y="2209546"/>
                  </a:cubicBezTo>
                  <a:cubicBezTo>
                    <a:pt x="5355336" y="2161667"/>
                    <a:pt x="5389372" y="2140268"/>
                    <a:pt x="5446459" y="2140268"/>
                  </a:cubicBezTo>
                  <a:cubicBezTo>
                    <a:pt x="5499354" y="2140268"/>
                    <a:pt x="5547106" y="2185607"/>
                    <a:pt x="5574221" y="2261489"/>
                  </a:cubicBezTo>
                  <a:cubicBezTo>
                    <a:pt x="5581269" y="2310575"/>
                    <a:pt x="5578221" y="2348992"/>
                    <a:pt x="5578158" y="2349754"/>
                  </a:cubicBezTo>
                  <a:lnTo>
                    <a:pt x="5578158" y="2912364"/>
                  </a:lnTo>
                  <a:lnTo>
                    <a:pt x="5586476" y="2912364"/>
                  </a:lnTo>
                  <a:lnTo>
                    <a:pt x="5586476" y="2350071"/>
                  </a:lnTo>
                  <a:cubicBezTo>
                    <a:pt x="5586539" y="2349500"/>
                    <a:pt x="5589651" y="2310066"/>
                    <a:pt x="5582348" y="2259647"/>
                  </a:cubicBezTo>
                  <a:lnTo>
                    <a:pt x="5582475" y="2259584"/>
                  </a:lnTo>
                  <a:cubicBezTo>
                    <a:pt x="5582412" y="2259394"/>
                    <a:pt x="5582348" y="2259266"/>
                    <a:pt x="5582285" y="2259076"/>
                  </a:cubicBezTo>
                  <a:cubicBezTo>
                    <a:pt x="5574983" y="2209356"/>
                    <a:pt x="5557457" y="2149031"/>
                    <a:pt x="5516753" y="2104644"/>
                  </a:cubicBezTo>
                  <a:cubicBezTo>
                    <a:pt x="5477828" y="2062163"/>
                    <a:pt x="5424107" y="2040636"/>
                    <a:pt x="5356987" y="2040509"/>
                  </a:cubicBezTo>
                  <a:cubicBezTo>
                    <a:pt x="5356860" y="2040509"/>
                    <a:pt x="5356797" y="2040509"/>
                    <a:pt x="5356670" y="2040509"/>
                  </a:cubicBezTo>
                  <a:cubicBezTo>
                    <a:pt x="5296789" y="2040509"/>
                    <a:pt x="5246942" y="2060829"/>
                    <a:pt x="5208461" y="2100961"/>
                  </a:cubicBezTo>
                  <a:cubicBezTo>
                    <a:pt x="5111560" y="2201990"/>
                    <a:pt x="5118735" y="2397443"/>
                    <a:pt x="5118862" y="2399411"/>
                  </a:cubicBezTo>
                  <a:lnTo>
                    <a:pt x="5118862" y="2912364"/>
                  </a:lnTo>
                  <a:lnTo>
                    <a:pt x="5127181" y="2912364"/>
                  </a:lnTo>
                  <a:lnTo>
                    <a:pt x="5127181" y="2399221"/>
                  </a:lnTo>
                  <a:cubicBezTo>
                    <a:pt x="5127117" y="2397125"/>
                    <a:pt x="5120069" y="2205101"/>
                    <a:pt x="5214493" y="2106676"/>
                  </a:cubicBezTo>
                  <a:cubicBezTo>
                    <a:pt x="5251324" y="2068259"/>
                    <a:pt x="5299202" y="2048827"/>
                    <a:pt x="5356670" y="2048827"/>
                  </a:cubicBezTo>
                  <a:cubicBezTo>
                    <a:pt x="5356797" y="2048827"/>
                    <a:pt x="5356860" y="2048827"/>
                    <a:pt x="5356987" y="2048827"/>
                  </a:cubicBezTo>
                  <a:cubicBezTo>
                    <a:pt x="5421630" y="2048891"/>
                    <a:pt x="5473319" y="2069592"/>
                    <a:pt x="5510594" y="2110232"/>
                  </a:cubicBezTo>
                  <a:cubicBezTo>
                    <a:pt x="5536692" y="2138680"/>
                    <a:pt x="5552885" y="2173986"/>
                    <a:pt x="5562981" y="2208721"/>
                  </a:cubicBezTo>
                  <a:cubicBezTo>
                    <a:pt x="5544630" y="2172843"/>
                    <a:pt x="5495163" y="2094547"/>
                    <a:pt x="5413311" y="2094547"/>
                  </a:cubicBezTo>
                  <a:cubicBezTo>
                    <a:pt x="5351971" y="2094547"/>
                    <a:pt x="5209349" y="2121789"/>
                    <a:pt x="5209349" y="2374011"/>
                  </a:cubicBezTo>
                  <a:lnTo>
                    <a:pt x="5209349" y="2913888"/>
                  </a:lnTo>
                  <a:lnTo>
                    <a:pt x="4677220" y="2913888"/>
                  </a:lnTo>
                  <a:lnTo>
                    <a:pt x="4677220" y="2396300"/>
                  </a:lnTo>
                  <a:cubicBezTo>
                    <a:pt x="4677220" y="2185226"/>
                    <a:pt x="4781360" y="2144141"/>
                    <a:pt x="4842066" y="2138109"/>
                  </a:cubicBezTo>
                  <a:cubicBezTo>
                    <a:pt x="4810570" y="2157540"/>
                    <a:pt x="4758563" y="2211007"/>
                    <a:pt x="4758563" y="2351786"/>
                  </a:cubicBezTo>
                  <a:lnTo>
                    <a:pt x="4758563" y="2911094"/>
                  </a:lnTo>
                  <a:lnTo>
                    <a:pt x="4766882" y="2911094"/>
                  </a:lnTo>
                  <a:lnTo>
                    <a:pt x="4766882" y="2351786"/>
                  </a:lnTo>
                  <a:cubicBezTo>
                    <a:pt x="4766882" y="2183638"/>
                    <a:pt x="4841621" y="2144840"/>
                    <a:pt x="4862512" y="2137283"/>
                  </a:cubicBezTo>
                  <a:cubicBezTo>
                    <a:pt x="4929886" y="2137982"/>
                    <a:pt x="4964430" y="2167700"/>
                    <a:pt x="4978083" y="2183575"/>
                  </a:cubicBezTo>
                  <a:cubicBezTo>
                    <a:pt x="5022342" y="2266188"/>
                    <a:pt x="5014150" y="2371852"/>
                    <a:pt x="5014023" y="2373122"/>
                  </a:cubicBezTo>
                  <a:lnTo>
                    <a:pt x="5014023" y="2911158"/>
                  </a:lnTo>
                  <a:lnTo>
                    <a:pt x="5022342" y="2911158"/>
                  </a:lnTo>
                  <a:lnTo>
                    <a:pt x="5022342" y="2373503"/>
                  </a:lnTo>
                  <a:cubicBezTo>
                    <a:pt x="5022342" y="2373503"/>
                    <a:pt x="5025454" y="2335721"/>
                    <a:pt x="5018786" y="2288096"/>
                  </a:cubicBezTo>
                  <a:cubicBezTo>
                    <a:pt x="5014849" y="2259775"/>
                    <a:pt x="5006849" y="2224151"/>
                    <a:pt x="4990783" y="2190369"/>
                  </a:cubicBezTo>
                  <a:lnTo>
                    <a:pt x="4992624" y="2189353"/>
                  </a:lnTo>
                  <a:cubicBezTo>
                    <a:pt x="4992243" y="2188718"/>
                    <a:pt x="4989767" y="2184273"/>
                    <a:pt x="4984496" y="2178050"/>
                  </a:cubicBezTo>
                  <a:cubicBezTo>
                    <a:pt x="4976559" y="2163572"/>
                    <a:pt x="4967097" y="2149602"/>
                    <a:pt x="4955540" y="2137029"/>
                  </a:cubicBezTo>
                  <a:cubicBezTo>
                    <a:pt x="4919218" y="2097469"/>
                    <a:pt x="4869307" y="2077339"/>
                    <a:pt x="4807331" y="2077276"/>
                  </a:cubicBezTo>
                  <a:cubicBezTo>
                    <a:pt x="4807204" y="2077276"/>
                    <a:pt x="4807141" y="2077276"/>
                    <a:pt x="4807013" y="2077276"/>
                  </a:cubicBezTo>
                  <a:cubicBezTo>
                    <a:pt x="4751705" y="2077276"/>
                    <a:pt x="4705477" y="2096198"/>
                    <a:pt x="4669663" y="2133537"/>
                  </a:cubicBezTo>
                  <a:cubicBezTo>
                    <a:pt x="4577334" y="2229676"/>
                    <a:pt x="4584129" y="2418778"/>
                    <a:pt x="4584192" y="2420620"/>
                  </a:cubicBezTo>
                  <a:lnTo>
                    <a:pt x="4584192" y="2911094"/>
                  </a:lnTo>
                  <a:lnTo>
                    <a:pt x="4592511" y="2911094"/>
                  </a:lnTo>
                  <a:lnTo>
                    <a:pt x="4592511" y="2420430"/>
                  </a:lnTo>
                  <a:cubicBezTo>
                    <a:pt x="4592447" y="2418397"/>
                    <a:pt x="4585780" y="2232851"/>
                    <a:pt x="4675696" y="2139252"/>
                  </a:cubicBezTo>
                  <a:cubicBezTo>
                    <a:pt x="4709922" y="2103628"/>
                    <a:pt x="4754118" y="2085594"/>
                    <a:pt x="4807013" y="2085594"/>
                  </a:cubicBezTo>
                  <a:cubicBezTo>
                    <a:pt x="4807141" y="2085594"/>
                    <a:pt x="4807204" y="2085594"/>
                    <a:pt x="4807331" y="2085594"/>
                  </a:cubicBezTo>
                  <a:cubicBezTo>
                    <a:pt x="4866894" y="2085658"/>
                    <a:pt x="4914710" y="2104834"/>
                    <a:pt x="4949444" y="2142617"/>
                  </a:cubicBezTo>
                  <a:cubicBezTo>
                    <a:pt x="4953762" y="2147316"/>
                    <a:pt x="4957699" y="2152206"/>
                    <a:pt x="4961446" y="2157222"/>
                  </a:cubicBezTo>
                  <a:cubicBezTo>
                    <a:pt x="4941125" y="2143062"/>
                    <a:pt x="4909503" y="2129472"/>
                    <a:pt x="4862703" y="2128965"/>
                  </a:cubicBezTo>
                  <a:lnTo>
                    <a:pt x="4862576" y="2128457"/>
                  </a:lnTo>
                  <a:cubicBezTo>
                    <a:pt x="4862132" y="2128584"/>
                    <a:pt x="4861687" y="2128774"/>
                    <a:pt x="4861179" y="2128901"/>
                  </a:cubicBezTo>
                  <a:cubicBezTo>
                    <a:pt x="4860799" y="2128901"/>
                    <a:pt x="4860481" y="2128901"/>
                    <a:pt x="4860099" y="2128901"/>
                  </a:cubicBezTo>
                  <a:cubicBezTo>
                    <a:pt x="4802632" y="2128901"/>
                    <a:pt x="4668964" y="2155000"/>
                    <a:pt x="4668964" y="2396300"/>
                  </a:cubicBezTo>
                  <a:lnTo>
                    <a:pt x="4668964" y="2913888"/>
                  </a:lnTo>
                  <a:lnTo>
                    <a:pt x="4195128" y="2913888"/>
                  </a:lnTo>
                  <a:lnTo>
                    <a:pt x="4195128" y="2419858"/>
                  </a:lnTo>
                  <a:cubicBezTo>
                    <a:pt x="4195128" y="2219198"/>
                    <a:pt x="4284091" y="2179130"/>
                    <a:pt x="4336733" y="2173034"/>
                  </a:cubicBezTo>
                  <a:cubicBezTo>
                    <a:pt x="4309237" y="2192020"/>
                    <a:pt x="4264660" y="2243455"/>
                    <a:pt x="4264660" y="2377250"/>
                  </a:cubicBezTo>
                  <a:lnTo>
                    <a:pt x="4264660" y="2912682"/>
                  </a:lnTo>
                  <a:lnTo>
                    <a:pt x="4272979" y="2912682"/>
                  </a:lnTo>
                  <a:lnTo>
                    <a:pt x="4272979" y="2377250"/>
                  </a:lnTo>
                  <a:cubicBezTo>
                    <a:pt x="4272979" y="2217039"/>
                    <a:pt x="4337050" y="2179574"/>
                    <a:pt x="4355465" y="2172145"/>
                  </a:cubicBezTo>
                  <a:cubicBezTo>
                    <a:pt x="4413504" y="2172843"/>
                    <a:pt x="4443222" y="2200783"/>
                    <a:pt x="4455033" y="2215959"/>
                  </a:cubicBezTo>
                  <a:cubicBezTo>
                    <a:pt x="4493514" y="2295081"/>
                    <a:pt x="4486466" y="2396427"/>
                    <a:pt x="4486402" y="2397696"/>
                  </a:cubicBezTo>
                  <a:lnTo>
                    <a:pt x="4486402" y="2912682"/>
                  </a:lnTo>
                  <a:lnTo>
                    <a:pt x="4494721" y="2912682"/>
                  </a:lnTo>
                  <a:lnTo>
                    <a:pt x="4494721" y="2398014"/>
                  </a:lnTo>
                  <a:cubicBezTo>
                    <a:pt x="4494721" y="2397951"/>
                    <a:pt x="4497514" y="2359851"/>
                    <a:pt x="4491164" y="2312480"/>
                  </a:cubicBezTo>
                  <a:cubicBezTo>
                    <a:pt x="4487609" y="2286127"/>
                    <a:pt x="4480623" y="2253615"/>
                    <a:pt x="4467288" y="2222690"/>
                  </a:cubicBezTo>
                  <a:lnTo>
                    <a:pt x="4468939" y="2221865"/>
                  </a:lnTo>
                  <a:cubicBezTo>
                    <a:pt x="4468622" y="2221230"/>
                    <a:pt x="4466463" y="2216976"/>
                    <a:pt x="4461891" y="2211007"/>
                  </a:cubicBezTo>
                  <a:cubicBezTo>
                    <a:pt x="4453699" y="2194496"/>
                    <a:pt x="4443539" y="2178749"/>
                    <a:pt x="4430839" y="2164969"/>
                  </a:cubicBezTo>
                  <a:cubicBezTo>
                    <a:pt x="4399788" y="2131377"/>
                    <a:pt x="4358323" y="2114359"/>
                    <a:pt x="4307586" y="2114233"/>
                  </a:cubicBezTo>
                  <a:cubicBezTo>
                    <a:pt x="4307523" y="2114233"/>
                    <a:pt x="4307396" y="2114233"/>
                    <a:pt x="4307332" y="2114233"/>
                  </a:cubicBezTo>
                  <a:cubicBezTo>
                    <a:pt x="4262247" y="2114233"/>
                    <a:pt x="4224020" y="2130171"/>
                    <a:pt x="4193731" y="2161603"/>
                  </a:cubicBezTo>
                  <a:cubicBezTo>
                    <a:pt x="4148391" y="2208657"/>
                    <a:pt x="4128961" y="2282762"/>
                    <a:pt x="4120642" y="2336673"/>
                  </a:cubicBezTo>
                  <a:cubicBezTo>
                    <a:pt x="4111688" y="2394839"/>
                    <a:pt x="4113339" y="2442655"/>
                    <a:pt x="4113403" y="2443099"/>
                  </a:cubicBezTo>
                  <a:lnTo>
                    <a:pt x="4113403" y="2912618"/>
                  </a:lnTo>
                  <a:lnTo>
                    <a:pt x="4121722" y="2912618"/>
                  </a:lnTo>
                  <a:lnTo>
                    <a:pt x="4121722" y="2442909"/>
                  </a:lnTo>
                  <a:cubicBezTo>
                    <a:pt x="4121658" y="2440877"/>
                    <a:pt x="4115625" y="2254504"/>
                    <a:pt x="4199763" y="2167319"/>
                  </a:cubicBezTo>
                  <a:cubicBezTo>
                    <a:pt x="4228401" y="2137601"/>
                    <a:pt x="4264597" y="2122551"/>
                    <a:pt x="4307332" y="2122551"/>
                  </a:cubicBezTo>
                  <a:cubicBezTo>
                    <a:pt x="4307396" y="2122551"/>
                    <a:pt x="4307523" y="2122551"/>
                    <a:pt x="4307586" y="2122551"/>
                  </a:cubicBezTo>
                  <a:cubicBezTo>
                    <a:pt x="4355910" y="2122615"/>
                    <a:pt x="4395343" y="2138744"/>
                    <a:pt x="4424744" y="2170557"/>
                  </a:cubicBezTo>
                  <a:cubicBezTo>
                    <a:pt x="4430141" y="2176399"/>
                    <a:pt x="4435094" y="2182686"/>
                    <a:pt x="4439603" y="2189290"/>
                  </a:cubicBezTo>
                  <a:cubicBezTo>
                    <a:pt x="4421759" y="2176209"/>
                    <a:pt x="4394708" y="2164144"/>
                    <a:pt x="4355401" y="2163763"/>
                  </a:cubicBezTo>
                  <a:lnTo>
                    <a:pt x="4355274" y="2163318"/>
                  </a:lnTo>
                  <a:cubicBezTo>
                    <a:pt x="4354957" y="2163445"/>
                    <a:pt x="4354576" y="2163572"/>
                    <a:pt x="4354195" y="2163699"/>
                  </a:cubicBezTo>
                  <a:cubicBezTo>
                    <a:pt x="4353941" y="2163699"/>
                    <a:pt x="4353687" y="2163699"/>
                    <a:pt x="4353370" y="2163699"/>
                  </a:cubicBezTo>
                  <a:cubicBezTo>
                    <a:pt x="4303332" y="2163699"/>
                    <a:pt x="4186936" y="2188655"/>
                    <a:pt x="4186936" y="2419858"/>
                  </a:cubicBezTo>
                  <a:lnTo>
                    <a:pt x="4186936" y="2913888"/>
                  </a:lnTo>
                  <a:lnTo>
                    <a:pt x="4028440" y="2913888"/>
                  </a:lnTo>
                  <a:lnTo>
                    <a:pt x="4028440" y="2418778"/>
                  </a:lnTo>
                  <a:cubicBezTo>
                    <a:pt x="4028758" y="2414207"/>
                    <a:pt x="4034663" y="2325307"/>
                    <a:pt x="4003611" y="2249869"/>
                  </a:cubicBezTo>
                  <a:lnTo>
                    <a:pt x="4004945" y="2249234"/>
                  </a:lnTo>
                  <a:cubicBezTo>
                    <a:pt x="4004691" y="2248662"/>
                    <a:pt x="4002849" y="2244852"/>
                    <a:pt x="3999039" y="2239518"/>
                  </a:cubicBezTo>
                  <a:cubicBezTo>
                    <a:pt x="3990785" y="2221928"/>
                    <a:pt x="3980371" y="2205355"/>
                    <a:pt x="3967162" y="2191131"/>
                  </a:cubicBezTo>
                  <a:cubicBezTo>
                    <a:pt x="3939159" y="2160969"/>
                    <a:pt x="3902265" y="2145665"/>
                    <a:pt x="3857561" y="2145602"/>
                  </a:cubicBezTo>
                  <a:cubicBezTo>
                    <a:pt x="3857498" y="2145602"/>
                    <a:pt x="3857371" y="2145602"/>
                    <a:pt x="3857308" y="2145602"/>
                  </a:cubicBezTo>
                  <a:cubicBezTo>
                    <a:pt x="3817620" y="2145602"/>
                    <a:pt x="3783774" y="2159826"/>
                    <a:pt x="3756660" y="2187956"/>
                  </a:cubicBezTo>
                  <a:cubicBezTo>
                    <a:pt x="3713607" y="2232533"/>
                    <a:pt x="3695128" y="2304859"/>
                    <a:pt x="3687255" y="2357628"/>
                  </a:cubicBezTo>
                  <a:cubicBezTo>
                    <a:pt x="3678746" y="2414588"/>
                    <a:pt x="3680333" y="2461768"/>
                    <a:pt x="3680333" y="2462213"/>
                  </a:cubicBezTo>
                  <a:lnTo>
                    <a:pt x="3680333" y="2913888"/>
                  </a:lnTo>
                  <a:lnTo>
                    <a:pt x="3597847" y="2913888"/>
                  </a:lnTo>
                  <a:lnTo>
                    <a:pt x="3597847" y="2451100"/>
                  </a:lnTo>
                  <a:cubicBezTo>
                    <a:pt x="3597973" y="2450021"/>
                    <a:pt x="3600386" y="2416810"/>
                    <a:pt x="3594608" y="2374202"/>
                  </a:cubicBezTo>
                  <a:cubicBezTo>
                    <a:pt x="3591370" y="2350326"/>
                    <a:pt x="3585020" y="2320798"/>
                    <a:pt x="3572764" y="2292731"/>
                  </a:cubicBezTo>
                  <a:lnTo>
                    <a:pt x="3574288" y="2291969"/>
                  </a:lnTo>
                  <a:cubicBezTo>
                    <a:pt x="3574034" y="2291397"/>
                    <a:pt x="3572002" y="2287588"/>
                    <a:pt x="3567938" y="2282253"/>
                  </a:cubicBezTo>
                  <a:cubicBezTo>
                    <a:pt x="3560572" y="2267521"/>
                    <a:pt x="3551491" y="2253488"/>
                    <a:pt x="3540061" y="2241169"/>
                  </a:cubicBezTo>
                  <a:cubicBezTo>
                    <a:pt x="3511613" y="2210435"/>
                    <a:pt x="3473577" y="2194814"/>
                    <a:pt x="3426968" y="2194751"/>
                  </a:cubicBezTo>
                  <a:cubicBezTo>
                    <a:pt x="3426905" y="2194751"/>
                    <a:pt x="3426841" y="2194751"/>
                    <a:pt x="3426714" y="2194751"/>
                  </a:cubicBezTo>
                  <a:cubicBezTo>
                    <a:pt x="3385248" y="2194751"/>
                    <a:pt x="3350197" y="2209356"/>
                    <a:pt x="3322447" y="2238121"/>
                  </a:cubicBezTo>
                  <a:cubicBezTo>
                    <a:pt x="3281362" y="2280793"/>
                    <a:pt x="3263773" y="2347595"/>
                    <a:pt x="3256216" y="2396109"/>
                  </a:cubicBezTo>
                  <a:cubicBezTo>
                    <a:pt x="3248088" y="2448433"/>
                    <a:pt x="3249612" y="2491486"/>
                    <a:pt x="3249676" y="2491867"/>
                  </a:cubicBezTo>
                  <a:lnTo>
                    <a:pt x="3249676" y="2913888"/>
                  </a:lnTo>
                  <a:lnTo>
                    <a:pt x="3187446" y="2913888"/>
                  </a:lnTo>
                  <a:lnTo>
                    <a:pt x="3187446" y="2139696"/>
                  </a:lnTo>
                  <a:lnTo>
                    <a:pt x="4221480" y="2049971"/>
                  </a:lnTo>
                  <a:lnTo>
                    <a:pt x="4221480" y="2050161"/>
                  </a:lnTo>
                  <a:lnTo>
                    <a:pt x="4229798" y="2050161"/>
                  </a:lnTo>
                  <a:lnTo>
                    <a:pt x="4229798" y="2049272"/>
                  </a:lnTo>
                  <a:lnTo>
                    <a:pt x="4249737" y="2047558"/>
                  </a:lnTo>
                  <a:lnTo>
                    <a:pt x="4253039" y="2047558"/>
                  </a:lnTo>
                  <a:lnTo>
                    <a:pt x="4253039" y="2047303"/>
                  </a:lnTo>
                  <a:lnTo>
                    <a:pt x="5250624" y="1960753"/>
                  </a:lnTo>
                  <a:lnTo>
                    <a:pt x="5256339" y="1960753"/>
                  </a:lnTo>
                  <a:lnTo>
                    <a:pt x="5256339" y="1960245"/>
                  </a:lnTo>
                  <a:lnTo>
                    <a:pt x="6100255" y="1887029"/>
                  </a:lnTo>
                  <a:lnTo>
                    <a:pt x="6100255" y="1878647"/>
                  </a:lnTo>
                  <a:lnTo>
                    <a:pt x="6082411" y="1880171"/>
                  </a:lnTo>
                  <a:lnTo>
                    <a:pt x="6082411" y="1672781"/>
                  </a:lnTo>
                  <a:lnTo>
                    <a:pt x="6100255" y="1670876"/>
                  </a:lnTo>
                  <a:lnTo>
                    <a:pt x="6100255" y="1662494"/>
                  </a:lnTo>
                  <a:lnTo>
                    <a:pt x="6082411" y="1664398"/>
                  </a:lnTo>
                  <a:lnTo>
                    <a:pt x="6082411" y="1663700"/>
                  </a:lnTo>
                  <a:lnTo>
                    <a:pt x="6074093" y="1663700"/>
                  </a:lnTo>
                  <a:lnTo>
                    <a:pt x="6074093" y="1665288"/>
                  </a:lnTo>
                  <a:lnTo>
                    <a:pt x="6049709" y="1667891"/>
                  </a:lnTo>
                  <a:lnTo>
                    <a:pt x="6049709" y="1667002"/>
                  </a:lnTo>
                  <a:lnTo>
                    <a:pt x="6041390" y="1667002"/>
                  </a:lnTo>
                  <a:lnTo>
                    <a:pt x="6041390" y="1668780"/>
                  </a:lnTo>
                  <a:lnTo>
                    <a:pt x="6017006" y="1671384"/>
                  </a:lnTo>
                  <a:lnTo>
                    <a:pt x="6017006" y="1670304"/>
                  </a:lnTo>
                  <a:lnTo>
                    <a:pt x="6008687" y="1670304"/>
                  </a:lnTo>
                  <a:lnTo>
                    <a:pt x="6008687" y="1672272"/>
                  </a:lnTo>
                  <a:lnTo>
                    <a:pt x="5984304" y="1674876"/>
                  </a:lnTo>
                  <a:lnTo>
                    <a:pt x="5984304" y="1673606"/>
                  </a:lnTo>
                  <a:lnTo>
                    <a:pt x="5975985" y="1673606"/>
                  </a:lnTo>
                  <a:lnTo>
                    <a:pt x="5975985" y="1675765"/>
                  </a:lnTo>
                  <a:lnTo>
                    <a:pt x="5955030" y="1677988"/>
                  </a:lnTo>
                  <a:lnTo>
                    <a:pt x="5955030" y="1586484"/>
                  </a:lnTo>
                  <a:lnTo>
                    <a:pt x="6100318" y="1569529"/>
                  </a:lnTo>
                  <a:lnTo>
                    <a:pt x="6100318" y="1561147"/>
                  </a:lnTo>
                  <a:lnTo>
                    <a:pt x="5955030" y="1578102"/>
                  </a:lnTo>
                  <a:lnTo>
                    <a:pt x="5955030" y="1496187"/>
                  </a:lnTo>
                  <a:lnTo>
                    <a:pt x="6099493" y="1479296"/>
                  </a:lnTo>
                  <a:lnTo>
                    <a:pt x="6099493" y="1484376"/>
                  </a:lnTo>
                  <a:lnTo>
                    <a:pt x="6100318" y="1484376"/>
                  </a:lnTo>
                  <a:lnTo>
                    <a:pt x="6100318" y="887222"/>
                  </a:lnTo>
                  <a:lnTo>
                    <a:pt x="6099493" y="887222"/>
                  </a:lnTo>
                  <a:lnTo>
                    <a:pt x="6099493" y="889952"/>
                  </a:lnTo>
                  <a:cubicBezTo>
                    <a:pt x="5982589" y="915543"/>
                    <a:pt x="5954903" y="1022731"/>
                    <a:pt x="5948553" y="1064323"/>
                  </a:cubicBezTo>
                  <a:lnTo>
                    <a:pt x="5941632" y="1065466"/>
                  </a:lnTo>
                  <a:lnTo>
                    <a:pt x="5942965" y="1073658"/>
                  </a:lnTo>
                  <a:lnTo>
                    <a:pt x="5947410" y="1072959"/>
                  </a:lnTo>
                  <a:cubicBezTo>
                    <a:pt x="5946838" y="1077849"/>
                    <a:pt x="5946711" y="1080707"/>
                    <a:pt x="5946711" y="1080960"/>
                  </a:cubicBezTo>
                  <a:lnTo>
                    <a:pt x="5946711" y="1215200"/>
                  </a:lnTo>
                  <a:lnTo>
                    <a:pt x="5941632" y="1216025"/>
                  </a:lnTo>
                  <a:lnTo>
                    <a:pt x="5942965" y="1224216"/>
                  </a:lnTo>
                  <a:lnTo>
                    <a:pt x="5946711" y="1223582"/>
                  </a:lnTo>
                  <a:lnTo>
                    <a:pt x="5946711" y="1364171"/>
                  </a:lnTo>
                  <a:lnTo>
                    <a:pt x="5941632" y="1364996"/>
                  </a:lnTo>
                  <a:lnTo>
                    <a:pt x="5942965" y="1373188"/>
                  </a:lnTo>
                  <a:lnTo>
                    <a:pt x="5946711" y="1372616"/>
                  </a:lnTo>
                  <a:lnTo>
                    <a:pt x="5946711" y="1676845"/>
                  </a:lnTo>
                  <a:lnTo>
                    <a:pt x="5943283" y="1676845"/>
                  </a:lnTo>
                  <a:lnTo>
                    <a:pt x="5943283" y="1679194"/>
                  </a:lnTo>
                  <a:lnTo>
                    <a:pt x="5918898" y="1681797"/>
                  </a:lnTo>
                  <a:lnTo>
                    <a:pt x="5918898" y="1680146"/>
                  </a:lnTo>
                  <a:lnTo>
                    <a:pt x="5910580" y="1680146"/>
                  </a:lnTo>
                  <a:lnTo>
                    <a:pt x="5910580" y="1682687"/>
                  </a:lnTo>
                  <a:lnTo>
                    <a:pt x="5886196" y="1685290"/>
                  </a:lnTo>
                  <a:lnTo>
                    <a:pt x="5886196" y="1683448"/>
                  </a:lnTo>
                  <a:lnTo>
                    <a:pt x="5877878" y="1683448"/>
                  </a:lnTo>
                  <a:lnTo>
                    <a:pt x="5877878" y="1686242"/>
                  </a:lnTo>
                  <a:lnTo>
                    <a:pt x="5853494" y="1688846"/>
                  </a:lnTo>
                  <a:lnTo>
                    <a:pt x="5853494" y="1686751"/>
                  </a:lnTo>
                  <a:lnTo>
                    <a:pt x="5845175" y="1686751"/>
                  </a:lnTo>
                  <a:lnTo>
                    <a:pt x="5845175" y="1689735"/>
                  </a:lnTo>
                  <a:lnTo>
                    <a:pt x="5820791" y="1692339"/>
                  </a:lnTo>
                  <a:lnTo>
                    <a:pt x="5820791" y="1690052"/>
                  </a:lnTo>
                  <a:lnTo>
                    <a:pt x="5812473" y="1690052"/>
                  </a:lnTo>
                  <a:lnTo>
                    <a:pt x="5812473" y="1693227"/>
                  </a:lnTo>
                  <a:lnTo>
                    <a:pt x="5789994" y="1695640"/>
                  </a:lnTo>
                  <a:lnTo>
                    <a:pt x="5789994" y="363347"/>
                  </a:lnTo>
                  <a:lnTo>
                    <a:pt x="6100445" y="295021"/>
                  </a:lnTo>
                  <a:lnTo>
                    <a:pt x="6100445" y="286512"/>
                  </a:lnTo>
                  <a:lnTo>
                    <a:pt x="5789994" y="354838"/>
                  </a:lnTo>
                  <a:lnTo>
                    <a:pt x="5789994" y="40449"/>
                  </a:lnTo>
                  <a:cubicBezTo>
                    <a:pt x="5790565" y="37782"/>
                    <a:pt x="5792216" y="27114"/>
                    <a:pt x="5784660" y="17272"/>
                  </a:cubicBezTo>
                  <a:cubicBezTo>
                    <a:pt x="5775897" y="5779"/>
                    <a:pt x="5758498" y="0"/>
                    <a:pt x="5732907" y="0"/>
                  </a:cubicBezTo>
                  <a:cubicBezTo>
                    <a:pt x="5667502" y="0"/>
                    <a:pt x="5657786" y="46736"/>
                    <a:pt x="5657724" y="47180"/>
                  </a:cubicBezTo>
                  <a:lnTo>
                    <a:pt x="5657660" y="47942"/>
                  </a:lnTo>
                  <a:lnTo>
                    <a:pt x="5657660" y="383921"/>
                  </a:lnTo>
                  <a:lnTo>
                    <a:pt x="5224018" y="479298"/>
                  </a:lnTo>
                  <a:lnTo>
                    <a:pt x="5224018" y="183451"/>
                  </a:lnTo>
                  <a:cubicBezTo>
                    <a:pt x="5224526" y="180276"/>
                    <a:pt x="5227130" y="160782"/>
                    <a:pt x="5214557" y="145542"/>
                  </a:cubicBezTo>
                  <a:cubicBezTo>
                    <a:pt x="5204841" y="133731"/>
                    <a:pt x="5188839" y="127762"/>
                    <a:pt x="5166995" y="127762"/>
                  </a:cubicBezTo>
                  <a:cubicBezTo>
                    <a:pt x="5101590" y="127762"/>
                    <a:pt x="5091874" y="172339"/>
                    <a:pt x="5091811" y="172783"/>
                  </a:cubicBezTo>
                  <a:lnTo>
                    <a:pt x="5091748" y="173609"/>
                  </a:lnTo>
                  <a:lnTo>
                    <a:pt x="5091748" y="508381"/>
                  </a:lnTo>
                  <a:lnTo>
                    <a:pt x="4687316" y="597345"/>
                  </a:lnTo>
                  <a:lnTo>
                    <a:pt x="4687316" y="326263"/>
                  </a:lnTo>
                  <a:cubicBezTo>
                    <a:pt x="4687761" y="323151"/>
                    <a:pt x="4690237" y="302895"/>
                    <a:pt x="4677664" y="287973"/>
                  </a:cubicBezTo>
                  <a:cubicBezTo>
                    <a:pt x="4669028" y="277685"/>
                    <a:pt x="4655439" y="272479"/>
                    <a:pt x="4637405" y="272479"/>
                  </a:cubicBezTo>
                  <a:cubicBezTo>
                    <a:pt x="4580255" y="272479"/>
                    <a:pt x="4571810" y="314960"/>
                    <a:pt x="4571746" y="315341"/>
                  </a:cubicBezTo>
                  <a:lnTo>
                    <a:pt x="4571683" y="316103"/>
                  </a:lnTo>
                  <a:lnTo>
                    <a:pt x="4571683" y="622935"/>
                  </a:lnTo>
                  <a:lnTo>
                    <a:pt x="4204780" y="703644"/>
                  </a:lnTo>
                  <a:lnTo>
                    <a:pt x="4204780" y="424815"/>
                  </a:lnTo>
                  <a:cubicBezTo>
                    <a:pt x="4205224" y="421704"/>
                    <a:pt x="4207573" y="400431"/>
                    <a:pt x="4194873" y="385635"/>
                  </a:cubicBezTo>
                  <a:cubicBezTo>
                    <a:pt x="4187063" y="376491"/>
                    <a:pt x="4175379" y="371920"/>
                    <a:pt x="4160075" y="371920"/>
                  </a:cubicBezTo>
                  <a:cubicBezTo>
                    <a:pt x="4109022" y="371920"/>
                    <a:pt x="4101528" y="413448"/>
                    <a:pt x="4101465" y="413829"/>
                  </a:cubicBezTo>
                  <a:lnTo>
                    <a:pt x="4101401" y="414528"/>
                  </a:lnTo>
                  <a:lnTo>
                    <a:pt x="4101401" y="726440"/>
                  </a:lnTo>
                  <a:lnTo>
                    <a:pt x="4001452" y="748411"/>
                  </a:lnTo>
                  <a:lnTo>
                    <a:pt x="3771011" y="674497"/>
                  </a:lnTo>
                  <a:lnTo>
                    <a:pt x="3771011" y="535559"/>
                  </a:lnTo>
                  <a:cubicBezTo>
                    <a:pt x="3771456" y="532511"/>
                    <a:pt x="3773741" y="512254"/>
                    <a:pt x="3761486" y="497904"/>
                  </a:cubicBezTo>
                  <a:cubicBezTo>
                    <a:pt x="3753675" y="488760"/>
                    <a:pt x="3741864" y="484124"/>
                    <a:pt x="3726307" y="484124"/>
                  </a:cubicBezTo>
                  <a:cubicBezTo>
                    <a:pt x="3675380" y="484124"/>
                    <a:pt x="3667823" y="519176"/>
                    <a:pt x="3667760" y="519557"/>
                  </a:cubicBezTo>
                  <a:lnTo>
                    <a:pt x="3667697" y="520382"/>
                  </a:lnTo>
                  <a:lnTo>
                    <a:pt x="3667697" y="795909"/>
                  </a:lnTo>
                  <a:lnTo>
                    <a:pt x="3372358" y="859346"/>
                  </a:lnTo>
                  <a:lnTo>
                    <a:pt x="3372358" y="633857"/>
                  </a:lnTo>
                  <a:cubicBezTo>
                    <a:pt x="3372802" y="630872"/>
                    <a:pt x="3375025" y="611315"/>
                    <a:pt x="3363150" y="597345"/>
                  </a:cubicBezTo>
                  <a:cubicBezTo>
                    <a:pt x="3355340" y="588201"/>
                    <a:pt x="3343465" y="583502"/>
                    <a:pt x="3327718" y="583502"/>
                  </a:cubicBezTo>
                  <a:cubicBezTo>
                    <a:pt x="3276727" y="583502"/>
                    <a:pt x="3269171" y="621792"/>
                    <a:pt x="3269107" y="622173"/>
                  </a:cubicBezTo>
                  <a:lnTo>
                    <a:pt x="3269044" y="622935"/>
                  </a:lnTo>
                  <a:lnTo>
                    <a:pt x="3269044" y="881571"/>
                  </a:lnTo>
                  <a:lnTo>
                    <a:pt x="3028950" y="933196"/>
                  </a:lnTo>
                  <a:lnTo>
                    <a:pt x="3028950" y="855282"/>
                  </a:lnTo>
                  <a:cubicBezTo>
                    <a:pt x="3029522" y="852297"/>
                    <a:pt x="3029331" y="846582"/>
                    <a:pt x="3025458" y="841629"/>
                  </a:cubicBezTo>
                  <a:cubicBezTo>
                    <a:pt x="3020187" y="834898"/>
                    <a:pt x="3010090" y="831469"/>
                    <a:pt x="2995422" y="831469"/>
                  </a:cubicBezTo>
                  <a:cubicBezTo>
                    <a:pt x="2958973" y="831469"/>
                    <a:pt x="2947225" y="856361"/>
                    <a:pt x="2946781" y="857440"/>
                  </a:cubicBezTo>
                  <a:lnTo>
                    <a:pt x="2946400" y="858266"/>
                  </a:lnTo>
                  <a:lnTo>
                    <a:pt x="2946400" y="950976"/>
                  </a:lnTo>
                  <a:lnTo>
                    <a:pt x="2687574" y="1006602"/>
                  </a:lnTo>
                  <a:lnTo>
                    <a:pt x="2687574" y="933323"/>
                  </a:lnTo>
                  <a:cubicBezTo>
                    <a:pt x="2687955" y="931418"/>
                    <a:pt x="2688463" y="925830"/>
                    <a:pt x="2684336" y="920433"/>
                  </a:cubicBezTo>
                  <a:cubicBezTo>
                    <a:pt x="2679192" y="913765"/>
                    <a:pt x="2668969" y="910336"/>
                    <a:pt x="2654046" y="910336"/>
                  </a:cubicBezTo>
                  <a:cubicBezTo>
                    <a:pt x="2617661" y="910336"/>
                    <a:pt x="2605913" y="934148"/>
                    <a:pt x="2605405" y="935165"/>
                  </a:cubicBezTo>
                  <a:lnTo>
                    <a:pt x="2605024" y="935990"/>
                  </a:lnTo>
                  <a:lnTo>
                    <a:pt x="2605024" y="1024128"/>
                  </a:lnTo>
                  <a:lnTo>
                    <a:pt x="2379916" y="1072515"/>
                  </a:lnTo>
                  <a:lnTo>
                    <a:pt x="2379916" y="1006475"/>
                  </a:lnTo>
                  <a:cubicBezTo>
                    <a:pt x="2380298" y="1004634"/>
                    <a:pt x="2380806" y="999300"/>
                    <a:pt x="2376805" y="994092"/>
                  </a:cubicBezTo>
                  <a:cubicBezTo>
                    <a:pt x="2371725" y="987425"/>
                    <a:pt x="2361438" y="984059"/>
                    <a:pt x="2346325" y="984059"/>
                  </a:cubicBezTo>
                  <a:cubicBezTo>
                    <a:pt x="2309939" y="984059"/>
                    <a:pt x="2298192" y="1007173"/>
                    <a:pt x="2297684" y="1008126"/>
                  </a:cubicBezTo>
                  <a:lnTo>
                    <a:pt x="2297239" y="1009015"/>
                  </a:lnTo>
                  <a:lnTo>
                    <a:pt x="2297239" y="1009967"/>
                  </a:lnTo>
                  <a:lnTo>
                    <a:pt x="2297557" y="1090168"/>
                  </a:lnTo>
                  <a:lnTo>
                    <a:pt x="2089213" y="1134935"/>
                  </a:lnTo>
                  <a:lnTo>
                    <a:pt x="2089213" y="1075182"/>
                  </a:lnTo>
                  <a:cubicBezTo>
                    <a:pt x="2089595" y="1073340"/>
                    <a:pt x="2090039" y="1068388"/>
                    <a:pt x="2086292" y="1063434"/>
                  </a:cubicBezTo>
                  <a:cubicBezTo>
                    <a:pt x="2081276" y="1056831"/>
                    <a:pt x="2070989" y="1053465"/>
                    <a:pt x="2055622" y="1053465"/>
                  </a:cubicBezTo>
                  <a:cubicBezTo>
                    <a:pt x="2019300" y="1053465"/>
                    <a:pt x="2007552" y="1075627"/>
                    <a:pt x="2007045" y="1076579"/>
                  </a:cubicBezTo>
                  <a:lnTo>
                    <a:pt x="2006600" y="1077468"/>
                  </a:lnTo>
                  <a:lnTo>
                    <a:pt x="2006600" y="1152652"/>
                  </a:lnTo>
                  <a:lnTo>
                    <a:pt x="1841310" y="1188148"/>
                  </a:lnTo>
                  <a:lnTo>
                    <a:pt x="1841310" y="1132332"/>
                  </a:lnTo>
                  <a:cubicBezTo>
                    <a:pt x="1841690" y="1130554"/>
                    <a:pt x="1842135" y="1125728"/>
                    <a:pt x="1838515" y="1121029"/>
                  </a:cubicBezTo>
                  <a:cubicBezTo>
                    <a:pt x="1833562" y="1114489"/>
                    <a:pt x="1823212" y="1111123"/>
                    <a:pt x="1807718" y="1111123"/>
                  </a:cubicBezTo>
                  <a:cubicBezTo>
                    <a:pt x="1771460" y="1111123"/>
                    <a:pt x="1759648" y="1132713"/>
                    <a:pt x="1759140" y="1133665"/>
                  </a:cubicBezTo>
                  <a:lnTo>
                    <a:pt x="1758633" y="1134554"/>
                  </a:lnTo>
                  <a:lnTo>
                    <a:pt x="1758633" y="1205928"/>
                  </a:lnTo>
                  <a:lnTo>
                    <a:pt x="1586928" y="1242822"/>
                  </a:lnTo>
                  <a:lnTo>
                    <a:pt x="1586928" y="1187387"/>
                  </a:lnTo>
                  <a:cubicBezTo>
                    <a:pt x="1587310" y="1185609"/>
                    <a:pt x="1587690" y="1181100"/>
                    <a:pt x="1584325" y="1176528"/>
                  </a:cubicBezTo>
                  <a:cubicBezTo>
                    <a:pt x="1579499" y="1169988"/>
                    <a:pt x="1569022" y="1166685"/>
                    <a:pt x="1553337" y="1166685"/>
                  </a:cubicBezTo>
                  <a:cubicBezTo>
                    <a:pt x="1517078" y="1166685"/>
                    <a:pt x="1505267" y="1187577"/>
                    <a:pt x="1504823" y="1188466"/>
                  </a:cubicBezTo>
                  <a:lnTo>
                    <a:pt x="1504315" y="1189419"/>
                  </a:lnTo>
                  <a:lnTo>
                    <a:pt x="1504315" y="1260602"/>
                  </a:lnTo>
                  <a:lnTo>
                    <a:pt x="1343279" y="1295209"/>
                  </a:lnTo>
                  <a:lnTo>
                    <a:pt x="1343279" y="1253300"/>
                  </a:lnTo>
                  <a:cubicBezTo>
                    <a:pt x="1343660" y="1251585"/>
                    <a:pt x="1344041" y="1247331"/>
                    <a:pt x="1340866" y="1243013"/>
                  </a:cubicBezTo>
                  <a:cubicBezTo>
                    <a:pt x="1336103" y="1236535"/>
                    <a:pt x="1325626" y="1233297"/>
                    <a:pt x="1309751" y="1233297"/>
                  </a:cubicBezTo>
                  <a:cubicBezTo>
                    <a:pt x="1273556" y="1233297"/>
                    <a:pt x="1261745" y="1253363"/>
                    <a:pt x="1261237" y="1254189"/>
                  </a:cubicBezTo>
                  <a:lnTo>
                    <a:pt x="1260665" y="1255141"/>
                  </a:lnTo>
                  <a:lnTo>
                    <a:pt x="1260665" y="1312990"/>
                  </a:lnTo>
                  <a:lnTo>
                    <a:pt x="1132776" y="1340485"/>
                  </a:lnTo>
                  <a:lnTo>
                    <a:pt x="1132776" y="1298639"/>
                  </a:lnTo>
                  <a:cubicBezTo>
                    <a:pt x="1133094" y="1296924"/>
                    <a:pt x="1133475" y="1292796"/>
                    <a:pt x="1130427" y="1288669"/>
                  </a:cubicBezTo>
                  <a:cubicBezTo>
                    <a:pt x="1125728" y="1282256"/>
                    <a:pt x="1115250" y="1279017"/>
                    <a:pt x="1099185" y="1279017"/>
                  </a:cubicBezTo>
                  <a:cubicBezTo>
                    <a:pt x="1062990" y="1279017"/>
                    <a:pt x="1051179" y="1298575"/>
                    <a:pt x="1050735" y="1299401"/>
                  </a:cubicBezTo>
                  <a:lnTo>
                    <a:pt x="1050163" y="1300353"/>
                  </a:lnTo>
                  <a:lnTo>
                    <a:pt x="1050163" y="1358265"/>
                  </a:lnTo>
                  <a:lnTo>
                    <a:pt x="945642" y="1380744"/>
                  </a:lnTo>
                  <a:lnTo>
                    <a:pt x="945642" y="1342962"/>
                  </a:lnTo>
                  <a:cubicBezTo>
                    <a:pt x="945960" y="1341310"/>
                    <a:pt x="946340" y="1337437"/>
                    <a:pt x="943483" y="1333500"/>
                  </a:cubicBezTo>
                  <a:cubicBezTo>
                    <a:pt x="938911" y="1327150"/>
                    <a:pt x="928307" y="1323912"/>
                    <a:pt x="912050" y="1323912"/>
                  </a:cubicBezTo>
                  <a:cubicBezTo>
                    <a:pt x="875919" y="1323912"/>
                    <a:pt x="864108" y="1342708"/>
                    <a:pt x="863600" y="1343470"/>
                  </a:cubicBezTo>
                  <a:lnTo>
                    <a:pt x="862965" y="1344485"/>
                  </a:lnTo>
                  <a:lnTo>
                    <a:pt x="862965" y="1381760"/>
                  </a:lnTo>
                  <a:lnTo>
                    <a:pt x="755460" y="1368171"/>
                  </a:lnTo>
                  <a:lnTo>
                    <a:pt x="755460" y="1366584"/>
                  </a:lnTo>
                  <a:lnTo>
                    <a:pt x="278574" y="1479359"/>
                  </a:lnTo>
                  <a:lnTo>
                    <a:pt x="0" y="1479359"/>
                  </a:lnTo>
                  <a:close/>
                  <a:moveTo>
                    <a:pt x="6049709" y="1676337"/>
                  </a:moveTo>
                  <a:lnTo>
                    <a:pt x="6074093" y="1673733"/>
                  </a:lnTo>
                  <a:lnTo>
                    <a:pt x="6074093" y="1880997"/>
                  </a:lnTo>
                  <a:lnTo>
                    <a:pt x="6049709" y="1883092"/>
                  </a:lnTo>
                  <a:lnTo>
                    <a:pt x="6049709" y="1676337"/>
                  </a:lnTo>
                  <a:close/>
                  <a:moveTo>
                    <a:pt x="6016943" y="1679829"/>
                  </a:moveTo>
                  <a:lnTo>
                    <a:pt x="6041326" y="1677226"/>
                  </a:lnTo>
                  <a:lnTo>
                    <a:pt x="6041326" y="1883791"/>
                  </a:lnTo>
                  <a:lnTo>
                    <a:pt x="6016943" y="1885887"/>
                  </a:lnTo>
                  <a:lnTo>
                    <a:pt x="6016943" y="1679829"/>
                  </a:lnTo>
                  <a:close/>
                  <a:moveTo>
                    <a:pt x="5984240" y="1683385"/>
                  </a:moveTo>
                  <a:lnTo>
                    <a:pt x="6008624" y="1680782"/>
                  </a:lnTo>
                  <a:lnTo>
                    <a:pt x="6008624" y="1886648"/>
                  </a:lnTo>
                  <a:lnTo>
                    <a:pt x="5984240" y="1888744"/>
                  </a:lnTo>
                  <a:lnTo>
                    <a:pt x="5984240" y="1683385"/>
                  </a:lnTo>
                  <a:close/>
                  <a:moveTo>
                    <a:pt x="6099429" y="1040003"/>
                  </a:moveTo>
                  <a:lnTo>
                    <a:pt x="5956872" y="1063117"/>
                  </a:lnTo>
                  <a:cubicBezTo>
                    <a:pt x="5963095" y="1021905"/>
                    <a:pt x="5989574" y="923544"/>
                    <a:pt x="6099429" y="898652"/>
                  </a:cubicBezTo>
                  <a:lnTo>
                    <a:pt x="6099429" y="1040003"/>
                  </a:lnTo>
                  <a:close/>
                  <a:moveTo>
                    <a:pt x="6099429" y="1190562"/>
                  </a:moveTo>
                  <a:lnTo>
                    <a:pt x="5954967" y="1213993"/>
                  </a:lnTo>
                  <a:lnTo>
                    <a:pt x="5954967" y="1081278"/>
                  </a:lnTo>
                  <a:cubicBezTo>
                    <a:pt x="5955030" y="1080452"/>
                    <a:pt x="5955157" y="1077023"/>
                    <a:pt x="5955729" y="1071753"/>
                  </a:cubicBezTo>
                  <a:lnTo>
                    <a:pt x="6099429" y="1048448"/>
                  </a:lnTo>
                  <a:lnTo>
                    <a:pt x="6099429" y="1190562"/>
                  </a:lnTo>
                  <a:close/>
                  <a:moveTo>
                    <a:pt x="6099429" y="1339596"/>
                  </a:moveTo>
                  <a:lnTo>
                    <a:pt x="5954967" y="1363027"/>
                  </a:lnTo>
                  <a:lnTo>
                    <a:pt x="5954967" y="1222439"/>
                  </a:lnTo>
                  <a:lnTo>
                    <a:pt x="6099429" y="1199007"/>
                  </a:lnTo>
                  <a:lnTo>
                    <a:pt x="6099429" y="1339596"/>
                  </a:lnTo>
                  <a:close/>
                  <a:moveTo>
                    <a:pt x="5954967" y="1487932"/>
                  </a:moveTo>
                  <a:lnTo>
                    <a:pt x="5954967" y="1371409"/>
                  </a:lnTo>
                  <a:lnTo>
                    <a:pt x="6099429" y="1347978"/>
                  </a:lnTo>
                  <a:lnTo>
                    <a:pt x="6099429" y="1471041"/>
                  </a:lnTo>
                  <a:lnTo>
                    <a:pt x="5954967" y="1487932"/>
                  </a:lnTo>
                  <a:close/>
                  <a:moveTo>
                    <a:pt x="5951537" y="1689164"/>
                  </a:moveTo>
                  <a:lnTo>
                    <a:pt x="5954967" y="1689164"/>
                  </a:lnTo>
                  <a:lnTo>
                    <a:pt x="5954967" y="1686496"/>
                  </a:lnTo>
                  <a:lnTo>
                    <a:pt x="5975922" y="1684274"/>
                  </a:lnTo>
                  <a:lnTo>
                    <a:pt x="5975922" y="1889506"/>
                  </a:lnTo>
                  <a:lnTo>
                    <a:pt x="5951537" y="1891602"/>
                  </a:lnTo>
                  <a:lnTo>
                    <a:pt x="5951537" y="1689164"/>
                  </a:lnTo>
                  <a:close/>
                  <a:moveTo>
                    <a:pt x="5918772" y="1690370"/>
                  </a:moveTo>
                  <a:lnTo>
                    <a:pt x="5943156" y="1687766"/>
                  </a:lnTo>
                  <a:lnTo>
                    <a:pt x="5943156" y="1892300"/>
                  </a:lnTo>
                  <a:lnTo>
                    <a:pt x="5918772" y="1894396"/>
                  </a:lnTo>
                  <a:lnTo>
                    <a:pt x="5918772" y="1690370"/>
                  </a:lnTo>
                  <a:close/>
                  <a:moveTo>
                    <a:pt x="5886069" y="1693926"/>
                  </a:moveTo>
                  <a:lnTo>
                    <a:pt x="5910453" y="1691322"/>
                  </a:lnTo>
                  <a:lnTo>
                    <a:pt x="5910453" y="1895158"/>
                  </a:lnTo>
                  <a:lnTo>
                    <a:pt x="5886069" y="1897253"/>
                  </a:lnTo>
                  <a:lnTo>
                    <a:pt x="5886069" y="1693926"/>
                  </a:lnTo>
                  <a:close/>
                  <a:moveTo>
                    <a:pt x="5853367" y="1697419"/>
                  </a:moveTo>
                  <a:lnTo>
                    <a:pt x="5877750" y="1694815"/>
                  </a:lnTo>
                  <a:lnTo>
                    <a:pt x="5877750" y="1898015"/>
                  </a:lnTo>
                  <a:lnTo>
                    <a:pt x="5853367" y="1900110"/>
                  </a:lnTo>
                  <a:lnTo>
                    <a:pt x="5853367" y="1697419"/>
                  </a:lnTo>
                  <a:close/>
                  <a:moveTo>
                    <a:pt x="5820600" y="1700911"/>
                  </a:moveTo>
                  <a:lnTo>
                    <a:pt x="5844985" y="1698308"/>
                  </a:lnTo>
                  <a:lnTo>
                    <a:pt x="5844985" y="1900809"/>
                  </a:lnTo>
                  <a:lnTo>
                    <a:pt x="5820600" y="1902904"/>
                  </a:lnTo>
                  <a:lnTo>
                    <a:pt x="5820600" y="1700911"/>
                  </a:lnTo>
                  <a:close/>
                  <a:moveTo>
                    <a:pt x="5665851" y="48387"/>
                  </a:moveTo>
                  <a:cubicBezTo>
                    <a:pt x="5666804" y="44196"/>
                    <a:pt x="5676710" y="8318"/>
                    <a:pt x="5732780" y="8318"/>
                  </a:cubicBezTo>
                  <a:cubicBezTo>
                    <a:pt x="5755196" y="8318"/>
                    <a:pt x="5770753" y="13145"/>
                    <a:pt x="5777801" y="22225"/>
                  </a:cubicBezTo>
                  <a:cubicBezTo>
                    <a:pt x="5783834" y="30035"/>
                    <a:pt x="5781738" y="38545"/>
                    <a:pt x="5781611" y="38926"/>
                  </a:cubicBezTo>
                  <a:lnTo>
                    <a:pt x="5781485" y="40005"/>
                  </a:lnTo>
                  <a:lnTo>
                    <a:pt x="5781485" y="1900936"/>
                  </a:lnTo>
                  <a:lnTo>
                    <a:pt x="5789803" y="1900936"/>
                  </a:lnTo>
                  <a:lnTo>
                    <a:pt x="5789803" y="1704277"/>
                  </a:lnTo>
                  <a:lnTo>
                    <a:pt x="5812282" y="1701864"/>
                  </a:lnTo>
                  <a:lnTo>
                    <a:pt x="5812282" y="1903666"/>
                  </a:lnTo>
                  <a:lnTo>
                    <a:pt x="5665851" y="1916366"/>
                  </a:lnTo>
                  <a:lnTo>
                    <a:pt x="5665851" y="48387"/>
                  </a:lnTo>
                  <a:close/>
                  <a:moveTo>
                    <a:pt x="5657533" y="1109218"/>
                  </a:moveTo>
                  <a:lnTo>
                    <a:pt x="5591937" y="1119822"/>
                  </a:lnTo>
                  <a:lnTo>
                    <a:pt x="5591937" y="976757"/>
                  </a:lnTo>
                  <a:cubicBezTo>
                    <a:pt x="5595874" y="976884"/>
                    <a:pt x="5599811" y="977202"/>
                    <a:pt x="5603685" y="977836"/>
                  </a:cubicBezTo>
                  <a:cubicBezTo>
                    <a:pt x="5635181" y="983425"/>
                    <a:pt x="5653913" y="1007046"/>
                    <a:pt x="5657533" y="1011936"/>
                  </a:cubicBezTo>
                  <a:lnTo>
                    <a:pt x="5657533" y="1109218"/>
                  </a:lnTo>
                  <a:close/>
                  <a:moveTo>
                    <a:pt x="5657533" y="1259777"/>
                  </a:moveTo>
                  <a:lnTo>
                    <a:pt x="5591937" y="1270381"/>
                  </a:lnTo>
                  <a:lnTo>
                    <a:pt x="5591937" y="1128268"/>
                  </a:lnTo>
                  <a:lnTo>
                    <a:pt x="5657533" y="1117664"/>
                  </a:lnTo>
                  <a:lnTo>
                    <a:pt x="5657533" y="1259777"/>
                  </a:lnTo>
                  <a:close/>
                  <a:moveTo>
                    <a:pt x="5657533" y="1408811"/>
                  </a:moveTo>
                  <a:lnTo>
                    <a:pt x="5591937" y="1419415"/>
                  </a:lnTo>
                  <a:lnTo>
                    <a:pt x="5591937" y="1278827"/>
                  </a:lnTo>
                  <a:lnTo>
                    <a:pt x="5657533" y="1268222"/>
                  </a:lnTo>
                  <a:lnTo>
                    <a:pt x="5657533" y="1408811"/>
                  </a:lnTo>
                  <a:close/>
                  <a:moveTo>
                    <a:pt x="5657533" y="1710119"/>
                  </a:moveTo>
                  <a:lnTo>
                    <a:pt x="5431346" y="1734439"/>
                  </a:lnTo>
                  <a:lnTo>
                    <a:pt x="5431346" y="1647571"/>
                  </a:lnTo>
                  <a:lnTo>
                    <a:pt x="5653214" y="1619187"/>
                  </a:lnTo>
                  <a:lnTo>
                    <a:pt x="5652135" y="1610932"/>
                  </a:lnTo>
                  <a:lnTo>
                    <a:pt x="5431282" y="1639189"/>
                  </a:lnTo>
                  <a:lnTo>
                    <a:pt x="5431282" y="1557274"/>
                  </a:lnTo>
                  <a:lnTo>
                    <a:pt x="5653151" y="1528890"/>
                  </a:lnTo>
                  <a:lnTo>
                    <a:pt x="5652072" y="1520634"/>
                  </a:lnTo>
                  <a:lnTo>
                    <a:pt x="5591873" y="1528318"/>
                  </a:lnTo>
                  <a:lnTo>
                    <a:pt x="5591873" y="1427925"/>
                  </a:lnTo>
                  <a:lnTo>
                    <a:pt x="5657469" y="1417320"/>
                  </a:lnTo>
                  <a:lnTo>
                    <a:pt x="5657469" y="1710119"/>
                  </a:lnTo>
                  <a:close/>
                  <a:moveTo>
                    <a:pt x="5583619" y="1129665"/>
                  </a:moveTo>
                  <a:lnTo>
                    <a:pt x="5583619" y="1271778"/>
                  </a:lnTo>
                  <a:lnTo>
                    <a:pt x="5431346" y="1296479"/>
                  </a:lnTo>
                  <a:lnTo>
                    <a:pt x="5431346" y="1267206"/>
                  </a:lnTo>
                  <a:cubicBezTo>
                    <a:pt x="5431282" y="1266381"/>
                    <a:pt x="5427726" y="1219009"/>
                    <a:pt x="5437061" y="1163002"/>
                  </a:cubicBezTo>
                  <a:cubicBezTo>
                    <a:pt x="5437569" y="1159827"/>
                    <a:pt x="5438140" y="1156526"/>
                    <a:pt x="5438775" y="1153223"/>
                  </a:cubicBezTo>
                  <a:lnTo>
                    <a:pt x="5583619" y="1129665"/>
                  </a:lnTo>
                  <a:close/>
                  <a:moveTo>
                    <a:pt x="5440489" y="1144397"/>
                  </a:moveTo>
                  <a:cubicBezTo>
                    <a:pt x="5450840" y="1095883"/>
                    <a:pt x="5472938" y="1037717"/>
                    <a:pt x="5519992" y="1003300"/>
                  </a:cubicBezTo>
                  <a:cubicBezTo>
                    <a:pt x="5542026" y="987171"/>
                    <a:pt x="5563298" y="978345"/>
                    <a:pt x="5583555" y="976884"/>
                  </a:cubicBezTo>
                  <a:lnTo>
                    <a:pt x="5583555" y="1121220"/>
                  </a:lnTo>
                  <a:lnTo>
                    <a:pt x="5440489" y="1144397"/>
                  </a:lnTo>
                  <a:close/>
                  <a:moveTo>
                    <a:pt x="5583619" y="1280160"/>
                  </a:moveTo>
                  <a:lnTo>
                    <a:pt x="5583619" y="1420749"/>
                  </a:lnTo>
                  <a:lnTo>
                    <a:pt x="5431346" y="1445451"/>
                  </a:lnTo>
                  <a:lnTo>
                    <a:pt x="5431346" y="1304862"/>
                  </a:lnTo>
                  <a:lnTo>
                    <a:pt x="5583619" y="1280160"/>
                  </a:lnTo>
                  <a:close/>
                  <a:moveTo>
                    <a:pt x="5583619" y="1429195"/>
                  </a:moveTo>
                  <a:lnTo>
                    <a:pt x="5583619" y="1529271"/>
                  </a:lnTo>
                  <a:lnTo>
                    <a:pt x="5431346" y="1548765"/>
                  </a:lnTo>
                  <a:lnTo>
                    <a:pt x="5431346" y="1453896"/>
                  </a:lnTo>
                  <a:lnTo>
                    <a:pt x="5583619" y="1429195"/>
                  </a:lnTo>
                  <a:close/>
                  <a:moveTo>
                    <a:pt x="5608892" y="1723708"/>
                  </a:moveTo>
                  <a:lnTo>
                    <a:pt x="5627687" y="1721676"/>
                  </a:lnTo>
                  <a:lnTo>
                    <a:pt x="5627687" y="1918335"/>
                  </a:lnTo>
                  <a:lnTo>
                    <a:pt x="5636006" y="1918335"/>
                  </a:lnTo>
                  <a:lnTo>
                    <a:pt x="5636006" y="1720787"/>
                  </a:lnTo>
                  <a:lnTo>
                    <a:pt x="5657533" y="1718501"/>
                  </a:lnTo>
                  <a:lnTo>
                    <a:pt x="5657533" y="1917128"/>
                  </a:lnTo>
                  <a:lnTo>
                    <a:pt x="5608892" y="1921320"/>
                  </a:lnTo>
                  <a:lnTo>
                    <a:pt x="5608892" y="1723708"/>
                  </a:lnTo>
                  <a:close/>
                  <a:moveTo>
                    <a:pt x="5581777" y="1726628"/>
                  </a:moveTo>
                  <a:lnTo>
                    <a:pt x="5600574" y="1724596"/>
                  </a:lnTo>
                  <a:lnTo>
                    <a:pt x="5600574" y="1921383"/>
                  </a:lnTo>
                  <a:lnTo>
                    <a:pt x="5608066" y="1921383"/>
                  </a:lnTo>
                  <a:lnTo>
                    <a:pt x="5581777" y="1923669"/>
                  </a:lnTo>
                  <a:lnTo>
                    <a:pt x="5581777" y="1726628"/>
                  </a:lnTo>
                  <a:close/>
                  <a:moveTo>
                    <a:pt x="5554599" y="1729550"/>
                  </a:moveTo>
                  <a:lnTo>
                    <a:pt x="5573395" y="1727517"/>
                  </a:lnTo>
                  <a:lnTo>
                    <a:pt x="5573395" y="1924367"/>
                  </a:lnTo>
                  <a:lnTo>
                    <a:pt x="5554599" y="1926019"/>
                  </a:lnTo>
                  <a:lnTo>
                    <a:pt x="5554599" y="1729550"/>
                  </a:lnTo>
                  <a:close/>
                  <a:moveTo>
                    <a:pt x="5527485" y="1732471"/>
                  </a:moveTo>
                  <a:lnTo>
                    <a:pt x="5546281" y="1730439"/>
                  </a:lnTo>
                  <a:lnTo>
                    <a:pt x="5546281" y="1926717"/>
                  </a:lnTo>
                  <a:lnTo>
                    <a:pt x="5527485" y="1928368"/>
                  </a:lnTo>
                  <a:lnTo>
                    <a:pt x="5527485" y="1732471"/>
                  </a:lnTo>
                  <a:close/>
                  <a:moveTo>
                    <a:pt x="5500370" y="1735328"/>
                  </a:moveTo>
                  <a:lnTo>
                    <a:pt x="5519166" y="1733296"/>
                  </a:lnTo>
                  <a:lnTo>
                    <a:pt x="5519166" y="1929066"/>
                  </a:lnTo>
                  <a:lnTo>
                    <a:pt x="5500370" y="1930717"/>
                  </a:lnTo>
                  <a:lnTo>
                    <a:pt x="5500370" y="1735328"/>
                  </a:lnTo>
                  <a:close/>
                  <a:moveTo>
                    <a:pt x="5473256" y="1738249"/>
                  </a:moveTo>
                  <a:lnTo>
                    <a:pt x="5492051" y="1736217"/>
                  </a:lnTo>
                  <a:lnTo>
                    <a:pt x="5492051" y="1931416"/>
                  </a:lnTo>
                  <a:lnTo>
                    <a:pt x="5473256" y="1933067"/>
                  </a:lnTo>
                  <a:lnTo>
                    <a:pt x="5473256" y="1738249"/>
                  </a:lnTo>
                  <a:close/>
                  <a:moveTo>
                    <a:pt x="5446141" y="1741170"/>
                  </a:moveTo>
                  <a:lnTo>
                    <a:pt x="5464937" y="1739138"/>
                  </a:lnTo>
                  <a:lnTo>
                    <a:pt x="5464937" y="1933765"/>
                  </a:lnTo>
                  <a:lnTo>
                    <a:pt x="5446141" y="1935416"/>
                  </a:lnTo>
                  <a:lnTo>
                    <a:pt x="5446141" y="1741170"/>
                  </a:lnTo>
                  <a:close/>
                  <a:moveTo>
                    <a:pt x="5419026" y="1744091"/>
                  </a:moveTo>
                  <a:lnTo>
                    <a:pt x="5437823" y="1742059"/>
                  </a:lnTo>
                  <a:lnTo>
                    <a:pt x="5437823" y="1936115"/>
                  </a:lnTo>
                  <a:lnTo>
                    <a:pt x="5419026" y="1937766"/>
                  </a:lnTo>
                  <a:lnTo>
                    <a:pt x="5419026" y="1744091"/>
                  </a:lnTo>
                  <a:close/>
                  <a:moveTo>
                    <a:pt x="5391912" y="1747012"/>
                  </a:moveTo>
                  <a:lnTo>
                    <a:pt x="5410708" y="1744980"/>
                  </a:lnTo>
                  <a:lnTo>
                    <a:pt x="5410708" y="1938465"/>
                  </a:lnTo>
                  <a:lnTo>
                    <a:pt x="5391912" y="1940115"/>
                  </a:lnTo>
                  <a:lnTo>
                    <a:pt x="5391912" y="1747012"/>
                  </a:lnTo>
                  <a:close/>
                  <a:moveTo>
                    <a:pt x="5364734" y="1749933"/>
                  </a:moveTo>
                  <a:lnTo>
                    <a:pt x="5383530" y="1747901"/>
                  </a:lnTo>
                  <a:lnTo>
                    <a:pt x="5383530" y="1940814"/>
                  </a:lnTo>
                  <a:lnTo>
                    <a:pt x="5364734" y="1942465"/>
                  </a:lnTo>
                  <a:lnTo>
                    <a:pt x="5364734" y="1749933"/>
                  </a:lnTo>
                  <a:close/>
                  <a:moveTo>
                    <a:pt x="5337620" y="1752854"/>
                  </a:moveTo>
                  <a:lnTo>
                    <a:pt x="5356416" y="1750822"/>
                  </a:lnTo>
                  <a:lnTo>
                    <a:pt x="5356416" y="1943227"/>
                  </a:lnTo>
                  <a:lnTo>
                    <a:pt x="5337620" y="1944878"/>
                  </a:lnTo>
                  <a:lnTo>
                    <a:pt x="5337620" y="1752854"/>
                  </a:lnTo>
                  <a:close/>
                  <a:moveTo>
                    <a:pt x="5310505" y="1755775"/>
                  </a:moveTo>
                  <a:lnTo>
                    <a:pt x="5329301" y="1753743"/>
                  </a:lnTo>
                  <a:lnTo>
                    <a:pt x="5329301" y="1945577"/>
                  </a:lnTo>
                  <a:lnTo>
                    <a:pt x="5310505" y="1947227"/>
                  </a:lnTo>
                  <a:lnTo>
                    <a:pt x="5310505" y="1755775"/>
                  </a:lnTo>
                  <a:close/>
                  <a:moveTo>
                    <a:pt x="5283391" y="1758696"/>
                  </a:moveTo>
                  <a:lnTo>
                    <a:pt x="5302186" y="1756664"/>
                  </a:lnTo>
                  <a:lnTo>
                    <a:pt x="5302186" y="1947926"/>
                  </a:lnTo>
                  <a:lnTo>
                    <a:pt x="5283391" y="1949577"/>
                  </a:lnTo>
                  <a:lnTo>
                    <a:pt x="5283391" y="1758696"/>
                  </a:lnTo>
                  <a:close/>
                  <a:moveTo>
                    <a:pt x="5256276" y="1761617"/>
                  </a:moveTo>
                  <a:lnTo>
                    <a:pt x="5275072" y="1759585"/>
                  </a:lnTo>
                  <a:lnTo>
                    <a:pt x="5275072" y="1950276"/>
                  </a:lnTo>
                  <a:lnTo>
                    <a:pt x="5256276" y="1951927"/>
                  </a:lnTo>
                  <a:lnTo>
                    <a:pt x="5256276" y="1761617"/>
                  </a:lnTo>
                  <a:close/>
                  <a:moveTo>
                    <a:pt x="5223891" y="1765046"/>
                  </a:moveTo>
                  <a:lnTo>
                    <a:pt x="5247958" y="1762442"/>
                  </a:lnTo>
                  <a:lnTo>
                    <a:pt x="5247958" y="1952562"/>
                  </a:lnTo>
                  <a:lnTo>
                    <a:pt x="5223891" y="1954657"/>
                  </a:lnTo>
                  <a:lnTo>
                    <a:pt x="5223891" y="1765046"/>
                  </a:lnTo>
                  <a:close/>
                  <a:moveTo>
                    <a:pt x="5223891" y="487870"/>
                  </a:moveTo>
                  <a:lnTo>
                    <a:pt x="5657533" y="392494"/>
                  </a:lnTo>
                  <a:lnTo>
                    <a:pt x="5657533" y="999109"/>
                  </a:lnTo>
                  <a:cubicBezTo>
                    <a:pt x="5648261" y="989203"/>
                    <a:pt x="5630736" y="974344"/>
                    <a:pt x="5605272" y="969772"/>
                  </a:cubicBezTo>
                  <a:cubicBezTo>
                    <a:pt x="5576887" y="964692"/>
                    <a:pt x="5546599" y="973709"/>
                    <a:pt x="5515166" y="996633"/>
                  </a:cubicBezTo>
                  <a:cubicBezTo>
                    <a:pt x="5465889" y="1032637"/>
                    <a:pt x="5442395" y="1091946"/>
                    <a:pt x="5431409" y="1145921"/>
                  </a:cubicBezTo>
                  <a:lnTo>
                    <a:pt x="5425758" y="1146810"/>
                  </a:lnTo>
                  <a:lnTo>
                    <a:pt x="5427091" y="1155002"/>
                  </a:lnTo>
                  <a:lnTo>
                    <a:pt x="5429758" y="1154557"/>
                  </a:lnTo>
                  <a:cubicBezTo>
                    <a:pt x="5419154" y="1213104"/>
                    <a:pt x="5422710" y="1263459"/>
                    <a:pt x="5423027" y="1267460"/>
                  </a:cubicBezTo>
                  <a:lnTo>
                    <a:pt x="5423027" y="1735265"/>
                  </a:lnTo>
                  <a:lnTo>
                    <a:pt x="5223955" y="1756664"/>
                  </a:lnTo>
                  <a:lnTo>
                    <a:pt x="5223955" y="487870"/>
                  </a:lnTo>
                  <a:close/>
                  <a:moveTo>
                    <a:pt x="5099939" y="174180"/>
                  </a:moveTo>
                  <a:cubicBezTo>
                    <a:pt x="5100955" y="170053"/>
                    <a:pt x="5110924" y="136144"/>
                    <a:pt x="5166868" y="136144"/>
                  </a:cubicBezTo>
                  <a:cubicBezTo>
                    <a:pt x="5186045" y="136144"/>
                    <a:pt x="5199888" y="141097"/>
                    <a:pt x="5207953" y="150813"/>
                  </a:cubicBezTo>
                  <a:cubicBezTo>
                    <a:pt x="5218938" y="164020"/>
                    <a:pt x="5215699" y="182182"/>
                    <a:pt x="5215636" y="182372"/>
                  </a:cubicBezTo>
                  <a:lnTo>
                    <a:pt x="5215573" y="183134"/>
                  </a:lnTo>
                  <a:lnTo>
                    <a:pt x="5215573" y="1954721"/>
                  </a:lnTo>
                  <a:lnTo>
                    <a:pt x="5223637" y="1954721"/>
                  </a:lnTo>
                  <a:lnTo>
                    <a:pt x="5099939" y="1965452"/>
                  </a:lnTo>
                  <a:lnTo>
                    <a:pt x="5099939" y="174180"/>
                  </a:lnTo>
                  <a:close/>
                  <a:moveTo>
                    <a:pt x="5091621" y="1192403"/>
                  </a:moveTo>
                  <a:lnTo>
                    <a:pt x="5072317" y="1196022"/>
                  </a:lnTo>
                  <a:lnTo>
                    <a:pt x="5072317" y="1067498"/>
                  </a:lnTo>
                  <a:lnTo>
                    <a:pt x="5070983" y="1067498"/>
                  </a:lnTo>
                  <a:cubicBezTo>
                    <a:pt x="5080381" y="1064768"/>
                    <a:pt x="5087557" y="1064070"/>
                    <a:pt x="5091557" y="1063942"/>
                  </a:cubicBezTo>
                  <a:lnTo>
                    <a:pt x="5091557" y="1192403"/>
                  </a:lnTo>
                  <a:close/>
                  <a:moveTo>
                    <a:pt x="5091621" y="1345438"/>
                  </a:moveTo>
                  <a:lnTo>
                    <a:pt x="5072317" y="1349058"/>
                  </a:lnTo>
                  <a:lnTo>
                    <a:pt x="5072317" y="1204532"/>
                  </a:lnTo>
                  <a:lnTo>
                    <a:pt x="5091621" y="1200912"/>
                  </a:lnTo>
                  <a:lnTo>
                    <a:pt x="5091621" y="1345438"/>
                  </a:lnTo>
                  <a:close/>
                  <a:moveTo>
                    <a:pt x="5091621" y="1481391"/>
                  </a:moveTo>
                  <a:lnTo>
                    <a:pt x="5072317" y="1485011"/>
                  </a:lnTo>
                  <a:lnTo>
                    <a:pt x="5072317" y="1357503"/>
                  </a:lnTo>
                  <a:lnTo>
                    <a:pt x="5091621" y="1353884"/>
                  </a:lnTo>
                  <a:lnTo>
                    <a:pt x="5091621" y="1481391"/>
                  </a:lnTo>
                  <a:close/>
                  <a:moveTo>
                    <a:pt x="5091621" y="1598994"/>
                  </a:moveTo>
                  <a:lnTo>
                    <a:pt x="5072317" y="1601343"/>
                  </a:lnTo>
                  <a:lnTo>
                    <a:pt x="5072317" y="1493457"/>
                  </a:lnTo>
                  <a:lnTo>
                    <a:pt x="5091621" y="1489837"/>
                  </a:lnTo>
                  <a:lnTo>
                    <a:pt x="5091621" y="1598994"/>
                  </a:lnTo>
                  <a:close/>
                  <a:moveTo>
                    <a:pt x="5091621" y="1689290"/>
                  </a:moveTo>
                  <a:lnTo>
                    <a:pt x="4950270" y="1706435"/>
                  </a:lnTo>
                  <a:lnTo>
                    <a:pt x="4950270" y="1624521"/>
                  </a:lnTo>
                  <a:lnTo>
                    <a:pt x="5091621" y="1607376"/>
                  </a:lnTo>
                  <a:lnTo>
                    <a:pt x="5091621" y="1689290"/>
                  </a:lnTo>
                  <a:close/>
                  <a:moveTo>
                    <a:pt x="5063999" y="1206056"/>
                  </a:moveTo>
                  <a:lnTo>
                    <a:pt x="5063999" y="1350582"/>
                  </a:lnTo>
                  <a:lnTo>
                    <a:pt x="4950270" y="1371854"/>
                  </a:lnTo>
                  <a:lnTo>
                    <a:pt x="4950270" y="1337691"/>
                  </a:lnTo>
                  <a:cubicBezTo>
                    <a:pt x="4950206" y="1336612"/>
                    <a:pt x="4947412" y="1281938"/>
                    <a:pt x="4954397" y="1226566"/>
                  </a:cubicBezTo>
                  <a:lnTo>
                    <a:pt x="5063999" y="1206056"/>
                  </a:lnTo>
                  <a:close/>
                  <a:moveTo>
                    <a:pt x="4955540" y="1217866"/>
                  </a:moveTo>
                  <a:cubicBezTo>
                    <a:pt x="4960620" y="1182815"/>
                    <a:pt x="4969891" y="1148588"/>
                    <a:pt x="4986528" y="1128713"/>
                  </a:cubicBezTo>
                  <a:cubicBezTo>
                    <a:pt x="5016183" y="1093216"/>
                    <a:pt x="5043932" y="1077087"/>
                    <a:pt x="5063999" y="1069848"/>
                  </a:cubicBezTo>
                  <a:lnTo>
                    <a:pt x="5063999" y="1197610"/>
                  </a:lnTo>
                  <a:lnTo>
                    <a:pt x="4955540" y="1217866"/>
                  </a:lnTo>
                  <a:close/>
                  <a:moveTo>
                    <a:pt x="5063999" y="1359090"/>
                  </a:moveTo>
                  <a:lnTo>
                    <a:pt x="5063999" y="1486598"/>
                  </a:lnTo>
                  <a:lnTo>
                    <a:pt x="4950270" y="1507871"/>
                  </a:lnTo>
                  <a:lnTo>
                    <a:pt x="4950270" y="1374203"/>
                  </a:lnTo>
                  <a:lnTo>
                    <a:pt x="4951412" y="1380172"/>
                  </a:lnTo>
                  <a:lnTo>
                    <a:pt x="5063999" y="1359090"/>
                  </a:lnTo>
                  <a:close/>
                  <a:moveTo>
                    <a:pt x="5063999" y="1495044"/>
                  </a:moveTo>
                  <a:lnTo>
                    <a:pt x="5063999" y="1602359"/>
                  </a:lnTo>
                  <a:lnTo>
                    <a:pt x="4950270" y="1616139"/>
                  </a:lnTo>
                  <a:lnTo>
                    <a:pt x="4950270" y="1510094"/>
                  </a:lnTo>
                  <a:lnTo>
                    <a:pt x="4951412" y="1516063"/>
                  </a:lnTo>
                  <a:lnTo>
                    <a:pt x="5063999" y="1495044"/>
                  </a:lnTo>
                  <a:close/>
                  <a:moveTo>
                    <a:pt x="5091621" y="1770888"/>
                  </a:moveTo>
                  <a:lnTo>
                    <a:pt x="4950270" y="1786065"/>
                  </a:lnTo>
                  <a:lnTo>
                    <a:pt x="4950270" y="1714817"/>
                  </a:lnTo>
                  <a:lnTo>
                    <a:pt x="5091621" y="1697672"/>
                  </a:lnTo>
                  <a:lnTo>
                    <a:pt x="5091621" y="1770888"/>
                  </a:lnTo>
                  <a:close/>
                  <a:moveTo>
                    <a:pt x="4687125" y="1822767"/>
                  </a:moveTo>
                  <a:lnTo>
                    <a:pt x="4732719" y="1817878"/>
                  </a:lnTo>
                  <a:lnTo>
                    <a:pt x="4732719" y="1818958"/>
                  </a:lnTo>
                  <a:lnTo>
                    <a:pt x="4741037" y="1818958"/>
                  </a:lnTo>
                  <a:lnTo>
                    <a:pt x="4741037" y="1816989"/>
                  </a:lnTo>
                  <a:lnTo>
                    <a:pt x="5091557" y="1779334"/>
                  </a:lnTo>
                  <a:lnTo>
                    <a:pt x="5091557" y="1966214"/>
                  </a:lnTo>
                  <a:lnTo>
                    <a:pt x="4996117" y="1974469"/>
                  </a:lnTo>
                  <a:lnTo>
                    <a:pt x="4996117" y="1791589"/>
                  </a:lnTo>
                  <a:lnTo>
                    <a:pt x="4987799" y="1791589"/>
                  </a:lnTo>
                  <a:lnTo>
                    <a:pt x="4987799" y="1974977"/>
                  </a:lnTo>
                  <a:lnTo>
                    <a:pt x="4989894" y="1974977"/>
                  </a:lnTo>
                  <a:lnTo>
                    <a:pt x="4970717" y="1976628"/>
                  </a:lnTo>
                  <a:lnTo>
                    <a:pt x="4970717" y="1794383"/>
                  </a:lnTo>
                  <a:lnTo>
                    <a:pt x="4962399" y="1794383"/>
                  </a:lnTo>
                  <a:lnTo>
                    <a:pt x="4962399" y="1977390"/>
                  </a:lnTo>
                  <a:lnTo>
                    <a:pt x="4945317" y="1978851"/>
                  </a:lnTo>
                  <a:lnTo>
                    <a:pt x="4945317" y="1797114"/>
                  </a:lnTo>
                  <a:lnTo>
                    <a:pt x="4936999" y="1797114"/>
                  </a:lnTo>
                  <a:lnTo>
                    <a:pt x="4936999" y="1979549"/>
                  </a:lnTo>
                  <a:lnTo>
                    <a:pt x="4919917" y="1981009"/>
                  </a:lnTo>
                  <a:lnTo>
                    <a:pt x="4919917" y="1799844"/>
                  </a:lnTo>
                  <a:lnTo>
                    <a:pt x="4911599" y="1799844"/>
                  </a:lnTo>
                  <a:lnTo>
                    <a:pt x="4911599" y="1981708"/>
                  </a:lnTo>
                  <a:lnTo>
                    <a:pt x="4894517" y="1983169"/>
                  </a:lnTo>
                  <a:lnTo>
                    <a:pt x="4894517" y="1802638"/>
                  </a:lnTo>
                  <a:lnTo>
                    <a:pt x="4886199" y="1802638"/>
                  </a:lnTo>
                  <a:lnTo>
                    <a:pt x="4886199" y="1983994"/>
                  </a:lnTo>
                  <a:lnTo>
                    <a:pt x="4869117" y="1985454"/>
                  </a:lnTo>
                  <a:lnTo>
                    <a:pt x="4869117" y="1805432"/>
                  </a:lnTo>
                  <a:lnTo>
                    <a:pt x="4860799" y="1805432"/>
                  </a:lnTo>
                  <a:lnTo>
                    <a:pt x="4860799" y="1986216"/>
                  </a:lnTo>
                  <a:lnTo>
                    <a:pt x="4843717" y="1987677"/>
                  </a:lnTo>
                  <a:lnTo>
                    <a:pt x="4843717" y="1808163"/>
                  </a:lnTo>
                  <a:lnTo>
                    <a:pt x="4835399" y="1808163"/>
                  </a:lnTo>
                  <a:lnTo>
                    <a:pt x="4835399" y="1988376"/>
                  </a:lnTo>
                  <a:lnTo>
                    <a:pt x="4818317" y="1989836"/>
                  </a:lnTo>
                  <a:lnTo>
                    <a:pt x="4818317" y="1810893"/>
                  </a:lnTo>
                  <a:lnTo>
                    <a:pt x="4809999" y="1810893"/>
                  </a:lnTo>
                  <a:lnTo>
                    <a:pt x="4809999" y="1990534"/>
                  </a:lnTo>
                  <a:lnTo>
                    <a:pt x="4792917" y="1991995"/>
                  </a:lnTo>
                  <a:lnTo>
                    <a:pt x="4792917" y="1813623"/>
                  </a:lnTo>
                  <a:lnTo>
                    <a:pt x="4784599" y="1813623"/>
                  </a:lnTo>
                  <a:lnTo>
                    <a:pt x="4784599" y="1992694"/>
                  </a:lnTo>
                  <a:lnTo>
                    <a:pt x="4767517" y="1994154"/>
                  </a:lnTo>
                  <a:lnTo>
                    <a:pt x="4767517" y="1816354"/>
                  </a:lnTo>
                  <a:lnTo>
                    <a:pt x="4759199" y="1816354"/>
                  </a:lnTo>
                  <a:lnTo>
                    <a:pt x="4759199" y="1994852"/>
                  </a:lnTo>
                  <a:lnTo>
                    <a:pt x="4742117" y="1996313"/>
                  </a:lnTo>
                  <a:lnTo>
                    <a:pt x="4742117" y="1819084"/>
                  </a:lnTo>
                  <a:lnTo>
                    <a:pt x="4733799" y="1819084"/>
                  </a:lnTo>
                  <a:lnTo>
                    <a:pt x="4733799" y="1997012"/>
                  </a:lnTo>
                  <a:lnTo>
                    <a:pt x="4716717" y="1998472"/>
                  </a:lnTo>
                  <a:lnTo>
                    <a:pt x="4716717" y="1821815"/>
                  </a:lnTo>
                  <a:lnTo>
                    <a:pt x="4708399" y="1821815"/>
                  </a:lnTo>
                  <a:lnTo>
                    <a:pt x="4708399" y="1999234"/>
                  </a:lnTo>
                  <a:lnTo>
                    <a:pt x="4687062" y="2001076"/>
                  </a:lnTo>
                  <a:lnTo>
                    <a:pt x="4687062" y="1822767"/>
                  </a:lnTo>
                  <a:close/>
                  <a:moveTo>
                    <a:pt x="4687125" y="1170369"/>
                  </a:moveTo>
                  <a:cubicBezTo>
                    <a:pt x="4700778" y="1181164"/>
                    <a:pt x="4732719" y="1214628"/>
                    <a:pt x="4732719" y="1291336"/>
                  </a:cubicBezTo>
                  <a:lnTo>
                    <a:pt x="4732719" y="1809496"/>
                  </a:lnTo>
                  <a:lnTo>
                    <a:pt x="4687125" y="1814385"/>
                  </a:lnTo>
                  <a:lnTo>
                    <a:pt x="4687125" y="1170369"/>
                  </a:lnTo>
                  <a:close/>
                  <a:moveTo>
                    <a:pt x="4687125" y="605980"/>
                  </a:moveTo>
                  <a:lnTo>
                    <a:pt x="5091557" y="517017"/>
                  </a:lnTo>
                  <a:lnTo>
                    <a:pt x="5091557" y="1055624"/>
                  </a:lnTo>
                  <a:cubicBezTo>
                    <a:pt x="5077143" y="1055941"/>
                    <a:pt x="5031296" y="1062165"/>
                    <a:pt x="4980114" y="1123378"/>
                  </a:cubicBezTo>
                  <a:cubicBezTo>
                    <a:pt x="4933760" y="1178814"/>
                    <a:pt x="4941570" y="1331468"/>
                    <a:pt x="4941887" y="1337945"/>
                  </a:cubicBezTo>
                  <a:lnTo>
                    <a:pt x="4941887" y="1787017"/>
                  </a:lnTo>
                  <a:lnTo>
                    <a:pt x="4740973" y="1808607"/>
                  </a:lnTo>
                  <a:lnTo>
                    <a:pt x="4740973" y="1291336"/>
                  </a:lnTo>
                  <a:cubicBezTo>
                    <a:pt x="4740973" y="1199452"/>
                    <a:pt x="4697603" y="1166685"/>
                    <a:pt x="4687062" y="1160082"/>
                  </a:cubicBezTo>
                  <a:lnTo>
                    <a:pt x="4687062" y="605980"/>
                  </a:lnTo>
                  <a:close/>
                  <a:moveTo>
                    <a:pt x="4579811" y="316484"/>
                  </a:moveTo>
                  <a:cubicBezTo>
                    <a:pt x="4580636" y="312674"/>
                    <a:pt x="4589209" y="280733"/>
                    <a:pt x="4637214" y="280733"/>
                  </a:cubicBezTo>
                  <a:cubicBezTo>
                    <a:pt x="4652709" y="280733"/>
                    <a:pt x="4664075" y="284924"/>
                    <a:pt x="4671060" y="293243"/>
                  </a:cubicBezTo>
                  <a:cubicBezTo>
                    <a:pt x="4681919" y="306133"/>
                    <a:pt x="4678871" y="325057"/>
                    <a:pt x="4678871" y="325247"/>
                  </a:cubicBezTo>
                  <a:lnTo>
                    <a:pt x="4678807" y="325945"/>
                  </a:lnTo>
                  <a:lnTo>
                    <a:pt x="4678807" y="2002028"/>
                  </a:lnTo>
                  <a:lnTo>
                    <a:pt x="4579747" y="2010601"/>
                  </a:lnTo>
                  <a:lnTo>
                    <a:pt x="4579747" y="316484"/>
                  </a:lnTo>
                  <a:close/>
                  <a:moveTo>
                    <a:pt x="4571492" y="1147254"/>
                  </a:moveTo>
                  <a:cubicBezTo>
                    <a:pt x="4563047" y="1152652"/>
                    <a:pt x="4531550" y="1175004"/>
                    <a:pt x="4508818" y="1221169"/>
                  </a:cubicBezTo>
                  <a:cubicBezTo>
                    <a:pt x="4482974" y="1273556"/>
                    <a:pt x="4486847" y="1378014"/>
                    <a:pt x="4487037" y="1382459"/>
                  </a:cubicBezTo>
                  <a:lnTo>
                    <a:pt x="4487037" y="1835848"/>
                  </a:lnTo>
                  <a:lnTo>
                    <a:pt x="4204653" y="1866202"/>
                  </a:lnTo>
                  <a:lnTo>
                    <a:pt x="4204653" y="712152"/>
                  </a:lnTo>
                  <a:lnTo>
                    <a:pt x="4571556" y="631444"/>
                  </a:lnTo>
                  <a:lnTo>
                    <a:pt x="4571556" y="1147254"/>
                  </a:lnTo>
                  <a:close/>
                  <a:moveTo>
                    <a:pt x="4571492" y="1826768"/>
                  </a:moveTo>
                  <a:lnTo>
                    <a:pt x="4495292" y="1834959"/>
                  </a:lnTo>
                  <a:lnTo>
                    <a:pt x="4495292" y="1382268"/>
                  </a:lnTo>
                  <a:cubicBezTo>
                    <a:pt x="4495292" y="1381570"/>
                    <a:pt x="4493895" y="1343914"/>
                    <a:pt x="4497959" y="1302893"/>
                  </a:cubicBezTo>
                  <a:lnTo>
                    <a:pt x="4498086" y="1303782"/>
                  </a:lnTo>
                  <a:lnTo>
                    <a:pt x="4568635" y="1294194"/>
                  </a:lnTo>
                  <a:lnTo>
                    <a:pt x="4567492" y="1285939"/>
                  </a:lnTo>
                  <a:lnTo>
                    <a:pt x="4498785" y="1295273"/>
                  </a:lnTo>
                  <a:cubicBezTo>
                    <a:pt x="4501769" y="1269619"/>
                    <a:pt x="4507039" y="1243521"/>
                    <a:pt x="4516184" y="1224852"/>
                  </a:cubicBezTo>
                  <a:cubicBezTo>
                    <a:pt x="4534725" y="1187133"/>
                    <a:pt x="4559872" y="1165796"/>
                    <a:pt x="4571429" y="1157415"/>
                  </a:cubicBezTo>
                  <a:lnTo>
                    <a:pt x="4571429" y="1826768"/>
                  </a:lnTo>
                  <a:close/>
                  <a:moveTo>
                    <a:pt x="4109593" y="414782"/>
                  </a:moveTo>
                  <a:cubicBezTo>
                    <a:pt x="4110291" y="411163"/>
                    <a:pt x="4117785" y="380111"/>
                    <a:pt x="4159948" y="380111"/>
                  </a:cubicBezTo>
                  <a:cubicBezTo>
                    <a:pt x="4172712" y="380111"/>
                    <a:pt x="4182300" y="383730"/>
                    <a:pt x="4188397" y="390906"/>
                  </a:cubicBezTo>
                  <a:cubicBezTo>
                    <a:pt x="4199319" y="403670"/>
                    <a:pt x="4196398" y="423545"/>
                    <a:pt x="4196334" y="423735"/>
                  </a:cubicBezTo>
                  <a:lnTo>
                    <a:pt x="4196271" y="424370"/>
                  </a:lnTo>
                  <a:lnTo>
                    <a:pt x="4196271" y="2040001"/>
                  </a:lnTo>
                  <a:lnTo>
                    <a:pt x="4204589" y="2040001"/>
                  </a:lnTo>
                  <a:lnTo>
                    <a:pt x="4204589" y="1874520"/>
                  </a:lnTo>
                  <a:lnTo>
                    <a:pt x="4571492" y="1835087"/>
                  </a:lnTo>
                  <a:lnTo>
                    <a:pt x="4571492" y="2011172"/>
                  </a:lnTo>
                  <a:lnTo>
                    <a:pt x="4554664" y="2012633"/>
                  </a:lnTo>
                  <a:lnTo>
                    <a:pt x="4554664" y="1839023"/>
                  </a:lnTo>
                  <a:lnTo>
                    <a:pt x="4546346" y="1839023"/>
                  </a:lnTo>
                  <a:lnTo>
                    <a:pt x="4546346" y="2013267"/>
                  </a:lnTo>
                  <a:lnTo>
                    <a:pt x="4547108" y="2013267"/>
                  </a:lnTo>
                  <a:lnTo>
                    <a:pt x="4531487" y="2014601"/>
                  </a:lnTo>
                  <a:lnTo>
                    <a:pt x="4531487" y="1841627"/>
                  </a:lnTo>
                  <a:lnTo>
                    <a:pt x="4523169" y="1841627"/>
                  </a:lnTo>
                  <a:lnTo>
                    <a:pt x="4523169" y="2015363"/>
                  </a:lnTo>
                  <a:lnTo>
                    <a:pt x="4508310" y="2016633"/>
                  </a:lnTo>
                  <a:lnTo>
                    <a:pt x="4508310" y="1844231"/>
                  </a:lnTo>
                  <a:lnTo>
                    <a:pt x="4499991" y="1844231"/>
                  </a:lnTo>
                  <a:lnTo>
                    <a:pt x="4499991" y="2017332"/>
                  </a:lnTo>
                  <a:lnTo>
                    <a:pt x="4485132" y="2018602"/>
                  </a:lnTo>
                  <a:lnTo>
                    <a:pt x="4485132" y="1846834"/>
                  </a:lnTo>
                  <a:lnTo>
                    <a:pt x="4476813" y="1846834"/>
                  </a:lnTo>
                  <a:lnTo>
                    <a:pt x="4476813" y="2019300"/>
                  </a:lnTo>
                  <a:lnTo>
                    <a:pt x="4461955" y="2020570"/>
                  </a:lnTo>
                  <a:lnTo>
                    <a:pt x="4461955" y="1849628"/>
                  </a:lnTo>
                  <a:lnTo>
                    <a:pt x="4453636" y="1849628"/>
                  </a:lnTo>
                  <a:lnTo>
                    <a:pt x="4453636" y="2021522"/>
                  </a:lnTo>
                  <a:lnTo>
                    <a:pt x="4438777" y="2022792"/>
                  </a:lnTo>
                  <a:lnTo>
                    <a:pt x="4438777" y="1852232"/>
                  </a:lnTo>
                  <a:lnTo>
                    <a:pt x="4430459" y="1852232"/>
                  </a:lnTo>
                  <a:lnTo>
                    <a:pt x="4430459" y="2023491"/>
                  </a:lnTo>
                  <a:lnTo>
                    <a:pt x="4415599" y="2024761"/>
                  </a:lnTo>
                  <a:lnTo>
                    <a:pt x="4415599" y="1854835"/>
                  </a:lnTo>
                  <a:lnTo>
                    <a:pt x="4407281" y="1854835"/>
                  </a:lnTo>
                  <a:lnTo>
                    <a:pt x="4407281" y="2025459"/>
                  </a:lnTo>
                  <a:lnTo>
                    <a:pt x="4392422" y="2026729"/>
                  </a:lnTo>
                  <a:lnTo>
                    <a:pt x="4392422" y="1857439"/>
                  </a:lnTo>
                  <a:lnTo>
                    <a:pt x="4384104" y="1857439"/>
                  </a:lnTo>
                  <a:lnTo>
                    <a:pt x="4384104" y="2027491"/>
                  </a:lnTo>
                  <a:lnTo>
                    <a:pt x="4369245" y="2028762"/>
                  </a:lnTo>
                  <a:lnTo>
                    <a:pt x="4369245" y="1860042"/>
                  </a:lnTo>
                  <a:lnTo>
                    <a:pt x="4360926" y="1860042"/>
                  </a:lnTo>
                  <a:lnTo>
                    <a:pt x="4360926" y="2029460"/>
                  </a:lnTo>
                  <a:lnTo>
                    <a:pt x="4346067" y="2030730"/>
                  </a:lnTo>
                  <a:lnTo>
                    <a:pt x="4346067" y="1862646"/>
                  </a:lnTo>
                  <a:lnTo>
                    <a:pt x="4337748" y="1862646"/>
                  </a:lnTo>
                  <a:lnTo>
                    <a:pt x="4337748" y="2031428"/>
                  </a:lnTo>
                  <a:lnTo>
                    <a:pt x="4322889" y="2032698"/>
                  </a:lnTo>
                  <a:lnTo>
                    <a:pt x="4322889" y="1865249"/>
                  </a:lnTo>
                  <a:lnTo>
                    <a:pt x="4314571" y="1865249"/>
                  </a:lnTo>
                  <a:lnTo>
                    <a:pt x="4314571" y="2033460"/>
                  </a:lnTo>
                  <a:lnTo>
                    <a:pt x="4299712" y="2034731"/>
                  </a:lnTo>
                  <a:lnTo>
                    <a:pt x="4299712" y="1868043"/>
                  </a:lnTo>
                  <a:lnTo>
                    <a:pt x="4291394" y="1868043"/>
                  </a:lnTo>
                  <a:lnTo>
                    <a:pt x="4291394" y="2035620"/>
                  </a:lnTo>
                  <a:lnTo>
                    <a:pt x="4276535" y="2036890"/>
                  </a:lnTo>
                  <a:lnTo>
                    <a:pt x="4276535" y="1870646"/>
                  </a:lnTo>
                  <a:lnTo>
                    <a:pt x="4268216" y="1870646"/>
                  </a:lnTo>
                  <a:lnTo>
                    <a:pt x="4268216" y="2037588"/>
                  </a:lnTo>
                  <a:lnTo>
                    <a:pt x="4253357" y="2038858"/>
                  </a:lnTo>
                  <a:lnTo>
                    <a:pt x="4253357" y="1873250"/>
                  </a:lnTo>
                  <a:lnTo>
                    <a:pt x="4245038" y="1873250"/>
                  </a:lnTo>
                  <a:lnTo>
                    <a:pt x="4245038" y="2039620"/>
                  </a:lnTo>
                  <a:lnTo>
                    <a:pt x="4230180" y="2040890"/>
                  </a:lnTo>
                  <a:lnTo>
                    <a:pt x="4230180" y="1875853"/>
                  </a:lnTo>
                  <a:lnTo>
                    <a:pt x="4221861" y="1875853"/>
                  </a:lnTo>
                  <a:lnTo>
                    <a:pt x="4221861" y="2041589"/>
                  </a:lnTo>
                  <a:lnTo>
                    <a:pt x="4109974" y="2051304"/>
                  </a:lnTo>
                  <a:lnTo>
                    <a:pt x="4109974" y="414782"/>
                  </a:lnTo>
                  <a:close/>
                  <a:moveTo>
                    <a:pt x="4101211" y="1877314"/>
                  </a:moveTo>
                  <a:lnTo>
                    <a:pt x="4086035" y="1878965"/>
                  </a:lnTo>
                  <a:lnTo>
                    <a:pt x="4086035" y="1877632"/>
                  </a:lnTo>
                  <a:lnTo>
                    <a:pt x="4077716" y="1877632"/>
                  </a:lnTo>
                  <a:lnTo>
                    <a:pt x="4077716" y="1879854"/>
                  </a:lnTo>
                  <a:lnTo>
                    <a:pt x="4065397" y="1881188"/>
                  </a:lnTo>
                  <a:lnTo>
                    <a:pt x="4065397" y="1880235"/>
                  </a:lnTo>
                  <a:lnTo>
                    <a:pt x="4057078" y="1880235"/>
                  </a:lnTo>
                  <a:lnTo>
                    <a:pt x="4057078" y="1882077"/>
                  </a:lnTo>
                  <a:lnTo>
                    <a:pt x="4044760" y="1883410"/>
                  </a:lnTo>
                  <a:lnTo>
                    <a:pt x="4044760" y="1882839"/>
                  </a:lnTo>
                  <a:lnTo>
                    <a:pt x="4036441" y="1882839"/>
                  </a:lnTo>
                  <a:lnTo>
                    <a:pt x="4036441" y="1884299"/>
                  </a:lnTo>
                  <a:lnTo>
                    <a:pt x="4024059" y="1885633"/>
                  </a:lnTo>
                  <a:lnTo>
                    <a:pt x="4024059" y="1885442"/>
                  </a:lnTo>
                  <a:lnTo>
                    <a:pt x="4015740" y="1885442"/>
                  </a:lnTo>
                  <a:lnTo>
                    <a:pt x="4015740" y="1886585"/>
                  </a:lnTo>
                  <a:lnTo>
                    <a:pt x="4005262" y="1887728"/>
                  </a:lnTo>
                  <a:lnTo>
                    <a:pt x="4005262" y="755967"/>
                  </a:lnTo>
                  <a:lnTo>
                    <a:pt x="4101274" y="734822"/>
                  </a:lnTo>
                  <a:lnTo>
                    <a:pt x="4101274" y="1877314"/>
                  </a:lnTo>
                  <a:close/>
                  <a:moveTo>
                    <a:pt x="3982720" y="1898459"/>
                  </a:moveTo>
                  <a:lnTo>
                    <a:pt x="3995102" y="1897126"/>
                  </a:lnTo>
                  <a:lnTo>
                    <a:pt x="3995102" y="2060067"/>
                  </a:lnTo>
                  <a:lnTo>
                    <a:pt x="4003421" y="2060067"/>
                  </a:lnTo>
                  <a:lnTo>
                    <a:pt x="4003421" y="1899221"/>
                  </a:lnTo>
                  <a:lnTo>
                    <a:pt x="4005262" y="1899221"/>
                  </a:lnTo>
                  <a:lnTo>
                    <a:pt x="4005262" y="1895983"/>
                  </a:lnTo>
                  <a:lnTo>
                    <a:pt x="4015740" y="1894840"/>
                  </a:lnTo>
                  <a:lnTo>
                    <a:pt x="4015740" y="2057464"/>
                  </a:lnTo>
                  <a:lnTo>
                    <a:pt x="4024059" y="2057464"/>
                  </a:lnTo>
                  <a:lnTo>
                    <a:pt x="4024059" y="1893951"/>
                  </a:lnTo>
                  <a:lnTo>
                    <a:pt x="4036441" y="1892617"/>
                  </a:lnTo>
                  <a:lnTo>
                    <a:pt x="4036441" y="2054860"/>
                  </a:lnTo>
                  <a:lnTo>
                    <a:pt x="4044760" y="2054860"/>
                  </a:lnTo>
                  <a:lnTo>
                    <a:pt x="4044760" y="1891728"/>
                  </a:lnTo>
                  <a:lnTo>
                    <a:pt x="4057078" y="1890395"/>
                  </a:lnTo>
                  <a:lnTo>
                    <a:pt x="4057078" y="2052257"/>
                  </a:lnTo>
                  <a:lnTo>
                    <a:pt x="4065397" y="2052257"/>
                  </a:lnTo>
                  <a:lnTo>
                    <a:pt x="4065397" y="1889506"/>
                  </a:lnTo>
                  <a:lnTo>
                    <a:pt x="4077716" y="1888172"/>
                  </a:lnTo>
                  <a:lnTo>
                    <a:pt x="4077716" y="2049653"/>
                  </a:lnTo>
                  <a:lnTo>
                    <a:pt x="4086035" y="2049653"/>
                  </a:lnTo>
                  <a:lnTo>
                    <a:pt x="4086035" y="1887284"/>
                  </a:lnTo>
                  <a:lnTo>
                    <a:pt x="4101211" y="1885633"/>
                  </a:lnTo>
                  <a:lnTo>
                    <a:pt x="4101211" y="2052002"/>
                  </a:lnTo>
                  <a:lnTo>
                    <a:pt x="3982657" y="2062290"/>
                  </a:lnTo>
                  <a:lnTo>
                    <a:pt x="3982657" y="1898459"/>
                  </a:lnTo>
                  <a:close/>
                  <a:moveTo>
                    <a:pt x="3962019" y="1900682"/>
                  </a:moveTo>
                  <a:lnTo>
                    <a:pt x="3974338" y="1899348"/>
                  </a:lnTo>
                  <a:lnTo>
                    <a:pt x="3974338" y="2062671"/>
                  </a:lnTo>
                  <a:lnTo>
                    <a:pt x="3978847" y="2062671"/>
                  </a:lnTo>
                  <a:lnTo>
                    <a:pt x="3961956" y="2064131"/>
                  </a:lnTo>
                  <a:lnTo>
                    <a:pt x="3961956" y="1900682"/>
                  </a:lnTo>
                  <a:close/>
                  <a:moveTo>
                    <a:pt x="3941318" y="1902904"/>
                  </a:moveTo>
                  <a:lnTo>
                    <a:pt x="3953700" y="1901571"/>
                  </a:lnTo>
                  <a:lnTo>
                    <a:pt x="3953700" y="2064893"/>
                  </a:lnTo>
                  <a:lnTo>
                    <a:pt x="3941318" y="2065972"/>
                  </a:lnTo>
                  <a:lnTo>
                    <a:pt x="3941318" y="1902904"/>
                  </a:lnTo>
                  <a:close/>
                  <a:moveTo>
                    <a:pt x="3920681" y="1905127"/>
                  </a:moveTo>
                  <a:lnTo>
                    <a:pt x="3932999" y="1903794"/>
                  </a:lnTo>
                  <a:lnTo>
                    <a:pt x="3932999" y="2066671"/>
                  </a:lnTo>
                  <a:lnTo>
                    <a:pt x="3920681" y="2067751"/>
                  </a:lnTo>
                  <a:lnTo>
                    <a:pt x="3920681" y="1905127"/>
                  </a:lnTo>
                  <a:close/>
                  <a:moveTo>
                    <a:pt x="3899980" y="1907350"/>
                  </a:moveTo>
                  <a:lnTo>
                    <a:pt x="3912298" y="1906016"/>
                  </a:lnTo>
                  <a:lnTo>
                    <a:pt x="3912298" y="2068449"/>
                  </a:lnTo>
                  <a:lnTo>
                    <a:pt x="3899980" y="2069528"/>
                  </a:lnTo>
                  <a:lnTo>
                    <a:pt x="3899980" y="1907350"/>
                  </a:lnTo>
                  <a:close/>
                  <a:moveTo>
                    <a:pt x="3879342" y="1909572"/>
                  </a:moveTo>
                  <a:lnTo>
                    <a:pt x="3891724" y="1908239"/>
                  </a:lnTo>
                  <a:lnTo>
                    <a:pt x="3891724" y="2070290"/>
                  </a:lnTo>
                  <a:lnTo>
                    <a:pt x="3879342" y="2071370"/>
                  </a:lnTo>
                  <a:lnTo>
                    <a:pt x="3879342" y="1909572"/>
                  </a:lnTo>
                  <a:close/>
                  <a:moveTo>
                    <a:pt x="3858641" y="1911795"/>
                  </a:moveTo>
                  <a:lnTo>
                    <a:pt x="3870960" y="1910461"/>
                  </a:lnTo>
                  <a:lnTo>
                    <a:pt x="3870960" y="2072069"/>
                  </a:lnTo>
                  <a:lnTo>
                    <a:pt x="3858641" y="2073148"/>
                  </a:lnTo>
                  <a:lnTo>
                    <a:pt x="3858641" y="1911795"/>
                  </a:lnTo>
                  <a:close/>
                  <a:moveTo>
                    <a:pt x="3838003" y="1914017"/>
                  </a:moveTo>
                  <a:lnTo>
                    <a:pt x="3850386" y="1912684"/>
                  </a:lnTo>
                  <a:lnTo>
                    <a:pt x="3850386" y="2073846"/>
                  </a:lnTo>
                  <a:lnTo>
                    <a:pt x="3838003" y="2074926"/>
                  </a:lnTo>
                  <a:lnTo>
                    <a:pt x="3838003" y="1914017"/>
                  </a:lnTo>
                  <a:close/>
                  <a:moveTo>
                    <a:pt x="3817302" y="1916240"/>
                  </a:moveTo>
                  <a:lnTo>
                    <a:pt x="3829622" y="1914906"/>
                  </a:lnTo>
                  <a:lnTo>
                    <a:pt x="3829622" y="2075625"/>
                  </a:lnTo>
                  <a:lnTo>
                    <a:pt x="3817302" y="2076704"/>
                  </a:lnTo>
                  <a:lnTo>
                    <a:pt x="3817302" y="1916240"/>
                  </a:lnTo>
                  <a:close/>
                  <a:moveTo>
                    <a:pt x="3796601" y="1918462"/>
                  </a:moveTo>
                  <a:lnTo>
                    <a:pt x="3808921" y="1917128"/>
                  </a:lnTo>
                  <a:lnTo>
                    <a:pt x="3808921" y="2077466"/>
                  </a:lnTo>
                  <a:lnTo>
                    <a:pt x="3796601" y="2078546"/>
                  </a:lnTo>
                  <a:lnTo>
                    <a:pt x="3796601" y="1918462"/>
                  </a:lnTo>
                  <a:close/>
                  <a:moveTo>
                    <a:pt x="3770821" y="1921192"/>
                  </a:moveTo>
                  <a:lnTo>
                    <a:pt x="3788347" y="1919288"/>
                  </a:lnTo>
                  <a:lnTo>
                    <a:pt x="3788347" y="2079181"/>
                  </a:lnTo>
                  <a:lnTo>
                    <a:pt x="3770821" y="2080704"/>
                  </a:lnTo>
                  <a:lnTo>
                    <a:pt x="3770821" y="1921192"/>
                  </a:lnTo>
                  <a:close/>
                  <a:moveTo>
                    <a:pt x="3770821" y="683133"/>
                  </a:moveTo>
                  <a:lnTo>
                    <a:pt x="3996881" y="755650"/>
                  </a:lnTo>
                  <a:lnTo>
                    <a:pt x="3996881" y="1887982"/>
                  </a:lnTo>
                  <a:lnTo>
                    <a:pt x="3995039" y="1887982"/>
                  </a:lnTo>
                  <a:lnTo>
                    <a:pt x="3995039" y="1888744"/>
                  </a:lnTo>
                  <a:lnTo>
                    <a:pt x="3977831" y="1890585"/>
                  </a:lnTo>
                  <a:lnTo>
                    <a:pt x="3974338" y="1890585"/>
                  </a:lnTo>
                  <a:lnTo>
                    <a:pt x="3974338" y="1890966"/>
                  </a:lnTo>
                  <a:lnTo>
                    <a:pt x="3770757" y="1912810"/>
                  </a:lnTo>
                  <a:lnTo>
                    <a:pt x="3770757" y="683133"/>
                  </a:lnTo>
                  <a:close/>
                  <a:moveTo>
                    <a:pt x="3675824" y="520700"/>
                  </a:moveTo>
                  <a:cubicBezTo>
                    <a:pt x="3676713" y="517335"/>
                    <a:pt x="3684461" y="492316"/>
                    <a:pt x="3726180" y="492316"/>
                  </a:cubicBezTo>
                  <a:cubicBezTo>
                    <a:pt x="3739198" y="492316"/>
                    <a:pt x="3748849" y="495998"/>
                    <a:pt x="3755009" y="503174"/>
                  </a:cubicBezTo>
                  <a:cubicBezTo>
                    <a:pt x="3765486" y="515493"/>
                    <a:pt x="3762629" y="534289"/>
                    <a:pt x="3762565" y="534479"/>
                  </a:cubicBezTo>
                  <a:lnTo>
                    <a:pt x="3762502" y="535114"/>
                  </a:lnTo>
                  <a:lnTo>
                    <a:pt x="3762502" y="2081403"/>
                  </a:lnTo>
                  <a:lnTo>
                    <a:pt x="3675824" y="2088896"/>
                  </a:lnTo>
                  <a:lnTo>
                    <a:pt x="3675824" y="520700"/>
                  </a:lnTo>
                  <a:close/>
                  <a:moveTo>
                    <a:pt x="3667443" y="1215136"/>
                  </a:moveTo>
                  <a:lnTo>
                    <a:pt x="3372104" y="1267523"/>
                  </a:lnTo>
                  <a:lnTo>
                    <a:pt x="3372104" y="990664"/>
                  </a:lnTo>
                  <a:lnTo>
                    <a:pt x="3516376" y="962025"/>
                  </a:lnTo>
                  <a:lnTo>
                    <a:pt x="3515805" y="1238314"/>
                  </a:lnTo>
                  <a:lnTo>
                    <a:pt x="3524123" y="1238314"/>
                  </a:lnTo>
                  <a:lnTo>
                    <a:pt x="3524695" y="951865"/>
                  </a:lnTo>
                  <a:lnTo>
                    <a:pt x="3372104" y="982154"/>
                  </a:lnTo>
                  <a:lnTo>
                    <a:pt x="3372104" y="867727"/>
                  </a:lnTo>
                  <a:lnTo>
                    <a:pt x="3667443" y="804291"/>
                  </a:lnTo>
                  <a:lnTo>
                    <a:pt x="3667443" y="1215136"/>
                  </a:lnTo>
                  <a:close/>
                  <a:moveTo>
                    <a:pt x="3667443" y="1354963"/>
                  </a:moveTo>
                  <a:lnTo>
                    <a:pt x="3372104" y="1401254"/>
                  </a:lnTo>
                  <a:lnTo>
                    <a:pt x="3372104" y="1275969"/>
                  </a:lnTo>
                  <a:lnTo>
                    <a:pt x="3667443" y="1223582"/>
                  </a:lnTo>
                  <a:lnTo>
                    <a:pt x="3667443" y="1354963"/>
                  </a:lnTo>
                  <a:close/>
                  <a:moveTo>
                    <a:pt x="3667443" y="1956498"/>
                  </a:moveTo>
                  <a:lnTo>
                    <a:pt x="3372104" y="1987042"/>
                  </a:lnTo>
                  <a:lnTo>
                    <a:pt x="3372104" y="1710119"/>
                  </a:lnTo>
                  <a:lnTo>
                    <a:pt x="3516376" y="1692084"/>
                  </a:lnTo>
                  <a:lnTo>
                    <a:pt x="3515805" y="1968690"/>
                  </a:lnTo>
                  <a:lnTo>
                    <a:pt x="3524123" y="1968690"/>
                  </a:lnTo>
                  <a:lnTo>
                    <a:pt x="3524695" y="1682623"/>
                  </a:lnTo>
                  <a:lnTo>
                    <a:pt x="3372104" y="1701673"/>
                  </a:lnTo>
                  <a:lnTo>
                    <a:pt x="3372104" y="1500696"/>
                  </a:lnTo>
                  <a:lnTo>
                    <a:pt x="3658235" y="1458785"/>
                  </a:lnTo>
                  <a:lnTo>
                    <a:pt x="3657028" y="1450531"/>
                  </a:lnTo>
                  <a:lnTo>
                    <a:pt x="3372104" y="1492250"/>
                  </a:lnTo>
                  <a:lnTo>
                    <a:pt x="3372104" y="1409637"/>
                  </a:lnTo>
                  <a:lnTo>
                    <a:pt x="3667443" y="1363345"/>
                  </a:lnTo>
                  <a:lnTo>
                    <a:pt x="3667443" y="1956498"/>
                  </a:lnTo>
                  <a:close/>
                  <a:moveTo>
                    <a:pt x="3277172" y="623252"/>
                  </a:moveTo>
                  <a:cubicBezTo>
                    <a:pt x="3277934" y="619760"/>
                    <a:pt x="3285553" y="591757"/>
                    <a:pt x="3327527" y="591757"/>
                  </a:cubicBezTo>
                  <a:cubicBezTo>
                    <a:pt x="3340672" y="591757"/>
                    <a:pt x="3350450" y="595376"/>
                    <a:pt x="3356610" y="602615"/>
                  </a:cubicBezTo>
                  <a:cubicBezTo>
                    <a:pt x="3366770" y="614553"/>
                    <a:pt x="3363976" y="632651"/>
                    <a:pt x="3363976" y="632841"/>
                  </a:cubicBezTo>
                  <a:lnTo>
                    <a:pt x="3363912" y="633540"/>
                  </a:lnTo>
                  <a:lnTo>
                    <a:pt x="3363912" y="2114296"/>
                  </a:lnTo>
                  <a:lnTo>
                    <a:pt x="3372231" y="2114296"/>
                  </a:lnTo>
                  <a:lnTo>
                    <a:pt x="3372231" y="1995551"/>
                  </a:lnTo>
                  <a:lnTo>
                    <a:pt x="3667570" y="1964944"/>
                  </a:lnTo>
                  <a:lnTo>
                    <a:pt x="3667570" y="2089785"/>
                  </a:lnTo>
                  <a:lnTo>
                    <a:pt x="3277235" y="2123631"/>
                  </a:lnTo>
                  <a:lnTo>
                    <a:pt x="3277235" y="623252"/>
                  </a:lnTo>
                  <a:close/>
                  <a:moveTo>
                    <a:pt x="3826383" y="2398840"/>
                  </a:moveTo>
                  <a:cubicBezTo>
                    <a:pt x="3826383" y="2244979"/>
                    <a:pt x="3884422" y="2208847"/>
                    <a:pt x="3901249" y="2201609"/>
                  </a:cubicBezTo>
                  <a:cubicBezTo>
                    <a:pt x="3953891" y="2202307"/>
                    <a:pt x="3980878" y="2229168"/>
                    <a:pt x="3991547" y="2243709"/>
                  </a:cubicBezTo>
                  <a:cubicBezTo>
                    <a:pt x="4026535" y="2319782"/>
                    <a:pt x="4020122" y="2417255"/>
                    <a:pt x="4019995" y="2418461"/>
                  </a:cubicBezTo>
                  <a:lnTo>
                    <a:pt x="4019995" y="2913888"/>
                  </a:lnTo>
                  <a:lnTo>
                    <a:pt x="3826383" y="2913888"/>
                  </a:lnTo>
                  <a:lnTo>
                    <a:pt x="3826383" y="2398840"/>
                  </a:lnTo>
                  <a:close/>
                  <a:moveTo>
                    <a:pt x="3755517" y="2439861"/>
                  </a:moveTo>
                  <a:cubicBezTo>
                    <a:pt x="3755517" y="2247900"/>
                    <a:pt x="3835463" y="2208784"/>
                    <a:pt x="3883406" y="2202561"/>
                  </a:cubicBezTo>
                  <a:cubicBezTo>
                    <a:pt x="3858323" y="2221166"/>
                    <a:pt x="3818064" y="2270824"/>
                    <a:pt x="3818064" y="2398840"/>
                  </a:cubicBezTo>
                  <a:lnTo>
                    <a:pt x="3818064" y="2913888"/>
                  </a:lnTo>
                  <a:lnTo>
                    <a:pt x="3755517" y="2913888"/>
                  </a:lnTo>
                  <a:lnTo>
                    <a:pt x="3755517" y="2439861"/>
                  </a:lnTo>
                  <a:close/>
                  <a:moveTo>
                    <a:pt x="3762565" y="2193734"/>
                  </a:moveTo>
                  <a:cubicBezTo>
                    <a:pt x="3788093" y="2167319"/>
                    <a:pt x="3819906" y="2153984"/>
                    <a:pt x="3857244" y="2153984"/>
                  </a:cubicBezTo>
                  <a:cubicBezTo>
                    <a:pt x="3857308" y="2153984"/>
                    <a:pt x="3857371" y="2153984"/>
                    <a:pt x="3857498" y="2153984"/>
                  </a:cubicBezTo>
                  <a:cubicBezTo>
                    <a:pt x="3899789" y="2154047"/>
                    <a:pt x="3934650" y="2168462"/>
                    <a:pt x="3961003" y="2196846"/>
                  </a:cubicBezTo>
                  <a:cubicBezTo>
                    <a:pt x="3966782" y="2203069"/>
                    <a:pt x="3971988" y="2209927"/>
                    <a:pt x="3976751" y="2217039"/>
                  </a:cubicBezTo>
                  <a:cubicBezTo>
                    <a:pt x="3960432" y="2204784"/>
                    <a:pt x="3935984" y="2193671"/>
                    <a:pt x="3900869" y="2193290"/>
                  </a:cubicBezTo>
                  <a:lnTo>
                    <a:pt x="3900741" y="2192909"/>
                  </a:lnTo>
                  <a:cubicBezTo>
                    <a:pt x="3900487" y="2193036"/>
                    <a:pt x="3900107" y="2193163"/>
                    <a:pt x="3899789" y="2193290"/>
                  </a:cubicBezTo>
                  <a:cubicBezTo>
                    <a:pt x="3899598" y="2193290"/>
                    <a:pt x="3899408" y="2193290"/>
                    <a:pt x="3899218" y="2193290"/>
                  </a:cubicBezTo>
                  <a:cubicBezTo>
                    <a:pt x="3853498" y="2193290"/>
                    <a:pt x="3747262" y="2217357"/>
                    <a:pt x="3747262" y="2439924"/>
                  </a:cubicBezTo>
                  <a:lnTo>
                    <a:pt x="3747262" y="2913952"/>
                  </a:lnTo>
                  <a:lnTo>
                    <a:pt x="3688651" y="2913952"/>
                  </a:lnTo>
                  <a:lnTo>
                    <a:pt x="3688651" y="2462149"/>
                  </a:lnTo>
                  <a:cubicBezTo>
                    <a:pt x="3688461" y="2460117"/>
                    <a:pt x="3682873" y="2276221"/>
                    <a:pt x="3762565" y="2193734"/>
                  </a:cubicBezTo>
                  <a:close/>
                  <a:moveTo>
                    <a:pt x="3395726" y="2432431"/>
                  </a:moveTo>
                  <a:cubicBezTo>
                    <a:pt x="3395726" y="2288286"/>
                    <a:pt x="3453765" y="2254504"/>
                    <a:pt x="3470529" y="2247773"/>
                  </a:cubicBezTo>
                  <a:cubicBezTo>
                    <a:pt x="3523171" y="2248408"/>
                    <a:pt x="3549840" y="2272919"/>
                    <a:pt x="3560636" y="2286699"/>
                  </a:cubicBezTo>
                  <a:cubicBezTo>
                    <a:pt x="3595878" y="2358009"/>
                    <a:pt x="3589401" y="2449766"/>
                    <a:pt x="3589337" y="2450846"/>
                  </a:cubicBezTo>
                  <a:lnTo>
                    <a:pt x="3589337" y="2913952"/>
                  </a:lnTo>
                  <a:lnTo>
                    <a:pt x="3395726" y="2913952"/>
                  </a:lnTo>
                  <a:lnTo>
                    <a:pt x="3395726" y="2432431"/>
                  </a:lnTo>
                  <a:close/>
                  <a:moveTo>
                    <a:pt x="3324860" y="2470849"/>
                  </a:moveTo>
                  <a:cubicBezTo>
                    <a:pt x="3324860" y="2292096"/>
                    <a:pt x="3403918" y="2254885"/>
                    <a:pt x="3451923" y="2248726"/>
                  </a:cubicBezTo>
                  <a:cubicBezTo>
                    <a:pt x="3426714" y="2266633"/>
                    <a:pt x="3387471" y="2313686"/>
                    <a:pt x="3387471" y="2432368"/>
                  </a:cubicBezTo>
                  <a:lnTo>
                    <a:pt x="3387471" y="2913888"/>
                  </a:lnTo>
                  <a:lnTo>
                    <a:pt x="3324923" y="2913888"/>
                  </a:lnTo>
                  <a:lnTo>
                    <a:pt x="3324923" y="2470849"/>
                  </a:lnTo>
                  <a:close/>
                  <a:moveTo>
                    <a:pt x="3328352" y="2243836"/>
                  </a:moveTo>
                  <a:cubicBezTo>
                    <a:pt x="3354451" y="2216721"/>
                    <a:pt x="3387535" y="2203006"/>
                    <a:pt x="3426587" y="2203006"/>
                  </a:cubicBezTo>
                  <a:cubicBezTo>
                    <a:pt x="3426650" y="2203006"/>
                    <a:pt x="3426714" y="2203006"/>
                    <a:pt x="3426841" y="2203006"/>
                  </a:cubicBezTo>
                  <a:cubicBezTo>
                    <a:pt x="3471037" y="2203069"/>
                    <a:pt x="3507041" y="2217801"/>
                    <a:pt x="3533838" y="2246757"/>
                  </a:cubicBezTo>
                  <a:cubicBezTo>
                    <a:pt x="3538093" y="2251393"/>
                    <a:pt x="3542030" y="2256282"/>
                    <a:pt x="3545713" y="2261426"/>
                  </a:cubicBezTo>
                  <a:cubicBezTo>
                    <a:pt x="3529394" y="2249996"/>
                    <a:pt x="3505136" y="2239772"/>
                    <a:pt x="3470275" y="2239391"/>
                  </a:cubicBezTo>
                  <a:lnTo>
                    <a:pt x="3470148" y="2239010"/>
                  </a:lnTo>
                  <a:cubicBezTo>
                    <a:pt x="3469831" y="2239137"/>
                    <a:pt x="3469513" y="2239264"/>
                    <a:pt x="3469196" y="2239391"/>
                  </a:cubicBezTo>
                  <a:cubicBezTo>
                    <a:pt x="3469005" y="2239391"/>
                    <a:pt x="3468751" y="2239391"/>
                    <a:pt x="3468561" y="2239391"/>
                  </a:cubicBezTo>
                  <a:cubicBezTo>
                    <a:pt x="3422840" y="2239391"/>
                    <a:pt x="3316605" y="2261934"/>
                    <a:pt x="3316605" y="2470912"/>
                  </a:cubicBezTo>
                  <a:lnTo>
                    <a:pt x="3316605" y="2913952"/>
                  </a:lnTo>
                  <a:lnTo>
                    <a:pt x="3257995" y="2913952"/>
                  </a:lnTo>
                  <a:lnTo>
                    <a:pt x="3257995" y="2491740"/>
                  </a:lnTo>
                  <a:cubicBezTo>
                    <a:pt x="3257868" y="2489899"/>
                    <a:pt x="3252407" y="2322640"/>
                    <a:pt x="3328352" y="2243836"/>
                  </a:cubicBezTo>
                  <a:close/>
                  <a:moveTo>
                    <a:pt x="862838" y="1712468"/>
                  </a:moveTo>
                  <a:lnTo>
                    <a:pt x="759142" y="1731137"/>
                  </a:lnTo>
                  <a:lnTo>
                    <a:pt x="755396" y="1376553"/>
                  </a:lnTo>
                  <a:lnTo>
                    <a:pt x="862838" y="1390142"/>
                  </a:lnTo>
                  <a:lnTo>
                    <a:pt x="862838" y="1712468"/>
                  </a:lnTo>
                  <a:close/>
                  <a:moveTo>
                    <a:pt x="862838" y="1794510"/>
                  </a:moveTo>
                  <a:lnTo>
                    <a:pt x="759968" y="1810639"/>
                  </a:lnTo>
                  <a:lnTo>
                    <a:pt x="759206" y="1739583"/>
                  </a:lnTo>
                  <a:lnTo>
                    <a:pt x="862838" y="1720914"/>
                  </a:lnTo>
                  <a:lnTo>
                    <a:pt x="862838" y="1794510"/>
                  </a:lnTo>
                  <a:close/>
                  <a:moveTo>
                    <a:pt x="862838" y="1859978"/>
                  </a:moveTo>
                  <a:lnTo>
                    <a:pt x="760730" y="1874965"/>
                  </a:lnTo>
                  <a:lnTo>
                    <a:pt x="760730" y="1818958"/>
                  </a:lnTo>
                  <a:lnTo>
                    <a:pt x="862838" y="1802956"/>
                  </a:lnTo>
                  <a:lnTo>
                    <a:pt x="862838" y="1859978"/>
                  </a:lnTo>
                  <a:close/>
                  <a:moveTo>
                    <a:pt x="862838" y="2244915"/>
                  </a:moveTo>
                  <a:lnTo>
                    <a:pt x="764667" y="2255266"/>
                  </a:lnTo>
                  <a:lnTo>
                    <a:pt x="760730" y="1883410"/>
                  </a:lnTo>
                  <a:lnTo>
                    <a:pt x="862838" y="1868424"/>
                  </a:lnTo>
                  <a:lnTo>
                    <a:pt x="862838" y="2244915"/>
                  </a:lnTo>
                  <a:close/>
                  <a:moveTo>
                    <a:pt x="1049909" y="1443291"/>
                  </a:moveTo>
                  <a:lnTo>
                    <a:pt x="968629" y="1459421"/>
                  </a:lnTo>
                  <a:lnTo>
                    <a:pt x="969264" y="1692783"/>
                  </a:lnTo>
                  <a:lnTo>
                    <a:pt x="973836" y="1692783"/>
                  </a:lnTo>
                  <a:lnTo>
                    <a:pt x="945451" y="1697800"/>
                  </a:lnTo>
                  <a:lnTo>
                    <a:pt x="945451" y="1389190"/>
                  </a:lnTo>
                  <a:lnTo>
                    <a:pt x="1049973" y="1366710"/>
                  </a:lnTo>
                  <a:lnTo>
                    <a:pt x="1049973" y="1443291"/>
                  </a:lnTo>
                  <a:close/>
                  <a:moveTo>
                    <a:pt x="1049909" y="1679321"/>
                  </a:moveTo>
                  <a:lnTo>
                    <a:pt x="977583" y="1692148"/>
                  </a:lnTo>
                  <a:lnTo>
                    <a:pt x="977011" y="1466278"/>
                  </a:lnTo>
                  <a:lnTo>
                    <a:pt x="1049909" y="1451801"/>
                  </a:lnTo>
                  <a:lnTo>
                    <a:pt x="1049909" y="1679321"/>
                  </a:lnTo>
                  <a:close/>
                  <a:moveTo>
                    <a:pt x="1049909" y="1765237"/>
                  </a:moveTo>
                  <a:lnTo>
                    <a:pt x="945388" y="1781620"/>
                  </a:lnTo>
                  <a:lnTo>
                    <a:pt x="945388" y="1706372"/>
                  </a:lnTo>
                  <a:lnTo>
                    <a:pt x="1049909" y="1687830"/>
                  </a:lnTo>
                  <a:lnTo>
                    <a:pt x="1049909" y="1765237"/>
                  </a:lnTo>
                  <a:close/>
                  <a:moveTo>
                    <a:pt x="1049909" y="1832546"/>
                  </a:moveTo>
                  <a:lnTo>
                    <a:pt x="922909" y="1851152"/>
                  </a:lnTo>
                  <a:lnTo>
                    <a:pt x="922846" y="1793558"/>
                  </a:lnTo>
                  <a:lnTo>
                    <a:pt x="937323" y="1791271"/>
                  </a:lnTo>
                  <a:lnTo>
                    <a:pt x="945451" y="1791271"/>
                  </a:lnTo>
                  <a:lnTo>
                    <a:pt x="945451" y="1790002"/>
                  </a:lnTo>
                  <a:lnTo>
                    <a:pt x="1049973" y="1773619"/>
                  </a:lnTo>
                  <a:lnTo>
                    <a:pt x="1049973" y="1832546"/>
                  </a:lnTo>
                  <a:close/>
                  <a:moveTo>
                    <a:pt x="1049909" y="1991487"/>
                  </a:moveTo>
                  <a:lnTo>
                    <a:pt x="968629" y="2001647"/>
                  </a:lnTo>
                  <a:lnTo>
                    <a:pt x="969264" y="2235327"/>
                  </a:lnTo>
                  <a:lnTo>
                    <a:pt x="974535" y="2235327"/>
                  </a:lnTo>
                  <a:lnTo>
                    <a:pt x="945642" y="2238312"/>
                  </a:lnTo>
                  <a:lnTo>
                    <a:pt x="945642" y="1867979"/>
                  </a:lnTo>
                  <a:lnTo>
                    <a:pt x="937323" y="1867979"/>
                  </a:lnTo>
                  <a:lnTo>
                    <a:pt x="937323" y="2376678"/>
                  </a:lnTo>
                  <a:lnTo>
                    <a:pt x="871157" y="2381568"/>
                  </a:lnTo>
                  <a:lnTo>
                    <a:pt x="871157" y="1346962"/>
                  </a:lnTo>
                  <a:cubicBezTo>
                    <a:pt x="873697" y="1343723"/>
                    <a:pt x="884619" y="1332230"/>
                    <a:pt x="911860" y="1332230"/>
                  </a:cubicBezTo>
                  <a:cubicBezTo>
                    <a:pt x="929830" y="1332230"/>
                    <a:pt x="934974" y="1336358"/>
                    <a:pt x="936371" y="1338199"/>
                  </a:cubicBezTo>
                  <a:cubicBezTo>
                    <a:pt x="937577" y="1339787"/>
                    <a:pt x="937260" y="1341120"/>
                    <a:pt x="937260" y="1341310"/>
                  </a:cubicBezTo>
                  <a:lnTo>
                    <a:pt x="937070" y="1342517"/>
                  </a:lnTo>
                  <a:lnTo>
                    <a:pt x="937070" y="1782953"/>
                  </a:lnTo>
                  <a:lnTo>
                    <a:pt x="914463" y="1786509"/>
                  </a:lnTo>
                  <a:lnTo>
                    <a:pt x="914590" y="1860867"/>
                  </a:lnTo>
                  <a:lnTo>
                    <a:pt x="1049909" y="1841056"/>
                  </a:lnTo>
                  <a:lnTo>
                    <a:pt x="1049909" y="1991487"/>
                  </a:lnTo>
                  <a:close/>
                  <a:moveTo>
                    <a:pt x="1049909" y="2227516"/>
                  </a:moveTo>
                  <a:lnTo>
                    <a:pt x="977583" y="2235009"/>
                  </a:lnTo>
                  <a:lnTo>
                    <a:pt x="977011" y="2009013"/>
                  </a:lnTo>
                  <a:lnTo>
                    <a:pt x="1049909" y="1999933"/>
                  </a:lnTo>
                  <a:lnTo>
                    <a:pt x="1049909" y="2227516"/>
                  </a:lnTo>
                  <a:close/>
                  <a:moveTo>
                    <a:pt x="1049909" y="2368296"/>
                  </a:moveTo>
                  <a:lnTo>
                    <a:pt x="945642" y="2376043"/>
                  </a:lnTo>
                  <a:lnTo>
                    <a:pt x="945642" y="2246694"/>
                  </a:lnTo>
                  <a:lnTo>
                    <a:pt x="1049909" y="2235899"/>
                  </a:lnTo>
                  <a:lnTo>
                    <a:pt x="1049909" y="2368296"/>
                  </a:lnTo>
                  <a:close/>
                  <a:moveTo>
                    <a:pt x="1124395" y="1296924"/>
                  </a:moveTo>
                  <a:lnTo>
                    <a:pt x="1124204" y="1298194"/>
                  </a:lnTo>
                  <a:lnTo>
                    <a:pt x="1124204" y="1753552"/>
                  </a:lnTo>
                  <a:lnTo>
                    <a:pt x="1104011" y="1756727"/>
                  </a:lnTo>
                  <a:lnTo>
                    <a:pt x="1104011" y="1833054"/>
                  </a:lnTo>
                  <a:lnTo>
                    <a:pt x="1124458" y="1830070"/>
                  </a:lnTo>
                  <a:lnTo>
                    <a:pt x="1124458" y="2362708"/>
                  </a:lnTo>
                  <a:lnTo>
                    <a:pt x="1058291" y="2367597"/>
                  </a:lnTo>
                  <a:lnTo>
                    <a:pt x="1058291" y="1302702"/>
                  </a:lnTo>
                  <a:cubicBezTo>
                    <a:pt x="1060767" y="1299337"/>
                    <a:pt x="1071689" y="1287272"/>
                    <a:pt x="1098995" y="1287272"/>
                  </a:cubicBezTo>
                  <a:cubicBezTo>
                    <a:pt x="1117028" y="1287272"/>
                    <a:pt x="1122172" y="1291653"/>
                    <a:pt x="1123506" y="1293495"/>
                  </a:cubicBezTo>
                  <a:cubicBezTo>
                    <a:pt x="1124775" y="1295337"/>
                    <a:pt x="1124458" y="1296924"/>
                    <a:pt x="1124395" y="1296924"/>
                  </a:cubicBezTo>
                  <a:close/>
                  <a:moveTo>
                    <a:pt x="1260475" y="1401509"/>
                  </a:moveTo>
                  <a:lnTo>
                    <a:pt x="1165606" y="1420368"/>
                  </a:lnTo>
                  <a:lnTo>
                    <a:pt x="1167956" y="1658429"/>
                  </a:lnTo>
                  <a:lnTo>
                    <a:pt x="1132586" y="1664716"/>
                  </a:lnTo>
                  <a:lnTo>
                    <a:pt x="1132586" y="1349058"/>
                  </a:lnTo>
                  <a:lnTo>
                    <a:pt x="1260475" y="1321562"/>
                  </a:lnTo>
                  <a:lnTo>
                    <a:pt x="1260475" y="1401509"/>
                  </a:lnTo>
                  <a:close/>
                  <a:moveTo>
                    <a:pt x="1260475" y="1641983"/>
                  </a:moveTo>
                  <a:lnTo>
                    <a:pt x="1176211" y="1656906"/>
                  </a:lnTo>
                  <a:lnTo>
                    <a:pt x="1173988" y="1427163"/>
                  </a:lnTo>
                  <a:lnTo>
                    <a:pt x="1260475" y="1409954"/>
                  </a:lnTo>
                  <a:lnTo>
                    <a:pt x="1260475" y="1641983"/>
                  </a:lnTo>
                  <a:close/>
                  <a:moveTo>
                    <a:pt x="1260475" y="1732216"/>
                  </a:moveTo>
                  <a:lnTo>
                    <a:pt x="1132586" y="1752283"/>
                  </a:lnTo>
                  <a:lnTo>
                    <a:pt x="1132586" y="1673162"/>
                  </a:lnTo>
                  <a:lnTo>
                    <a:pt x="1260475" y="1650492"/>
                  </a:lnTo>
                  <a:lnTo>
                    <a:pt x="1260475" y="1732216"/>
                  </a:lnTo>
                  <a:close/>
                  <a:moveTo>
                    <a:pt x="1260475" y="1801749"/>
                  </a:moveTo>
                  <a:lnTo>
                    <a:pt x="1112393" y="1823466"/>
                  </a:lnTo>
                  <a:lnTo>
                    <a:pt x="1112393" y="1763903"/>
                  </a:lnTo>
                  <a:lnTo>
                    <a:pt x="1124267" y="1762062"/>
                  </a:lnTo>
                  <a:lnTo>
                    <a:pt x="1124267" y="1766379"/>
                  </a:lnTo>
                  <a:lnTo>
                    <a:pt x="1132586" y="1766379"/>
                  </a:lnTo>
                  <a:lnTo>
                    <a:pt x="1132586" y="1760728"/>
                  </a:lnTo>
                  <a:lnTo>
                    <a:pt x="1260475" y="1740662"/>
                  </a:lnTo>
                  <a:lnTo>
                    <a:pt x="1260475" y="1801749"/>
                  </a:lnTo>
                  <a:close/>
                  <a:moveTo>
                    <a:pt x="1260475" y="1965262"/>
                  </a:moveTo>
                  <a:lnTo>
                    <a:pt x="1165606" y="1977072"/>
                  </a:lnTo>
                  <a:lnTo>
                    <a:pt x="1167956" y="2215325"/>
                  </a:lnTo>
                  <a:lnTo>
                    <a:pt x="1132840" y="2218944"/>
                  </a:lnTo>
                  <a:lnTo>
                    <a:pt x="1132840" y="1828864"/>
                  </a:lnTo>
                  <a:lnTo>
                    <a:pt x="1260475" y="1810131"/>
                  </a:lnTo>
                  <a:lnTo>
                    <a:pt x="1260475" y="1965262"/>
                  </a:lnTo>
                  <a:close/>
                  <a:moveTo>
                    <a:pt x="1260475" y="2205736"/>
                  </a:moveTo>
                  <a:lnTo>
                    <a:pt x="1176211" y="2214436"/>
                  </a:lnTo>
                  <a:lnTo>
                    <a:pt x="1173988" y="1984439"/>
                  </a:lnTo>
                  <a:lnTo>
                    <a:pt x="1260475" y="1973644"/>
                  </a:lnTo>
                  <a:lnTo>
                    <a:pt x="1260475" y="2205736"/>
                  </a:lnTo>
                  <a:close/>
                  <a:moveTo>
                    <a:pt x="1260475" y="2352612"/>
                  </a:moveTo>
                  <a:lnTo>
                    <a:pt x="1132840" y="2362073"/>
                  </a:lnTo>
                  <a:lnTo>
                    <a:pt x="1132840" y="2227263"/>
                  </a:lnTo>
                  <a:lnTo>
                    <a:pt x="1260475" y="2214055"/>
                  </a:lnTo>
                  <a:lnTo>
                    <a:pt x="1260475" y="2352612"/>
                  </a:lnTo>
                  <a:close/>
                  <a:moveTo>
                    <a:pt x="1334897" y="1251648"/>
                  </a:moveTo>
                  <a:lnTo>
                    <a:pt x="1334707" y="1252855"/>
                  </a:lnTo>
                  <a:lnTo>
                    <a:pt x="1334707" y="1720533"/>
                  </a:lnTo>
                  <a:lnTo>
                    <a:pt x="1312100" y="1724089"/>
                  </a:lnTo>
                  <a:lnTo>
                    <a:pt x="1312227" y="1802511"/>
                  </a:lnTo>
                  <a:lnTo>
                    <a:pt x="1334961" y="1799209"/>
                  </a:lnTo>
                  <a:lnTo>
                    <a:pt x="1334961" y="2347087"/>
                  </a:lnTo>
                  <a:lnTo>
                    <a:pt x="1268794" y="2351977"/>
                  </a:lnTo>
                  <a:lnTo>
                    <a:pt x="1268794" y="1257554"/>
                  </a:lnTo>
                  <a:cubicBezTo>
                    <a:pt x="1271207" y="1254189"/>
                    <a:pt x="1282128" y="1241679"/>
                    <a:pt x="1309497" y="1241679"/>
                  </a:cubicBezTo>
                  <a:cubicBezTo>
                    <a:pt x="1326706" y="1241679"/>
                    <a:pt x="1332166" y="1245679"/>
                    <a:pt x="1333945" y="1248029"/>
                  </a:cubicBezTo>
                  <a:cubicBezTo>
                    <a:pt x="1335278" y="1249871"/>
                    <a:pt x="1334897" y="1251648"/>
                    <a:pt x="1334897" y="1251648"/>
                  </a:cubicBezTo>
                  <a:close/>
                  <a:moveTo>
                    <a:pt x="1504061" y="1353121"/>
                  </a:moveTo>
                  <a:lnTo>
                    <a:pt x="1390015" y="1375791"/>
                  </a:lnTo>
                  <a:lnTo>
                    <a:pt x="1392428" y="1618615"/>
                  </a:lnTo>
                  <a:lnTo>
                    <a:pt x="1343025" y="1627378"/>
                  </a:lnTo>
                  <a:lnTo>
                    <a:pt x="1343025" y="1303846"/>
                  </a:lnTo>
                  <a:lnTo>
                    <a:pt x="1504061" y="1269238"/>
                  </a:lnTo>
                  <a:lnTo>
                    <a:pt x="1504061" y="1353121"/>
                  </a:lnTo>
                  <a:close/>
                  <a:moveTo>
                    <a:pt x="1504061" y="1598803"/>
                  </a:moveTo>
                  <a:lnTo>
                    <a:pt x="1400747" y="1617154"/>
                  </a:lnTo>
                  <a:lnTo>
                    <a:pt x="1398461" y="1382649"/>
                  </a:lnTo>
                  <a:lnTo>
                    <a:pt x="1504124" y="1361694"/>
                  </a:lnTo>
                  <a:lnTo>
                    <a:pt x="1504124" y="1598803"/>
                  </a:lnTo>
                  <a:close/>
                  <a:moveTo>
                    <a:pt x="1504061" y="1694053"/>
                  </a:moveTo>
                  <a:lnTo>
                    <a:pt x="1343025" y="1719263"/>
                  </a:lnTo>
                  <a:lnTo>
                    <a:pt x="1343025" y="1635823"/>
                  </a:lnTo>
                  <a:lnTo>
                    <a:pt x="1504061" y="1607248"/>
                  </a:lnTo>
                  <a:lnTo>
                    <a:pt x="1504061" y="1694053"/>
                  </a:lnTo>
                  <a:close/>
                  <a:moveTo>
                    <a:pt x="1504061" y="1765998"/>
                  </a:moveTo>
                  <a:lnTo>
                    <a:pt x="1320546" y="1792922"/>
                  </a:lnTo>
                  <a:lnTo>
                    <a:pt x="1320483" y="1731264"/>
                  </a:lnTo>
                  <a:lnTo>
                    <a:pt x="1334770" y="1729041"/>
                  </a:lnTo>
                  <a:lnTo>
                    <a:pt x="1334770" y="1733359"/>
                  </a:lnTo>
                  <a:lnTo>
                    <a:pt x="1343088" y="1733359"/>
                  </a:lnTo>
                  <a:lnTo>
                    <a:pt x="1343088" y="1727708"/>
                  </a:lnTo>
                  <a:lnTo>
                    <a:pt x="1504124" y="1702498"/>
                  </a:lnTo>
                  <a:lnTo>
                    <a:pt x="1504124" y="1765998"/>
                  </a:lnTo>
                  <a:close/>
                  <a:moveTo>
                    <a:pt x="1504061" y="1934845"/>
                  </a:moveTo>
                  <a:lnTo>
                    <a:pt x="1390015" y="1949069"/>
                  </a:lnTo>
                  <a:lnTo>
                    <a:pt x="1392428" y="2192084"/>
                  </a:lnTo>
                  <a:lnTo>
                    <a:pt x="1343279" y="2197164"/>
                  </a:lnTo>
                  <a:lnTo>
                    <a:pt x="1343279" y="1798002"/>
                  </a:lnTo>
                  <a:lnTo>
                    <a:pt x="1504061" y="1774444"/>
                  </a:lnTo>
                  <a:lnTo>
                    <a:pt x="1504061" y="1934845"/>
                  </a:lnTo>
                  <a:close/>
                  <a:moveTo>
                    <a:pt x="1504061" y="2180527"/>
                  </a:moveTo>
                  <a:lnTo>
                    <a:pt x="1400747" y="2191258"/>
                  </a:lnTo>
                  <a:lnTo>
                    <a:pt x="1398461" y="1956435"/>
                  </a:lnTo>
                  <a:lnTo>
                    <a:pt x="1504124" y="1943227"/>
                  </a:lnTo>
                  <a:lnTo>
                    <a:pt x="1504124" y="2180527"/>
                  </a:lnTo>
                  <a:close/>
                  <a:moveTo>
                    <a:pt x="1504061" y="2334514"/>
                  </a:moveTo>
                  <a:lnTo>
                    <a:pt x="1343279" y="2346452"/>
                  </a:lnTo>
                  <a:lnTo>
                    <a:pt x="1343279" y="2205482"/>
                  </a:lnTo>
                  <a:lnTo>
                    <a:pt x="1504061" y="2188845"/>
                  </a:lnTo>
                  <a:lnTo>
                    <a:pt x="1504061" y="2334514"/>
                  </a:lnTo>
                  <a:close/>
                  <a:moveTo>
                    <a:pt x="1578483" y="1185926"/>
                  </a:moveTo>
                  <a:lnTo>
                    <a:pt x="1578356" y="1187006"/>
                  </a:lnTo>
                  <a:lnTo>
                    <a:pt x="1578356" y="1682369"/>
                  </a:lnTo>
                  <a:lnTo>
                    <a:pt x="1559750" y="1685290"/>
                  </a:lnTo>
                  <a:lnTo>
                    <a:pt x="1560449" y="1766189"/>
                  </a:lnTo>
                  <a:lnTo>
                    <a:pt x="1578547" y="1763522"/>
                  </a:lnTo>
                  <a:lnTo>
                    <a:pt x="1578547" y="2328990"/>
                  </a:lnTo>
                  <a:lnTo>
                    <a:pt x="1512379" y="2333879"/>
                  </a:lnTo>
                  <a:lnTo>
                    <a:pt x="1512379" y="1191768"/>
                  </a:lnTo>
                  <a:cubicBezTo>
                    <a:pt x="1514729" y="1188339"/>
                    <a:pt x="1525587" y="1175131"/>
                    <a:pt x="1553083" y="1175131"/>
                  </a:cubicBezTo>
                  <a:cubicBezTo>
                    <a:pt x="1569784" y="1175131"/>
                    <a:pt x="1575372" y="1179068"/>
                    <a:pt x="1577276" y="1181481"/>
                  </a:cubicBezTo>
                  <a:cubicBezTo>
                    <a:pt x="1578991" y="1183640"/>
                    <a:pt x="1578547" y="1185672"/>
                    <a:pt x="1578483" y="1185926"/>
                  </a:cubicBezTo>
                  <a:close/>
                  <a:moveTo>
                    <a:pt x="1758378" y="1553718"/>
                  </a:moveTo>
                  <a:lnTo>
                    <a:pt x="1586674" y="1584198"/>
                  </a:lnTo>
                  <a:lnTo>
                    <a:pt x="1586674" y="1251458"/>
                  </a:lnTo>
                  <a:lnTo>
                    <a:pt x="1758378" y="1214565"/>
                  </a:lnTo>
                  <a:lnTo>
                    <a:pt x="1758378" y="1302639"/>
                  </a:lnTo>
                  <a:lnTo>
                    <a:pt x="1632522" y="1327658"/>
                  </a:lnTo>
                  <a:lnTo>
                    <a:pt x="1632839" y="1573340"/>
                  </a:lnTo>
                  <a:lnTo>
                    <a:pt x="1641158" y="1573340"/>
                  </a:lnTo>
                  <a:lnTo>
                    <a:pt x="1640840" y="1334452"/>
                  </a:lnTo>
                  <a:lnTo>
                    <a:pt x="1758378" y="1311084"/>
                  </a:lnTo>
                  <a:lnTo>
                    <a:pt x="1758378" y="1553718"/>
                  </a:lnTo>
                  <a:close/>
                  <a:moveTo>
                    <a:pt x="1758378" y="1654175"/>
                  </a:moveTo>
                  <a:lnTo>
                    <a:pt x="1586674" y="1681099"/>
                  </a:lnTo>
                  <a:lnTo>
                    <a:pt x="1586674" y="1592644"/>
                  </a:lnTo>
                  <a:lnTo>
                    <a:pt x="1758378" y="1562164"/>
                  </a:lnTo>
                  <a:lnTo>
                    <a:pt x="1758378" y="1654175"/>
                  </a:lnTo>
                  <a:close/>
                  <a:moveTo>
                    <a:pt x="1758378" y="1728788"/>
                  </a:moveTo>
                  <a:lnTo>
                    <a:pt x="1568704" y="1756601"/>
                  </a:lnTo>
                  <a:lnTo>
                    <a:pt x="1568133" y="1692465"/>
                  </a:lnTo>
                  <a:lnTo>
                    <a:pt x="1758378" y="1662684"/>
                  </a:lnTo>
                  <a:lnTo>
                    <a:pt x="1758378" y="1728788"/>
                  </a:lnTo>
                  <a:close/>
                  <a:moveTo>
                    <a:pt x="1758378" y="2154174"/>
                  </a:moveTo>
                  <a:lnTo>
                    <a:pt x="1586928" y="2171954"/>
                  </a:lnTo>
                  <a:lnTo>
                    <a:pt x="1586928" y="1762315"/>
                  </a:lnTo>
                  <a:lnTo>
                    <a:pt x="1758378" y="1737170"/>
                  </a:lnTo>
                  <a:lnTo>
                    <a:pt x="1758378" y="1903095"/>
                  </a:lnTo>
                  <a:lnTo>
                    <a:pt x="1632522" y="1918779"/>
                  </a:lnTo>
                  <a:lnTo>
                    <a:pt x="1632839" y="2164778"/>
                  </a:lnTo>
                  <a:lnTo>
                    <a:pt x="1641158" y="2164778"/>
                  </a:lnTo>
                  <a:lnTo>
                    <a:pt x="1640840" y="1926146"/>
                  </a:lnTo>
                  <a:lnTo>
                    <a:pt x="1758378" y="1911477"/>
                  </a:lnTo>
                  <a:lnTo>
                    <a:pt x="1758378" y="2154174"/>
                  </a:lnTo>
                  <a:close/>
                  <a:moveTo>
                    <a:pt x="1758378" y="2315591"/>
                  </a:moveTo>
                  <a:lnTo>
                    <a:pt x="1586928" y="2328355"/>
                  </a:lnTo>
                  <a:lnTo>
                    <a:pt x="1586928" y="2180272"/>
                  </a:lnTo>
                  <a:lnTo>
                    <a:pt x="1758378" y="2162493"/>
                  </a:lnTo>
                  <a:lnTo>
                    <a:pt x="1758378" y="2315591"/>
                  </a:lnTo>
                  <a:close/>
                  <a:moveTo>
                    <a:pt x="1832800" y="1130935"/>
                  </a:moveTo>
                  <a:lnTo>
                    <a:pt x="1832673" y="1132015"/>
                  </a:lnTo>
                  <a:lnTo>
                    <a:pt x="1832673" y="1642872"/>
                  </a:lnTo>
                  <a:lnTo>
                    <a:pt x="1811464" y="1646238"/>
                  </a:lnTo>
                  <a:lnTo>
                    <a:pt x="1810639" y="1729486"/>
                  </a:lnTo>
                  <a:lnTo>
                    <a:pt x="1832864" y="1726247"/>
                  </a:lnTo>
                  <a:lnTo>
                    <a:pt x="1832864" y="2310066"/>
                  </a:lnTo>
                  <a:lnTo>
                    <a:pt x="1766697" y="2314956"/>
                  </a:lnTo>
                  <a:lnTo>
                    <a:pt x="1766697" y="1136840"/>
                  </a:lnTo>
                  <a:cubicBezTo>
                    <a:pt x="1768983" y="1133348"/>
                    <a:pt x="1779778" y="1119569"/>
                    <a:pt x="1807400" y="1119569"/>
                  </a:cubicBezTo>
                  <a:cubicBezTo>
                    <a:pt x="1823911" y="1119569"/>
                    <a:pt x="1829562" y="1123633"/>
                    <a:pt x="1831467" y="1125982"/>
                  </a:cubicBezTo>
                  <a:cubicBezTo>
                    <a:pt x="1833372" y="1128459"/>
                    <a:pt x="1832864" y="1130871"/>
                    <a:pt x="1832800" y="1130935"/>
                  </a:cubicBezTo>
                  <a:close/>
                  <a:moveTo>
                    <a:pt x="2006283" y="1253363"/>
                  </a:moveTo>
                  <a:lnTo>
                    <a:pt x="1877187" y="1279017"/>
                  </a:lnTo>
                  <a:lnTo>
                    <a:pt x="1878965" y="1532319"/>
                  </a:lnTo>
                  <a:lnTo>
                    <a:pt x="1840928" y="1539050"/>
                  </a:lnTo>
                  <a:lnTo>
                    <a:pt x="1840928" y="1196784"/>
                  </a:lnTo>
                  <a:lnTo>
                    <a:pt x="2006219" y="1161288"/>
                  </a:lnTo>
                  <a:lnTo>
                    <a:pt x="2006219" y="1253363"/>
                  </a:lnTo>
                  <a:close/>
                  <a:moveTo>
                    <a:pt x="2006283" y="1509713"/>
                  </a:moveTo>
                  <a:lnTo>
                    <a:pt x="1887347" y="1530795"/>
                  </a:lnTo>
                  <a:lnTo>
                    <a:pt x="1885633" y="1285812"/>
                  </a:lnTo>
                  <a:lnTo>
                    <a:pt x="2006346" y="1261872"/>
                  </a:lnTo>
                  <a:lnTo>
                    <a:pt x="2006346" y="1509713"/>
                  </a:lnTo>
                  <a:close/>
                  <a:moveTo>
                    <a:pt x="2006283" y="1615313"/>
                  </a:moveTo>
                  <a:lnTo>
                    <a:pt x="1840992" y="1641602"/>
                  </a:lnTo>
                  <a:lnTo>
                    <a:pt x="1840992" y="1547559"/>
                  </a:lnTo>
                  <a:lnTo>
                    <a:pt x="2006283" y="1518221"/>
                  </a:lnTo>
                  <a:lnTo>
                    <a:pt x="2006283" y="1615313"/>
                  </a:lnTo>
                  <a:close/>
                  <a:moveTo>
                    <a:pt x="2006283" y="1692465"/>
                  </a:moveTo>
                  <a:lnTo>
                    <a:pt x="1819085" y="1719897"/>
                  </a:lnTo>
                  <a:lnTo>
                    <a:pt x="1819720" y="1653413"/>
                  </a:lnTo>
                  <a:lnTo>
                    <a:pt x="1839532" y="1650238"/>
                  </a:lnTo>
                  <a:lnTo>
                    <a:pt x="1840992" y="1650238"/>
                  </a:lnTo>
                  <a:lnTo>
                    <a:pt x="1840992" y="1649984"/>
                  </a:lnTo>
                  <a:lnTo>
                    <a:pt x="2006283" y="1623759"/>
                  </a:lnTo>
                  <a:lnTo>
                    <a:pt x="2006283" y="1692465"/>
                  </a:lnTo>
                  <a:close/>
                  <a:moveTo>
                    <a:pt x="2006283" y="1872171"/>
                  </a:moveTo>
                  <a:lnTo>
                    <a:pt x="1877187" y="1888300"/>
                  </a:lnTo>
                  <a:lnTo>
                    <a:pt x="1878965" y="2141728"/>
                  </a:lnTo>
                  <a:lnTo>
                    <a:pt x="1841183" y="2145665"/>
                  </a:lnTo>
                  <a:lnTo>
                    <a:pt x="1841183" y="1725104"/>
                  </a:lnTo>
                  <a:lnTo>
                    <a:pt x="2006219" y="1700911"/>
                  </a:lnTo>
                  <a:lnTo>
                    <a:pt x="2006219" y="1872171"/>
                  </a:lnTo>
                  <a:close/>
                  <a:moveTo>
                    <a:pt x="2006283" y="2128520"/>
                  </a:moveTo>
                  <a:lnTo>
                    <a:pt x="1887347" y="2140839"/>
                  </a:lnTo>
                  <a:lnTo>
                    <a:pt x="1885633" y="1895665"/>
                  </a:lnTo>
                  <a:lnTo>
                    <a:pt x="2006346" y="1880616"/>
                  </a:lnTo>
                  <a:lnTo>
                    <a:pt x="2006346" y="2128520"/>
                  </a:lnTo>
                  <a:close/>
                  <a:moveTo>
                    <a:pt x="2006283" y="2297176"/>
                  </a:moveTo>
                  <a:lnTo>
                    <a:pt x="1841246" y="2309432"/>
                  </a:lnTo>
                  <a:lnTo>
                    <a:pt x="1841246" y="2153920"/>
                  </a:lnTo>
                  <a:lnTo>
                    <a:pt x="2006283" y="2136839"/>
                  </a:lnTo>
                  <a:lnTo>
                    <a:pt x="2006283" y="2297176"/>
                  </a:lnTo>
                  <a:close/>
                  <a:moveTo>
                    <a:pt x="2080704" y="1073721"/>
                  </a:moveTo>
                  <a:lnTo>
                    <a:pt x="2080577" y="1074738"/>
                  </a:lnTo>
                  <a:lnTo>
                    <a:pt x="2080577" y="1603629"/>
                  </a:lnTo>
                  <a:lnTo>
                    <a:pt x="2061147" y="1606677"/>
                  </a:lnTo>
                  <a:lnTo>
                    <a:pt x="2061591" y="1692720"/>
                  </a:lnTo>
                  <a:lnTo>
                    <a:pt x="2080768" y="1689926"/>
                  </a:lnTo>
                  <a:lnTo>
                    <a:pt x="2080768" y="2291397"/>
                  </a:lnTo>
                  <a:lnTo>
                    <a:pt x="2084134" y="2291397"/>
                  </a:lnTo>
                  <a:lnTo>
                    <a:pt x="2014601" y="2296541"/>
                  </a:lnTo>
                  <a:lnTo>
                    <a:pt x="2014601" y="1079690"/>
                  </a:lnTo>
                  <a:cubicBezTo>
                    <a:pt x="2016887" y="1076134"/>
                    <a:pt x="2027619" y="1061847"/>
                    <a:pt x="2055304" y="1061847"/>
                  </a:cubicBezTo>
                  <a:cubicBezTo>
                    <a:pt x="2071624" y="1061847"/>
                    <a:pt x="2077339" y="1065911"/>
                    <a:pt x="2079244" y="1068388"/>
                  </a:cubicBezTo>
                  <a:cubicBezTo>
                    <a:pt x="2081339" y="1070991"/>
                    <a:pt x="2080768" y="1073595"/>
                    <a:pt x="2080704" y="1073721"/>
                  </a:cubicBezTo>
                  <a:close/>
                  <a:moveTo>
                    <a:pt x="2297621" y="1195515"/>
                  </a:moveTo>
                  <a:lnTo>
                    <a:pt x="2125853" y="1229614"/>
                  </a:lnTo>
                  <a:lnTo>
                    <a:pt x="2129409" y="1487869"/>
                  </a:lnTo>
                  <a:lnTo>
                    <a:pt x="2088896" y="1495044"/>
                  </a:lnTo>
                  <a:lnTo>
                    <a:pt x="2088896" y="1143508"/>
                  </a:lnTo>
                  <a:lnTo>
                    <a:pt x="2297239" y="1098740"/>
                  </a:lnTo>
                  <a:lnTo>
                    <a:pt x="2297621" y="1195515"/>
                  </a:lnTo>
                  <a:close/>
                  <a:moveTo>
                    <a:pt x="2298636" y="1457896"/>
                  </a:moveTo>
                  <a:lnTo>
                    <a:pt x="2137727" y="1486408"/>
                  </a:lnTo>
                  <a:lnTo>
                    <a:pt x="2134298" y="1236472"/>
                  </a:lnTo>
                  <a:lnTo>
                    <a:pt x="2297684" y="1204023"/>
                  </a:lnTo>
                  <a:lnTo>
                    <a:pt x="2298636" y="1457896"/>
                  </a:lnTo>
                  <a:close/>
                  <a:moveTo>
                    <a:pt x="2299081" y="1569402"/>
                  </a:moveTo>
                  <a:lnTo>
                    <a:pt x="2088896" y="1602359"/>
                  </a:lnTo>
                  <a:lnTo>
                    <a:pt x="2088896" y="1503553"/>
                  </a:lnTo>
                  <a:lnTo>
                    <a:pt x="2298636" y="1466342"/>
                  </a:lnTo>
                  <a:lnTo>
                    <a:pt x="2299081" y="1569402"/>
                  </a:lnTo>
                  <a:close/>
                  <a:moveTo>
                    <a:pt x="2299398" y="1649476"/>
                  </a:moveTo>
                  <a:lnTo>
                    <a:pt x="2069973" y="1683067"/>
                  </a:lnTo>
                  <a:lnTo>
                    <a:pt x="2069592" y="1613789"/>
                  </a:lnTo>
                  <a:lnTo>
                    <a:pt x="2299145" y="1577784"/>
                  </a:lnTo>
                  <a:lnTo>
                    <a:pt x="2299398" y="1649476"/>
                  </a:lnTo>
                  <a:close/>
                  <a:moveTo>
                    <a:pt x="2300097" y="1835531"/>
                  </a:moveTo>
                  <a:lnTo>
                    <a:pt x="2125853" y="1857248"/>
                  </a:lnTo>
                  <a:lnTo>
                    <a:pt x="2129409" y="2115757"/>
                  </a:lnTo>
                  <a:lnTo>
                    <a:pt x="2089150" y="2119947"/>
                  </a:lnTo>
                  <a:lnTo>
                    <a:pt x="2089150" y="1688719"/>
                  </a:lnTo>
                  <a:lnTo>
                    <a:pt x="2299398" y="1657921"/>
                  </a:lnTo>
                  <a:lnTo>
                    <a:pt x="2300097" y="1835531"/>
                  </a:lnTo>
                  <a:close/>
                  <a:moveTo>
                    <a:pt x="2301113" y="2106295"/>
                  </a:moveTo>
                  <a:lnTo>
                    <a:pt x="2300287" y="2098103"/>
                  </a:lnTo>
                  <a:lnTo>
                    <a:pt x="2137727" y="2114931"/>
                  </a:lnTo>
                  <a:lnTo>
                    <a:pt x="2134298" y="1864614"/>
                  </a:lnTo>
                  <a:lnTo>
                    <a:pt x="2300097" y="1843913"/>
                  </a:lnTo>
                  <a:lnTo>
                    <a:pt x="2301113" y="2106295"/>
                  </a:lnTo>
                  <a:close/>
                  <a:moveTo>
                    <a:pt x="2301748" y="2275205"/>
                  </a:moveTo>
                  <a:lnTo>
                    <a:pt x="2089150" y="2291016"/>
                  </a:lnTo>
                  <a:lnTo>
                    <a:pt x="2089150" y="2128266"/>
                  </a:lnTo>
                  <a:lnTo>
                    <a:pt x="2301113" y="2106295"/>
                  </a:lnTo>
                  <a:lnTo>
                    <a:pt x="2301748" y="2275205"/>
                  </a:lnTo>
                  <a:close/>
                  <a:moveTo>
                    <a:pt x="2371344" y="1005015"/>
                  </a:moveTo>
                  <a:lnTo>
                    <a:pt x="2371217" y="1006030"/>
                  </a:lnTo>
                  <a:lnTo>
                    <a:pt x="2371217" y="1558100"/>
                  </a:lnTo>
                  <a:lnTo>
                    <a:pt x="2353183" y="1560957"/>
                  </a:lnTo>
                  <a:lnTo>
                    <a:pt x="2354262" y="1649857"/>
                  </a:lnTo>
                  <a:lnTo>
                    <a:pt x="2371408" y="1647317"/>
                  </a:lnTo>
                  <a:lnTo>
                    <a:pt x="2371408" y="2269998"/>
                  </a:lnTo>
                  <a:lnTo>
                    <a:pt x="2310003" y="2274570"/>
                  </a:lnTo>
                  <a:lnTo>
                    <a:pt x="2305177" y="1011047"/>
                  </a:lnTo>
                  <a:cubicBezTo>
                    <a:pt x="2307399" y="1007427"/>
                    <a:pt x="2318131" y="992378"/>
                    <a:pt x="2345881" y="992378"/>
                  </a:cubicBezTo>
                  <a:cubicBezTo>
                    <a:pt x="2357819" y="992378"/>
                    <a:pt x="2366200" y="994727"/>
                    <a:pt x="2369630" y="999046"/>
                  </a:cubicBezTo>
                  <a:cubicBezTo>
                    <a:pt x="2372043" y="1001903"/>
                    <a:pt x="2371408" y="1004888"/>
                    <a:pt x="2371344" y="1005015"/>
                  </a:cubicBezTo>
                  <a:close/>
                  <a:moveTo>
                    <a:pt x="2604707" y="1134554"/>
                  </a:moveTo>
                  <a:lnTo>
                    <a:pt x="2379599" y="1179259"/>
                  </a:lnTo>
                  <a:lnTo>
                    <a:pt x="2379599" y="1081024"/>
                  </a:lnTo>
                  <a:lnTo>
                    <a:pt x="2604707" y="1032637"/>
                  </a:lnTo>
                  <a:lnTo>
                    <a:pt x="2604707" y="1134554"/>
                  </a:lnTo>
                  <a:close/>
                  <a:moveTo>
                    <a:pt x="2604707" y="1403604"/>
                  </a:moveTo>
                  <a:lnTo>
                    <a:pt x="2379599" y="1443546"/>
                  </a:lnTo>
                  <a:lnTo>
                    <a:pt x="2379599" y="1187767"/>
                  </a:lnTo>
                  <a:lnTo>
                    <a:pt x="2604707" y="1143064"/>
                  </a:lnTo>
                  <a:lnTo>
                    <a:pt x="2604707" y="1403604"/>
                  </a:lnTo>
                  <a:close/>
                  <a:moveTo>
                    <a:pt x="2604707" y="1521523"/>
                  </a:moveTo>
                  <a:lnTo>
                    <a:pt x="2379599" y="1556829"/>
                  </a:lnTo>
                  <a:lnTo>
                    <a:pt x="2379599" y="1451991"/>
                  </a:lnTo>
                  <a:lnTo>
                    <a:pt x="2604707" y="1412050"/>
                  </a:lnTo>
                  <a:lnTo>
                    <a:pt x="2604707" y="1521523"/>
                  </a:lnTo>
                  <a:close/>
                  <a:moveTo>
                    <a:pt x="2604707" y="1604772"/>
                  </a:moveTo>
                  <a:lnTo>
                    <a:pt x="2362518" y="1640269"/>
                  </a:lnTo>
                  <a:lnTo>
                    <a:pt x="2361628" y="1568069"/>
                  </a:lnTo>
                  <a:lnTo>
                    <a:pt x="2604707" y="1529969"/>
                  </a:lnTo>
                  <a:lnTo>
                    <a:pt x="2604707" y="1604772"/>
                  </a:lnTo>
                  <a:close/>
                  <a:moveTo>
                    <a:pt x="2604707" y="1797495"/>
                  </a:moveTo>
                  <a:lnTo>
                    <a:pt x="2379789" y="1825562"/>
                  </a:lnTo>
                  <a:lnTo>
                    <a:pt x="2379789" y="1646238"/>
                  </a:lnTo>
                  <a:lnTo>
                    <a:pt x="2379155" y="1646238"/>
                  </a:lnTo>
                  <a:lnTo>
                    <a:pt x="2604707" y="1613217"/>
                  </a:lnTo>
                  <a:lnTo>
                    <a:pt x="2604707" y="1797495"/>
                  </a:lnTo>
                  <a:close/>
                  <a:moveTo>
                    <a:pt x="2604707" y="2066544"/>
                  </a:moveTo>
                  <a:lnTo>
                    <a:pt x="2379789" y="2089848"/>
                  </a:lnTo>
                  <a:lnTo>
                    <a:pt x="2379789" y="1833944"/>
                  </a:lnTo>
                  <a:lnTo>
                    <a:pt x="2604707" y="1805877"/>
                  </a:lnTo>
                  <a:lnTo>
                    <a:pt x="2604707" y="2066544"/>
                  </a:lnTo>
                  <a:close/>
                  <a:moveTo>
                    <a:pt x="2604707" y="2252726"/>
                  </a:moveTo>
                  <a:lnTo>
                    <a:pt x="2379789" y="2269427"/>
                  </a:lnTo>
                  <a:lnTo>
                    <a:pt x="2379789" y="2098167"/>
                  </a:lnTo>
                  <a:lnTo>
                    <a:pt x="2604707" y="2074863"/>
                  </a:lnTo>
                  <a:lnTo>
                    <a:pt x="2604707" y="2252726"/>
                  </a:lnTo>
                  <a:close/>
                  <a:moveTo>
                    <a:pt x="2946146" y="1343089"/>
                  </a:moveTo>
                  <a:lnTo>
                    <a:pt x="2870073" y="1356614"/>
                  </a:lnTo>
                  <a:lnTo>
                    <a:pt x="2870327" y="1081913"/>
                  </a:lnTo>
                  <a:lnTo>
                    <a:pt x="2687384" y="1118235"/>
                  </a:lnTo>
                  <a:lnTo>
                    <a:pt x="2687384" y="1014984"/>
                  </a:lnTo>
                  <a:lnTo>
                    <a:pt x="2946210" y="959358"/>
                  </a:lnTo>
                  <a:lnTo>
                    <a:pt x="2946210" y="1343089"/>
                  </a:lnTo>
                  <a:close/>
                  <a:moveTo>
                    <a:pt x="2861945" y="1091946"/>
                  </a:moveTo>
                  <a:lnTo>
                    <a:pt x="2861691" y="1358011"/>
                  </a:lnTo>
                  <a:lnTo>
                    <a:pt x="2687320" y="1388935"/>
                  </a:lnTo>
                  <a:lnTo>
                    <a:pt x="2687320" y="1126617"/>
                  </a:lnTo>
                  <a:lnTo>
                    <a:pt x="2861945" y="1091946"/>
                  </a:lnTo>
                  <a:close/>
                  <a:moveTo>
                    <a:pt x="2946146" y="1554734"/>
                  </a:moveTo>
                  <a:lnTo>
                    <a:pt x="2659571" y="1595247"/>
                  </a:lnTo>
                  <a:lnTo>
                    <a:pt x="2659571" y="1520000"/>
                  </a:lnTo>
                  <a:lnTo>
                    <a:pt x="2946146" y="1476502"/>
                  </a:lnTo>
                  <a:lnTo>
                    <a:pt x="2946146" y="1554734"/>
                  </a:lnTo>
                  <a:close/>
                  <a:moveTo>
                    <a:pt x="2946146" y="2031175"/>
                  </a:moveTo>
                  <a:lnTo>
                    <a:pt x="2870073" y="2039048"/>
                  </a:lnTo>
                  <a:lnTo>
                    <a:pt x="2870327" y="1764347"/>
                  </a:lnTo>
                  <a:lnTo>
                    <a:pt x="2687574" y="1787144"/>
                  </a:lnTo>
                  <a:lnTo>
                    <a:pt x="2687574" y="1604264"/>
                  </a:lnTo>
                  <a:lnTo>
                    <a:pt x="2679256" y="1604264"/>
                  </a:lnTo>
                  <a:lnTo>
                    <a:pt x="2679256" y="2247138"/>
                  </a:lnTo>
                  <a:lnTo>
                    <a:pt x="2613088" y="2252027"/>
                  </a:lnTo>
                  <a:lnTo>
                    <a:pt x="2613088" y="938022"/>
                  </a:lnTo>
                  <a:cubicBezTo>
                    <a:pt x="2615248" y="934339"/>
                    <a:pt x="2625915" y="918718"/>
                    <a:pt x="2653792" y="918718"/>
                  </a:cubicBezTo>
                  <a:cubicBezTo>
                    <a:pt x="2668841" y="918718"/>
                    <a:pt x="2674937" y="922401"/>
                    <a:pt x="2677414" y="925449"/>
                  </a:cubicBezTo>
                  <a:cubicBezTo>
                    <a:pt x="2679890" y="928560"/>
                    <a:pt x="2679192" y="931799"/>
                    <a:pt x="2679128" y="931926"/>
                  </a:cubicBezTo>
                  <a:lnTo>
                    <a:pt x="2679001" y="932942"/>
                  </a:lnTo>
                  <a:lnTo>
                    <a:pt x="2679001" y="1506347"/>
                  </a:lnTo>
                  <a:lnTo>
                    <a:pt x="2687320" y="1506347"/>
                  </a:lnTo>
                  <a:lnTo>
                    <a:pt x="2687320" y="1397445"/>
                  </a:lnTo>
                  <a:lnTo>
                    <a:pt x="2946146" y="1351534"/>
                  </a:lnTo>
                  <a:lnTo>
                    <a:pt x="2946146" y="1467993"/>
                  </a:lnTo>
                  <a:lnTo>
                    <a:pt x="2651252" y="1512760"/>
                  </a:lnTo>
                  <a:lnTo>
                    <a:pt x="2651252" y="1604772"/>
                  </a:lnTo>
                  <a:lnTo>
                    <a:pt x="2656014" y="1604137"/>
                  </a:lnTo>
                  <a:lnTo>
                    <a:pt x="2946210" y="1563116"/>
                  </a:lnTo>
                  <a:lnTo>
                    <a:pt x="2946210" y="2031175"/>
                  </a:lnTo>
                  <a:close/>
                  <a:moveTo>
                    <a:pt x="2861945" y="1773809"/>
                  </a:moveTo>
                  <a:lnTo>
                    <a:pt x="2861691" y="2039938"/>
                  </a:lnTo>
                  <a:lnTo>
                    <a:pt x="2687511" y="2057971"/>
                  </a:lnTo>
                  <a:lnTo>
                    <a:pt x="2687511" y="1795590"/>
                  </a:lnTo>
                  <a:lnTo>
                    <a:pt x="2861945" y="1773809"/>
                  </a:lnTo>
                  <a:close/>
                  <a:moveTo>
                    <a:pt x="2946146" y="2227326"/>
                  </a:moveTo>
                  <a:lnTo>
                    <a:pt x="2687574" y="2246566"/>
                  </a:lnTo>
                  <a:lnTo>
                    <a:pt x="2687574" y="2066353"/>
                  </a:lnTo>
                  <a:lnTo>
                    <a:pt x="2946146" y="2039557"/>
                  </a:lnTo>
                  <a:lnTo>
                    <a:pt x="2946146" y="2227326"/>
                  </a:lnTo>
                  <a:close/>
                  <a:moveTo>
                    <a:pt x="3268789" y="1285812"/>
                  </a:moveTo>
                  <a:lnTo>
                    <a:pt x="3187383" y="1300226"/>
                  </a:lnTo>
                  <a:lnTo>
                    <a:pt x="3187383" y="1018794"/>
                  </a:lnTo>
                  <a:lnTo>
                    <a:pt x="3028696" y="1050290"/>
                  </a:lnTo>
                  <a:lnTo>
                    <a:pt x="3028696" y="941451"/>
                  </a:lnTo>
                  <a:lnTo>
                    <a:pt x="3268789" y="889826"/>
                  </a:lnTo>
                  <a:lnTo>
                    <a:pt x="3268789" y="1285812"/>
                  </a:lnTo>
                  <a:close/>
                  <a:moveTo>
                    <a:pt x="3179064" y="1029017"/>
                  </a:moveTo>
                  <a:lnTo>
                    <a:pt x="3179064" y="1301750"/>
                  </a:lnTo>
                  <a:lnTo>
                    <a:pt x="3028760" y="1328420"/>
                  </a:lnTo>
                  <a:lnTo>
                    <a:pt x="3028760" y="1058863"/>
                  </a:lnTo>
                  <a:lnTo>
                    <a:pt x="3179064" y="1029017"/>
                  </a:lnTo>
                  <a:close/>
                  <a:moveTo>
                    <a:pt x="3268789" y="1417447"/>
                  </a:moveTo>
                  <a:lnTo>
                    <a:pt x="3028696" y="1455102"/>
                  </a:lnTo>
                  <a:lnTo>
                    <a:pt x="3028696" y="1336929"/>
                  </a:lnTo>
                  <a:lnTo>
                    <a:pt x="3268789" y="1294321"/>
                  </a:lnTo>
                  <a:lnTo>
                    <a:pt x="3268789" y="1417447"/>
                  </a:lnTo>
                  <a:close/>
                  <a:moveTo>
                    <a:pt x="3268789" y="1507427"/>
                  </a:moveTo>
                  <a:lnTo>
                    <a:pt x="3005836" y="1545590"/>
                  </a:lnTo>
                  <a:lnTo>
                    <a:pt x="3005836" y="1467040"/>
                  </a:lnTo>
                  <a:lnTo>
                    <a:pt x="3268789" y="1425829"/>
                  </a:lnTo>
                  <a:lnTo>
                    <a:pt x="3268789" y="1507427"/>
                  </a:lnTo>
                  <a:close/>
                  <a:moveTo>
                    <a:pt x="3268789" y="1997773"/>
                  </a:moveTo>
                  <a:lnTo>
                    <a:pt x="3187383" y="2006219"/>
                  </a:lnTo>
                  <a:lnTo>
                    <a:pt x="3187383" y="1724787"/>
                  </a:lnTo>
                  <a:lnTo>
                    <a:pt x="3028950" y="1744535"/>
                  </a:lnTo>
                  <a:lnTo>
                    <a:pt x="3028950" y="1557782"/>
                  </a:lnTo>
                  <a:lnTo>
                    <a:pt x="3020632" y="1557782"/>
                  </a:lnTo>
                  <a:lnTo>
                    <a:pt x="3020632" y="2221802"/>
                  </a:lnTo>
                  <a:lnTo>
                    <a:pt x="2954464" y="2226691"/>
                  </a:lnTo>
                  <a:lnTo>
                    <a:pt x="2954464" y="859980"/>
                  </a:lnTo>
                  <a:cubicBezTo>
                    <a:pt x="2956497" y="856234"/>
                    <a:pt x="2967228" y="839660"/>
                    <a:pt x="2995168" y="839660"/>
                  </a:cubicBezTo>
                  <a:cubicBezTo>
                    <a:pt x="3010090" y="839660"/>
                    <a:pt x="3016186" y="843471"/>
                    <a:pt x="3018663" y="846582"/>
                  </a:cubicBezTo>
                  <a:cubicBezTo>
                    <a:pt x="3021330" y="849947"/>
                    <a:pt x="3020568" y="853630"/>
                    <a:pt x="3020568" y="853694"/>
                  </a:cubicBezTo>
                  <a:lnTo>
                    <a:pt x="3020441" y="854710"/>
                  </a:lnTo>
                  <a:lnTo>
                    <a:pt x="3020441" y="1455229"/>
                  </a:lnTo>
                  <a:lnTo>
                    <a:pt x="3027744" y="1455229"/>
                  </a:lnTo>
                  <a:lnTo>
                    <a:pt x="2997581" y="1459928"/>
                  </a:lnTo>
                  <a:lnTo>
                    <a:pt x="2997581" y="1555242"/>
                  </a:lnTo>
                  <a:lnTo>
                    <a:pt x="3268853" y="1515872"/>
                  </a:lnTo>
                  <a:lnTo>
                    <a:pt x="3268853" y="1997773"/>
                  </a:lnTo>
                  <a:close/>
                  <a:moveTo>
                    <a:pt x="3179064" y="1734248"/>
                  </a:moveTo>
                  <a:lnTo>
                    <a:pt x="3179064" y="2007108"/>
                  </a:lnTo>
                  <a:lnTo>
                    <a:pt x="3028950" y="2022665"/>
                  </a:lnTo>
                  <a:lnTo>
                    <a:pt x="3028950" y="1752981"/>
                  </a:lnTo>
                  <a:lnTo>
                    <a:pt x="3179064" y="1734248"/>
                  </a:lnTo>
                  <a:close/>
                  <a:moveTo>
                    <a:pt x="3179064" y="2132076"/>
                  </a:moveTo>
                  <a:lnTo>
                    <a:pt x="3179064" y="2210054"/>
                  </a:lnTo>
                  <a:lnTo>
                    <a:pt x="3028950" y="2221230"/>
                  </a:lnTo>
                  <a:lnTo>
                    <a:pt x="3028950" y="2031047"/>
                  </a:lnTo>
                  <a:lnTo>
                    <a:pt x="3268789" y="2006219"/>
                  </a:lnTo>
                  <a:lnTo>
                    <a:pt x="3268789" y="2124329"/>
                  </a:lnTo>
                  <a:lnTo>
                    <a:pt x="3179064" y="2132076"/>
                  </a:lnTo>
                  <a:close/>
                  <a:moveTo>
                    <a:pt x="3179064" y="2809050"/>
                  </a:moveTo>
                  <a:lnTo>
                    <a:pt x="3037776" y="2812352"/>
                  </a:lnTo>
                  <a:lnTo>
                    <a:pt x="3037776" y="2319782"/>
                  </a:lnTo>
                  <a:lnTo>
                    <a:pt x="3179064" y="2310321"/>
                  </a:lnTo>
                  <a:lnTo>
                    <a:pt x="3179064" y="2809050"/>
                  </a:lnTo>
                  <a:close/>
                  <a:moveTo>
                    <a:pt x="2479993" y="3010916"/>
                  </a:moveTo>
                  <a:lnTo>
                    <a:pt x="2650236" y="3010916"/>
                  </a:lnTo>
                  <a:lnTo>
                    <a:pt x="2650236" y="2908364"/>
                  </a:lnTo>
                  <a:lnTo>
                    <a:pt x="2675636" y="2908364"/>
                  </a:lnTo>
                  <a:lnTo>
                    <a:pt x="2820987" y="2908364"/>
                  </a:lnTo>
                  <a:lnTo>
                    <a:pt x="2820987" y="2825687"/>
                  </a:lnTo>
                  <a:lnTo>
                    <a:pt x="2882456" y="2824226"/>
                  </a:lnTo>
                  <a:lnTo>
                    <a:pt x="2882456" y="2824226"/>
                  </a:lnTo>
                  <a:lnTo>
                    <a:pt x="2974149" y="2822067"/>
                  </a:lnTo>
                  <a:lnTo>
                    <a:pt x="2974149" y="2822067"/>
                  </a:lnTo>
                  <a:lnTo>
                    <a:pt x="3179000" y="2817305"/>
                  </a:lnTo>
                  <a:lnTo>
                    <a:pt x="3179000" y="2913888"/>
                  </a:lnTo>
                  <a:lnTo>
                    <a:pt x="2926842" y="2913888"/>
                  </a:lnTo>
                  <a:lnTo>
                    <a:pt x="2926842" y="2956115"/>
                  </a:lnTo>
                  <a:lnTo>
                    <a:pt x="2812606" y="2955290"/>
                  </a:lnTo>
                  <a:lnTo>
                    <a:pt x="2812606" y="3001772"/>
                  </a:lnTo>
                  <a:lnTo>
                    <a:pt x="2709418" y="3001010"/>
                  </a:lnTo>
                  <a:lnTo>
                    <a:pt x="2709418" y="3047809"/>
                  </a:lnTo>
                  <a:lnTo>
                    <a:pt x="2598293" y="3046666"/>
                  </a:lnTo>
                  <a:lnTo>
                    <a:pt x="2598293" y="3094482"/>
                  </a:lnTo>
                  <a:lnTo>
                    <a:pt x="2479993" y="3093085"/>
                  </a:lnTo>
                  <a:lnTo>
                    <a:pt x="2479993" y="3010916"/>
                  </a:lnTo>
                  <a:close/>
                  <a:moveTo>
                    <a:pt x="2974213" y="2813812"/>
                  </a:moveTo>
                  <a:lnTo>
                    <a:pt x="2974213" y="2323973"/>
                  </a:lnTo>
                  <a:lnTo>
                    <a:pt x="3029458" y="2320290"/>
                  </a:lnTo>
                  <a:lnTo>
                    <a:pt x="3029458" y="2812542"/>
                  </a:lnTo>
                  <a:lnTo>
                    <a:pt x="2974213" y="2813812"/>
                  </a:lnTo>
                  <a:close/>
                  <a:moveTo>
                    <a:pt x="2740533" y="2819273"/>
                  </a:moveTo>
                  <a:lnTo>
                    <a:pt x="2740533" y="2340229"/>
                  </a:lnTo>
                  <a:lnTo>
                    <a:pt x="2882456" y="2330196"/>
                  </a:lnTo>
                  <a:lnTo>
                    <a:pt x="2882456" y="2815971"/>
                  </a:lnTo>
                  <a:lnTo>
                    <a:pt x="2740533" y="2819273"/>
                  </a:lnTo>
                  <a:close/>
                  <a:moveTo>
                    <a:pt x="2812669" y="2825877"/>
                  </a:moveTo>
                  <a:lnTo>
                    <a:pt x="2812669" y="2899982"/>
                  </a:lnTo>
                  <a:lnTo>
                    <a:pt x="2740597" y="2899982"/>
                  </a:lnTo>
                  <a:lnTo>
                    <a:pt x="2740597" y="2827528"/>
                  </a:lnTo>
                  <a:lnTo>
                    <a:pt x="2812669" y="2825877"/>
                  </a:lnTo>
                  <a:close/>
                  <a:moveTo>
                    <a:pt x="2561717" y="3002661"/>
                  </a:moveTo>
                  <a:lnTo>
                    <a:pt x="2561717" y="2908364"/>
                  </a:lnTo>
                  <a:lnTo>
                    <a:pt x="2641918" y="2908364"/>
                  </a:lnTo>
                  <a:lnTo>
                    <a:pt x="2641918" y="3002597"/>
                  </a:lnTo>
                  <a:lnTo>
                    <a:pt x="2561717" y="3002661"/>
                  </a:lnTo>
                  <a:close/>
                  <a:moveTo>
                    <a:pt x="2392362" y="3012948"/>
                  </a:moveTo>
                  <a:lnTo>
                    <a:pt x="2471737" y="3011043"/>
                  </a:lnTo>
                  <a:lnTo>
                    <a:pt x="2471737" y="3115882"/>
                  </a:lnTo>
                  <a:lnTo>
                    <a:pt x="2455672" y="3115882"/>
                  </a:lnTo>
                  <a:lnTo>
                    <a:pt x="2392426" y="3114993"/>
                  </a:lnTo>
                  <a:lnTo>
                    <a:pt x="2392426" y="3012948"/>
                  </a:lnTo>
                  <a:close/>
                  <a:moveTo>
                    <a:pt x="657035" y="2876169"/>
                  </a:moveTo>
                  <a:lnTo>
                    <a:pt x="704024" y="2875090"/>
                  </a:lnTo>
                  <a:lnTo>
                    <a:pt x="704024" y="2875090"/>
                  </a:lnTo>
                  <a:lnTo>
                    <a:pt x="832485" y="2872105"/>
                  </a:lnTo>
                  <a:lnTo>
                    <a:pt x="832485" y="2872105"/>
                  </a:lnTo>
                  <a:lnTo>
                    <a:pt x="908367" y="2870327"/>
                  </a:lnTo>
                  <a:lnTo>
                    <a:pt x="908367" y="2870327"/>
                  </a:lnTo>
                  <a:lnTo>
                    <a:pt x="1035495" y="2867343"/>
                  </a:lnTo>
                  <a:lnTo>
                    <a:pt x="1035495" y="2867851"/>
                  </a:lnTo>
                  <a:lnTo>
                    <a:pt x="1110044" y="2865691"/>
                  </a:lnTo>
                  <a:lnTo>
                    <a:pt x="1110044" y="2865628"/>
                  </a:lnTo>
                  <a:lnTo>
                    <a:pt x="1255586" y="2862263"/>
                  </a:lnTo>
                  <a:lnTo>
                    <a:pt x="1255586" y="2862326"/>
                  </a:lnTo>
                  <a:lnTo>
                    <a:pt x="1328991" y="2860548"/>
                  </a:lnTo>
                  <a:lnTo>
                    <a:pt x="1487932" y="2856865"/>
                  </a:lnTo>
                  <a:lnTo>
                    <a:pt x="1487932" y="2856865"/>
                  </a:lnTo>
                  <a:lnTo>
                    <a:pt x="1571688" y="2854896"/>
                  </a:lnTo>
                  <a:lnTo>
                    <a:pt x="1571688" y="2854896"/>
                  </a:lnTo>
                  <a:lnTo>
                    <a:pt x="1800923" y="2849563"/>
                  </a:lnTo>
                  <a:lnTo>
                    <a:pt x="1803908" y="2849499"/>
                  </a:lnTo>
                  <a:lnTo>
                    <a:pt x="1803908" y="2849499"/>
                  </a:lnTo>
                  <a:lnTo>
                    <a:pt x="1991170" y="2845118"/>
                  </a:lnTo>
                  <a:lnTo>
                    <a:pt x="1991170" y="2845118"/>
                  </a:lnTo>
                  <a:lnTo>
                    <a:pt x="2051812" y="2843721"/>
                  </a:lnTo>
                  <a:lnTo>
                    <a:pt x="2051812" y="2843721"/>
                  </a:lnTo>
                  <a:lnTo>
                    <a:pt x="2125853" y="2842006"/>
                  </a:lnTo>
                  <a:lnTo>
                    <a:pt x="2125853" y="2842705"/>
                  </a:lnTo>
                  <a:lnTo>
                    <a:pt x="2134172" y="2842705"/>
                  </a:lnTo>
                  <a:lnTo>
                    <a:pt x="2134172" y="2841815"/>
                  </a:lnTo>
                  <a:lnTo>
                    <a:pt x="2268601" y="2838704"/>
                  </a:lnTo>
                  <a:lnTo>
                    <a:pt x="2268601" y="2838704"/>
                  </a:lnTo>
                  <a:lnTo>
                    <a:pt x="2342451" y="2836990"/>
                  </a:lnTo>
                  <a:lnTo>
                    <a:pt x="2342451" y="2836990"/>
                  </a:lnTo>
                  <a:lnTo>
                    <a:pt x="2404936" y="2835529"/>
                  </a:lnTo>
                  <a:lnTo>
                    <a:pt x="2404936" y="2835910"/>
                  </a:lnTo>
                  <a:lnTo>
                    <a:pt x="2413254" y="2835910"/>
                  </a:lnTo>
                  <a:lnTo>
                    <a:pt x="2413254" y="2835339"/>
                  </a:lnTo>
                  <a:lnTo>
                    <a:pt x="2669794" y="2829370"/>
                  </a:lnTo>
                  <a:lnTo>
                    <a:pt x="2674430" y="2829306"/>
                  </a:lnTo>
                  <a:lnTo>
                    <a:pt x="2674430" y="2829306"/>
                  </a:lnTo>
                  <a:lnTo>
                    <a:pt x="2732151" y="2827972"/>
                  </a:lnTo>
                  <a:lnTo>
                    <a:pt x="2732151" y="2900236"/>
                  </a:lnTo>
                  <a:lnTo>
                    <a:pt x="2675573" y="2900236"/>
                  </a:lnTo>
                  <a:lnTo>
                    <a:pt x="2641854" y="2900236"/>
                  </a:lnTo>
                  <a:lnTo>
                    <a:pt x="2553335" y="2900236"/>
                  </a:lnTo>
                  <a:lnTo>
                    <a:pt x="2553335" y="3002852"/>
                  </a:lnTo>
                  <a:lnTo>
                    <a:pt x="2471611" y="3002915"/>
                  </a:lnTo>
                  <a:lnTo>
                    <a:pt x="2383917" y="3005074"/>
                  </a:lnTo>
                  <a:lnTo>
                    <a:pt x="2383917" y="3115056"/>
                  </a:lnTo>
                  <a:lnTo>
                    <a:pt x="656971" y="3090482"/>
                  </a:lnTo>
                  <a:lnTo>
                    <a:pt x="656971" y="2876169"/>
                  </a:lnTo>
                  <a:close/>
                  <a:moveTo>
                    <a:pt x="2674493" y="2820797"/>
                  </a:moveTo>
                  <a:lnTo>
                    <a:pt x="2674493" y="2344865"/>
                  </a:lnTo>
                  <a:lnTo>
                    <a:pt x="2732214" y="2340801"/>
                  </a:lnTo>
                  <a:lnTo>
                    <a:pt x="2732214" y="2819464"/>
                  </a:lnTo>
                  <a:lnTo>
                    <a:pt x="2674493" y="2820797"/>
                  </a:lnTo>
                  <a:close/>
                  <a:moveTo>
                    <a:pt x="2413381" y="2826893"/>
                  </a:moveTo>
                  <a:lnTo>
                    <a:pt x="2413381" y="2361692"/>
                  </a:lnTo>
                  <a:lnTo>
                    <a:pt x="2574735" y="2350834"/>
                  </a:lnTo>
                  <a:lnTo>
                    <a:pt x="2574735" y="2823146"/>
                  </a:lnTo>
                  <a:lnTo>
                    <a:pt x="2413381" y="2826893"/>
                  </a:lnTo>
                  <a:close/>
                  <a:moveTo>
                    <a:pt x="2342515" y="2828544"/>
                  </a:moveTo>
                  <a:lnTo>
                    <a:pt x="2342515" y="2366391"/>
                  </a:lnTo>
                  <a:lnTo>
                    <a:pt x="2404999" y="2362200"/>
                  </a:lnTo>
                  <a:lnTo>
                    <a:pt x="2404999" y="2827084"/>
                  </a:lnTo>
                  <a:lnTo>
                    <a:pt x="2342515" y="2828544"/>
                  </a:lnTo>
                  <a:close/>
                  <a:moveTo>
                    <a:pt x="2125916" y="2387028"/>
                  </a:moveTo>
                  <a:lnTo>
                    <a:pt x="2125916" y="2833624"/>
                  </a:lnTo>
                  <a:lnTo>
                    <a:pt x="2051875" y="2835339"/>
                  </a:lnTo>
                  <a:lnTo>
                    <a:pt x="2051875" y="2385949"/>
                  </a:lnTo>
                  <a:lnTo>
                    <a:pt x="2268664" y="2371408"/>
                  </a:lnTo>
                  <a:lnTo>
                    <a:pt x="2268664" y="2830322"/>
                  </a:lnTo>
                  <a:lnTo>
                    <a:pt x="2134235" y="2833434"/>
                  </a:lnTo>
                  <a:lnTo>
                    <a:pt x="2134235" y="2387028"/>
                  </a:lnTo>
                  <a:lnTo>
                    <a:pt x="2125916" y="2387028"/>
                  </a:lnTo>
                  <a:close/>
                  <a:moveTo>
                    <a:pt x="1858327" y="2406206"/>
                  </a:moveTo>
                  <a:lnTo>
                    <a:pt x="1858327" y="2839784"/>
                  </a:lnTo>
                  <a:lnTo>
                    <a:pt x="1803972" y="2841053"/>
                  </a:lnTo>
                  <a:lnTo>
                    <a:pt x="1803972" y="2402522"/>
                  </a:lnTo>
                  <a:lnTo>
                    <a:pt x="1991233" y="2389950"/>
                  </a:lnTo>
                  <a:lnTo>
                    <a:pt x="1991233" y="2836672"/>
                  </a:lnTo>
                  <a:lnTo>
                    <a:pt x="1866646" y="2839593"/>
                  </a:lnTo>
                  <a:lnTo>
                    <a:pt x="1866646" y="2406206"/>
                  </a:lnTo>
                  <a:lnTo>
                    <a:pt x="1858327" y="2406206"/>
                  </a:lnTo>
                  <a:close/>
                  <a:moveTo>
                    <a:pt x="1629156" y="2844165"/>
                  </a:moveTo>
                  <a:lnTo>
                    <a:pt x="1629156" y="2414334"/>
                  </a:lnTo>
                  <a:lnTo>
                    <a:pt x="1728407" y="2407666"/>
                  </a:lnTo>
                  <a:lnTo>
                    <a:pt x="1728407" y="2842895"/>
                  </a:lnTo>
                  <a:lnTo>
                    <a:pt x="1571752" y="2846578"/>
                  </a:lnTo>
                  <a:lnTo>
                    <a:pt x="1571752" y="2418207"/>
                  </a:lnTo>
                  <a:lnTo>
                    <a:pt x="1620837" y="2414905"/>
                  </a:lnTo>
                  <a:lnTo>
                    <a:pt x="1620837" y="2844165"/>
                  </a:lnTo>
                  <a:lnTo>
                    <a:pt x="1629156" y="2844165"/>
                  </a:lnTo>
                  <a:close/>
                  <a:moveTo>
                    <a:pt x="1375347" y="2436177"/>
                  </a:moveTo>
                  <a:lnTo>
                    <a:pt x="1375347" y="2851150"/>
                  </a:lnTo>
                  <a:lnTo>
                    <a:pt x="1331277" y="2852166"/>
                  </a:lnTo>
                  <a:lnTo>
                    <a:pt x="1331277" y="2434336"/>
                  </a:lnTo>
                  <a:lnTo>
                    <a:pt x="1487932" y="2423795"/>
                  </a:lnTo>
                  <a:lnTo>
                    <a:pt x="1487932" y="2848483"/>
                  </a:lnTo>
                  <a:lnTo>
                    <a:pt x="1383665" y="2850896"/>
                  </a:lnTo>
                  <a:lnTo>
                    <a:pt x="1383665" y="2436114"/>
                  </a:lnTo>
                  <a:lnTo>
                    <a:pt x="1375347" y="2436114"/>
                  </a:lnTo>
                  <a:close/>
                  <a:moveTo>
                    <a:pt x="1157224" y="2854833"/>
                  </a:moveTo>
                  <a:lnTo>
                    <a:pt x="1157224" y="2446020"/>
                  </a:lnTo>
                  <a:lnTo>
                    <a:pt x="1255586" y="2439416"/>
                  </a:lnTo>
                  <a:lnTo>
                    <a:pt x="1255586" y="2853944"/>
                  </a:lnTo>
                  <a:lnTo>
                    <a:pt x="1110107" y="2857309"/>
                  </a:lnTo>
                  <a:lnTo>
                    <a:pt x="1113155" y="2449005"/>
                  </a:lnTo>
                  <a:lnTo>
                    <a:pt x="1148906" y="2446591"/>
                  </a:lnTo>
                  <a:lnTo>
                    <a:pt x="1148906" y="2854833"/>
                  </a:lnTo>
                  <a:lnTo>
                    <a:pt x="1157224" y="2854833"/>
                  </a:lnTo>
                  <a:close/>
                  <a:moveTo>
                    <a:pt x="953643" y="2860929"/>
                  </a:moveTo>
                  <a:lnTo>
                    <a:pt x="953643" y="2460689"/>
                  </a:lnTo>
                  <a:lnTo>
                    <a:pt x="1035558" y="2455545"/>
                  </a:lnTo>
                  <a:lnTo>
                    <a:pt x="1035558" y="2859024"/>
                  </a:lnTo>
                  <a:lnTo>
                    <a:pt x="953643" y="2860929"/>
                  </a:lnTo>
                  <a:close/>
                  <a:moveTo>
                    <a:pt x="908431" y="2862009"/>
                  </a:moveTo>
                  <a:lnTo>
                    <a:pt x="908431" y="2463546"/>
                  </a:lnTo>
                  <a:lnTo>
                    <a:pt x="945324" y="2461196"/>
                  </a:lnTo>
                  <a:lnTo>
                    <a:pt x="945324" y="2861120"/>
                  </a:lnTo>
                  <a:lnTo>
                    <a:pt x="908431" y="2862009"/>
                  </a:lnTo>
                  <a:close/>
                  <a:moveTo>
                    <a:pt x="744919" y="2475675"/>
                  </a:moveTo>
                  <a:lnTo>
                    <a:pt x="744919" y="2865819"/>
                  </a:lnTo>
                  <a:lnTo>
                    <a:pt x="704088" y="2866771"/>
                  </a:lnTo>
                  <a:lnTo>
                    <a:pt x="704088" y="2476437"/>
                  </a:lnTo>
                  <a:lnTo>
                    <a:pt x="832548" y="2467801"/>
                  </a:lnTo>
                  <a:lnTo>
                    <a:pt x="832548" y="2863787"/>
                  </a:lnTo>
                  <a:lnTo>
                    <a:pt x="753237" y="2865628"/>
                  </a:lnTo>
                  <a:lnTo>
                    <a:pt x="753237" y="2475675"/>
                  </a:lnTo>
                  <a:lnTo>
                    <a:pt x="744919" y="2475675"/>
                  </a:lnTo>
                  <a:close/>
                  <a:moveTo>
                    <a:pt x="657035" y="2405825"/>
                  </a:moveTo>
                  <a:lnTo>
                    <a:pt x="3179064" y="2218372"/>
                  </a:lnTo>
                  <a:lnTo>
                    <a:pt x="3179064" y="2301875"/>
                  </a:lnTo>
                  <a:lnTo>
                    <a:pt x="2965895" y="2316163"/>
                  </a:lnTo>
                  <a:lnTo>
                    <a:pt x="2965895" y="2813939"/>
                  </a:lnTo>
                  <a:lnTo>
                    <a:pt x="2890837" y="2815717"/>
                  </a:lnTo>
                  <a:lnTo>
                    <a:pt x="2890837" y="2321179"/>
                  </a:lnTo>
                  <a:lnTo>
                    <a:pt x="2666238" y="2337054"/>
                  </a:lnTo>
                  <a:lnTo>
                    <a:pt x="2666238" y="2820924"/>
                  </a:lnTo>
                  <a:lnTo>
                    <a:pt x="2583116" y="2822512"/>
                  </a:lnTo>
                  <a:lnTo>
                    <a:pt x="2583116" y="2341880"/>
                  </a:lnTo>
                  <a:lnTo>
                    <a:pt x="2334260" y="2358581"/>
                  </a:lnTo>
                  <a:lnTo>
                    <a:pt x="2334260" y="2828671"/>
                  </a:lnTo>
                  <a:lnTo>
                    <a:pt x="2277047" y="2830005"/>
                  </a:lnTo>
                  <a:lnTo>
                    <a:pt x="2277047" y="2362390"/>
                  </a:lnTo>
                  <a:lnTo>
                    <a:pt x="2043621" y="2378075"/>
                  </a:lnTo>
                  <a:lnTo>
                    <a:pt x="2043621" y="2835465"/>
                  </a:lnTo>
                  <a:lnTo>
                    <a:pt x="1999615" y="2836482"/>
                  </a:lnTo>
                  <a:lnTo>
                    <a:pt x="1999615" y="2381059"/>
                  </a:lnTo>
                  <a:lnTo>
                    <a:pt x="1795716" y="2394776"/>
                  </a:lnTo>
                  <a:lnTo>
                    <a:pt x="1795716" y="2841308"/>
                  </a:lnTo>
                  <a:lnTo>
                    <a:pt x="1736725" y="2842577"/>
                  </a:lnTo>
                  <a:lnTo>
                    <a:pt x="1736725" y="2398776"/>
                  </a:lnTo>
                  <a:lnTo>
                    <a:pt x="1563434" y="2410396"/>
                  </a:lnTo>
                  <a:lnTo>
                    <a:pt x="1563434" y="2846705"/>
                  </a:lnTo>
                  <a:lnTo>
                    <a:pt x="1496314" y="2848293"/>
                  </a:lnTo>
                  <a:lnTo>
                    <a:pt x="1496314" y="2414905"/>
                  </a:lnTo>
                  <a:lnTo>
                    <a:pt x="1323023" y="2426526"/>
                  </a:lnTo>
                  <a:lnTo>
                    <a:pt x="1323023" y="2852357"/>
                  </a:lnTo>
                  <a:lnTo>
                    <a:pt x="1264031" y="2853753"/>
                  </a:lnTo>
                  <a:lnTo>
                    <a:pt x="1264031" y="2430526"/>
                  </a:lnTo>
                  <a:lnTo>
                    <a:pt x="1104963" y="2441194"/>
                  </a:lnTo>
                  <a:lnTo>
                    <a:pt x="1101852" y="2857500"/>
                  </a:lnTo>
                  <a:lnTo>
                    <a:pt x="1043876" y="2858834"/>
                  </a:lnTo>
                  <a:lnTo>
                    <a:pt x="1043876" y="2446655"/>
                  </a:lnTo>
                  <a:lnTo>
                    <a:pt x="900112" y="2455736"/>
                  </a:lnTo>
                  <a:lnTo>
                    <a:pt x="900112" y="2862199"/>
                  </a:lnTo>
                  <a:lnTo>
                    <a:pt x="840867" y="2863596"/>
                  </a:lnTo>
                  <a:lnTo>
                    <a:pt x="840867" y="2458911"/>
                  </a:lnTo>
                  <a:lnTo>
                    <a:pt x="695770" y="2468626"/>
                  </a:lnTo>
                  <a:lnTo>
                    <a:pt x="695770" y="2866962"/>
                  </a:lnTo>
                  <a:lnTo>
                    <a:pt x="657098" y="2867851"/>
                  </a:lnTo>
                  <a:lnTo>
                    <a:pt x="657098" y="2405825"/>
                  </a:lnTo>
                  <a:close/>
                  <a:moveTo>
                    <a:pt x="225361" y="2752217"/>
                  </a:moveTo>
                  <a:lnTo>
                    <a:pt x="648716" y="2739644"/>
                  </a:lnTo>
                  <a:lnTo>
                    <a:pt x="648716" y="3044571"/>
                  </a:lnTo>
                  <a:lnTo>
                    <a:pt x="225361" y="3038983"/>
                  </a:lnTo>
                  <a:lnTo>
                    <a:pt x="225361" y="2752217"/>
                  </a:lnTo>
                  <a:close/>
                  <a:moveTo>
                    <a:pt x="225361" y="1487615"/>
                  </a:moveTo>
                  <a:lnTo>
                    <a:pt x="279845" y="1487615"/>
                  </a:lnTo>
                  <a:lnTo>
                    <a:pt x="747077" y="1377125"/>
                  </a:lnTo>
                  <a:lnTo>
                    <a:pt x="752348" y="1879854"/>
                  </a:lnTo>
                  <a:lnTo>
                    <a:pt x="752348" y="1884616"/>
                  </a:lnTo>
                  <a:lnTo>
                    <a:pt x="752411" y="1884616"/>
                  </a:lnTo>
                  <a:lnTo>
                    <a:pt x="756348" y="2256155"/>
                  </a:lnTo>
                  <a:lnTo>
                    <a:pt x="756095" y="2256155"/>
                  </a:lnTo>
                  <a:lnTo>
                    <a:pt x="756348" y="2258632"/>
                  </a:lnTo>
                  <a:lnTo>
                    <a:pt x="757682" y="2387727"/>
                  </a:lnTo>
                  <a:lnTo>
                    <a:pt x="766000" y="2387664"/>
                  </a:lnTo>
                  <a:lnTo>
                    <a:pt x="764667" y="2263648"/>
                  </a:lnTo>
                  <a:lnTo>
                    <a:pt x="862774" y="2253297"/>
                  </a:lnTo>
                  <a:lnTo>
                    <a:pt x="862774" y="2382202"/>
                  </a:lnTo>
                  <a:lnTo>
                    <a:pt x="648652" y="2398141"/>
                  </a:lnTo>
                  <a:lnTo>
                    <a:pt x="648652" y="2731389"/>
                  </a:lnTo>
                  <a:lnTo>
                    <a:pt x="225298" y="2743962"/>
                  </a:lnTo>
                  <a:lnTo>
                    <a:pt x="225298" y="1487615"/>
                  </a:lnTo>
                  <a:close/>
                </a:path>
              </a:pathLst>
            </a:custGeom>
            <a:solidFill>
              <a:srgbClr val="0D436B"/>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7" name="Google Shape;467;p15"/>
            <p:cNvSpPr/>
            <p:nvPr/>
          </p:nvSpPr>
          <p:spPr>
            <a:xfrm>
              <a:off x="11130343" y="4483671"/>
              <a:ext cx="8318" cy="183387"/>
            </a:xfrm>
            <a:custGeom>
              <a:rect b="b" l="l" r="r" t="t"/>
              <a:pathLst>
                <a:path extrusionOk="0" h="183387" w="8318">
                  <a:moveTo>
                    <a:pt x="0" y="0"/>
                  </a:moveTo>
                  <a:lnTo>
                    <a:pt x="8319" y="0"/>
                  </a:lnTo>
                  <a:lnTo>
                    <a:pt x="8319" y="183388"/>
                  </a:lnTo>
                  <a:lnTo>
                    <a:pt x="0" y="183388"/>
                  </a:lnTo>
                  <a:close/>
                </a:path>
              </a:pathLst>
            </a:custGeom>
            <a:solidFill>
              <a:srgbClr val="0D436B"/>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8" name="Google Shape;468;p15"/>
            <p:cNvSpPr/>
            <p:nvPr/>
          </p:nvSpPr>
          <p:spPr>
            <a:xfrm>
              <a:off x="11155743" y="4480941"/>
              <a:ext cx="8318" cy="183387"/>
            </a:xfrm>
            <a:custGeom>
              <a:rect b="b" l="l" r="r" t="t"/>
              <a:pathLst>
                <a:path extrusionOk="0" h="183387" w="8318">
                  <a:moveTo>
                    <a:pt x="0" y="0"/>
                  </a:moveTo>
                  <a:lnTo>
                    <a:pt x="8319" y="0"/>
                  </a:lnTo>
                  <a:lnTo>
                    <a:pt x="8319" y="183388"/>
                  </a:lnTo>
                  <a:lnTo>
                    <a:pt x="0" y="183388"/>
                  </a:lnTo>
                  <a:close/>
                </a:path>
              </a:pathLst>
            </a:custGeom>
            <a:solidFill>
              <a:srgbClr val="0D436B"/>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9" name="Google Shape;469;p15"/>
            <p:cNvSpPr/>
            <p:nvPr/>
          </p:nvSpPr>
          <p:spPr>
            <a:xfrm rot="-465879">
              <a:off x="10588655" y="4268394"/>
              <a:ext cx="71181" cy="8318"/>
            </a:xfrm>
            <a:custGeom>
              <a:rect b="b" l="l" r="r" t="t"/>
              <a:pathLst>
                <a:path extrusionOk="0" h="8318" w="71181">
                  <a:moveTo>
                    <a:pt x="0" y="0"/>
                  </a:moveTo>
                  <a:lnTo>
                    <a:pt x="71181" y="0"/>
                  </a:lnTo>
                  <a:lnTo>
                    <a:pt x="71181" y="8318"/>
                  </a:lnTo>
                  <a:lnTo>
                    <a:pt x="0" y="8318"/>
                  </a:lnTo>
                  <a:close/>
                </a:path>
              </a:pathLst>
            </a:custGeom>
            <a:solidFill>
              <a:srgbClr val="0D436B"/>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0" name="Google Shape;470;p15"/>
            <p:cNvSpPr/>
            <p:nvPr/>
          </p:nvSpPr>
          <p:spPr>
            <a:xfrm rot="-466220">
              <a:off x="10588860" y="4365943"/>
              <a:ext cx="71182" cy="8318"/>
            </a:xfrm>
            <a:custGeom>
              <a:rect b="b" l="l" r="r" t="t"/>
              <a:pathLst>
                <a:path extrusionOk="0" h="8318" w="71182">
                  <a:moveTo>
                    <a:pt x="0" y="0"/>
                  </a:moveTo>
                  <a:lnTo>
                    <a:pt x="71182" y="0"/>
                  </a:lnTo>
                  <a:lnTo>
                    <a:pt x="71182" y="8318"/>
                  </a:lnTo>
                  <a:lnTo>
                    <a:pt x="0" y="8318"/>
                  </a:lnTo>
                  <a:close/>
                </a:path>
              </a:pathLst>
            </a:custGeom>
            <a:solidFill>
              <a:srgbClr val="0D436B"/>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1" name="Google Shape;471;p15"/>
            <p:cNvSpPr/>
            <p:nvPr/>
          </p:nvSpPr>
          <p:spPr>
            <a:xfrm rot="-466220">
              <a:off x="10588847" y="4130619"/>
              <a:ext cx="71182" cy="8318"/>
            </a:xfrm>
            <a:custGeom>
              <a:rect b="b" l="l" r="r" t="t"/>
              <a:pathLst>
                <a:path extrusionOk="0" h="8318" w="71182">
                  <a:moveTo>
                    <a:pt x="0" y="0"/>
                  </a:moveTo>
                  <a:lnTo>
                    <a:pt x="71182" y="0"/>
                  </a:lnTo>
                  <a:lnTo>
                    <a:pt x="71182" y="8318"/>
                  </a:lnTo>
                  <a:lnTo>
                    <a:pt x="0" y="8318"/>
                  </a:lnTo>
                  <a:close/>
                </a:path>
              </a:pathLst>
            </a:custGeom>
            <a:solidFill>
              <a:srgbClr val="0D436B"/>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2" name="Google Shape;472;p15"/>
            <p:cNvSpPr/>
            <p:nvPr/>
          </p:nvSpPr>
          <p:spPr>
            <a:xfrm rot="-465879">
              <a:off x="10588652" y="4456415"/>
              <a:ext cx="71181" cy="8318"/>
            </a:xfrm>
            <a:custGeom>
              <a:rect b="b" l="l" r="r" t="t"/>
              <a:pathLst>
                <a:path extrusionOk="0" h="8318" w="71181">
                  <a:moveTo>
                    <a:pt x="0" y="0"/>
                  </a:moveTo>
                  <a:lnTo>
                    <a:pt x="71181" y="0"/>
                  </a:lnTo>
                  <a:lnTo>
                    <a:pt x="71181" y="8318"/>
                  </a:lnTo>
                  <a:lnTo>
                    <a:pt x="0" y="8318"/>
                  </a:lnTo>
                  <a:close/>
                </a:path>
              </a:pathLst>
            </a:custGeom>
            <a:solidFill>
              <a:srgbClr val="0D436B"/>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3" name="Google Shape;473;p15"/>
            <p:cNvSpPr/>
            <p:nvPr/>
          </p:nvSpPr>
          <p:spPr>
            <a:xfrm rot="-461699">
              <a:off x="10782601" y="4103844"/>
              <a:ext cx="39878" cy="8318"/>
            </a:xfrm>
            <a:custGeom>
              <a:rect b="b" l="l" r="r" t="t"/>
              <a:pathLst>
                <a:path extrusionOk="0" h="8318" w="39878">
                  <a:moveTo>
                    <a:pt x="0" y="0"/>
                  </a:moveTo>
                  <a:lnTo>
                    <a:pt x="39879" y="0"/>
                  </a:lnTo>
                  <a:lnTo>
                    <a:pt x="39879" y="8318"/>
                  </a:lnTo>
                  <a:lnTo>
                    <a:pt x="0" y="8318"/>
                  </a:lnTo>
                  <a:close/>
                </a:path>
              </a:pathLst>
            </a:custGeom>
            <a:solidFill>
              <a:srgbClr val="0D436B"/>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4" name="Google Shape;474;p15"/>
            <p:cNvSpPr/>
            <p:nvPr/>
          </p:nvSpPr>
          <p:spPr>
            <a:xfrm rot="-462039">
              <a:off x="10782631" y="4430001"/>
              <a:ext cx="39878" cy="8318"/>
            </a:xfrm>
            <a:custGeom>
              <a:rect b="b" l="l" r="r" t="t"/>
              <a:pathLst>
                <a:path extrusionOk="0" h="8318" w="39878">
                  <a:moveTo>
                    <a:pt x="0" y="0"/>
                  </a:moveTo>
                  <a:lnTo>
                    <a:pt x="39879" y="0"/>
                  </a:lnTo>
                  <a:lnTo>
                    <a:pt x="39879" y="8319"/>
                  </a:lnTo>
                  <a:lnTo>
                    <a:pt x="0" y="8319"/>
                  </a:lnTo>
                  <a:close/>
                </a:path>
              </a:pathLst>
            </a:custGeom>
            <a:solidFill>
              <a:srgbClr val="0D436B"/>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5" name="Google Shape;475;p15"/>
            <p:cNvSpPr/>
            <p:nvPr/>
          </p:nvSpPr>
          <p:spPr>
            <a:xfrm rot="-461017">
              <a:off x="10782262" y="4241564"/>
              <a:ext cx="39877" cy="8318"/>
            </a:xfrm>
            <a:custGeom>
              <a:rect b="b" l="l" r="r" t="t"/>
              <a:pathLst>
                <a:path extrusionOk="0" h="8318" w="39877">
                  <a:moveTo>
                    <a:pt x="0" y="0"/>
                  </a:moveTo>
                  <a:lnTo>
                    <a:pt x="39877" y="0"/>
                  </a:lnTo>
                  <a:lnTo>
                    <a:pt x="39877" y="8318"/>
                  </a:lnTo>
                  <a:lnTo>
                    <a:pt x="0" y="8318"/>
                  </a:lnTo>
                  <a:close/>
                </a:path>
              </a:pathLst>
            </a:custGeom>
            <a:solidFill>
              <a:srgbClr val="0D436B"/>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6" name="Google Shape;476;p15"/>
            <p:cNvSpPr/>
            <p:nvPr/>
          </p:nvSpPr>
          <p:spPr>
            <a:xfrm rot="-462039">
              <a:off x="10782646" y="3961555"/>
              <a:ext cx="39878" cy="8318"/>
            </a:xfrm>
            <a:custGeom>
              <a:rect b="b" l="l" r="r" t="t"/>
              <a:pathLst>
                <a:path extrusionOk="0" h="8318" w="39878">
                  <a:moveTo>
                    <a:pt x="0" y="0"/>
                  </a:moveTo>
                  <a:lnTo>
                    <a:pt x="39879" y="0"/>
                  </a:lnTo>
                  <a:lnTo>
                    <a:pt x="39879" y="8319"/>
                  </a:lnTo>
                  <a:lnTo>
                    <a:pt x="0" y="8319"/>
                  </a:lnTo>
                  <a:close/>
                </a:path>
              </a:pathLst>
            </a:custGeom>
            <a:solidFill>
              <a:srgbClr val="0D436B"/>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7" name="Google Shape;477;p15"/>
            <p:cNvSpPr/>
            <p:nvPr/>
          </p:nvSpPr>
          <p:spPr>
            <a:xfrm rot="-461017">
              <a:off x="10782259" y="4339293"/>
              <a:ext cx="39877" cy="8318"/>
            </a:xfrm>
            <a:custGeom>
              <a:rect b="b" l="l" r="r" t="t"/>
              <a:pathLst>
                <a:path extrusionOk="0" h="8318" w="39877">
                  <a:moveTo>
                    <a:pt x="0" y="0"/>
                  </a:moveTo>
                  <a:lnTo>
                    <a:pt x="39877" y="0"/>
                  </a:lnTo>
                  <a:lnTo>
                    <a:pt x="39877" y="8318"/>
                  </a:lnTo>
                  <a:lnTo>
                    <a:pt x="0" y="8318"/>
                  </a:lnTo>
                  <a:close/>
                </a:path>
              </a:pathLst>
            </a:custGeom>
            <a:solidFill>
              <a:srgbClr val="0D436B"/>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grpSp>
      <p:pic>
        <p:nvPicPr>
          <p:cNvPr id="478" name="Google Shape;478;p15"/>
          <p:cNvPicPr preferRelativeResize="0"/>
          <p:nvPr/>
        </p:nvPicPr>
        <p:blipFill rotWithShape="1">
          <a:blip r:embed="rId3">
            <a:alphaModFix/>
          </a:blip>
          <a:srcRect b="0" l="0" r="0" t="0"/>
          <a:stretch/>
        </p:blipFill>
        <p:spPr>
          <a:xfrm>
            <a:off x="1192212" y="1149847"/>
            <a:ext cx="4625124" cy="1319247"/>
          </a:xfrm>
          <a:prstGeom prst="rect">
            <a:avLst/>
          </a:prstGeom>
          <a:noFill/>
          <a:ln>
            <a:noFill/>
          </a:ln>
        </p:spPr>
      </p:pic>
      <p:sp>
        <p:nvSpPr>
          <p:cNvPr id="479" name="TextBox 478"/>
          <p:cNvSpPr txBox="1"/>
          <p:nvPr/>
        </p:nvSpPr>
        <p:spPr>
          <a:xfrm>
            <a:off x="1106424" y="3429000"/>
            <a:ext cx="4846320" cy="1828800"/>
          </a:xfrm>
          <a:prstGeom prst="rect">
            <a:avLst/>
          </a:prstGeom>
          <a:noFill/>
        </p:spPr>
        <p:txBody>
          <a:bodyPr wrap="square" lIns="18288" tIns="0" rIns="18288" bIns="0" anchor="t">
            <a:noAutofit/>
          </a:bodyPr>
          <a:lstStyle/>
          <a:p>
            <a:pPr algn="l">
              <a:spcAft>
                <a:spcPts val="800"/>
              </a:spcAft>
            </a:pPr>
            <a:r>
              <a:rPr sz="3800" b="1">
                <a:solidFill>
                  <a:srgbClr val="01416B"/>
                </a:solidFill>
                <a:latin typeface="Arial"/>
              </a:rPr>
              <a:t>Thank you.</a:t>
            </a:r>
          </a:p>
          <a:p>
            <a:pPr algn="l">
              <a:spcAft>
                <a:spcPts val="800"/>
              </a:spcAft>
            </a:pPr>
            <a:r>
              <a:rPr sz="1800" b="0">
                <a:solidFill>
                  <a:srgbClr val="617487"/>
                </a:solidFill>
                <a:latin typeface="Arial"/>
              </a:rPr>
              <a:t>Code, data and results:</a:t>
            </a:r>
          </a:p>
          <a:p>
            <a:pPr algn="l">
              <a:spcAft>
                <a:spcPts val="800"/>
              </a:spcAft>
            </a:pPr>
            <a:r>
              <a:rPr sz="2000" b="1">
                <a:solidFill>
                  <a:srgbClr val="01416B"/>
                </a:solidFill>
                <a:latin typeface="Arial"/>
              </a:rPr>
              <a:t>github.com/zidanarsyad/t2d-mas</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2022-08-09T23:17:09Z</dcterms:created>
  <dc:creator>noorqa.zanial.a</dc:creator>
</cp:coreProperties>
</file>