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b2b7567a6f4f4f" /><Relationship Type="http://schemas.openxmlformats.org/officeDocument/2006/relationships/extended-properties" Target="/docProps/app.xml" Id="Rab66a8211d4f409a" /><Relationship Type="http://schemas.openxmlformats.org/officeDocument/2006/relationships/officeDocument" Target="/ppt/presentation.xml" Id="Ra8950ba13f08423b" /></Relationships>
</file>

<file path=ppt/presentation.xml><?xml version="1.0" encoding="utf-8"?>
<p:presentation xmlns:p="http://schemas.openxmlformats.org/presentationml/2006/main">
  <p:sldMasterIdLst>
    <p:sldMasterId xmlns:r="http://schemas.openxmlformats.org/officeDocument/2006/relationships" id="2147483648" r:id="R9dc0c94c05f440dd"/>
  </p:sldMasterIdLst>
  <p:notesMasterIdLst>
    <p:notesMasterId xmlns:r="http://schemas.openxmlformats.org/officeDocument/2006/relationships" r:id="R68fad8a6ece54559"/>
  </p:notesMasterIdLst>
  <p:sldIdLst>
    <p:sldId xmlns:r="http://schemas.openxmlformats.org/officeDocument/2006/relationships" id="256" r:id="Raeb78f4dbb844315"/>
    <p:sldId xmlns:r="http://schemas.openxmlformats.org/officeDocument/2006/relationships" id="257" r:id="R03f3f94895734851"/>
    <p:sldId xmlns:r="http://schemas.openxmlformats.org/officeDocument/2006/relationships" id="258" r:id="R7bac312eea7b41d6"/>
    <p:sldId xmlns:r="http://schemas.openxmlformats.org/officeDocument/2006/relationships" id="259" r:id="R2a6015b66b724ba8"/>
    <p:sldId xmlns:r="http://schemas.openxmlformats.org/officeDocument/2006/relationships" id="260" r:id="R2b94b33b45254f14"/>
    <p:sldId xmlns:r="http://schemas.openxmlformats.org/officeDocument/2006/relationships" id="261" r:id="R153e5b362a1749e7"/>
    <p:sldId xmlns:r="http://schemas.openxmlformats.org/officeDocument/2006/relationships" id="262" r:id="R8c2642b1a5cd4b7b"/>
    <p:sldId xmlns:r="http://schemas.openxmlformats.org/officeDocument/2006/relationships" id="263" r:id="Rf3ef7da2dc544215"/>
    <p:sldId xmlns:r="http://schemas.openxmlformats.org/officeDocument/2006/relationships" id="264" r:id="R5f324aa036424aaa"/>
    <p:sldId xmlns:r="http://schemas.openxmlformats.org/officeDocument/2006/relationships" id="265" r:id="Rcc052d8d85024daa"/>
    <p:sldId xmlns:r="http://schemas.openxmlformats.org/officeDocument/2006/relationships" id="266" r:id="Ra723ba7f144f49d7"/>
    <p:sldId xmlns:r="http://schemas.openxmlformats.org/officeDocument/2006/relationships" id="267" r:id="R19470ec9a3b44327"/>
    <p:sldId xmlns:r="http://schemas.openxmlformats.org/officeDocument/2006/relationships" id="268" r:id="R41b090d936c7424a"/>
    <p:sldId xmlns:r="http://schemas.openxmlformats.org/officeDocument/2006/relationships" id="269" r:id="Ra52ea296f40d4d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69b5f9bfda4b3c" /><Relationship Type="http://schemas.openxmlformats.org/officeDocument/2006/relationships/slideMaster" Target="/ppt/slideMasters/slideMaster1.xml" Id="R9dc0c94c05f440dd" /><Relationship Type="http://schemas.openxmlformats.org/officeDocument/2006/relationships/notesMaster" Target="/ppt/notesMasters/notesMaster1.xml" Id="R68fad8a6ece54559" /><Relationship Type="http://schemas.openxmlformats.org/officeDocument/2006/relationships/presProps" Target="/ppt/presProps.xml" Id="R9691fbaebd664190" /><Relationship Type="http://schemas.openxmlformats.org/officeDocument/2006/relationships/tableStyles" Target="/ppt/tableStyles.xml" Id="Rbbcd5fb5cbe14fc3" /><Relationship Type="http://schemas.openxmlformats.org/officeDocument/2006/relationships/slide" Target="/ppt/slides/slide1.xml" Id="Raeb78f4dbb844315" /><Relationship Type="http://schemas.openxmlformats.org/officeDocument/2006/relationships/slide" Target="/ppt/slides/slide2.xml" Id="R03f3f94895734851" /><Relationship Type="http://schemas.openxmlformats.org/officeDocument/2006/relationships/slide" Target="/ppt/slides/slide3.xml" Id="R7bac312eea7b41d6" /><Relationship Type="http://schemas.openxmlformats.org/officeDocument/2006/relationships/slide" Target="/ppt/slides/slide4.xml" Id="R2a6015b66b724ba8" /><Relationship Type="http://schemas.openxmlformats.org/officeDocument/2006/relationships/slide" Target="/ppt/slides/slide5.xml" Id="R2b94b33b45254f14" /><Relationship Type="http://schemas.openxmlformats.org/officeDocument/2006/relationships/slide" Target="/ppt/slides/slide6.xml" Id="R153e5b362a1749e7" /><Relationship Type="http://schemas.openxmlformats.org/officeDocument/2006/relationships/slide" Target="/ppt/slides/slide7.xml" Id="R8c2642b1a5cd4b7b" /><Relationship Type="http://schemas.openxmlformats.org/officeDocument/2006/relationships/slide" Target="/ppt/slides/slide8.xml" Id="Rf3ef7da2dc544215" /><Relationship Type="http://schemas.openxmlformats.org/officeDocument/2006/relationships/slide" Target="/ppt/slides/slide9.xml" Id="R5f324aa036424aaa" /><Relationship Type="http://schemas.openxmlformats.org/officeDocument/2006/relationships/slide" Target="/ppt/slides/slide10.xml" Id="Rcc052d8d85024daa" /><Relationship Type="http://schemas.openxmlformats.org/officeDocument/2006/relationships/slide" Target="/ppt/slides/slide11.xml" Id="Ra723ba7f144f49d7" /><Relationship Type="http://schemas.openxmlformats.org/officeDocument/2006/relationships/slide" Target="/ppt/slides/slide12.xml" Id="R19470ec9a3b44327" /><Relationship Type="http://schemas.openxmlformats.org/officeDocument/2006/relationships/slide" Target="/ppt/slides/slide13.xml" Id="R41b090d936c7424a" /><Relationship Type="http://schemas.openxmlformats.org/officeDocument/2006/relationships/slide" Target="/ppt/slides/slide14.xml" Id="Ra52ea296f40d4d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c13abefe0e4eb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890415bc0648d2" /><Relationship Type="http://schemas.openxmlformats.org/officeDocument/2006/relationships/notesMaster" Target="/ppt/notesMasters/notesMaster1.xml" Id="R981d93c7beb94e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fdadca2731422c" /><Relationship Type="http://schemas.openxmlformats.org/officeDocument/2006/relationships/notesMaster" Target="/ppt/notesMasters/notesMaster1.xml" Id="Rb926950f5b4044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b80b726d7f40bb" /><Relationship Type="http://schemas.openxmlformats.org/officeDocument/2006/relationships/notesMaster" Target="/ppt/notesMasters/notesMaster1.xml" Id="Rcb8ca157000949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79c35be34e4b7b" /><Relationship Type="http://schemas.openxmlformats.org/officeDocument/2006/relationships/notesMaster" Target="/ppt/notesMasters/notesMaster1.xml" Id="Rd4024dfed73e48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30f7c9b76c469d" /><Relationship Type="http://schemas.openxmlformats.org/officeDocument/2006/relationships/notesMaster" Target="/ppt/notesMasters/notesMaster1.xml" Id="Rb3025c6fe50b4b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28b523fdfe43ad" /><Relationship Type="http://schemas.openxmlformats.org/officeDocument/2006/relationships/notesMaster" Target="/ppt/notesMasters/notesMaster1.xml" Id="R448b3d439aa34f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95bedeafec4318" /><Relationship Type="http://schemas.openxmlformats.org/officeDocument/2006/relationships/notesMaster" Target="/ppt/notesMasters/notesMaster1.xml" Id="R2b8d45f4cbdf4f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7eced20d764b01" /><Relationship Type="http://schemas.openxmlformats.org/officeDocument/2006/relationships/notesMaster" Target="/ppt/notesMasters/notesMaster1.xml" Id="R561916680e9d49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d991c192b34853" /><Relationship Type="http://schemas.openxmlformats.org/officeDocument/2006/relationships/notesMaster" Target="/ppt/notesMasters/notesMaster1.xml" Id="Rd6aebd2db9f545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f185583bdf4eac" /><Relationship Type="http://schemas.openxmlformats.org/officeDocument/2006/relationships/notesMaster" Target="/ppt/notesMasters/notesMaster1.xml" Id="R161a78686be24f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97a7f7ab2b4bdd" /><Relationship Type="http://schemas.openxmlformats.org/officeDocument/2006/relationships/notesMaster" Target="/ppt/notesMasters/notesMaster1.xml" Id="Rd080880a13e540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dfe9683f024b1f" /><Relationship Type="http://schemas.openxmlformats.org/officeDocument/2006/relationships/notesMaster" Target="/ppt/notesMasters/notesMaster1.xml" Id="R09118497d5e14d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80f291a7a246ba" /><Relationship Type="http://schemas.openxmlformats.org/officeDocument/2006/relationships/notesMaster" Target="/ppt/notesMasters/notesMaster1.xml" Id="R1ed33b7b221e49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c998cc3d3f4a57" /><Relationship Type="http://schemas.openxmlformats.org/officeDocument/2006/relationships/notesMaster" Target="/ppt/notesMasters/notesMaster1.xml" Id="Rb83b5e6fe70f45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repository README.md and process_and_experiments.md; Laporan - Proyek 1 - MAS - T2D.docx; Project 1 - Idea.pdf. The report contains internal drafting instructions and placeholders. This deck treats those as document content, not user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Based on Project 1 - Idea.pdf, pages 1–2, and the report's Chapter 2. This is the original intended problem and goal, not a claim that every stage is already automated in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status is summarized in agents/AGENT_CATALOG.md and agents/README.md. OpenRouter is optional in agents/severity_triage.py for Broker-Triage and reviewer-note interpretation. The repeatable evaluation harness does not call an LLM. The original report describes a broader intended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canonical agent lifecycle comes from agents/base.py. Role taxonomy is described in process_and_experiments.md and agents/AGENT_CATALOG.md. Several roles remain planned or disconnected from the sandbox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A0–A3 meanings are defined in eval/runner.py. They are benchmark configurations, not the dashboard workflow. A3 serializes a mobile bundle and aggregate response in the investigation stage; the interactive mobile migration demo is a separate route. Current benchmark network byte/message values come from the fresh run results/20260930T020846305626/summary.csv.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outputs are defined in agents/workflow_agents.py; orchestration and gating live in agents/app.py and agents/orchestrator.py. Every stage output and handoff is audited. Assignment runs a local Contract Net round; investigation uses keyword heuristics without telemetry; planning is templated; implementation drafts a request; QA runs zero tests; deployment proposes 5% canary without executing it; monitoring waits for telemetry. Checkpoints pause for triage review, QA/merge, and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based on agents/tests/test_manual_pipeline.py and agents/workflow_agents.py. “Checkout outage” produces High severity with confidence 0.68 in the local rule classifier; the autonomy gate pauses. After approval, a local Contract Net assignment runs. Investigation returns a keyword hypothesis only, planning returns a deterministic task template, implementation does not generate code, QA executes no tests, deployment proposes 5% canary only, and monitoring has no telemetry source. Optional OpenRouter can structure reviewer feedback; human reviewers retain the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agents/severity_triage.py, agents/workflow_agents.py, eval/runner.py; triage, RCA and envs module READMEs; agents/broker_assign.py; Project 1 - Idea.pdf page 2. The original cosine scores are illustrative. The live triage duplicate path is not wired. Optional OpenRouter outputs are bounded proposals and never authorize policy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agents/mobility.py, agents/node_runtime.py, agents/security_policy.py, and process_and_experiments.md. Mobile rule in source: migrate when local data volume L_node &gt; 3 × (agent size A + return size R). A3 bundle serialization is modeled in the harness and the demo migration route is separate from the interactive ticket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data/README.md, eval/config.json and results/20260930T020846305626/metadata.json. The four-arm runner uses generated tickets, five seeds and a 70/30 chronological train/evaluation split. The general data preprocessing module uses 70/10/20.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run: results/20260930T020846305626/summary.csv, generated from the current eval/runner.py with the project venv. Recall@5 and MAP improve sharply from A0 to the agent arms; F1 is uniformly 1.0 because synthetic severity phrases are highly distinctive; NAPFD is synthetic. Wall time is a tiny measured host workload, not ticket handling latency. Rollback rates are simulated. Report generation stopped after CSV writing because installed matplotlib no longer accepts the labels keyword used in eval/report.py.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from results/20260930T020846305626/statistical_tests.csv. Friedman omnibus p-values: wall time 0.0135883, network bytes 0.00181665, CPU 0.92615, rollback 0.60389. Five seed-level observations make comparisons exploratory. Security injection summary recorded 20 blocked and none passed. Runner wrote summary, per-ticket, stage, injection and statistical CSVs, then failed while building matplotlib plots because eval/report.py calls boxplot(labels=...) and the installed version expects a different keyword.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Synthesis of actual implementation status in agents/AGENT_CATALOG.md, project README.md, process_and_experiments.md and evaluation artifacts. It deliberately separates current state from the original intended full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PowerPoint was authored as a project explainer, not as a template reference. For the separate reusable template, the requested reference file should show a preferred slide design or visual style.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1f62d8883c4d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851dffd9f24116" /><Relationship Type="http://schemas.openxmlformats.org/officeDocument/2006/relationships/slideLayout" Target="/ppt/slideLayouts/slideLayout1.xml" Id="R173e1e4385164d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3e1e4385164d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c0784b943a4968" /><Relationship Type="http://schemas.openxmlformats.org/officeDocument/2006/relationships/notesSlide" Target="/ppt/notesSlides/notesSlide1.xml" Id="R1531850284014b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093b922df44d20" /><Relationship Type="http://schemas.openxmlformats.org/officeDocument/2006/relationships/notesSlide" Target="/ppt/notesSlides/notesSlide2.xml" Id="Re84a39b092d046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5096685e2c4886" /><Relationship Type="http://schemas.openxmlformats.org/officeDocument/2006/relationships/notesSlide" Target="/ppt/notesSlides/notesSlide3.xml" Id="R16bee879b5ac43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92a535bbbe475c" /><Relationship Type="http://schemas.openxmlformats.org/officeDocument/2006/relationships/notesSlide" Target="/ppt/notesSlides/notesSlide4.xml" Id="R44332ccce2e04d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1f02e390b94c3f" /><Relationship Type="http://schemas.openxmlformats.org/officeDocument/2006/relationships/notesSlide" Target="/ppt/notesSlides/notesSlide5.xml" Id="Rf70cc49e33b44e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b2ecbde4754e8a" /><Relationship Type="http://schemas.openxmlformats.org/officeDocument/2006/relationships/notesSlide" Target="/ppt/notesSlides/notesSlide6.xml" Id="Rb9ce84a3655749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74cf7d9a5f4512" /><Relationship Type="http://schemas.openxmlformats.org/officeDocument/2006/relationships/notesSlide" Target="/ppt/notesSlides/notesSlide7.xml" Id="R8448f3ede7154e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dee4c4ddacb4a16" /><Relationship Type="http://schemas.openxmlformats.org/officeDocument/2006/relationships/notesSlide" Target="/ppt/notesSlides/notesSlide8.xml" Id="R66a3e2d9d6054a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1a2105321145f0" /><Relationship Type="http://schemas.openxmlformats.org/officeDocument/2006/relationships/notesSlide" Target="/ppt/notesSlides/notesSlide9.xml" Id="R891f33f9a15f4b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c0e3222f7734c86" /><Relationship Type="http://schemas.openxmlformats.org/officeDocument/2006/relationships/notesSlide" Target="/ppt/notesSlides/notesSlide10.xml" Id="Rd16eb32cfcf34a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20a3f8b72ac4994" /><Relationship Type="http://schemas.openxmlformats.org/officeDocument/2006/relationships/notesSlide" Target="/ppt/notesSlides/notesSlide11.xml" Id="R2b3a354b6fa141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46c693d9454470" /><Relationship Type="http://schemas.openxmlformats.org/officeDocument/2006/relationships/notesSlide" Target="/ppt/notesSlides/notesSlide12.xml" Id="Rbcfda07b85b74c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2f847c3e52a4f7f" /><Relationship Type="http://schemas.openxmlformats.org/officeDocument/2006/relationships/notesSlide" Target="/ppt/notesSlides/notesSlide13.xml" Id="R0b2a88b8a91a43a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766e916a7064391" /><Relationship Type="http://schemas.openxmlformats.org/officeDocument/2006/relationships/notesSlide" Target="/ppt/notesSlides/notesSlide14.xml" Id="R0491266ac0f34ccb"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141A73-8031-445A-9D26-4BE4111AE82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47B5FF-E5D1-4784-A9A4-271666F7C1EB}"/>
              </a:ext>
            </a:extLst>
          </p:cNvPr>
          <p:cNvSpPr>
            <a:spLocks xmlns:a="http://schemas.openxmlformats.org/drawingml/2006/main" noGrp="1"/>
          </p:cNvSpPr>
          <p:nvPr/>
        </p:nvSpPr>
        <p:spPr>
          <a:xfrm xmlns:a="http://schemas.openxmlformats.org/drawingml/2006/main">
            <a:off x="723900" y="876300"/>
            <a:ext cx="647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6774"/>
          </a:bodyPr>
          <a:lstStyle xmlns:a="http://schemas.openxmlformats.org/drawingml/2006/main"/>
          <a:p xmlns:a="http://schemas.openxmlformats.org/drawingml/2006/main">
            <a:pPr algn="l">
              <a:defRPr sz="4650" b="1">
                <a:solidFill>
                  <a:srgbClr val="18324B"/>
                </a:solidFill>
                <a:latin typeface="Arial"/>
                <a:ea typeface="Arial"/>
                <a:cs typeface="Arial"/>
              </a:defRPr>
            </a:pPr>
            <a:r>
              <a:rPr sz="4650" b="1">
                <a:solidFill>
                  <a:srgbClr val="18324B"/>
                </a:solidFill>
                <a:latin typeface="Arial"/>
                <a:ea typeface="Arial"/>
                <a:cs typeface="Arial"/>
              </a:rPr>
              <a:t>T2D-MAS</a:t>
            </a:r>
          </a:p>
        </p:txBody>
      </p:sp>
      <p:sp>
        <p:nvSpPr>
          <p:cNvPr id="3" name="">
            <a:extLst xmlns:a="http://schemas.openxmlformats.org/drawingml/2006/main">
              <a:ext uri="{FF2B5EF4-FFF2-40B4-BE49-F238E27FC236}">
                <a16:creationId xmlns:a16="http://schemas.microsoft.com/office/drawing/2014/main" id="{942BC156-0A4D-4912-9BF5-E964ABCD8503}"/>
              </a:ext>
            </a:extLst>
          </p:cNvPr>
          <p:cNvSpPr>
            <a:spLocks xmlns:a="http://schemas.openxmlformats.org/drawingml/2006/main" noGrp="1"/>
          </p:cNvSpPr>
          <p:nvPr/>
        </p:nvSpPr>
        <p:spPr>
          <a:xfrm xmlns:a="http://schemas.openxmlformats.org/drawingml/2006/main">
            <a:off x="742950" y="1676400"/>
            <a:ext cx="942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a:solidFill>
                  <a:srgbClr val="2D7A78"/>
                </a:solidFill>
                <a:latin typeface="Arial"/>
                <a:ea typeface="Arial"/>
                <a:cs typeface="Arial"/>
              </a:defRPr>
            </a:pPr>
            <a:r>
              <a:rPr sz="2700" b="1">
                <a:solidFill>
                  <a:srgbClr val="2D7A78"/>
                </a:solidFill>
                <a:latin typeface="Arial"/>
                <a:ea typeface="Arial"/>
                <a:cs typeface="Arial"/>
              </a:rPr>
              <a:t>From software ticket to deployment</a:t>
            </a:r>
          </a:p>
        </p:txBody>
      </p:sp>
      <p:sp>
        <p:nvSpPr>
          <p:cNvPr id="4" name="">
            <a:extLst xmlns:a="http://schemas.openxmlformats.org/drawingml/2006/main">
              <a:ext uri="{FF2B5EF4-FFF2-40B4-BE49-F238E27FC236}">
                <a16:creationId xmlns:a16="http://schemas.microsoft.com/office/drawing/2014/main" id="{E5BE2F7A-6D5A-4744-BF28-4254DAA1E391}"/>
              </a:ext>
            </a:extLst>
          </p:cNvPr>
          <p:cNvSpPr>
            <a:spLocks xmlns:a="http://schemas.openxmlformats.org/drawingml/2006/main" noGrp="1"/>
          </p:cNvSpPr>
          <p:nvPr/>
        </p:nvSpPr>
        <p:spPr>
          <a:xfrm xmlns:a="http://schemas.openxmlformats.org/drawingml/2006/main">
            <a:off x="762000" y="2457450"/>
            <a:ext cx="904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2E4357"/>
                </a:solidFill>
                <a:latin typeface="Arial"/>
                <a:ea typeface="Arial"/>
                <a:cs typeface="Arial"/>
              </a:defRPr>
            </a:pPr>
            <a:r>
              <a:rPr sz="2025" b="0">
                <a:solidFill>
                  <a:srgbClr val="2E4357"/>
                </a:solidFill>
                <a:latin typeface="Arial"/>
                <a:ea typeface="Arial"/>
                <a:cs typeface="Arial"/>
              </a:rPr>
              <a:t>What the prototype does, how its agents differ, and what the experiment shows</a:t>
            </a:r>
          </a:p>
        </p:txBody>
      </p:sp>
      <p:sp>
        <p:nvSpPr>
          <p:cNvPr id="5" name="">
            <a:extLst xmlns:a="http://schemas.openxmlformats.org/drawingml/2006/main">
              <a:ext uri="{FF2B5EF4-FFF2-40B4-BE49-F238E27FC236}">
                <a16:creationId xmlns:a16="http://schemas.microsoft.com/office/drawing/2014/main" id="{1C99497B-21A6-4059-B88B-C88C4B478BEF}"/>
              </a:ext>
            </a:extLst>
          </p:cNvPr>
          <p:cNvSpPr>
            <a:spLocks xmlns:a="http://schemas.openxmlformats.org/drawingml/2006/main" noGrp="1"/>
          </p:cNvSpPr>
          <p:nvPr/>
        </p:nvSpPr>
        <p:spPr>
          <a:xfrm xmlns:a="http://schemas.openxmlformats.org/drawingml/2006/main">
            <a:off x="762000" y="3600450"/>
            <a:ext cx="4905375" cy="19050"/>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D0A13D4-E5BA-4135-BE29-1046151D2B03}"/>
              </a:ext>
            </a:extLst>
          </p:cNvPr>
          <p:cNvSpPr>
            <a:spLocks xmlns:a="http://schemas.openxmlformats.org/drawingml/2006/main" noGrp="1"/>
          </p:cNvSpPr>
          <p:nvPr/>
        </p:nvSpPr>
        <p:spPr>
          <a:xfrm xmlns:a="http://schemas.openxmlformats.org/drawingml/2006/main">
            <a:off x="762000" y="3829050"/>
            <a:ext cx="742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Agent Cerdas Enterprise  ·  Project 1</a:t>
            </a:r>
          </a:p>
        </p:txBody>
      </p:sp>
      <p:sp>
        <p:nvSpPr>
          <p:cNvPr id="7" name="">
            <a:extLst xmlns:a="http://schemas.openxmlformats.org/drawingml/2006/main">
              <a:ext uri="{FF2B5EF4-FFF2-40B4-BE49-F238E27FC236}">
                <a16:creationId xmlns:a16="http://schemas.microsoft.com/office/drawing/2014/main" id="{91114ED5-6B07-4813-B805-2EC2413E986B}"/>
              </a:ext>
            </a:extLst>
          </p:cNvPr>
          <p:cNvSpPr>
            <a:spLocks xmlns:a="http://schemas.openxmlformats.org/drawingml/2006/main" noGrp="1"/>
          </p:cNvSpPr>
          <p:nvPr/>
        </p:nvSpPr>
        <p:spPr>
          <a:xfrm xmlns:a="http://schemas.openxmlformats.org/drawingml/2006/main">
            <a:off x="762000" y="4229100"/>
            <a:ext cx="742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Code walkthrough + original design intent</a:t>
            </a:r>
          </a:p>
        </p:txBody>
      </p:sp>
      <p:sp>
        <p:nvSpPr>
          <p:cNvPr id="8" name="">
            <a:extLst xmlns:a="http://schemas.openxmlformats.org/drawingml/2006/main">
              <a:ext uri="{FF2B5EF4-FFF2-40B4-BE49-F238E27FC236}">
                <a16:creationId xmlns:a16="http://schemas.microsoft.com/office/drawing/2014/main" id="{4EE43562-74BD-4811-BFC2-2F0C429F643D}"/>
              </a:ext>
            </a:extLst>
          </p:cNvPr>
          <p:cNvSpPr>
            <a:spLocks xmlns:a="http://schemas.openxmlformats.org/drawingml/2006/main" noGrp="1"/>
          </p:cNvSpPr>
          <p:nvPr/>
        </p:nvSpPr>
        <p:spPr>
          <a:xfrm xmlns:a="http://schemas.openxmlformats.org/drawingml/2006/main">
            <a:off x="762000" y="5200650"/>
            <a:ext cx="10191750" cy="628650"/>
          </a:xfrm>
          <a:prstGeom xmlns:a="http://schemas.openxmlformats.org/drawingml/2006/main" prst="roundRect">
            <a:avLst>
              <a:gd name="adj" fmla="val 24242"/>
            </a:avLst>
          </a:prstGeom>
          <a:solidFill xmlns:a="http://schemas.openxmlformats.org/drawingml/2006/main">
            <a:srgbClr val="DDEFEA"/>
          </a:solidFill>
          <a:ln xmlns:a="http://schemas.openxmlformats.org/drawingml/2006/main" w="9525">
            <a:noFill/>
          </a:ln>
        </p:spPr>
      </p:sp>
      <p:sp>
        <p:nvSpPr>
          <p:cNvPr id="9" name="">
            <a:extLst xmlns:a="http://schemas.openxmlformats.org/drawingml/2006/main">
              <a:ext uri="{FF2B5EF4-FFF2-40B4-BE49-F238E27FC236}">
                <a16:creationId xmlns:a16="http://schemas.microsoft.com/office/drawing/2014/main" id="{07F77408-8572-4241-BB99-01F28D9DA3B5}"/>
              </a:ext>
            </a:extLst>
          </p:cNvPr>
          <p:cNvSpPr>
            <a:spLocks xmlns:a="http://schemas.openxmlformats.org/drawingml/2006/main" noGrp="1"/>
          </p:cNvSpPr>
          <p:nvPr/>
        </p:nvSpPr>
        <p:spPr>
          <a:xfrm xmlns:a="http://schemas.openxmlformats.org/drawingml/2006/main">
            <a:off x="981075" y="5324475"/>
            <a:ext cx="9734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8324B"/>
                </a:solidFill>
                <a:latin typeface="Arial"/>
                <a:ea typeface="Arial"/>
                <a:cs typeface="Arial"/>
              </a:defRPr>
            </a:pPr>
            <a:r>
              <a:rPr sz="1725" b="1">
                <a:solidFill>
                  <a:srgbClr val="18324B"/>
                </a:solidFill>
                <a:latin typeface="Arial"/>
                <a:ea typeface="Arial"/>
                <a:cs typeface="Arial"/>
              </a:rPr>
              <a:t>Key distinction: A0–A3 are benchmark configurations, not four agent roles.</a:t>
            </a:r>
          </a:p>
        </p:txBody>
      </p:sp>
    </p:spTree>
    <p:extLst>
      <p:ext uri="{BB962C8B-B14F-4D97-AF65-F5344CB8AC3E}">
        <p14:creationId xmlns:p14="http://schemas.microsoft.com/office/powerpoint/2010/main" val="51978882"/>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052DF1F-9140-4F30-8E1B-A21AFB36F45A}"/>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project targets four delivery bottlenecks</a:t>
            </a:r>
          </a:p>
        </p:txBody>
      </p:sp>
      <p:sp>
        <p:nvSpPr>
          <p:cNvPr id="2" name="">
            <a:extLst xmlns:a="http://schemas.openxmlformats.org/drawingml/2006/main">
              <a:ext uri="{FF2B5EF4-FFF2-40B4-BE49-F238E27FC236}">
                <a16:creationId xmlns:a16="http://schemas.microsoft.com/office/drawing/2014/main" id="{49D3F53D-055C-4F15-A469-B3B74BE1A80B}"/>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7FB03EE-458C-44BA-AE21-FC21152E47DC}"/>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Original problem statement from the project report and idea document</a:t>
            </a:r>
          </a:p>
        </p:txBody>
      </p:sp>
      <p:sp>
        <p:nvSpPr>
          <p:cNvPr id="4" name="">
            <a:extLst xmlns:a="http://schemas.openxmlformats.org/drawingml/2006/main">
              <a:ext uri="{FF2B5EF4-FFF2-40B4-BE49-F238E27FC236}">
                <a16:creationId xmlns:a16="http://schemas.microsoft.com/office/drawing/2014/main" id="{FE4E1A1C-3D7E-484A-8F49-FE1C3AAE80CB}"/>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CC892B9D-C21C-4361-8B08-A286CDBC57D0}"/>
              </a:ext>
            </a:extLst>
          </p:cNvPr>
          <p:cNvSpPr>
            <a:spLocks xmlns:a="http://schemas.openxmlformats.org/drawingml/2006/main" noGrp="1"/>
          </p:cNvSpPr>
          <p:nvPr/>
        </p:nvSpPr>
        <p:spPr>
          <a:xfrm xmlns:a="http://schemas.openxmlformats.org/drawingml/2006/main">
            <a:off x="714375" y="1876425"/>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18B625D-EE9B-49A6-A2D5-4402EEE6BD8C}"/>
              </a:ext>
            </a:extLst>
          </p:cNvPr>
          <p:cNvSpPr>
            <a:spLocks xmlns:a="http://schemas.openxmlformats.org/drawingml/2006/main" noGrp="1"/>
          </p:cNvSpPr>
          <p:nvPr/>
        </p:nvSpPr>
        <p:spPr>
          <a:xfrm xmlns:a="http://schemas.openxmlformats.org/drawingml/2006/main">
            <a:off x="962025" y="1790700"/>
            <a:ext cx="4943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Manual triage slows resolution</a:t>
            </a:r>
          </a:p>
        </p:txBody>
      </p:sp>
      <p:sp>
        <p:nvSpPr>
          <p:cNvPr id="7" name="">
            <a:extLst xmlns:a="http://schemas.openxmlformats.org/drawingml/2006/main">
              <a:ext uri="{FF2B5EF4-FFF2-40B4-BE49-F238E27FC236}">
                <a16:creationId xmlns:a16="http://schemas.microsoft.com/office/drawing/2014/main" id="{74EA7579-D237-43CD-8E40-62ABF18A33AC}"/>
              </a:ext>
            </a:extLst>
          </p:cNvPr>
          <p:cNvSpPr>
            <a:spLocks xmlns:a="http://schemas.openxmlformats.org/drawingml/2006/main" noGrp="1"/>
          </p:cNvSpPr>
          <p:nvPr/>
        </p:nvSpPr>
        <p:spPr>
          <a:xfrm xmlns:a="http://schemas.openxmlformats.org/drawingml/2006/main">
            <a:off x="962025" y="2095500"/>
            <a:ext cx="494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Severity, category and team routing depend on people reading each ticket.</a:t>
            </a:r>
          </a:p>
        </p:txBody>
      </p:sp>
      <p:sp>
        <p:nvSpPr>
          <p:cNvPr id="8" name="">
            <a:extLst xmlns:a="http://schemas.openxmlformats.org/drawingml/2006/main">
              <a:ext uri="{FF2B5EF4-FFF2-40B4-BE49-F238E27FC236}">
                <a16:creationId xmlns:a16="http://schemas.microsoft.com/office/drawing/2014/main" id="{CC067C38-A8EA-43E0-A7D1-54A4B6CE44DD}"/>
              </a:ext>
            </a:extLst>
          </p:cNvPr>
          <p:cNvSpPr>
            <a:spLocks xmlns:a="http://schemas.openxmlformats.org/drawingml/2006/main" noGrp="1"/>
          </p:cNvSpPr>
          <p:nvPr/>
        </p:nvSpPr>
        <p:spPr>
          <a:xfrm xmlns:a="http://schemas.openxmlformats.org/drawingml/2006/main">
            <a:off x="714375" y="2943225"/>
            <a:ext cx="114300" cy="114300"/>
          </a:xfrm>
          <a:prstGeom xmlns:a="http://schemas.openxmlformats.org/drawingml/2006/main" prst="ellipse">
            <a:avLst/>
          </a:prstGeom>
          <a:solidFill xmlns:a="http://schemas.openxmlformats.org/drawingml/2006/main">
            <a:srgbClr val="3B6FA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B69AE40-516A-4A15-85F5-7D047A91B88E}"/>
              </a:ext>
            </a:extLst>
          </p:cNvPr>
          <p:cNvSpPr>
            <a:spLocks xmlns:a="http://schemas.openxmlformats.org/drawingml/2006/main" noGrp="1"/>
          </p:cNvSpPr>
          <p:nvPr/>
        </p:nvSpPr>
        <p:spPr>
          <a:xfrm xmlns:a="http://schemas.openxmlformats.org/drawingml/2006/main">
            <a:off x="962025" y="2857500"/>
            <a:ext cx="4943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Duplicate reports create repeated work</a:t>
            </a:r>
          </a:p>
        </p:txBody>
      </p:sp>
      <p:sp>
        <p:nvSpPr>
          <p:cNvPr id="10" name="">
            <a:extLst xmlns:a="http://schemas.openxmlformats.org/drawingml/2006/main">
              <a:ext uri="{FF2B5EF4-FFF2-40B4-BE49-F238E27FC236}">
                <a16:creationId xmlns:a16="http://schemas.microsoft.com/office/drawing/2014/main" id="{B736A8E1-71AE-4E1C-86A7-41BEAE104FD8}"/>
              </a:ext>
            </a:extLst>
          </p:cNvPr>
          <p:cNvSpPr>
            <a:spLocks xmlns:a="http://schemas.openxmlformats.org/drawingml/2006/main" noGrp="1"/>
          </p:cNvSpPr>
          <p:nvPr/>
        </p:nvSpPr>
        <p:spPr>
          <a:xfrm xmlns:a="http://schemas.openxmlformats.org/drawingml/2006/main">
            <a:off x="962025" y="3162300"/>
            <a:ext cx="49434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Similar incidents can be phrased differently, so keyword matching misses them.</a:t>
            </a:r>
          </a:p>
        </p:txBody>
      </p:sp>
      <p:sp>
        <p:nvSpPr>
          <p:cNvPr id="11" name="">
            <a:extLst xmlns:a="http://schemas.openxmlformats.org/drawingml/2006/main">
              <a:ext uri="{FF2B5EF4-FFF2-40B4-BE49-F238E27FC236}">
                <a16:creationId xmlns:a16="http://schemas.microsoft.com/office/drawing/2014/main" id="{1584EA77-A222-4EC9-9A73-3BC5F2FEB5C7}"/>
              </a:ext>
            </a:extLst>
          </p:cNvPr>
          <p:cNvSpPr>
            <a:spLocks xmlns:a="http://schemas.openxmlformats.org/drawingml/2006/main" noGrp="1"/>
          </p:cNvSpPr>
          <p:nvPr/>
        </p:nvSpPr>
        <p:spPr>
          <a:xfrm xmlns:a="http://schemas.openxmlformats.org/drawingml/2006/main">
            <a:off x="6381750" y="1876425"/>
            <a:ext cx="114300" cy="114300"/>
          </a:xfrm>
          <a:prstGeom xmlns:a="http://schemas.openxmlformats.org/drawingml/2006/main" prst="ellipse">
            <a:avLst/>
          </a:prstGeom>
          <a:solidFill xmlns:a="http://schemas.openxmlformats.org/drawingml/2006/main">
            <a:srgbClr val="B77A2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7EED764-8097-4D6F-B473-FF468B113B4A}"/>
              </a:ext>
            </a:extLst>
          </p:cNvPr>
          <p:cNvSpPr>
            <a:spLocks xmlns:a="http://schemas.openxmlformats.org/drawingml/2006/main" noGrp="1"/>
          </p:cNvSpPr>
          <p:nvPr/>
        </p:nvSpPr>
        <p:spPr>
          <a:xfrm xmlns:a="http://schemas.openxmlformats.org/drawingml/2006/main">
            <a:off x="6629400" y="1790700"/>
            <a:ext cx="4848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Approvals become queues</a:t>
            </a:r>
          </a:p>
        </p:txBody>
      </p:sp>
      <p:sp>
        <p:nvSpPr>
          <p:cNvPr id="13" name="">
            <a:extLst xmlns:a="http://schemas.openxmlformats.org/drawingml/2006/main">
              <a:ext uri="{FF2B5EF4-FFF2-40B4-BE49-F238E27FC236}">
                <a16:creationId xmlns:a16="http://schemas.microsoft.com/office/drawing/2014/main" id="{6B5FE319-7BFC-415D-91C3-5A0F0C4C6012}"/>
              </a:ext>
            </a:extLst>
          </p:cNvPr>
          <p:cNvSpPr>
            <a:spLocks xmlns:a="http://schemas.openxmlformats.org/drawingml/2006/main" noGrp="1"/>
          </p:cNvSpPr>
          <p:nvPr/>
        </p:nvSpPr>
        <p:spPr>
          <a:xfrm xmlns:a="http://schemas.openxmlformats.org/drawingml/2006/main">
            <a:off x="6629400" y="2095500"/>
            <a:ext cx="4848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Human review is essential for risky actions, but reviewers need useful context.</a:t>
            </a:r>
          </a:p>
        </p:txBody>
      </p:sp>
      <p:sp>
        <p:nvSpPr>
          <p:cNvPr id="14" name="">
            <a:extLst xmlns:a="http://schemas.openxmlformats.org/drawingml/2006/main">
              <a:ext uri="{FF2B5EF4-FFF2-40B4-BE49-F238E27FC236}">
                <a16:creationId xmlns:a16="http://schemas.microsoft.com/office/drawing/2014/main" id="{FD59BD91-F5D3-4EA3-848A-55090B690A23}"/>
              </a:ext>
            </a:extLst>
          </p:cNvPr>
          <p:cNvSpPr>
            <a:spLocks xmlns:a="http://schemas.openxmlformats.org/drawingml/2006/main" noGrp="1"/>
          </p:cNvSpPr>
          <p:nvPr/>
        </p:nvSpPr>
        <p:spPr>
          <a:xfrm xmlns:a="http://schemas.openxmlformats.org/drawingml/2006/main">
            <a:off x="6381750" y="2943225"/>
            <a:ext cx="114300" cy="114300"/>
          </a:xfrm>
          <a:prstGeom xmlns:a="http://schemas.openxmlformats.org/drawingml/2006/main" prst="ellipse">
            <a:avLst/>
          </a:prstGeom>
          <a:solidFill xmlns:a="http://schemas.openxmlformats.org/drawingml/2006/main">
            <a:srgbClr val="B6534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8D4CD87-4F75-4D66-8324-C2BD48352431}"/>
              </a:ext>
            </a:extLst>
          </p:cNvPr>
          <p:cNvSpPr>
            <a:spLocks xmlns:a="http://schemas.openxmlformats.org/drawingml/2006/main" noGrp="1"/>
          </p:cNvSpPr>
          <p:nvPr/>
        </p:nvSpPr>
        <p:spPr>
          <a:xfrm xmlns:a="http://schemas.openxmlformats.org/drawingml/2006/main">
            <a:off x="6629400" y="2857500"/>
            <a:ext cx="4848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Quality varies between tickets</a:t>
            </a:r>
          </a:p>
        </p:txBody>
      </p:sp>
      <p:sp>
        <p:nvSpPr>
          <p:cNvPr id="16" name="">
            <a:extLst xmlns:a="http://schemas.openxmlformats.org/drawingml/2006/main">
              <a:ext uri="{FF2B5EF4-FFF2-40B4-BE49-F238E27FC236}">
                <a16:creationId xmlns:a16="http://schemas.microsoft.com/office/drawing/2014/main" id="{3D550E8F-70FC-4218-9770-C4E36F2AA151}"/>
              </a:ext>
            </a:extLst>
          </p:cNvPr>
          <p:cNvSpPr>
            <a:spLocks xmlns:a="http://schemas.openxmlformats.org/drawingml/2006/main" noGrp="1"/>
          </p:cNvSpPr>
          <p:nvPr/>
        </p:nvSpPr>
        <p:spPr>
          <a:xfrm xmlns:a="http://schemas.openxmlformats.org/drawingml/2006/main">
            <a:off x="6629400" y="3162300"/>
            <a:ext cx="4848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Reproduction steps, acceptance criteria and release notes can be incomplete.</a:t>
            </a:r>
          </a:p>
        </p:txBody>
      </p:sp>
      <p:sp>
        <p:nvSpPr>
          <p:cNvPr id="17" name="">
            <a:extLst xmlns:a="http://schemas.openxmlformats.org/drawingml/2006/main">
              <a:ext uri="{FF2B5EF4-FFF2-40B4-BE49-F238E27FC236}">
                <a16:creationId xmlns:a16="http://schemas.microsoft.com/office/drawing/2014/main" id="{78E7BD2B-5384-4A0A-9981-4ED32B8ABB21}"/>
              </a:ext>
            </a:extLst>
          </p:cNvPr>
          <p:cNvSpPr>
            <a:spLocks xmlns:a="http://schemas.openxmlformats.org/drawingml/2006/main" noGrp="1"/>
          </p:cNvSpPr>
          <p:nvPr/>
        </p:nvSpPr>
        <p:spPr>
          <a:xfrm xmlns:a="http://schemas.openxmlformats.org/drawingml/2006/main">
            <a:off x="714375" y="4219575"/>
            <a:ext cx="1076325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9525">
            <a:solidFill>
              <a:srgbClr val="D7E0E9"/>
            </a:solidFill>
          </a:ln>
        </p:spPr>
      </p:sp>
      <p:sp>
        <p:nvSpPr>
          <p:cNvPr id="18" name="">
            <a:extLst xmlns:a="http://schemas.openxmlformats.org/drawingml/2006/main">
              <a:ext uri="{FF2B5EF4-FFF2-40B4-BE49-F238E27FC236}">
                <a16:creationId xmlns:a16="http://schemas.microsoft.com/office/drawing/2014/main" id="{AD47C5F7-1870-4323-AD18-7E6E813D7198}"/>
              </a:ext>
            </a:extLst>
          </p:cNvPr>
          <p:cNvSpPr>
            <a:spLocks xmlns:a="http://schemas.openxmlformats.org/drawingml/2006/main" noGrp="1"/>
          </p:cNvSpPr>
          <p:nvPr/>
        </p:nvSpPr>
        <p:spPr>
          <a:xfrm xmlns:a="http://schemas.openxmlformats.org/drawingml/2006/main">
            <a:off x="952500" y="4391025"/>
            <a:ext cx="123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Goal</a:t>
            </a:r>
          </a:p>
        </p:txBody>
      </p:sp>
      <p:sp>
        <p:nvSpPr>
          <p:cNvPr id="19" name="">
            <a:extLst xmlns:a="http://schemas.openxmlformats.org/drawingml/2006/main">
              <a:ext uri="{FF2B5EF4-FFF2-40B4-BE49-F238E27FC236}">
                <a16:creationId xmlns:a16="http://schemas.microsoft.com/office/drawing/2014/main" id="{B3298C55-F441-4F14-A11C-CD81C73A6237}"/>
              </a:ext>
            </a:extLst>
          </p:cNvPr>
          <p:cNvSpPr>
            <a:spLocks xmlns:a="http://schemas.openxmlformats.org/drawingml/2006/main" noGrp="1"/>
          </p:cNvSpPr>
          <p:nvPr/>
        </p:nvSpPr>
        <p:spPr>
          <a:xfrm xmlns:a="http://schemas.openxmlformats.org/drawingml/2006/main">
            <a:off x="952500" y="4752975"/>
            <a:ext cx="10077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9506"/>
          </a:bodyPr>
          <a:lstStyle xmlns:a="http://schemas.openxmlformats.org/drawingml/2006/main"/>
          <a:p xmlns:a="http://schemas.openxmlformats.org/drawingml/2006/main">
            <a:pPr algn="l">
              <a:defRPr sz="2025" b="1">
                <a:solidFill>
                  <a:srgbClr val="18324B"/>
                </a:solidFill>
                <a:latin typeface="Arial"/>
                <a:ea typeface="Arial"/>
                <a:cs typeface="Arial"/>
              </a:defRPr>
            </a:pPr>
            <a:r>
              <a:rPr sz="2025" b="1">
                <a:solidFill>
                  <a:srgbClr val="18324B"/>
                </a:solidFill>
                <a:latin typeface="Arial"/>
                <a:ea typeface="Arial"/>
                <a:cs typeface="Arial"/>
              </a:rPr>
              <a:t>Coordinate specialized software agents from user feedback through deployment, while keeping people in control of high-risk decisions.</a:t>
            </a:r>
          </a:p>
        </p:txBody>
      </p:sp>
    </p:spTree>
    <p:extLst>
      <p:ext uri="{BB962C8B-B14F-4D97-AF65-F5344CB8AC3E}">
        <p14:creationId xmlns:p14="http://schemas.microsoft.com/office/powerpoint/2010/main" val="1336109195"/>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B1CF66E-CA23-417A-B9E6-1A854E07A550}"/>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design is broader than the connected prototype</a:t>
            </a:r>
          </a:p>
        </p:txBody>
      </p:sp>
      <p:sp>
        <p:nvSpPr>
          <p:cNvPr id="2" name="">
            <a:extLst xmlns:a="http://schemas.openxmlformats.org/drawingml/2006/main">
              <a:ext uri="{FF2B5EF4-FFF2-40B4-BE49-F238E27FC236}">
                <a16:creationId xmlns:a16="http://schemas.microsoft.com/office/drawing/2014/main" id="{7BF7A0EA-5F34-4B73-9764-4731CC0FE877}"/>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046C048-706A-44CE-BA20-0430E35210A6}"/>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Use this distinction when interpreting every capability and result</a:t>
            </a:r>
          </a:p>
        </p:txBody>
      </p:sp>
      <p:sp>
        <p:nvSpPr>
          <p:cNvPr id="4" name="">
            <a:extLst xmlns:a="http://schemas.openxmlformats.org/drawingml/2006/main">
              <a:ext uri="{FF2B5EF4-FFF2-40B4-BE49-F238E27FC236}">
                <a16:creationId xmlns:a16="http://schemas.microsoft.com/office/drawing/2014/main" id="{B604ED36-6236-446B-8843-11A041D86F47}"/>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D5C4E190-7D4E-4076-86C5-4E9C805C56CD}"/>
              </a:ext>
            </a:extLst>
          </p:cNvPr>
          <p:cNvSpPr>
            <a:spLocks xmlns:a="http://schemas.openxmlformats.org/drawingml/2006/main" noGrp="1"/>
          </p:cNvSpPr>
          <p:nvPr/>
        </p:nvSpPr>
        <p:spPr>
          <a:xfrm xmlns:a="http://schemas.openxmlformats.org/drawingml/2006/main">
            <a:off x="781050" y="173355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2D7A78"/>
                </a:solidFill>
                <a:latin typeface="Arial"/>
                <a:ea typeface="Arial"/>
                <a:cs typeface="Arial"/>
              </a:defRPr>
            </a:pPr>
            <a:r>
              <a:rPr sz="1650" b="1">
                <a:solidFill>
                  <a:srgbClr val="2D7A78"/>
                </a:solidFill>
                <a:latin typeface="Arial"/>
                <a:ea typeface="Arial"/>
                <a:cs typeface="Arial"/>
              </a:rPr>
              <a:t>ORIGINAL IDEA</a:t>
            </a:r>
          </a:p>
        </p:txBody>
      </p:sp>
      <p:sp>
        <p:nvSpPr>
          <p:cNvPr id="6" name="">
            <a:extLst xmlns:a="http://schemas.openxmlformats.org/drawingml/2006/main">
              <a:ext uri="{FF2B5EF4-FFF2-40B4-BE49-F238E27FC236}">
                <a16:creationId xmlns:a16="http://schemas.microsoft.com/office/drawing/2014/main" id="{335741F2-3C3F-4456-A0FB-5BA98686E2A8}"/>
              </a:ext>
            </a:extLst>
          </p:cNvPr>
          <p:cNvSpPr>
            <a:spLocks xmlns:a="http://schemas.openxmlformats.org/drawingml/2006/main" noGrp="1"/>
          </p:cNvSpPr>
          <p:nvPr/>
        </p:nvSpPr>
        <p:spPr>
          <a:xfrm xmlns:a="http://schemas.openxmlformats.org/drawingml/2006/main">
            <a:off x="781050" y="2124075"/>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250" b="1">
                <a:solidFill>
                  <a:srgbClr val="18324B"/>
                </a:solidFill>
                <a:latin typeface="Arial"/>
                <a:ea typeface="Arial"/>
                <a:cs typeface="Arial"/>
              </a:defRPr>
            </a:pPr>
            <a:r>
              <a:rPr sz="2250" b="1">
                <a:solidFill>
                  <a:srgbClr val="18324B"/>
                </a:solidFill>
                <a:latin typeface="Arial"/>
                <a:ea typeface="Arial"/>
                <a:cs typeface="Arial"/>
              </a:rPr>
              <a:t>A coordinated delivery team</a:t>
            </a:r>
          </a:p>
        </p:txBody>
      </p:sp>
      <p:sp>
        <p:nvSpPr>
          <p:cNvPr id="7" name="">
            <a:extLst xmlns:a="http://schemas.openxmlformats.org/drawingml/2006/main">
              <a:ext uri="{FF2B5EF4-FFF2-40B4-BE49-F238E27FC236}">
                <a16:creationId xmlns:a16="http://schemas.microsoft.com/office/drawing/2014/main" id="{233CAC21-B562-44DC-A940-BA07BBADEFFE}"/>
              </a:ext>
            </a:extLst>
          </p:cNvPr>
          <p:cNvSpPr>
            <a:spLocks xmlns:a="http://schemas.openxmlformats.org/drawingml/2006/main" noGrp="1"/>
          </p:cNvSpPr>
          <p:nvPr/>
        </p:nvSpPr>
        <p:spPr>
          <a:xfrm xmlns:a="http://schemas.openxmlformats.org/drawingml/2006/main">
            <a:off x="781050" y="2686050"/>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2E4357"/>
                </a:solidFill>
                <a:latin typeface="Arial"/>
                <a:ea typeface="Arial"/>
                <a:cs typeface="Arial"/>
              </a:defRPr>
            </a:pPr>
            <a:r>
              <a:rPr sz="1725" b="0">
                <a:solidFill>
                  <a:srgbClr val="2E4357"/>
                </a:solidFill>
                <a:latin typeface="Arial"/>
                <a:ea typeface="Arial"/>
                <a:cs typeface="Arial"/>
              </a:rPr>
              <a:t>Specialist agents handle triage, investigation, planning, implementation, QA, deployment and monitoring. ML, deep learning, LLMs and feedback loops support the full lifecycle.</a:t>
            </a:r>
          </a:p>
        </p:txBody>
      </p:sp>
      <p:sp>
        <p:nvSpPr>
          <p:cNvPr id="8" name="">
            <a:extLst xmlns:a="http://schemas.openxmlformats.org/drawingml/2006/main">
              <a:ext uri="{FF2B5EF4-FFF2-40B4-BE49-F238E27FC236}">
                <a16:creationId xmlns:a16="http://schemas.microsoft.com/office/drawing/2014/main" id="{268F61E2-5EDC-4FB3-9556-EEA590803B95}"/>
              </a:ext>
            </a:extLst>
          </p:cNvPr>
          <p:cNvSpPr>
            <a:spLocks xmlns:a="http://schemas.openxmlformats.org/drawingml/2006/main" noGrp="1"/>
          </p:cNvSpPr>
          <p:nvPr/>
        </p:nvSpPr>
        <p:spPr>
          <a:xfrm xmlns:a="http://schemas.openxmlformats.org/drawingml/2006/main">
            <a:off x="6286500" y="17335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3B6FA5"/>
                </a:solidFill>
                <a:latin typeface="Arial"/>
                <a:ea typeface="Arial"/>
                <a:cs typeface="Arial"/>
              </a:defRPr>
            </a:pPr>
            <a:r>
              <a:rPr sz="1650" b="1">
                <a:solidFill>
                  <a:srgbClr val="3B6FA5"/>
                </a:solidFill>
                <a:latin typeface="Arial"/>
                <a:ea typeface="Arial"/>
                <a:cs typeface="Arial"/>
              </a:rPr>
              <a:t>WORKING REPOSITORY</a:t>
            </a:r>
          </a:p>
        </p:txBody>
      </p:sp>
      <p:sp>
        <p:nvSpPr>
          <p:cNvPr id="9" name="">
            <a:extLst xmlns:a="http://schemas.openxmlformats.org/drawingml/2006/main">
              <a:ext uri="{FF2B5EF4-FFF2-40B4-BE49-F238E27FC236}">
                <a16:creationId xmlns:a16="http://schemas.microsoft.com/office/drawing/2014/main" id="{3D0574B9-92FE-41A2-887A-A6DA37401D9B}"/>
              </a:ext>
            </a:extLst>
          </p:cNvPr>
          <p:cNvSpPr>
            <a:spLocks xmlns:a="http://schemas.openxmlformats.org/drawingml/2006/main" noGrp="1"/>
          </p:cNvSpPr>
          <p:nvPr/>
        </p:nvSpPr>
        <p:spPr>
          <a:xfrm xmlns:a="http://schemas.openxmlformats.org/drawingml/2006/main">
            <a:off x="6286500" y="21240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250" b="1">
                <a:solidFill>
                  <a:srgbClr val="18324B"/>
                </a:solidFill>
                <a:latin typeface="Arial"/>
                <a:ea typeface="Arial"/>
                <a:cs typeface="Arial"/>
              </a:defRPr>
            </a:pPr>
            <a:r>
              <a:rPr sz="2250" b="1">
                <a:solidFill>
                  <a:srgbClr val="18324B"/>
                </a:solidFill>
                <a:latin typeface="Arial"/>
                <a:ea typeface="Arial"/>
                <a:cs typeface="Arial"/>
              </a:rPr>
              <a:t>A set of demonstrable modules</a:t>
            </a:r>
          </a:p>
        </p:txBody>
      </p:sp>
      <p:sp>
        <p:nvSpPr>
          <p:cNvPr id="10" name="">
            <a:extLst xmlns:a="http://schemas.openxmlformats.org/drawingml/2006/main">
              <a:ext uri="{FF2B5EF4-FFF2-40B4-BE49-F238E27FC236}">
                <a16:creationId xmlns:a16="http://schemas.microsoft.com/office/drawing/2014/main" id="{58A928A8-1195-4F29-8854-5DE55A1DE7B0}"/>
              </a:ext>
            </a:extLst>
          </p:cNvPr>
          <p:cNvSpPr>
            <a:spLocks xmlns:a="http://schemas.openxmlformats.org/drawingml/2006/main" noGrp="1"/>
          </p:cNvSpPr>
          <p:nvPr/>
        </p:nvSpPr>
        <p:spPr>
          <a:xfrm xmlns:a="http://schemas.openxmlformats.org/drawingml/2006/main">
            <a:off x="6286500" y="2686050"/>
            <a:ext cx="5000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E4357"/>
                </a:solidFill>
                <a:latin typeface="Arial"/>
                <a:ea typeface="Arial"/>
                <a:cs typeface="Arial"/>
              </a:defRPr>
            </a:pPr>
            <a:r>
              <a:rPr sz="1650" b="0">
                <a:solidFill>
                  <a:srgbClr val="2E4357"/>
                </a:solidFill>
                <a:latin typeface="Arial"/>
                <a:ea typeface="Arial"/>
                <a:cs typeface="Arial"/>
              </a:rPr>
              <a:t>The Ticket Test now emits results for all nine stages, publishes ACL handoffs, records Contract Net assignment, and saves masked history. Investigation, coding, CI, release and monitoring still have firm limits.</a:t>
            </a:r>
          </a:p>
        </p:txBody>
      </p:sp>
      <p:sp>
        <p:nvSpPr>
          <p:cNvPr id="11" name="">
            <a:extLst xmlns:a="http://schemas.openxmlformats.org/drawingml/2006/main">
              <a:ext uri="{FF2B5EF4-FFF2-40B4-BE49-F238E27FC236}">
                <a16:creationId xmlns:a16="http://schemas.microsoft.com/office/drawing/2014/main" id="{F4114B75-C9FB-4C91-9B87-9DE42A49DEA4}"/>
              </a:ext>
            </a:extLst>
          </p:cNvPr>
          <p:cNvSpPr>
            <a:spLocks xmlns:a="http://schemas.openxmlformats.org/drawingml/2006/main" noGrp="1"/>
          </p:cNvSpPr>
          <p:nvPr/>
        </p:nvSpPr>
        <p:spPr>
          <a:xfrm xmlns:a="http://schemas.openxmlformats.org/drawingml/2006/main">
            <a:off x="5943600" y="1714500"/>
            <a:ext cx="9525" cy="3143250"/>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3807273-BFA5-4271-92D1-91E63D95E5EC}"/>
              </a:ext>
            </a:extLst>
          </p:cNvPr>
          <p:cNvSpPr>
            <a:spLocks xmlns:a="http://schemas.openxmlformats.org/drawingml/2006/main" noGrp="1"/>
          </p:cNvSpPr>
          <p:nvPr/>
        </p:nvSpPr>
        <p:spPr>
          <a:xfrm xmlns:a="http://schemas.openxmlformats.org/drawingml/2006/main">
            <a:off x="781050" y="4895850"/>
            <a:ext cx="10525125" cy="781050"/>
          </a:xfrm>
          <a:prstGeom xmlns:a="http://schemas.openxmlformats.org/drawingml/2006/main" prst="roundRect">
            <a:avLst>
              <a:gd name="adj" fmla="val 19512"/>
            </a:avLst>
          </a:prstGeom>
          <a:solidFill xmlns:a="http://schemas.openxmlformats.org/drawingml/2006/main">
            <a:srgbClr val="F7EEDC"/>
          </a:solidFill>
          <a:ln xmlns:a="http://schemas.openxmlformats.org/drawingml/2006/main" w="9525">
            <a:noFill/>
          </a:ln>
        </p:spPr>
      </p:sp>
      <p:sp>
        <p:nvSpPr>
          <p:cNvPr id="13" name="">
            <a:extLst xmlns:a="http://schemas.openxmlformats.org/drawingml/2006/main">
              <a:ext uri="{FF2B5EF4-FFF2-40B4-BE49-F238E27FC236}">
                <a16:creationId xmlns:a16="http://schemas.microsoft.com/office/drawing/2014/main" id="{2E688A43-BFCE-4545-85EB-C4A9D2015545}"/>
              </a:ext>
            </a:extLst>
          </p:cNvPr>
          <p:cNvSpPr>
            <a:spLocks xmlns:a="http://schemas.openxmlformats.org/drawingml/2006/main" noGrp="1"/>
          </p:cNvSpPr>
          <p:nvPr/>
        </p:nvSpPr>
        <p:spPr>
          <a:xfrm xmlns:a="http://schemas.openxmlformats.org/drawingml/2006/main">
            <a:off x="1000125" y="5038725"/>
            <a:ext cx="10096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OpenRouter is optional for triage and reviewer feedback. The benchmark stays deterministic; model proposals cannot approve gated actions.</a:t>
            </a:r>
          </a:p>
        </p:txBody>
      </p:sp>
    </p:spTree>
    <p:extLst>
      <p:ext uri="{BB962C8B-B14F-4D97-AF65-F5344CB8AC3E}">
        <p14:creationId xmlns:p14="http://schemas.microsoft.com/office/powerpoint/2010/main" val="416221096"/>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3C31543-3683-4168-ADA5-50CDE6EAE1D4}"/>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An agent is a role with a controlled action loop</a:t>
            </a:r>
          </a:p>
        </p:txBody>
      </p:sp>
      <p:sp>
        <p:nvSpPr>
          <p:cNvPr id="2" name="">
            <a:extLst xmlns:a="http://schemas.openxmlformats.org/drawingml/2006/main">
              <a:ext uri="{FF2B5EF4-FFF2-40B4-BE49-F238E27FC236}">
                <a16:creationId xmlns:a16="http://schemas.microsoft.com/office/drawing/2014/main" id="{F11FB8F6-9A37-451A-813E-6B90C2009EA9}"/>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D114738-2824-4F2A-BA78-25947DB99D6F}"/>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The design assigns work to specialists; the code defines a shared five-part contract</a:t>
            </a:r>
          </a:p>
        </p:txBody>
      </p:sp>
      <p:sp>
        <p:nvSpPr>
          <p:cNvPr id="4" name="">
            <a:extLst xmlns:a="http://schemas.openxmlformats.org/drawingml/2006/main">
              <a:ext uri="{FF2B5EF4-FFF2-40B4-BE49-F238E27FC236}">
                <a16:creationId xmlns:a16="http://schemas.microsoft.com/office/drawing/2014/main" id="{6C0B8FA3-8E2E-4120-806B-8DFCE13DA483}"/>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FCAF61B0-4880-4957-B443-51460D227B4F}"/>
              </a:ext>
            </a:extLst>
          </p:cNvPr>
          <p:cNvSpPr>
            <a:spLocks xmlns:a="http://schemas.openxmlformats.org/drawingml/2006/main" noGrp="1"/>
          </p:cNvSpPr>
          <p:nvPr/>
        </p:nvSpPr>
        <p:spPr>
          <a:xfrm xmlns:a="http://schemas.openxmlformats.org/drawingml/2006/main">
            <a:off x="619125" y="2066925"/>
            <a:ext cx="17526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7E0E9"/>
            </a:solidFill>
          </a:ln>
        </p:spPr>
      </p:sp>
      <p:sp>
        <p:nvSpPr>
          <p:cNvPr id="6" name="">
            <a:extLst xmlns:a="http://schemas.openxmlformats.org/drawingml/2006/main">
              <a:ext uri="{FF2B5EF4-FFF2-40B4-BE49-F238E27FC236}">
                <a16:creationId xmlns:a16="http://schemas.microsoft.com/office/drawing/2014/main" id="{C75181AD-BE7C-4118-8C2B-516B1FE12EDB}"/>
              </a:ext>
            </a:extLst>
          </p:cNvPr>
          <p:cNvSpPr>
            <a:spLocks xmlns:a="http://schemas.openxmlformats.org/drawingml/2006/main" noGrp="1"/>
          </p:cNvSpPr>
          <p:nvPr/>
        </p:nvSpPr>
        <p:spPr>
          <a:xfrm xmlns:a="http://schemas.openxmlformats.org/drawingml/2006/main">
            <a:off x="771525" y="2171700"/>
            <a:ext cx="295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D7A78"/>
                </a:solidFill>
                <a:latin typeface="Arial"/>
                <a:ea typeface="Arial"/>
                <a:cs typeface="Arial"/>
              </a:defRPr>
            </a:pPr>
            <a:r>
              <a:rPr sz="1350" b="1">
                <a:solidFill>
                  <a:srgbClr val="2D7A78"/>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0DCD5E4D-C7B2-4E16-A659-4074E1774489}"/>
              </a:ext>
            </a:extLst>
          </p:cNvPr>
          <p:cNvSpPr>
            <a:spLocks xmlns:a="http://schemas.openxmlformats.org/drawingml/2006/main" noGrp="1"/>
          </p:cNvSpPr>
          <p:nvPr/>
        </p:nvSpPr>
        <p:spPr>
          <a:xfrm xmlns:a="http://schemas.openxmlformats.org/drawingml/2006/main">
            <a:off x="762000" y="2514600"/>
            <a:ext cx="1466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826"/>
          </a:bodyPr>
          <a:lstStyle xmlns:a="http://schemas.openxmlformats.org/drawingml/2006/main"/>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Perceive</a:t>
            </a:r>
          </a:p>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input</a:t>
            </a:r>
          </a:p>
        </p:txBody>
      </p:sp>
      <p:sp>
        <p:nvSpPr>
          <p:cNvPr id="8" name="">
            <a:extLst xmlns:a="http://schemas.openxmlformats.org/drawingml/2006/main">
              <a:ext uri="{FF2B5EF4-FFF2-40B4-BE49-F238E27FC236}">
                <a16:creationId xmlns:a16="http://schemas.microsoft.com/office/drawing/2014/main" id="{48504318-D488-4A72-8A42-78D3624019F8}"/>
              </a:ext>
            </a:extLst>
          </p:cNvPr>
          <p:cNvSpPr>
            <a:spLocks xmlns:a="http://schemas.openxmlformats.org/drawingml/2006/main" noGrp="1"/>
          </p:cNvSpPr>
          <p:nvPr/>
        </p:nvSpPr>
        <p:spPr>
          <a:xfrm xmlns:a="http://schemas.openxmlformats.org/drawingml/2006/main">
            <a:off x="2466975" y="2352675"/>
            <a:ext cx="352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8235"/>
          </a:bodyPr>
          <a:lstStyle xmlns:a="http://schemas.openxmlformats.org/drawingml/2006/main"/>
          <a:p xmlns:a="http://schemas.openxmlformats.org/drawingml/2006/main">
            <a:pPr algn="ctr">
              <a:defRPr sz="2550" b="1">
                <a:solidFill>
                  <a:srgbClr val="617487"/>
                </a:solidFill>
                <a:latin typeface="Arial"/>
                <a:ea typeface="Arial"/>
                <a:cs typeface="Arial"/>
              </a:defRPr>
            </a:pPr>
            <a:r>
              <a:rPr sz="2550" b="1">
                <a:solidFill>
                  <a:srgbClr val="617487"/>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54FBCDAC-EF75-40EE-9D73-B4A0C83F970C}"/>
              </a:ext>
            </a:extLst>
          </p:cNvPr>
          <p:cNvSpPr>
            <a:spLocks xmlns:a="http://schemas.openxmlformats.org/drawingml/2006/main" noGrp="1"/>
          </p:cNvSpPr>
          <p:nvPr/>
        </p:nvSpPr>
        <p:spPr>
          <a:xfrm xmlns:a="http://schemas.openxmlformats.org/drawingml/2006/main">
            <a:off x="2914650" y="2066925"/>
            <a:ext cx="17526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7E0E9"/>
            </a:solidFill>
          </a:ln>
        </p:spPr>
      </p:sp>
      <p:sp>
        <p:nvSpPr>
          <p:cNvPr id="10" name="">
            <a:extLst xmlns:a="http://schemas.openxmlformats.org/drawingml/2006/main">
              <a:ext uri="{FF2B5EF4-FFF2-40B4-BE49-F238E27FC236}">
                <a16:creationId xmlns:a16="http://schemas.microsoft.com/office/drawing/2014/main" id="{BD8C484F-DE78-454E-8168-4545B7A0DEFC}"/>
              </a:ext>
            </a:extLst>
          </p:cNvPr>
          <p:cNvSpPr>
            <a:spLocks xmlns:a="http://schemas.openxmlformats.org/drawingml/2006/main" noGrp="1"/>
          </p:cNvSpPr>
          <p:nvPr/>
        </p:nvSpPr>
        <p:spPr>
          <a:xfrm xmlns:a="http://schemas.openxmlformats.org/drawingml/2006/main">
            <a:off x="3067050" y="2171700"/>
            <a:ext cx="295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D7A78"/>
                </a:solidFill>
                <a:latin typeface="Arial"/>
                <a:ea typeface="Arial"/>
                <a:cs typeface="Arial"/>
              </a:defRPr>
            </a:pPr>
            <a:r>
              <a:rPr sz="1350" b="1">
                <a:solidFill>
                  <a:srgbClr val="2D7A78"/>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1D72A215-1673-41E0-82D4-F737D337F2D2}"/>
              </a:ext>
            </a:extLst>
          </p:cNvPr>
          <p:cNvSpPr>
            <a:spLocks xmlns:a="http://schemas.openxmlformats.org/drawingml/2006/main" noGrp="1"/>
          </p:cNvSpPr>
          <p:nvPr/>
        </p:nvSpPr>
        <p:spPr>
          <a:xfrm xmlns:a="http://schemas.openxmlformats.org/drawingml/2006/main">
            <a:off x="3057525" y="2514600"/>
            <a:ext cx="1466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826"/>
          </a:bodyPr>
          <a:lstStyle xmlns:a="http://schemas.openxmlformats.org/drawingml/2006/main"/>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Remember</a:t>
            </a:r>
          </a:p>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small state</a:t>
            </a:r>
          </a:p>
        </p:txBody>
      </p:sp>
      <p:sp>
        <p:nvSpPr>
          <p:cNvPr id="12" name="">
            <a:extLst xmlns:a="http://schemas.openxmlformats.org/drawingml/2006/main">
              <a:ext uri="{FF2B5EF4-FFF2-40B4-BE49-F238E27FC236}">
                <a16:creationId xmlns:a16="http://schemas.microsoft.com/office/drawing/2014/main" id="{FC9C1047-917C-4DCB-B6DA-00CED8D22563}"/>
              </a:ext>
            </a:extLst>
          </p:cNvPr>
          <p:cNvSpPr>
            <a:spLocks xmlns:a="http://schemas.openxmlformats.org/drawingml/2006/main" noGrp="1"/>
          </p:cNvSpPr>
          <p:nvPr/>
        </p:nvSpPr>
        <p:spPr>
          <a:xfrm xmlns:a="http://schemas.openxmlformats.org/drawingml/2006/main">
            <a:off x="4762500" y="2352675"/>
            <a:ext cx="352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8235"/>
          </a:bodyPr>
          <a:lstStyle xmlns:a="http://schemas.openxmlformats.org/drawingml/2006/main"/>
          <a:p xmlns:a="http://schemas.openxmlformats.org/drawingml/2006/main">
            <a:pPr algn="ctr">
              <a:defRPr sz="2550" b="1">
                <a:solidFill>
                  <a:srgbClr val="617487"/>
                </a:solidFill>
                <a:latin typeface="Arial"/>
                <a:ea typeface="Arial"/>
                <a:cs typeface="Arial"/>
              </a:defRPr>
            </a:pPr>
            <a:r>
              <a:rPr sz="2550" b="1">
                <a:solidFill>
                  <a:srgbClr val="617487"/>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FA5E840A-4E3E-4AB5-AC32-5EBB38927E56}"/>
              </a:ext>
            </a:extLst>
          </p:cNvPr>
          <p:cNvSpPr>
            <a:spLocks xmlns:a="http://schemas.openxmlformats.org/drawingml/2006/main" noGrp="1"/>
          </p:cNvSpPr>
          <p:nvPr/>
        </p:nvSpPr>
        <p:spPr>
          <a:xfrm xmlns:a="http://schemas.openxmlformats.org/drawingml/2006/main">
            <a:off x="5210175" y="2066925"/>
            <a:ext cx="17526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7E0E9"/>
            </a:solidFill>
          </a:ln>
        </p:spPr>
      </p:sp>
      <p:sp>
        <p:nvSpPr>
          <p:cNvPr id="14" name="">
            <a:extLst xmlns:a="http://schemas.openxmlformats.org/drawingml/2006/main">
              <a:ext uri="{FF2B5EF4-FFF2-40B4-BE49-F238E27FC236}">
                <a16:creationId xmlns:a16="http://schemas.microsoft.com/office/drawing/2014/main" id="{9E7E6A6F-0F8F-4219-B609-455C59636128}"/>
              </a:ext>
            </a:extLst>
          </p:cNvPr>
          <p:cNvSpPr>
            <a:spLocks xmlns:a="http://schemas.openxmlformats.org/drawingml/2006/main" noGrp="1"/>
          </p:cNvSpPr>
          <p:nvPr/>
        </p:nvSpPr>
        <p:spPr>
          <a:xfrm xmlns:a="http://schemas.openxmlformats.org/drawingml/2006/main">
            <a:off x="5362575" y="2171700"/>
            <a:ext cx="295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D7A78"/>
                </a:solidFill>
                <a:latin typeface="Arial"/>
                <a:ea typeface="Arial"/>
                <a:cs typeface="Arial"/>
              </a:defRPr>
            </a:pPr>
            <a:r>
              <a:rPr sz="1350" b="1">
                <a:solidFill>
                  <a:srgbClr val="2D7A78"/>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31042B30-E251-49C6-9433-785AB311B8DD}"/>
              </a:ext>
            </a:extLst>
          </p:cNvPr>
          <p:cNvSpPr>
            <a:spLocks xmlns:a="http://schemas.openxmlformats.org/drawingml/2006/main" noGrp="1"/>
          </p:cNvSpPr>
          <p:nvPr/>
        </p:nvSpPr>
        <p:spPr>
          <a:xfrm xmlns:a="http://schemas.openxmlformats.org/drawingml/2006/main">
            <a:off x="5353050" y="2514600"/>
            <a:ext cx="1466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826"/>
          </a:bodyPr>
          <a:lstStyle xmlns:a="http://schemas.openxmlformats.org/drawingml/2006/main"/>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Reason</a:t>
            </a:r>
          </a:p>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proposal</a:t>
            </a:r>
          </a:p>
        </p:txBody>
      </p:sp>
      <p:sp>
        <p:nvSpPr>
          <p:cNvPr id="16" name="">
            <a:extLst xmlns:a="http://schemas.openxmlformats.org/drawingml/2006/main">
              <a:ext uri="{FF2B5EF4-FFF2-40B4-BE49-F238E27FC236}">
                <a16:creationId xmlns:a16="http://schemas.microsoft.com/office/drawing/2014/main" id="{2CD47F03-970B-427E-8705-84ACFD9AB9CA}"/>
              </a:ext>
            </a:extLst>
          </p:cNvPr>
          <p:cNvSpPr>
            <a:spLocks xmlns:a="http://schemas.openxmlformats.org/drawingml/2006/main" noGrp="1"/>
          </p:cNvSpPr>
          <p:nvPr/>
        </p:nvSpPr>
        <p:spPr>
          <a:xfrm xmlns:a="http://schemas.openxmlformats.org/drawingml/2006/main">
            <a:off x="7058025" y="2352675"/>
            <a:ext cx="352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8235"/>
          </a:bodyPr>
          <a:lstStyle xmlns:a="http://schemas.openxmlformats.org/drawingml/2006/main"/>
          <a:p xmlns:a="http://schemas.openxmlformats.org/drawingml/2006/main">
            <a:pPr algn="ctr">
              <a:defRPr sz="2550" b="1">
                <a:solidFill>
                  <a:srgbClr val="617487"/>
                </a:solidFill>
                <a:latin typeface="Arial"/>
                <a:ea typeface="Arial"/>
                <a:cs typeface="Arial"/>
              </a:defRPr>
            </a:pPr>
            <a:r>
              <a:rPr sz="2550" b="1">
                <a:solidFill>
                  <a:srgbClr val="617487"/>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1D09EA69-B0E5-44DA-94AD-9B779F843032}"/>
              </a:ext>
            </a:extLst>
          </p:cNvPr>
          <p:cNvSpPr>
            <a:spLocks xmlns:a="http://schemas.openxmlformats.org/drawingml/2006/main" noGrp="1"/>
          </p:cNvSpPr>
          <p:nvPr/>
        </p:nvSpPr>
        <p:spPr>
          <a:xfrm xmlns:a="http://schemas.openxmlformats.org/drawingml/2006/main">
            <a:off x="7505700" y="2066925"/>
            <a:ext cx="1752600" cy="1066800"/>
          </a:xfrm>
          <a:prstGeom xmlns:a="http://schemas.openxmlformats.org/drawingml/2006/main" prst="roundRect">
            <a:avLst>
              <a:gd name="adj" fmla="val 14286"/>
            </a:avLst>
          </a:prstGeom>
          <a:solidFill xmlns:a="http://schemas.openxmlformats.org/drawingml/2006/main">
            <a:srgbClr val="DDEFEA"/>
          </a:solidFill>
          <a:ln xmlns:a="http://schemas.openxmlformats.org/drawingml/2006/main" w="9525">
            <a:solidFill>
              <a:srgbClr val="D7E0E9"/>
            </a:solidFill>
          </a:ln>
        </p:spPr>
      </p:sp>
      <p:sp>
        <p:nvSpPr>
          <p:cNvPr id="18" name="">
            <a:extLst xmlns:a="http://schemas.openxmlformats.org/drawingml/2006/main">
              <a:ext uri="{FF2B5EF4-FFF2-40B4-BE49-F238E27FC236}">
                <a16:creationId xmlns:a16="http://schemas.microsoft.com/office/drawing/2014/main" id="{79B6D950-B5C1-49BB-8092-6F3465D8D859}"/>
              </a:ext>
            </a:extLst>
          </p:cNvPr>
          <p:cNvSpPr>
            <a:spLocks xmlns:a="http://schemas.openxmlformats.org/drawingml/2006/main" noGrp="1"/>
          </p:cNvSpPr>
          <p:nvPr/>
        </p:nvSpPr>
        <p:spPr>
          <a:xfrm xmlns:a="http://schemas.openxmlformats.org/drawingml/2006/main">
            <a:off x="7658100" y="2171700"/>
            <a:ext cx="295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D7A78"/>
                </a:solidFill>
                <a:latin typeface="Arial"/>
                <a:ea typeface="Arial"/>
                <a:cs typeface="Arial"/>
              </a:defRPr>
            </a:pPr>
            <a:r>
              <a:rPr sz="1350" b="1">
                <a:solidFill>
                  <a:srgbClr val="2D7A78"/>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517B8CE6-AD27-455F-9A44-2E1104CC2863}"/>
              </a:ext>
            </a:extLst>
          </p:cNvPr>
          <p:cNvSpPr>
            <a:spLocks xmlns:a="http://schemas.openxmlformats.org/drawingml/2006/main" noGrp="1"/>
          </p:cNvSpPr>
          <p:nvPr/>
        </p:nvSpPr>
        <p:spPr>
          <a:xfrm xmlns:a="http://schemas.openxmlformats.org/drawingml/2006/main">
            <a:off x="7648575" y="2514600"/>
            <a:ext cx="1466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826"/>
          </a:bodyPr>
          <a:lstStyle xmlns:a="http://schemas.openxmlformats.org/drawingml/2006/main"/>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Act</a:t>
            </a:r>
          </a:p>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behind gate</a:t>
            </a:r>
          </a:p>
        </p:txBody>
      </p:sp>
      <p:sp>
        <p:nvSpPr>
          <p:cNvPr id="20" name="">
            <a:extLst xmlns:a="http://schemas.openxmlformats.org/drawingml/2006/main">
              <a:ext uri="{FF2B5EF4-FFF2-40B4-BE49-F238E27FC236}">
                <a16:creationId xmlns:a16="http://schemas.microsoft.com/office/drawing/2014/main" id="{2152FB65-BEDD-4339-8A81-C6A77EF6037C}"/>
              </a:ext>
            </a:extLst>
          </p:cNvPr>
          <p:cNvSpPr>
            <a:spLocks xmlns:a="http://schemas.openxmlformats.org/drawingml/2006/main" noGrp="1"/>
          </p:cNvSpPr>
          <p:nvPr/>
        </p:nvSpPr>
        <p:spPr>
          <a:xfrm xmlns:a="http://schemas.openxmlformats.org/drawingml/2006/main">
            <a:off x="9353550" y="2352675"/>
            <a:ext cx="352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8235"/>
          </a:bodyPr>
          <a:lstStyle xmlns:a="http://schemas.openxmlformats.org/drawingml/2006/main"/>
          <a:p xmlns:a="http://schemas.openxmlformats.org/drawingml/2006/main">
            <a:pPr algn="ctr">
              <a:defRPr sz="2550" b="1">
                <a:solidFill>
                  <a:srgbClr val="617487"/>
                </a:solidFill>
                <a:latin typeface="Arial"/>
                <a:ea typeface="Arial"/>
                <a:cs typeface="Arial"/>
              </a:defRPr>
            </a:pPr>
            <a:r>
              <a:rPr sz="2550" b="1">
                <a:solidFill>
                  <a:srgbClr val="617487"/>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C6C494AE-50AF-405F-907B-303542C54623}"/>
              </a:ext>
            </a:extLst>
          </p:cNvPr>
          <p:cNvSpPr>
            <a:spLocks xmlns:a="http://schemas.openxmlformats.org/drawingml/2006/main" noGrp="1"/>
          </p:cNvSpPr>
          <p:nvPr/>
        </p:nvSpPr>
        <p:spPr>
          <a:xfrm xmlns:a="http://schemas.openxmlformats.org/drawingml/2006/main">
            <a:off x="9801225" y="2066925"/>
            <a:ext cx="17526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7E0E9"/>
            </a:solidFill>
          </a:ln>
        </p:spPr>
      </p:sp>
      <p:sp>
        <p:nvSpPr>
          <p:cNvPr id="22" name="">
            <a:extLst xmlns:a="http://schemas.openxmlformats.org/drawingml/2006/main">
              <a:ext uri="{FF2B5EF4-FFF2-40B4-BE49-F238E27FC236}">
                <a16:creationId xmlns:a16="http://schemas.microsoft.com/office/drawing/2014/main" id="{791D71D1-2CE5-478A-BA29-A01F41AECB48}"/>
              </a:ext>
            </a:extLst>
          </p:cNvPr>
          <p:cNvSpPr>
            <a:spLocks xmlns:a="http://schemas.openxmlformats.org/drawingml/2006/main" noGrp="1"/>
          </p:cNvSpPr>
          <p:nvPr/>
        </p:nvSpPr>
        <p:spPr>
          <a:xfrm xmlns:a="http://schemas.openxmlformats.org/drawingml/2006/main">
            <a:off x="9953625" y="2171700"/>
            <a:ext cx="295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2D7A78"/>
                </a:solidFill>
                <a:latin typeface="Arial"/>
                <a:ea typeface="Arial"/>
                <a:cs typeface="Arial"/>
              </a:defRPr>
            </a:pPr>
            <a:r>
              <a:rPr sz="1350" b="1">
                <a:solidFill>
                  <a:srgbClr val="2D7A78"/>
                </a:solidFill>
                <a:latin typeface="Arial"/>
                <a:ea typeface="Arial"/>
                <a:cs typeface="Arial"/>
              </a:rPr>
              <a:t>5</a:t>
            </a:r>
          </a:p>
        </p:txBody>
      </p:sp>
      <p:sp>
        <p:nvSpPr>
          <p:cNvPr id="23" name="">
            <a:extLst xmlns:a="http://schemas.openxmlformats.org/drawingml/2006/main">
              <a:ext uri="{FF2B5EF4-FFF2-40B4-BE49-F238E27FC236}">
                <a16:creationId xmlns:a16="http://schemas.microsoft.com/office/drawing/2014/main" id="{C7C832A7-4008-47BC-B76F-1B921EA4E9F3}"/>
              </a:ext>
            </a:extLst>
          </p:cNvPr>
          <p:cNvSpPr>
            <a:spLocks xmlns:a="http://schemas.openxmlformats.org/drawingml/2006/main" noGrp="1"/>
          </p:cNvSpPr>
          <p:nvPr/>
        </p:nvSpPr>
        <p:spPr>
          <a:xfrm xmlns:a="http://schemas.openxmlformats.org/drawingml/2006/main">
            <a:off x="9944100" y="2514600"/>
            <a:ext cx="1466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0567"/>
          </a:bodyPr>
          <a:lstStyle xmlns:a="http://schemas.openxmlformats.org/drawingml/2006/main"/>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Report</a:t>
            </a:r>
          </a:p>
          <a:p xmlns:a="http://schemas.openxmlformats.org/drawingml/2006/main">
            <a:pPr algn="ctr">
              <a:defRPr sz="1725" b="1">
                <a:solidFill>
                  <a:srgbClr val="18324B"/>
                </a:solidFill>
                <a:latin typeface="Arial"/>
                <a:ea typeface="Arial"/>
                <a:cs typeface="Arial"/>
              </a:defRPr>
            </a:pPr>
            <a:r>
              <a:rPr sz="1725" b="1">
                <a:solidFill>
                  <a:srgbClr val="18324B"/>
                </a:solidFill>
                <a:latin typeface="Arial"/>
                <a:ea typeface="Arial"/>
                <a:cs typeface="Arial"/>
              </a:rPr>
              <a:t>auditable result</a:t>
            </a:r>
          </a:p>
        </p:txBody>
      </p:sp>
      <p:sp>
        <p:nvSpPr>
          <p:cNvPr id="24" name="">
            <a:extLst xmlns:a="http://schemas.openxmlformats.org/drawingml/2006/main">
              <a:ext uri="{FF2B5EF4-FFF2-40B4-BE49-F238E27FC236}">
                <a16:creationId xmlns:a16="http://schemas.microsoft.com/office/drawing/2014/main" id="{867B8544-A272-4AB5-802A-CB280CBC78CC}"/>
              </a:ext>
            </a:extLst>
          </p:cNvPr>
          <p:cNvSpPr>
            <a:spLocks xmlns:a="http://schemas.openxmlformats.org/drawingml/2006/main" noGrp="1"/>
          </p:cNvSpPr>
          <p:nvPr/>
        </p:nvSpPr>
        <p:spPr>
          <a:xfrm xmlns:a="http://schemas.openxmlformats.org/drawingml/2006/main">
            <a:off x="695325" y="371475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8324B"/>
                </a:solidFill>
                <a:latin typeface="Arial"/>
                <a:ea typeface="Arial"/>
                <a:cs typeface="Arial"/>
              </a:defRPr>
            </a:pPr>
            <a:r>
              <a:rPr sz="1725" b="1">
                <a:solidFill>
                  <a:srgbClr val="18324B"/>
                </a:solidFill>
                <a:latin typeface="Arial"/>
                <a:ea typeface="Arial"/>
                <a:cs typeface="Arial"/>
              </a:rPr>
              <a:t>Roles in the intended delivery team</a:t>
            </a:r>
          </a:p>
        </p:txBody>
      </p:sp>
      <p:sp>
        <p:nvSpPr>
          <p:cNvPr id="25" name="">
            <a:extLst xmlns:a="http://schemas.openxmlformats.org/drawingml/2006/main">
              <a:ext uri="{FF2B5EF4-FFF2-40B4-BE49-F238E27FC236}">
                <a16:creationId xmlns:a16="http://schemas.microsoft.com/office/drawing/2014/main" id="{3CC674D4-CA34-44F5-884E-18DEB45AB176}"/>
              </a:ext>
            </a:extLst>
          </p:cNvPr>
          <p:cNvSpPr>
            <a:spLocks xmlns:a="http://schemas.openxmlformats.org/drawingml/2006/main" noGrp="1"/>
          </p:cNvSpPr>
          <p:nvPr/>
        </p:nvSpPr>
        <p:spPr>
          <a:xfrm xmlns:a="http://schemas.openxmlformats.org/drawingml/2006/main">
            <a:off x="695325" y="4114800"/>
            <a:ext cx="10334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2E4357"/>
                </a:solidFill>
                <a:latin typeface="Arial"/>
                <a:ea typeface="Arial"/>
                <a:cs typeface="Arial"/>
              </a:defRPr>
            </a:pPr>
            <a:r>
              <a:rPr sz="1725" b="0">
                <a:solidFill>
                  <a:srgbClr val="2E4357"/>
                </a:solidFill>
                <a:latin typeface="Arial"/>
                <a:ea typeface="Arial"/>
                <a:cs typeface="Arial"/>
              </a:rPr>
              <a:t>Scout masks and records intake. Broker classifies impact and negotiates assignment. Workers return hypotheses, a plan, a change request, a QA checklist and a canary proposal. Security enforces gates; a person can accept, reject or request changes.</a:t>
            </a:r>
          </a:p>
        </p:txBody>
      </p:sp>
      <p:sp>
        <p:nvSpPr>
          <p:cNvPr id="26" name="">
            <a:extLst xmlns:a="http://schemas.openxmlformats.org/drawingml/2006/main">
              <a:ext uri="{FF2B5EF4-FFF2-40B4-BE49-F238E27FC236}">
                <a16:creationId xmlns:a16="http://schemas.microsoft.com/office/drawing/2014/main" id="{4C3904C9-B78B-4B6F-B2B6-292CB4F435FD}"/>
              </a:ext>
            </a:extLst>
          </p:cNvPr>
          <p:cNvSpPr>
            <a:spLocks xmlns:a="http://schemas.openxmlformats.org/drawingml/2006/main" noGrp="1"/>
          </p:cNvSpPr>
          <p:nvPr/>
        </p:nvSpPr>
        <p:spPr>
          <a:xfrm xmlns:a="http://schemas.openxmlformats.org/drawingml/2006/main">
            <a:off x="695325" y="5314950"/>
            <a:ext cx="10353675" cy="647700"/>
          </a:xfrm>
          <a:prstGeom xmlns:a="http://schemas.openxmlformats.org/drawingml/2006/main" prst="roundRect">
            <a:avLst>
              <a:gd name="adj" fmla="val 20588"/>
            </a:avLst>
          </a:prstGeom>
          <a:solidFill xmlns:a="http://schemas.openxmlformats.org/drawingml/2006/main">
            <a:srgbClr val="E3ECF7"/>
          </a:solidFill>
          <a:ln xmlns:a="http://schemas.openxmlformats.org/drawingml/2006/main" w="9525">
            <a:noFill/>
          </a:ln>
        </p:spPr>
      </p:sp>
      <p:sp>
        <p:nvSpPr>
          <p:cNvPr id="27" name="">
            <a:extLst xmlns:a="http://schemas.openxmlformats.org/drawingml/2006/main">
              <a:ext uri="{FF2B5EF4-FFF2-40B4-BE49-F238E27FC236}">
                <a16:creationId xmlns:a16="http://schemas.microsoft.com/office/drawing/2014/main" id="{6878EF72-0571-4457-8284-75AB10AD3362}"/>
              </a:ext>
            </a:extLst>
          </p:cNvPr>
          <p:cNvSpPr>
            <a:spLocks xmlns:a="http://schemas.openxmlformats.org/drawingml/2006/main" noGrp="1"/>
          </p:cNvSpPr>
          <p:nvPr/>
        </p:nvSpPr>
        <p:spPr>
          <a:xfrm xmlns:a="http://schemas.openxmlformats.org/drawingml/2006/main">
            <a:off x="904875" y="5467350"/>
            <a:ext cx="996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980"/>
          </a:bodyPr>
          <a:lstStyle xmlns:a="http://schemas.openxmlformats.org/drawingml/2006/main"/>
          <a:p xmlns:a="http://schemas.openxmlformats.org/drawingml/2006/main">
            <a:pPr algn="l">
              <a:defRPr sz="1725" b="1">
                <a:solidFill>
                  <a:srgbClr val="18324B"/>
                </a:solidFill>
                <a:latin typeface="Arial"/>
                <a:ea typeface="Arial"/>
                <a:cs typeface="Arial"/>
              </a:defRPr>
            </a:pPr>
            <a:r>
              <a:rPr sz="1725" b="1">
                <a:solidFill>
                  <a:srgbClr val="18324B"/>
                </a:solidFill>
                <a:latin typeface="Arial"/>
                <a:ea typeface="Arial"/>
                <a:cs typeface="Arial"/>
              </a:rPr>
              <a:t>A role describes responsibility. Mobility describes where an agent runs. A0–A3 describe benchmark architectures.</a:t>
            </a:r>
          </a:p>
        </p:txBody>
      </p:sp>
    </p:spTree>
    <p:extLst>
      <p:ext uri="{BB962C8B-B14F-4D97-AF65-F5344CB8AC3E}">
        <p14:creationId xmlns:p14="http://schemas.microsoft.com/office/powerpoint/2010/main" val="959394268"/>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4F50F7A4-1479-479C-BC03-C0D6A3790154}"/>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A0–A3 change the coordination architecture</a:t>
            </a:r>
          </a:p>
        </p:txBody>
      </p:sp>
      <p:sp>
        <p:nvSpPr>
          <p:cNvPr id="2" name="">
            <a:extLst xmlns:a="http://schemas.openxmlformats.org/drawingml/2006/main">
              <a:ext uri="{FF2B5EF4-FFF2-40B4-BE49-F238E27FC236}">
                <a16:creationId xmlns:a16="http://schemas.microsoft.com/office/drawing/2014/main" id="{49F2A920-AF2B-47CF-A111-39288F70E166}"/>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A89F2D8-A3B6-469A-B8CB-B189DFF7935B}"/>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All four arms use the same seeded synthetic tickets and five seeds</a:t>
            </a:r>
          </a:p>
        </p:txBody>
      </p:sp>
      <p:sp>
        <p:nvSpPr>
          <p:cNvPr id="4" name="">
            <a:extLst xmlns:a="http://schemas.openxmlformats.org/drawingml/2006/main">
              <a:ext uri="{FF2B5EF4-FFF2-40B4-BE49-F238E27FC236}">
                <a16:creationId xmlns:a16="http://schemas.microsoft.com/office/drawing/2014/main" id="{683265D4-5189-4414-A8B1-F2F2BF4331A2}"/>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11CFA757-A070-47F1-9D0A-CC5D9F48E876}"/>
              </a:ext>
            </a:extLst>
          </p:cNvPr>
          <p:cNvSpPr>
            <a:spLocks xmlns:a="http://schemas.openxmlformats.org/drawingml/2006/main" noGrp="1"/>
          </p:cNvSpPr>
          <p:nvPr/>
        </p:nvSpPr>
        <p:spPr>
          <a:xfrm xmlns:a="http://schemas.openxmlformats.org/drawingml/2006/main">
            <a:off x="723900" y="1695450"/>
            <a:ext cx="1666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617487"/>
                </a:solidFill>
                <a:latin typeface="Arial"/>
                <a:ea typeface="Arial"/>
                <a:cs typeface="Arial"/>
              </a:defRPr>
            </a:pPr>
            <a:r>
              <a:rPr sz="1575" b="1">
                <a:solidFill>
                  <a:srgbClr val="617487"/>
                </a:solidFill>
                <a:latin typeface="Arial"/>
                <a:ea typeface="Arial"/>
                <a:cs typeface="Arial"/>
              </a:rPr>
              <a:t>ARM</a:t>
            </a:r>
          </a:p>
        </p:txBody>
      </p:sp>
      <p:sp>
        <p:nvSpPr>
          <p:cNvPr id="6" name="">
            <a:extLst xmlns:a="http://schemas.openxmlformats.org/drawingml/2006/main">
              <a:ext uri="{FF2B5EF4-FFF2-40B4-BE49-F238E27FC236}">
                <a16:creationId xmlns:a16="http://schemas.microsoft.com/office/drawing/2014/main" id="{8F00BB49-545C-4BE5-85D7-5BB73E7EF4EF}"/>
              </a:ext>
            </a:extLst>
          </p:cNvPr>
          <p:cNvSpPr>
            <a:spLocks xmlns:a="http://schemas.openxmlformats.org/drawingml/2006/main" noGrp="1"/>
          </p:cNvSpPr>
          <p:nvPr/>
        </p:nvSpPr>
        <p:spPr>
          <a:xfrm xmlns:a="http://schemas.openxmlformats.org/drawingml/2006/main">
            <a:off x="2800350" y="16954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2D7A78"/>
                </a:solidFill>
                <a:latin typeface="Arial"/>
                <a:ea typeface="Arial"/>
                <a:cs typeface="Arial"/>
              </a:defRPr>
            </a:pPr>
            <a:r>
              <a:rPr sz="1575" b="1">
                <a:solidFill>
                  <a:srgbClr val="2D7A78"/>
                </a:solidFill>
                <a:latin typeface="Arial"/>
                <a:ea typeface="Arial"/>
                <a:cs typeface="Arial"/>
              </a:rPr>
              <a:t>A0</a:t>
            </a:r>
          </a:p>
        </p:txBody>
      </p:sp>
      <p:sp>
        <p:nvSpPr>
          <p:cNvPr id="7" name="">
            <a:extLst xmlns:a="http://schemas.openxmlformats.org/drawingml/2006/main">
              <a:ext uri="{FF2B5EF4-FFF2-40B4-BE49-F238E27FC236}">
                <a16:creationId xmlns:a16="http://schemas.microsoft.com/office/drawing/2014/main" id="{A0AFB590-6A10-4FDA-B235-CFBBD1146768}"/>
              </a:ext>
            </a:extLst>
          </p:cNvPr>
          <p:cNvSpPr>
            <a:spLocks xmlns:a="http://schemas.openxmlformats.org/drawingml/2006/main" noGrp="1"/>
          </p:cNvSpPr>
          <p:nvPr/>
        </p:nvSpPr>
        <p:spPr>
          <a:xfrm xmlns:a="http://schemas.openxmlformats.org/drawingml/2006/main">
            <a:off x="4953000" y="16954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2D7A78"/>
                </a:solidFill>
                <a:latin typeface="Arial"/>
                <a:ea typeface="Arial"/>
                <a:cs typeface="Arial"/>
              </a:defRPr>
            </a:pPr>
            <a:r>
              <a:rPr sz="1575" b="1">
                <a:solidFill>
                  <a:srgbClr val="2D7A78"/>
                </a:solidFill>
                <a:latin typeface="Arial"/>
                <a:ea typeface="Arial"/>
                <a:cs typeface="Arial"/>
              </a:rPr>
              <a:t>A1</a:t>
            </a:r>
          </a:p>
        </p:txBody>
      </p:sp>
      <p:sp>
        <p:nvSpPr>
          <p:cNvPr id="8" name="">
            <a:extLst xmlns:a="http://schemas.openxmlformats.org/drawingml/2006/main">
              <a:ext uri="{FF2B5EF4-FFF2-40B4-BE49-F238E27FC236}">
                <a16:creationId xmlns:a16="http://schemas.microsoft.com/office/drawing/2014/main" id="{28683B8F-1031-432A-A2F5-AED1372DEDB0}"/>
              </a:ext>
            </a:extLst>
          </p:cNvPr>
          <p:cNvSpPr>
            <a:spLocks xmlns:a="http://schemas.openxmlformats.org/drawingml/2006/main" noGrp="1"/>
          </p:cNvSpPr>
          <p:nvPr/>
        </p:nvSpPr>
        <p:spPr>
          <a:xfrm xmlns:a="http://schemas.openxmlformats.org/drawingml/2006/main">
            <a:off x="7296150" y="16954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2D7A78"/>
                </a:solidFill>
                <a:latin typeface="Arial"/>
                <a:ea typeface="Arial"/>
                <a:cs typeface="Arial"/>
              </a:defRPr>
            </a:pPr>
            <a:r>
              <a:rPr sz="1575" b="1">
                <a:solidFill>
                  <a:srgbClr val="2D7A78"/>
                </a:solidFill>
                <a:latin typeface="Arial"/>
                <a:ea typeface="Arial"/>
                <a:cs typeface="Arial"/>
              </a:rPr>
              <a:t>A2</a:t>
            </a:r>
          </a:p>
        </p:txBody>
      </p:sp>
      <p:sp>
        <p:nvSpPr>
          <p:cNvPr id="9" name="">
            <a:extLst xmlns:a="http://schemas.openxmlformats.org/drawingml/2006/main">
              <a:ext uri="{FF2B5EF4-FFF2-40B4-BE49-F238E27FC236}">
                <a16:creationId xmlns:a16="http://schemas.microsoft.com/office/drawing/2014/main" id="{AFFA5726-1898-4284-BA93-6C9C5DCD2D17}"/>
              </a:ext>
            </a:extLst>
          </p:cNvPr>
          <p:cNvSpPr>
            <a:spLocks xmlns:a="http://schemas.openxmlformats.org/drawingml/2006/main" noGrp="1"/>
          </p:cNvSpPr>
          <p:nvPr/>
        </p:nvSpPr>
        <p:spPr>
          <a:xfrm xmlns:a="http://schemas.openxmlformats.org/drawingml/2006/main">
            <a:off x="9620250" y="16954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2D7A78"/>
                </a:solidFill>
                <a:latin typeface="Arial"/>
                <a:ea typeface="Arial"/>
                <a:cs typeface="Arial"/>
              </a:defRPr>
            </a:pPr>
            <a:r>
              <a:rPr sz="1575" b="1">
                <a:solidFill>
                  <a:srgbClr val="2D7A78"/>
                </a:solidFill>
                <a:latin typeface="Arial"/>
                <a:ea typeface="Arial"/>
                <a:cs typeface="Arial"/>
              </a:rPr>
              <a:t>A3</a:t>
            </a:r>
          </a:p>
        </p:txBody>
      </p:sp>
      <p:sp>
        <p:nvSpPr>
          <p:cNvPr id="10" name="">
            <a:extLst xmlns:a="http://schemas.openxmlformats.org/drawingml/2006/main">
              <a:ext uri="{FF2B5EF4-FFF2-40B4-BE49-F238E27FC236}">
                <a16:creationId xmlns:a16="http://schemas.microsoft.com/office/drawing/2014/main" id="{E0AEC73F-0376-4E81-814C-F587AE2BEEF7}"/>
              </a:ext>
            </a:extLst>
          </p:cNvPr>
          <p:cNvSpPr>
            <a:spLocks xmlns:a="http://schemas.openxmlformats.org/drawingml/2006/main" noGrp="1"/>
          </p:cNvSpPr>
          <p:nvPr/>
        </p:nvSpPr>
        <p:spPr>
          <a:xfrm xmlns:a="http://schemas.openxmlformats.org/drawingml/2006/main">
            <a:off x="723900" y="2066925"/>
            <a:ext cx="10744200" cy="19050"/>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8074790-009B-4D0D-9BA1-DECF98CD22F3}"/>
              </a:ext>
            </a:extLst>
          </p:cNvPr>
          <p:cNvSpPr>
            <a:spLocks xmlns:a="http://schemas.openxmlformats.org/drawingml/2006/main" noGrp="1"/>
          </p:cNvSpPr>
          <p:nvPr/>
        </p:nvSpPr>
        <p:spPr>
          <a:xfrm xmlns:a="http://schemas.openxmlformats.org/drawingml/2006/main">
            <a:off x="723900" y="22098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Architecture</a:t>
            </a:r>
          </a:p>
        </p:txBody>
      </p:sp>
      <p:sp>
        <p:nvSpPr>
          <p:cNvPr id="12" name="">
            <a:extLst xmlns:a="http://schemas.openxmlformats.org/drawingml/2006/main">
              <a:ext uri="{FF2B5EF4-FFF2-40B4-BE49-F238E27FC236}">
                <a16:creationId xmlns:a16="http://schemas.microsoft.com/office/drawing/2014/main" id="{EE380056-9021-4A47-964A-010D172A86A7}"/>
              </a:ext>
            </a:extLst>
          </p:cNvPr>
          <p:cNvSpPr>
            <a:spLocks xmlns:a="http://schemas.openxmlformats.org/drawingml/2006/main" noGrp="1"/>
          </p:cNvSpPr>
          <p:nvPr/>
        </p:nvSpPr>
        <p:spPr>
          <a:xfrm xmlns:a="http://schemas.openxmlformats.org/drawingml/2006/main">
            <a:off x="2800350" y="22098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Rules, one process</a:t>
            </a:r>
          </a:p>
        </p:txBody>
      </p:sp>
      <p:sp>
        <p:nvSpPr>
          <p:cNvPr id="13" name="">
            <a:extLst xmlns:a="http://schemas.openxmlformats.org/drawingml/2006/main">
              <a:ext uri="{FF2B5EF4-FFF2-40B4-BE49-F238E27FC236}">
                <a16:creationId xmlns:a16="http://schemas.microsoft.com/office/drawing/2014/main" id="{60A62992-B25B-4620-A198-49743549D2D3}"/>
              </a:ext>
            </a:extLst>
          </p:cNvPr>
          <p:cNvSpPr>
            <a:spLocks xmlns:a="http://schemas.openxmlformats.org/drawingml/2006/main" noGrp="1"/>
          </p:cNvSpPr>
          <p:nvPr/>
        </p:nvSpPr>
        <p:spPr>
          <a:xfrm xmlns:a="http://schemas.openxmlformats.org/drawingml/2006/main">
            <a:off x="4953000" y="22098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One agent</a:t>
            </a:r>
          </a:p>
        </p:txBody>
      </p:sp>
      <p:sp>
        <p:nvSpPr>
          <p:cNvPr id="14" name="">
            <a:extLst xmlns:a="http://schemas.openxmlformats.org/drawingml/2006/main">
              <a:ext uri="{FF2B5EF4-FFF2-40B4-BE49-F238E27FC236}">
                <a16:creationId xmlns:a16="http://schemas.microsoft.com/office/drawing/2014/main" id="{F5C83E4F-7364-47C2-87AD-51C6C55038A8}"/>
              </a:ext>
            </a:extLst>
          </p:cNvPr>
          <p:cNvSpPr>
            <a:spLocks xmlns:a="http://schemas.openxmlformats.org/drawingml/2006/main" noGrp="1"/>
          </p:cNvSpPr>
          <p:nvPr/>
        </p:nvSpPr>
        <p:spPr>
          <a:xfrm xmlns:a="http://schemas.openxmlformats.org/drawingml/2006/main">
            <a:off x="7296150" y="22098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Multiple static agents</a:t>
            </a:r>
          </a:p>
        </p:txBody>
      </p:sp>
      <p:sp>
        <p:nvSpPr>
          <p:cNvPr id="15" name="">
            <a:extLst xmlns:a="http://schemas.openxmlformats.org/drawingml/2006/main">
              <a:ext uri="{FF2B5EF4-FFF2-40B4-BE49-F238E27FC236}">
                <a16:creationId xmlns:a16="http://schemas.microsoft.com/office/drawing/2014/main" id="{2409BCA7-BD93-4902-8DB7-D3E005DFB710}"/>
              </a:ext>
            </a:extLst>
          </p:cNvPr>
          <p:cNvSpPr>
            <a:spLocks xmlns:a="http://schemas.openxmlformats.org/drawingml/2006/main" noGrp="1"/>
          </p:cNvSpPr>
          <p:nvPr/>
        </p:nvSpPr>
        <p:spPr>
          <a:xfrm xmlns:a="http://schemas.openxmlformats.org/drawingml/2006/main">
            <a:off x="9620250" y="22098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Multi-agent + mobile agent</a:t>
            </a:r>
          </a:p>
        </p:txBody>
      </p:sp>
      <p:sp>
        <p:nvSpPr>
          <p:cNvPr id="16" name="">
            <a:extLst xmlns:a="http://schemas.openxmlformats.org/drawingml/2006/main">
              <a:ext uri="{FF2B5EF4-FFF2-40B4-BE49-F238E27FC236}">
                <a16:creationId xmlns:a16="http://schemas.microsoft.com/office/drawing/2014/main" id="{E18873D5-0BF9-4948-AFCF-870F5BE8D7E2}"/>
              </a:ext>
            </a:extLst>
          </p:cNvPr>
          <p:cNvSpPr>
            <a:spLocks xmlns:a="http://schemas.openxmlformats.org/drawingml/2006/main" noGrp="1"/>
          </p:cNvSpPr>
          <p:nvPr/>
        </p:nvSpPr>
        <p:spPr>
          <a:xfrm xmlns:a="http://schemas.openxmlformats.org/drawingml/2006/main">
            <a:off x="723900" y="2752725"/>
            <a:ext cx="1074420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E03642B-965E-4015-A5F3-68E081C3BCFF}"/>
              </a:ext>
            </a:extLst>
          </p:cNvPr>
          <p:cNvSpPr>
            <a:spLocks xmlns:a="http://schemas.openxmlformats.org/drawingml/2006/main" noGrp="1"/>
          </p:cNvSpPr>
          <p:nvPr/>
        </p:nvSpPr>
        <p:spPr>
          <a:xfrm xmlns:a="http://schemas.openxmlformats.org/drawingml/2006/main">
            <a:off x="723900" y="28384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Coordination</a:t>
            </a:r>
          </a:p>
        </p:txBody>
      </p:sp>
      <p:sp>
        <p:nvSpPr>
          <p:cNvPr id="18" name="">
            <a:extLst xmlns:a="http://schemas.openxmlformats.org/drawingml/2006/main">
              <a:ext uri="{FF2B5EF4-FFF2-40B4-BE49-F238E27FC236}">
                <a16:creationId xmlns:a16="http://schemas.microsoft.com/office/drawing/2014/main" id="{63D85DC9-6032-44ED-B340-0094E76DE630}"/>
              </a:ext>
            </a:extLst>
          </p:cNvPr>
          <p:cNvSpPr>
            <a:spLocks xmlns:a="http://schemas.openxmlformats.org/drawingml/2006/main" noGrp="1"/>
          </p:cNvSpPr>
          <p:nvPr/>
        </p:nvSpPr>
        <p:spPr>
          <a:xfrm xmlns:a="http://schemas.openxmlformats.org/drawingml/2006/main">
            <a:off x="2800350" y="28384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No agent messages</a:t>
            </a:r>
          </a:p>
        </p:txBody>
      </p:sp>
      <p:sp>
        <p:nvSpPr>
          <p:cNvPr id="19" name="">
            <a:extLst xmlns:a="http://schemas.openxmlformats.org/drawingml/2006/main">
              <a:ext uri="{FF2B5EF4-FFF2-40B4-BE49-F238E27FC236}">
                <a16:creationId xmlns:a16="http://schemas.microsoft.com/office/drawing/2014/main" id="{353BB374-65B8-4444-9F64-2AA1EDB8393C}"/>
              </a:ext>
            </a:extLst>
          </p:cNvPr>
          <p:cNvSpPr>
            <a:spLocks xmlns:a="http://schemas.openxmlformats.org/drawingml/2006/main" noGrp="1"/>
          </p:cNvSpPr>
          <p:nvPr/>
        </p:nvSpPr>
        <p:spPr>
          <a:xfrm xmlns:a="http://schemas.openxmlformats.org/drawingml/2006/main">
            <a:off x="4953000" y="28384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One agent loop</a:t>
            </a:r>
          </a:p>
        </p:txBody>
      </p:sp>
      <p:sp>
        <p:nvSpPr>
          <p:cNvPr id="20" name="">
            <a:extLst xmlns:a="http://schemas.openxmlformats.org/drawingml/2006/main">
              <a:ext uri="{FF2B5EF4-FFF2-40B4-BE49-F238E27FC236}">
                <a16:creationId xmlns:a16="http://schemas.microsoft.com/office/drawing/2014/main" id="{90C54B17-426C-4970-86F6-5D3C33B47E5E}"/>
              </a:ext>
            </a:extLst>
          </p:cNvPr>
          <p:cNvSpPr>
            <a:spLocks xmlns:a="http://schemas.openxmlformats.org/drawingml/2006/main" noGrp="1"/>
          </p:cNvSpPr>
          <p:nvPr/>
        </p:nvSpPr>
        <p:spPr>
          <a:xfrm xmlns:a="http://schemas.openxmlformats.org/drawingml/2006/main">
            <a:off x="7296150" y="28384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Agent messages between roles</a:t>
            </a:r>
          </a:p>
        </p:txBody>
      </p:sp>
      <p:sp>
        <p:nvSpPr>
          <p:cNvPr id="21" name="">
            <a:extLst xmlns:a="http://schemas.openxmlformats.org/drawingml/2006/main">
              <a:ext uri="{FF2B5EF4-FFF2-40B4-BE49-F238E27FC236}">
                <a16:creationId xmlns:a16="http://schemas.microsoft.com/office/drawing/2014/main" id="{D15760FC-8754-43F3-99FF-E9CE776CA442}"/>
              </a:ext>
            </a:extLst>
          </p:cNvPr>
          <p:cNvSpPr>
            <a:spLocks xmlns:a="http://schemas.openxmlformats.org/drawingml/2006/main" noGrp="1"/>
          </p:cNvSpPr>
          <p:nvPr/>
        </p:nvSpPr>
        <p:spPr>
          <a:xfrm xmlns:a="http://schemas.openxmlformats.org/drawingml/2006/main">
            <a:off x="9620250" y="28384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Messages + signed bundle to node</a:t>
            </a:r>
          </a:p>
        </p:txBody>
      </p:sp>
      <p:sp>
        <p:nvSpPr>
          <p:cNvPr id="22" name="">
            <a:extLst xmlns:a="http://schemas.openxmlformats.org/drawingml/2006/main">
              <a:ext uri="{FF2B5EF4-FFF2-40B4-BE49-F238E27FC236}">
                <a16:creationId xmlns:a16="http://schemas.microsoft.com/office/drawing/2014/main" id="{5FEB904C-05DD-4EC4-B900-14FFB529FC6B}"/>
              </a:ext>
            </a:extLst>
          </p:cNvPr>
          <p:cNvSpPr>
            <a:spLocks xmlns:a="http://schemas.openxmlformats.org/drawingml/2006/main" noGrp="1"/>
          </p:cNvSpPr>
          <p:nvPr/>
        </p:nvSpPr>
        <p:spPr>
          <a:xfrm xmlns:a="http://schemas.openxmlformats.org/drawingml/2006/main">
            <a:off x="723900" y="3381375"/>
            <a:ext cx="1074420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B95CFAF-04C6-40D1-BED8-0AAB86188B3A}"/>
              </a:ext>
            </a:extLst>
          </p:cNvPr>
          <p:cNvSpPr>
            <a:spLocks xmlns:a="http://schemas.openxmlformats.org/drawingml/2006/main" noGrp="1"/>
          </p:cNvSpPr>
          <p:nvPr/>
        </p:nvSpPr>
        <p:spPr>
          <a:xfrm xmlns:a="http://schemas.openxmlformats.org/drawingml/2006/main">
            <a:off x="723900" y="34671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Work location</a:t>
            </a:r>
          </a:p>
        </p:txBody>
      </p:sp>
      <p:sp>
        <p:nvSpPr>
          <p:cNvPr id="24" name="">
            <a:extLst xmlns:a="http://schemas.openxmlformats.org/drawingml/2006/main">
              <a:ext uri="{FF2B5EF4-FFF2-40B4-BE49-F238E27FC236}">
                <a16:creationId xmlns:a16="http://schemas.microsoft.com/office/drawing/2014/main" id="{C9BFD5C4-D735-435A-998A-2E5193C5DFB7}"/>
              </a:ext>
            </a:extLst>
          </p:cNvPr>
          <p:cNvSpPr>
            <a:spLocks xmlns:a="http://schemas.openxmlformats.org/drawingml/2006/main" noGrp="1"/>
          </p:cNvSpPr>
          <p:nvPr/>
        </p:nvSpPr>
        <p:spPr>
          <a:xfrm xmlns:a="http://schemas.openxmlformats.org/drawingml/2006/main">
            <a:off x="2800350" y="34671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Central process</a:t>
            </a:r>
          </a:p>
        </p:txBody>
      </p:sp>
      <p:sp>
        <p:nvSpPr>
          <p:cNvPr id="25" name="">
            <a:extLst xmlns:a="http://schemas.openxmlformats.org/drawingml/2006/main">
              <a:ext uri="{FF2B5EF4-FFF2-40B4-BE49-F238E27FC236}">
                <a16:creationId xmlns:a16="http://schemas.microsoft.com/office/drawing/2014/main" id="{813047FC-93EB-448B-8EBA-03745E024C83}"/>
              </a:ext>
            </a:extLst>
          </p:cNvPr>
          <p:cNvSpPr>
            <a:spLocks xmlns:a="http://schemas.openxmlformats.org/drawingml/2006/main" noGrp="1"/>
          </p:cNvSpPr>
          <p:nvPr/>
        </p:nvSpPr>
        <p:spPr>
          <a:xfrm xmlns:a="http://schemas.openxmlformats.org/drawingml/2006/main">
            <a:off x="4953000" y="34671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Central process</a:t>
            </a:r>
          </a:p>
        </p:txBody>
      </p:sp>
      <p:sp>
        <p:nvSpPr>
          <p:cNvPr id="26" name="">
            <a:extLst xmlns:a="http://schemas.openxmlformats.org/drawingml/2006/main">
              <a:ext uri="{FF2B5EF4-FFF2-40B4-BE49-F238E27FC236}">
                <a16:creationId xmlns:a16="http://schemas.microsoft.com/office/drawing/2014/main" id="{DBE79262-683F-4AA6-9973-9D8AD4BE2B66}"/>
              </a:ext>
            </a:extLst>
          </p:cNvPr>
          <p:cNvSpPr>
            <a:spLocks xmlns:a="http://schemas.openxmlformats.org/drawingml/2006/main" noGrp="1"/>
          </p:cNvSpPr>
          <p:nvPr/>
        </p:nvSpPr>
        <p:spPr>
          <a:xfrm xmlns:a="http://schemas.openxmlformats.org/drawingml/2006/main">
            <a:off x="7296150" y="34671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Agents run centrally</a:t>
            </a:r>
          </a:p>
        </p:txBody>
      </p:sp>
      <p:sp>
        <p:nvSpPr>
          <p:cNvPr id="27" name="">
            <a:extLst xmlns:a="http://schemas.openxmlformats.org/drawingml/2006/main">
              <a:ext uri="{FF2B5EF4-FFF2-40B4-BE49-F238E27FC236}">
                <a16:creationId xmlns:a16="http://schemas.microsoft.com/office/drawing/2014/main" id="{047FA925-6512-4D95-82E2-F3D4FBD0D023}"/>
              </a:ext>
            </a:extLst>
          </p:cNvPr>
          <p:cNvSpPr>
            <a:spLocks xmlns:a="http://schemas.openxmlformats.org/drawingml/2006/main" noGrp="1"/>
          </p:cNvSpPr>
          <p:nvPr/>
        </p:nvSpPr>
        <p:spPr>
          <a:xfrm xmlns:a="http://schemas.openxmlformats.org/drawingml/2006/main">
            <a:off x="9620250" y="34671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Serialized mobile bundle at investigation</a:t>
            </a:r>
          </a:p>
        </p:txBody>
      </p:sp>
      <p:sp>
        <p:nvSpPr>
          <p:cNvPr id="28" name="">
            <a:extLst xmlns:a="http://schemas.openxmlformats.org/drawingml/2006/main">
              <a:ext uri="{FF2B5EF4-FFF2-40B4-BE49-F238E27FC236}">
                <a16:creationId xmlns:a16="http://schemas.microsoft.com/office/drawing/2014/main" id="{6E2DEFA0-0814-48D0-88FD-5C07B9B0110D}"/>
              </a:ext>
            </a:extLst>
          </p:cNvPr>
          <p:cNvSpPr>
            <a:spLocks xmlns:a="http://schemas.openxmlformats.org/drawingml/2006/main" noGrp="1"/>
          </p:cNvSpPr>
          <p:nvPr/>
        </p:nvSpPr>
        <p:spPr>
          <a:xfrm xmlns:a="http://schemas.openxmlformats.org/drawingml/2006/main">
            <a:off x="723900" y="4010025"/>
            <a:ext cx="1074420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EBFD709-8A95-4B1B-BB7E-5E74D37AF062}"/>
              </a:ext>
            </a:extLst>
          </p:cNvPr>
          <p:cNvSpPr>
            <a:spLocks xmlns:a="http://schemas.openxmlformats.org/drawingml/2006/main" noGrp="1"/>
          </p:cNvSpPr>
          <p:nvPr/>
        </p:nvSpPr>
        <p:spPr>
          <a:xfrm xmlns:a="http://schemas.openxmlformats.org/drawingml/2006/main">
            <a:off x="723900" y="40957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Measured mean bytes / ticket</a:t>
            </a:r>
          </a:p>
        </p:txBody>
      </p:sp>
      <p:sp>
        <p:nvSpPr>
          <p:cNvPr id="30" name="">
            <a:extLst xmlns:a="http://schemas.openxmlformats.org/drawingml/2006/main">
              <a:ext uri="{FF2B5EF4-FFF2-40B4-BE49-F238E27FC236}">
                <a16:creationId xmlns:a16="http://schemas.microsoft.com/office/drawing/2014/main" id="{A8C27019-A008-473E-BE72-70364BE19103}"/>
              </a:ext>
            </a:extLst>
          </p:cNvPr>
          <p:cNvSpPr>
            <a:spLocks xmlns:a="http://schemas.openxmlformats.org/drawingml/2006/main" noGrp="1"/>
          </p:cNvSpPr>
          <p:nvPr/>
        </p:nvSpPr>
        <p:spPr>
          <a:xfrm xmlns:a="http://schemas.openxmlformats.org/drawingml/2006/main">
            <a:off x="2800350" y="40957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0</a:t>
            </a:r>
          </a:p>
        </p:txBody>
      </p:sp>
      <p:sp>
        <p:nvSpPr>
          <p:cNvPr id="31" name="">
            <a:extLst xmlns:a="http://schemas.openxmlformats.org/drawingml/2006/main">
              <a:ext uri="{FF2B5EF4-FFF2-40B4-BE49-F238E27FC236}">
                <a16:creationId xmlns:a16="http://schemas.microsoft.com/office/drawing/2014/main" id="{F68460FC-C537-41D6-A15D-3F8F6505CFD7}"/>
              </a:ext>
            </a:extLst>
          </p:cNvPr>
          <p:cNvSpPr>
            <a:spLocks xmlns:a="http://schemas.openxmlformats.org/drawingml/2006/main" noGrp="1"/>
          </p:cNvSpPr>
          <p:nvPr/>
        </p:nvSpPr>
        <p:spPr>
          <a:xfrm xmlns:a="http://schemas.openxmlformats.org/drawingml/2006/main">
            <a:off x="4953000" y="40957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1,778</a:t>
            </a:r>
          </a:p>
        </p:txBody>
      </p:sp>
      <p:sp>
        <p:nvSpPr>
          <p:cNvPr id="32" name="">
            <a:extLst xmlns:a="http://schemas.openxmlformats.org/drawingml/2006/main">
              <a:ext uri="{FF2B5EF4-FFF2-40B4-BE49-F238E27FC236}">
                <a16:creationId xmlns:a16="http://schemas.microsoft.com/office/drawing/2014/main" id="{A01A8217-98ED-45B9-BA60-FAA6DC792F10}"/>
              </a:ext>
            </a:extLst>
          </p:cNvPr>
          <p:cNvSpPr>
            <a:spLocks xmlns:a="http://schemas.openxmlformats.org/drawingml/2006/main" noGrp="1"/>
          </p:cNvSpPr>
          <p:nvPr/>
        </p:nvSpPr>
        <p:spPr>
          <a:xfrm xmlns:a="http://schemas.openxmlformats.org/drawingml/2006/main">
            <a:off x="7296150" y="40957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3,556</a:t>
            </a:r>
          </a:p>
        </p:txBody>
      </p:sp>
      <p:sp>
        <p:nvSpPr>
          <p:cNvPr id="33" name="">
            <a:extLst xmlns:a="http://schemas.openxmlformats.org/drawingml/2006/main">
              <a:ext uri="{FF2B5EF4-FFF2-40B4-BE49-F238E27FC236}">
                <a16:creationId xmlns:a16="http://schemas.microsoft.com/office/drawing/2014/main" id="{FBE0CDC4-5C2A-4A6D-BC04-64B559758E15}"/>
              </a:ext>
            </a:extLst>
          </p:cNvPr>
          <p:cNvSpPr>
            <a:spLocks xmlns:a="http://schemas.openxmlformats.org/drawingml/2006/main" noGrp="1"/>
          </p:cNvSpPr>
          <p:nvPr/>
        </p:nvSpPr>
        <p:spPr>
          <a:xfrm xmlns:a="http://schemas.openxmlformats.org/drawingml/2006/main">
            <a:off x="9620250" y="409575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4,161</a:t>
            </a:r>
          </a:p>
        </p:txBody>
      </p:sp>
      <p:sp>
        <p:nvSpPr>
          <p:cNvPr id="34" name="">
            <a:extLst xmlns:a="http://schemas.openxmlformats.org/drawingml/2006/main">
              <a:ext uri="{FF2B5EF4-FFF2-40B4-BE49-F238E27FC236}">
                <a16:creationId xmlns:a16="http://schemas.microsoft.com/office/drawing/2014/main" id="{F6555D16-2BB1-489E-B809-2424A92607A8}"/>
              </a:ext>
            </a:extLst>
          </p:cNvPr>
          <p:cNvSpPr>
            <a:spLocks xmlns:a="http://schemas.openxmlformats.org/drawingml/2006/main" noGrp="1"/>
          </p:cNvSpPr>
          <p:nvPr/>
        </p:nvSpPr>
        <p:spPr>
          <a:xfrm xmlns:a="http://schemas.openxmlformats.org/drawingml/2006/main">
            <a:off x="723900" y="4638675"/>
            <a:ext cx="1074420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C29C860-6715-493C-9E26-C3B439A0B99B}"/>
              </a:ext>
            </a:extLst>
          </p:cNvPr>
          <p:cNvSpPr>
            <a:spLocks xmlns:a="http://schemas.openxmlformats.org/drawingml/2006/main" noGrp="1"/>
          </p:cNvSpPr>
          <p:nvPr/>
        </p:nvSpPr>
        <p:spPr>
          <a:xfrm xmlns:a="http://schemas.openxmlformats.org/drawingml/2006/main">
            <a:off x="723900" y="47244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Mean messages / ticket</a:t>
            </a:r>
          </a:p>
        </p:txBody>
      </p:sp>
      <p:sp>
        <p:nvSpPr>
          <p:cNvPr id="36" name="">
            <a:extLst xmlns:a="http://schemas.openxmlformats.org/drawingml/2006/main">
              <a:ext uri="{FF2B5EF4-FFF2-40B4-BE49-F238E27FC236}">
                <a16:creationId xmlns:a16="http://schemas.microsoft.com/office/drawing/2014/main" id="{05C86279-C90D-43C0-BF66-CDD40A671281}"/>
              </a:ext>
            </a:extLst>
          </p:cNvPr>
          <p:cNvSpPr>
            <a:spLocks xmlns:a="http://schemas.openxmlformats.org/drawingml/2006/main" noGrp="1"/>
          </p:cNvSpPr>
          <p:nvPr/>
        </p:nvSpPr>
        <p:spPr>
          <a:xfrm xmlns:a="http://schemas.openxmlformats.org/drawingml/2006/main">
            <a:off x="2800350" y="47244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0</a:t>
            </a:r>
          </a:p>
        </p:txBody>
      </p:sp>
      <p:sp>
        <p:nvSpPr>
          <p:cNvPr id="37" name="">
            <a:extLst xmlns:a="http://schemas.openxmlformats.org/drawingml/2006/main">
              <a:ext uri="{FF2B5EF4-FFF2-40B4-BE49-F238E27FC236}">
                <a16:creationId xmlns:a16="http://schemas.microsoft.com/office/drawing/2014/main" id="{0594922C-E80A-4CF7-B0C7-C3EA2360F669}"/>
              </a:ext>
            </a:extLst>
          </p:cNvPr>
          <p:cNvSpPr>
            <a:spLocks xmlns:a="http://schemas.openxmlformats.org/drawingml/2006/main" noGrp="1"/>
          </p:cNvSpPr>
          <p:nvPr/>
        </p:nvSpPr>
        <p:spPr>
          <a:xfrm xmlns:a="http://schemas.openxmlformats.org/drawingml/2006/main">
            <a:off x="4953000" y="47244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6</a:t>
            </a:r>
          </a:p>
        </p:txBody>
      </p:sp>
      <p:sp>
        <p:nvSpPr>
          <p:cNvPr id="38" name="">
            <a:extLst xmlns:a="http://schemas.openxmlformats.org/drawingml/2006/main">
              <a:ext uri="{FF2B5EF4-FFF2-40B4-BE49-F238E27FC236}">
                <a16:creationId xmlns:a16="http://schemas.microsoft.com/office/drawing/2014/main" id="{B3018787-453E-48EF-AD48-803D2BA127C0}"/>
              </a:ext>
            </a:extLst>
          </p:cNvPr>
          <p:cNvSpPr>
            <a:spLocks xmlns:a="http://schemas.openxmlformats.org/drawingml/2006/main" noGrp="1"/>
          </p:cNvSpPr>
          <p:nvPr/>
        </p:nvSpPr>
        <p:spPr>
          <a:xfrm xmlns:a="http://schemas.openxmlformats.org/drawingml/2006/main">
            <a:off x="7296150" y="47244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12</a:t>
            </a:r>
          </a:p>
        </p:txBody>
      </p:sp>
      <p:sp>
        <p:nvSpPr>
          <p:cNvPr id="39" name="">
            <a:extLst xmlns:a="http://schemas.openxmlformats.org/drawingml/2006/main">
              <a:ext uri="{FF2B5EF4-FFF2-40B4-BE49-F238E27FC236}">
                <a16:creationId xmlns:a16="http://schemas.microsoft.com/office/drawing/2014/main" id="{EA10411B-49EF-4893-8CFE-B9BDC011DAC4}"/>
              </a:ext>
            </a:extLst>
          </p:cNvPr>
          <p:cNvSpPr>
            <a:spLocks xmlns:a="http://schemas.openxmlformats.org/drawingml/2006/main" noGrp="1"/>
          </p:cNvSpPr>
          <p:nvPr/>
        </p:nvSpPr>
        <p:spPr>
          <a:xfrm xmlns:a="http://schemas.openxmlformats.org/drawingml/2006/main">
            <a:off x="9620250" y="4724400"/>
            <a:ext cx="1857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2E4357"/>
                </a:solidFill>
                <a:latin typeface="Arial"/>
                <a:ea typeface="Arial"/>
                <a:cs typeface="Arial"/>
              </a:defRPr>
            </a:pPr>
            <a:r>
              <a:rPr sz="1350" b="0">
                <a:solidFill>
                  <a:srgbClr val="2E4357"/>
                </a:solidFill>
                <a:latin typeface="Arial"/>
                <a:ea typeface="Arial"/>
                <a:cs typeface="Arial"/>
              </a:rPr>
              <a:t>13</a:t>
            </a:r>
          </a:p>
        </p:txBody>
      </p:sp>
      <p:sp>
        <p:nvSpPr>
          <p:cNvPr id="40" name="">
            <a:extLst xmlns:a="http://schemas.openxmlformats.org/drawingml/2006/main">
              <a:ext uri="{FF2B5EF4-FFF2-40B4-BE49-F238E27FC236}">
                <a16:creationId xmlns:a16="http://schemas.microsoft.com/office/drawing/2014/main" id="{6D17EA2C-EB05-4705-9C62-5F8C37A809E2}"/>
              </a:ext>
            </a:extLst>
          </p:cNvPr>
          <p:cNvSpPr>
            <a:spLocks xmlns:a="http://schemas.openxmlformats.org/drawingml/2006/main" noGrp="1"/>
          </p:cNvSpPr>
          <p:nvPr/>
        </p:nvSpPr>
        <p:spPr>
          <a:xfrm xmlns:a="http://schemas.openxmlformats.org/drawingml/2006/main">
            <a:off x="723900" y="5562600"/>
            <a:ext cx="10744200" cy="438150"/>
          </a:xfrm>
          <a:prstGeom xmlns:a="http://schemas.openxmlformats.org/drawingml/2006/main" prst="roundRect">
            <a:avLst>
              <a:gd name="adj" fmla="val 26087"/>
            </a:avLst>
          </a:prstGeom>
          <a:solidFill xmlns:a="http://schemas.openxmlformats.org/drawingml/2006/main">
            <a:srgbClr val="DDEFEA"/>
          </a:solidFill>
          <a:ln xmlns:a="http://schemas.openxmlformats.org/drawingml/2006/main" w="9525">
            <a:noFill/>
          </a:ln>
        </p:spPr>
      </p:sp>
      <p:sp>
        <p:nvSpPr>
          <p:cNvPr id="41" name="">
            <a:extLst xmlns:a="http://schemas.openxmlformats.org/drawingml/2006/main">
              <a:ext uri="{FF2B5EF4-FFF2-40B4-BE49-F238E27FC236}">
                <a16:creationId xmlns:a16="http://schemas.microsoft.com/office/drawing/2014/main" id="{A996AA2D-AA9A-46A5-9C7B-510165855FB7}"/>
              </a:ext>
            </a:extLst>
          </p:cNvPr>
          <p:cNvSpPr>
            <a:spLocks xmlns:a="http://schemas.openxmlformats.org/drawingml/2006/main" noGrp="1"/>
          </p:cNvSpPr>
          <p:nvPr/>
        </p:nvSpPr>
        <p:spPr>
          <a:xfrm xmlns:a="http://schemas.openxmlformats.org/drawingml/2006/main">
            <a:off x="895350" y="5638800"/>
            <a:ext cx="10382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18324B"/>
                </a:solidFill>
                <a:latin typeface="Arial"/>
                <a:ea typeface="Arial"/>
                <a:cs typeface="Arial"/>
              </a:defRPr>
            </a:pPr>
            <a:r>
              <a:rPr sz="1425" b="1">
                <a:solidFill>
                  <a:srgbClr val="18324B"/>
                </a:solidFill>
                <a:latin typeface="Arial"/>
                <a:ea typeface="Arial"/>
                <a:cs typeface="Arial"/>
              </a:rPr>
              <a:t>The Ticket Test and mobile migration demo run separately from the A0–A3 benchmark.</a:t>
            </a:r>
          </a:p>
        </p:txBody>
      </p:sp>
    </p:spTree>
    <p:extLst>
      <p:ext uri="{BB962C8B-B14F-4D97-AF65-F5344CB8AC3E}">
        <p14:creationId xmlns:p14="http://schemas.microsoft.com/office/powerpoint/2010/main" val="1874599067"/>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64C4EDC-B52C-4CCF-99F9-5284DFCA36AD}"/>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Ticket Test now returns a result at every stage</a:t>
            </a:r>
          </a:p>
        </p:txBody>
      </p:sp>
      <p:sp>
        <p:nvSpPr>
          <p:cNvPr id="2" name="">
            <a:extLst xmlns:a="http://schemas.openxmlformats.org/drawingml/2006/main">
              <a:ext uri="{FF2B5EF4-FFF2-40B4-BE49-F238E27FC236}">
                <a16:creationId xmlns:a16="http://schemas.microsoft.com/office/drawing/2014/main" id="{C10F1270-1F74-43F3-BE35-249DCC03B8CE}"/>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B1449A1-9C64-4ED4-8D1C-5FFCFF3B1C6A}"/>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Its outputs are inspectable proposals; repository edits, CI, release and telemetry remain disconnected</a:t>
            </a:r>
          </a:p>
        </p:txBody>
      </p:sp>
      <p:sp>
        <p:nvSpPr>
          <p:cNvPr id="4" name="">
            <a:extLst xmlns:a="http://schemas.openxmlformats.org/drawingml/2006/main">
              <a:ext uri="{FF2B5EF4-FFF2-40B4-BE49-F238E27FC236}">
                <a16:creationId xmlns:a16="http://schemas.microsoft.com/office/drawing/2014/main" id="{9E4892DB-F0FF-4470-BCDE-401C6ABC8857}"/>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A1E9F189-9DE9-48CF-924D-8E61DF234765}"/>
              </a:ext>
            </a:extLst>
          </p:cNvPr>
          <p:cNvSpPr>
            <a:spLocks xmlns:a="http://schemas.openxmlformats.org/drawingml/2006/main" noGrp="1"/>
          </p:cNvSpPr>
          <p:nvPr/>
        </p:nvSpPr>
        <p:spPr>
          <a:xfrm xmlns:a="http://schemas.openxmlformats.org/drawingml/2006/main">
            <a:off x="704850" y="18859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6" name="">
            <a:extLst xmlns:a="http://schemas.openxmlformats.org/drawingml/2006/main">
              <a:ext uri="{FF2B5EF4-FFF2-40B4-BE49-F238E27FC236}">
                <a16:creationId xmlns:a16="http://schemas.microsoft.com/office/drawing/2014/main" id="{F4F7D2DA-E12F-4103-9EEB-A3BE99DFC26A}"/>
              </a:ext>
            </a:extLst>
          </p:cNvPr>
          <p:cNvSpPr>
            <a:spLocks xmlns:a="http://schemas.openxmlformats.org/drawingml/2006/main" noGrp="1"/>
          </p:cNvSpPr>
          <p:nvPr/>
        </p:nvSpPr>
        <p:spPr>
          <a:xfrm xmlns:a="http://schemas.openxmlformats.org/drawingml/2006/main">
            <a:off x="876300" y="20002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1 Intake</a:t>
            </a:r>
          </a:p>
        </p:txBody>
      </p:sp>
      <p:sp>
        <p:nvSpPr>
          <p:cNvPr id="7" name="">
            <a:extLst xmlns:a="http://schemas.openxmlformats.org/drawingml/2006/main">
              <a:ext uri="{FF2B5EF4-FFF2-40B4-BE49-F238E27FC236}">
                <a16:creationId xmlns:a16="http://schemas.microsoft.com/office/drawing/2014/main" id="{60D334C3-297F-43CC-90B4-B36C3E0B8FCC}"/>
              </a:ext>
            </a:extLst>
          </p:cNvPr>
          <p:cNvSpPr>
            <a:spLocks xmlns:a="http://schemas.openxmlformats.org/drawingml/2006/main" noGrp="1"/>
          </p:cNvSpPr>
          <p:nvPr/>
        </p:nvSpPr>
        <p:spPr>
          <a:xfrm xmlns:a="http://schemas.openxmlformats.org/drawingml/2006/main">
            <a:off x="876300" y="23717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Mask, validate, save</a:t>
            </a:r>
          </a:p>
        </p:txBody>
      </p:sp>
      <p:sp>
        <p:nvSpPr>
          <p:cNvPr id="8" name="">
            <a:extLst xmlns:a="http://schemas.openxmlformats.org/drawingml/2006/main">
              <a:ext uri="{FF2B5EF4-FFF2-40B4-BE49-F238E27FC236}">
                <a16:creationId xmlns:a16="http://schemas.microsoft.com/office/drawing/2014/main" id="{0E243883-F71C-439D-BF7E-B7605A3006A9}"/>
              </a:ext>
            </a:extLst>
          </p:cNvPr>
          <p:cNvSpPr>
            <a:spLocks xmlns:a="http://schemas.openxmlformats.org/drawingml/2006/main" noGrp="1"/>
          </p:cNvSpPr>
          <p:nvPr/>
        </p:nvSpPr>
        <p:spPr>
          <a:xfrm xmlns:a="http://schemas.openxmlformats.org/drawingml/2006/main">
            <a:off x="4362450" y="18859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9" name="">
            <a:extLst xmlns:a="http://schemas.openxmlformats.org/drawingml/2006/main">
              <a:ext uri="{FF2B5EF4-FFF2-40B4-BE49-F238E27FC236}">
                <a16:creationId xmlns:a16="http://schemas.microsoft.com/office/drawing/2014/main" id="{4401AC17-4B47-4ADB-969A-4D0CEE8E5044}"/>
              </a:ext>
            </a:extLst>
          </p:cNvPr>
          <p:cNvSpPr>
            <a:spLocks xmlns:a="http://schemas.openxmlformats.org/drawingml/2006/main" noGrp="1"/>
          </p:cNvSpPr>
          <p:nvPr/>
        </p:nvSpPr>
        <p:spPr>
          <a:xfrm xmlns:a="http://schemas.openxmlformats.org/drawingml/2006/main">
            <a:off x="4533900" y="20002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2 Triage</a:t>
            </a:r>
          </a:p>
        </p:txBody>
      </p:sp>
      <p:sp>
        <p:nvSpPr>
          <p:cNvPr id="10" name="">
            <a:extLst xmlns:a="http://schemas.openxmlformats.org/drawingml/2006/main">
              <a:ext uri="{FF2B5EF4-FFF2-40B4-BE49-F238E27FC236}">
                <a16:creationId xmlns:a16="http://schemas.microsoft.com/office/drawing/2014/main" id="{03AEA03C-FD03-4940-837C-9D3FCAD072F8}"/>
              </a:ext>
            </a:extLst>
          </p:cNvPr>
          <p:cNvSpPr>
            <a:spLocks xmlns:a="http://schemas.openxmlformats.org/drawingml/2006/main" noGrp="1"/>
          </p:cNvSpPr>
          <p:nvPr/>
        </p:nvSpPr>
        <p:spPr>
          <a:xfrm xmlns:a="http://schemas.openxmlformats.org/drawingml/2006/main">
            <a:off x="4533900" y="23717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Rule / optional LLM + gate</a:t>
            </a:r>
          </a:p>
        </p:txBody>
      </p:sp>
      <p:sp>
        <p:nvSpPr>
          <p:cNvPr id="11" name="">
            <a:extLst xmlns:a="http://schemas.openxmlformats.org/drawingml/2006/main">
              <a:ext uri="{FF2B5EF4-FFF2-40B4-BE49-F238E27FC236}">
                <a16:creationId xmlns:a16="http://schemas.microsoft.com/office/drawing/2014/main" id="{9FDC682C-F1DD-4B6E-8093-4358DF14BC23}"/>
              </a:ext>
            </a:extLst>
          </p:cNvPr>
          <p:cNvSpPr>
            <a:spLocks xmlns:a="http://schemas.openxmlformats.org/drawingml/2006/main" noGrp="1"/>
          </p:cNvSpPr>
          <p:nvPr/>
        </p:nvSpPr>
        <p:spPr>
          <a:xfrm xmlns:a="http://schemas.openxmlformats.org/drawingml/2006/main">
            <a:off x="8020050" y="18859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12" name="">
            <a:extLst xmlns:a="http://schemas.openxmlformats.org/drawingml/2006/main">
              <a:ext uri="{FF2B5EF4-FFF2-40B4-BE49-F238E27FC236}">
                <a16:creationId xmlns:a16="http://schemas.microsoft.com/office/drawing/2014/main" id="{E0F06CD5-4987-4C0E-AC95-EAA37A0BEBCA}"/>
              </a:ext>
            </a:extLst>
          </p:cNvPr>
          <p:cNvSpPr>
            <a:spLocks xmlns:a="http://schemas.openxmlformats.org/drawingml/2006/main" noGrp="1"/>
          </p:cNvSpPr>
          <p:nvPr/>
        </p:nvSpPr>
        <p:spPr>
          <a:xfrm xmlns:a="http://schemas.openxmlformats.org/drawingml/2006/main">
            <a:off x="8191500" y="20002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3 Assignment</a:t>
            </a:r>
          </a:p>
        </p:txBody>
      </p:sp>
      <p:sp>
        <p:nvSpPr>
          <p:cNvPr id="13" name="">
            <a:extLst xmlns:a="http://schemas.openxmlformats.org/drawingml/2006/main">
              <a:ext uri="{FF2B5EF4-FFF2-40B4-BE49-F238E27FC236}">
                <a16:creationId xmlns:a16="http://schemas.microsoft.com/office/drawing/2014/main" id="{FF3EF1B9-6FA6-4EE0-8C59-5A6CC45EC56A}"/>
              </a:ext>
            </a:extLst>
          </p:cNvPr>
          <p:cNvSpPr>
            <a:spLocks xmlns:a="http://schemas.openxmlformats.org/drawingml/2006/main" noGrp="1"/>
          </p:cNvSpPr>
          <p:nvPr/>
        </p:nvSpPr>
        <p:spPr>
          <a:xfrm xmlns:a="http://schemas.openxmlformats.org/drawingml/2006/main">
            <a:off x="8191500" y="23717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Contract Net bids + award</a:t>
            </a:r>
          </a:p>
        </p:txBody>
      </p:sp>
      <p:sp>
        <p:nvSpPr>
          <p:cNvPr id="14" name="">
            <a:extLst xmlns:a="http://schemas.openxmlformats.org/drawingml/2006/main">
              <a:ext uri="{FF2B5EF4-FFF2-40B4-BE49-F238E27FC236}">
                <a16:creationId xmlns:a16="http://schemas.microsoft.com/office/drawing/2014/main" id="{3B0A16A3-19C8-401B-851B-B85E9FC82813}"/>
              </a:ext>
            </a:extLst>
          </p:cNvPr>
          <p:cNvSpPr>
            <a:spLocks xmlns:a="http://schemas.openxmlformats.org/drawingml/2006/main" noGrp="1"/>
          </p:cNvSpPr>
          <p:nvPr/>
        </p:nvSpPr>
        <p:spPr>
          <a:xfrm xmlns:a="http://schemas.openxmlformats.org/drawingml/2006/main">
            <a:off x="704850" y="31051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15" name="">
            <a:extLst xmlns:a="http://schemas.openxmlformats.org/drawingml/2006/main">
              <a:ext uri="{FF2B5EF4-FFF2-40B4-BE49-F238E27FC236}">
                <a16:creationId xmlns:a16="http://schemas.microsoft.com/office/drawing/2014/main" id="{A20AEDE9-2AF9-41AD-ADC2-504D96C8CD54}"/>
              </a:ext>
            </a:extLst>
          </p:cNvPr>
          <p:cNvSpPr>
            <a:spLocks xmlns:a="http://schemas.openxmlformats.org/drawingml/2006/main" noGrp="1"/>
          </p:cNvSpPr>
          <p:nvPr/>
        </p:nvSpPr>
        <p:spPr>
          <a:xfrm xmlns:a="http://schemas.openxmlformats.org/drawingml/2006/main">
            <a:off x="876300" y="32194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4 Investigation</a:t>
            </a:r>
          </a:p>
        </p:txBody>
      </p:sp>
      <p:sp>
        <p:nvSpPr>
          <p:cNvPr id="16" name="">
            <a:extLst xmlns:a="http://schemas.openxmlformats.org/drawingml/2006/main">
              <a:ext uri="{FF2B5EF4-FFF2-40B4-BE49-F238E27FC236}">
                <a16:creationId xmlns:a16="http://schemas.microsoft.com/office/drawing/2014/main" id="{EC6A1290-C3E7-4864-BDE7-1A423311617B}"/>
              </a:ext>
            </a:extLst>
          </p:cNvPr>
          <p:cNvSpPr>
            <a:spLocks xmlns:a="http://schemas.openxmlformats.org/drawingml/2006/main" noGrp="1"/>
          </p:cNvSpPr>
          <p:nvPr/>
        </p:nvSpPr>
        <p:spPr>
          <a:xfrm xmlns:a="http://schemas.openxmlformats.org/drawingml/2006/main">
            <a:off x="876300" y="35909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Keyword clues · no telemetry</a:t>
            </a:r>
          </a:p>
        </p:txBody>
      </p:sp>
      <p:sp>
        <p:nvSpPr>
          <p:cNvPr id="17" name="">
            <a:extLst xmlns:a="http://schemas.openxmlformats.org/drawingml/2006/main">
              <a:ext uri="{FF2B5EF4-FFF2-40B4-BE49-F238E27FC236}">
                <a16:creationId xmlns:a16="http://schemas.microsoft.com/office/drawing/2014/main" id="{E3E5D905-BE91-430A-9368-3AA7CD3C3E8C}"/>
              </a:ext>
            </a:extLst>
          </p:cNvPr>
          <p:cNvSpPr>
            <a:spLocks xmlns:a="http://schemas.openxmlformats.org/drawingml/2006/main" noGrp="1"/>
          </p:cNvSpPr>
          <p:nvPr/>
        </p:nvSpPr>
        <p:spPr>
          <a:xfrm xmlns:a="http://schemas.openxmlformats.org/drawingml/2006/main">
            <a:off x="4362450" y="31051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18" name="">
            <a:extLst xmlns:a="http://schemas.openxmlformats.org/drawingml/2006/main">
              <a:ext uri="{FF2B5EF4-FFF2-40B4-BE49-F238E27FC236}">
                <a16:creationId xmlns:a16="http://schemas.microsoft.com/office/drawing/2014/main" id="{60D7C143-EBFE-4FD3-8AF2-B60D7791A857}"/>
              </a:ext>
            </a:extLst>
          </p:cNvPr>
          <p:cNvSpPr>
            <a:spLocks xmlns:a="http://schemas.openxmlformats.org/drawingml/2006/main" noGrp="1"/>
          </p:cNvSpPr>
          <p:nvPr/>
        </p:nvSpPr>
        <p:spPr>
          <a:xfrm xmlns:a="http://schemas.openxmlformats.org/drawingml/2006/main">
            <a:off x="4533900" y="32194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5 Planning</a:t>
            </a:r>
          </a:p>
        </p:txBody>
      </p:sp>
      <p:sp>
        <p:nvSpPr>
          <p:cNvPr id="19" name="">
            <a:extLst xmlns:a="http://schemas.openxmlformats.org/drawingml/2006/main">
              <a:ext uri="{FF2B5EF4-FFF2-40B4-BE49-F238E27FC236}">
                <a16:creationId xmlns:a16="http://schemas.microsoft.com/office/drawing/2014/main" id="{DFB59D44-62B5-4680-9E5A-064DE29B84AA}"/>
              </a:ext>
            </a:extLst>
          </p:cNvPr>
          <p:cNvSpPr>
            <a:spLocks xmlns:a="http://schemas.openxmlformats.org/drawingml/2006/main" noGrp="1"/>
          </p:cNvSpPr>
          <p:nvPr/>
        </p:nvSpPr>
        <p:spPr>
          <a:xfrm xmlns:a="http://schemas.openxmlformats.org/drawingml/2006/main">
            <a:off x="4533900" y="35909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Template tasks + criteria</a:t>
            </a:r>
          </a:p>
        </p:txBody>
      </p:sp>
      <p:sp>
        <p:nvSpPr>
          <p:cNvPr id="20" name="">
            <a:extLst xmlns:a="http://schemas.openxmlformats.org/drawingml/2006/main">
              <a:ext uri="{FF2B5EF4-FFF2-40B4-BE49-F238E27FC236}">
                <a16:creationId xmlns:a16="http://schemas.microsoft.com/office/drawing/2014/main" id="{895E6A5E-45DA-4C85-9227-3505356FCD1A}"/>
              </a:ext>
            </a:extLst>
          </p:cNvPr>
          <p:cNvSpPr>
            <a:spLocks xmlns:a="http://schemas.openxmlformats.org/drawingml/2006/main" noGrp="1"/>
          </p:cNvSpPr>
          <p:nvPr/>
        </p:nvSpPr>
        <p:spPr>
          <a:xfrm xmlns:a="http://schemas.openxmlformats.org/drawingml/2006/main">
            <a:off x="8020050" y="31051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21" name="">
            <a:extLst xmlns:a="http://schemas.openxmlformats.org/drawingml/2006/main">
              <a:ext uri="{FF2B5EF4-FFF2-40B4-BE49-F238E27FC236}">
                <a16:creationId xmlns:a16="http://schemas.microsoft.com/office/drawing/2014/main" id="{BB747F91-98D8-4013-9F4D-83A4410C82B5}"/>
              </a:ext>
            </a:extLst>
          </p:cNvPr>
          <p:cNvSpPr>
            <a:spLocks xmlns:a="http://schemas.openxmlformats.org/drawingml/2006/main" noGrp="1"/>
          </p:cNvSpPr>
          <p:nvPr/>
        </p:nvSpPr>
        <p:spPr>
          <a:xfrm xmlns:a="http://schemas.openxmlformats.org/drawingml/2006/main">
            <a:off x="8191500" y="32194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6 Implementation</a:t>
            </a:r>
          </a:p>
        </p:txBody>
      </p:sp>
      <p:sp>
        <p:nvSpPr>
          <p:cNvPr id="22" name="">
            <a:extLst xmlns:a="http://schemas.openxmlformats.org/drawingml/2006/main">
              <a:ext uri="{FF2B5EF4-FFF2-40B4-BE49-F238E27FC236}">
                <a16:creationId xmlns:a16="http://schemas.microsoft.com/office/drawing/2014/main" id="{77A2C2DA-957A-4BEE-A592-7714913331E1}"/>
              </a:ext>
            </a:extLst>
          </p:cNvPr>
          <p:cNvSpPr>
            <a:spLocks xmlns:a="http://schemas.openxmlformats.org/drawingml/2006/main" noGrp="1"/>
          </p:cNvSpPr>
          <p:nvPr/>
        </p:nvSpPr>
        <p:spPr>
          <a:xfrm xmlns:a="http://schemas.openxmlformats.org/drawingml/2006/main">
            <a:off x="8191500" y="35909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Change request · no code</a:t>
            </a:r>
          </a:p>
        </p:txBody>
      </p:sp>
      <p:sp>
        <p:nvSpPr>
          <p:cNvPr id="23" name="">
            <a:extLst xmlns:a="http://schemas.openxmlformats.org/drawingml/2006/main">
              <a:ext uri="{FF2B5EF4-FFF2-40B4-BE49-F238E27FC236}">
                <a16:creationId xmlns:a16="http://schemas.microsoft.com/office/drawing/2014/main" id="{DDE4CDE8-4558-49AA-8AEE-76637E9F2456}"/>
              </a:ext>
            </a:extLst>
          </p:cNvPr>
          <p:cNvSpPr>
            <a:spLocks xmlns:a="http://schemas.openxmlformats.org/drawingml/2006/main" noGrp="1"/>
          </p:cNvSpPr>
          <p:nvPr/>
        </p:nvSpPr>
        <p:spPr>
          <a:xfrm xmlns:a="http://schemas.openxmlformats.org/drawingml/2006/main">
            <a:off x="704850" y="43243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24" name="">
            <a:extLst xmlns:a="http://schemas.openxmlformats.org/drawingml/2006/main">
              <a:ext uri="{FF2B5EF4-FFF2-40B4-BE49-F238E27FC236}">
                <a16:creationId xmlns:a16="http://schemas.microsoft.com/office/drawing/2014/main" id="{2BFD2FB5-3A50-49DF-94FC-9AD8C7DE27C9}"/>
              </a:ext>
            </a:extLst>
          </p:cNvPr>
          <p:cNvSpPr>
            <a:spLocks xmlns:a="http://schemas.openxmlformats.org/drawingml/2006/main" noGrp="1"/>
          </p:cNvSpPr>
          <p:nvPr/>
        </p:nvSpPr>
        <p:spPr>
          <a:xfrm xmlns:a="http://schemas.openxmlformats.org/drawingml/2006/main">
            <a:off x="876300" y="44386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7 QA</a:t>
            </a:r>
          </a:p>
        </p:txBody>
      </p:sp>
      <p:sp>
        <p:nvSpPr>
          <p:cNvPr id="25" name="">
            <a:extLst xmlns:a="http://schemas.openxmlformats.org/drawingml/2006/main">
              <a:ext uri="{FF2B5EF4-FFF2-40B4-BE49-F238E27FC236}">
                <a16:creationId xmlns:a16="http://schemas.microsoft.com/office/drawing/2014/main" id="{A319D190-7F21-4779-83E2-135059CB7BEC}"/>
              </a:ext>
            </a:extLst>
          </p:cNvPr>
          <p:cNvSpPr>
            <a:spLocks xmlns:a="http://schemas.openxmlformats.org/drawingml/2006/main" noGrp="1"/>
          </p:cNvSpPr>
          <p:nvPr/>
        </p:nvSpPr>
        <p:spPr>
          <a:xfrm xmlns:a="http://schemas.openxmlformats.org/drawingml/2006/main">
            <a:off x="876300" y="48101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Checklist · 0 tests run</a:t>
            </a:r>
          </a:p>
        </p:txBody>
      </p:sp>
      <p:sp>
        <p:nvSpPr>
          <p:cNvPr id="26" name="">
            <a:extLst xmlns:a="http://schemas.openxmlformats.org/drawingml/2006/main">
              <a:ext uri="{FF2B5EF4-FFF2-40B4-BE49-F238E27FC236}">
                <a16:creationId xmlns:a16="http://schemas.microsoft.com/office/drawing/2014/main" id="{FA00EA49-07F7-4EC8-90B4-D6D71ACDABF9}"/>
              </a:ext>
            </a:extLst>
          </p:cNvPr>
          <p:cNvSpPr>
            <a:spLocks xmlns:a="http://schemas.openxmlformats.org/drawingml/2006/main" noGrp="1"/>
          </p:cNvSpPr>
          <p:nvPr/>
        </p:nvSpPr>
        <p:spPr>
          <a:xfrm xmlns:a="http://schemas.openxmlformats.org/drawingml/2006/main">
            <a:off x="4362450" y="43243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27" name="">
            <a:extLst xmlns:a="http://schemas.openxmlformats.org/drawingml/2006/main">
              <a:ext uri="{FF2B5EF4-FFF2-40B4-BE49-F238E27FC236}">
                <a16:creationId xmlns:a16="http://schemas.microsoft.com/office/drawing/2014/main" id="{8679838C-939E-4DD8-9929-6D7A75679C16}"/>
              </a:ext>
            </a:extLst>
          </p:cNvPr>
          <p:cNvSpPr>
            <a:spLocks xmlns:a="http://schemas.openxmlformats.org/drawingml/2006/main" noGrp="1"/>
          </p:cNvSpPr>
          <p:nvPr/>
        </p:nvSpPr>
        <p:spPr>
          <a:xfrm xmlns:a="http://schemas.openxmlformats.org/drawingml/2006/main">
            <a:off x="4533900" y="44386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8 Deployment</a:t>
            </a:r>
          </a:p>
        </p:txBody>
      </p:sp>
      <p:sp>
        <p:nvSpPr>
          <p:cNvPr id="28" name="">
            <a:extLst xmlns:a="http://schemas.openxmlformats.org/drawingml/2006/main">
              <a:ext uri="{FF2B5EF4-FFF2-40B4-BE49-F238E27FC236}">
                <a16:creationId xmlns:a16="http://schemas.microsoft.com/office/drawing/2014/main" id="{741AAB27-4C50-42AA-A0B5-9A683C8618F0}"/>
              </a:ext>
            </a:extLst>
          </p:cNvPr>
          <p:cNvSpPr>
            <a:spLocks xmlns:a="http://schemas.openxmlformats.org/drawingml/2006/main" noGrp="1"/>
          </p:cNvSpPr>
          <p:nvPr/>
        </p:nvSpPr>
        <p:spPr>
          <a:xfrm xmlns:a="http://schemas.openxmlformats.org/drawingml/2006/main">
            <a:off x="4533900" y="48101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5% canary proposal only</a:t>
            </a:r>
          </a:p>
        </p:txBody>
      </p:sp>
      <p:sp>
        <p:nvSpPr>
          <p:cNvPr id="29" name="">
            <a:extLst xmlns:a="http://schemas.openxmlformats.org/drawingml/2006/main">
              <a:ext uri="{FF2B5EF4-FFF2-40B4-BE49-F238E27FC236}">
                <a16:creationId xmlns:a16="http://schemas.microsoft.com/office/drawing/2014/main" id="{0545B410-63CB-46AE-900A-E9E7972F6155}"/>
              </a:ext>
            </a:extLst>
          </p:cNvPr>
          <p:cNvSpPr>
            <a:spLocks xmlns:a="http://schemas.openxmlformats.org/drawingml/2006/main" noGrp="1"/>
          </p:cNvSpPr>
          <p:nvPr/>
        </p:nvSpPr>
        <p:spPr>
          <a:xfrm xmlns:a="http://schemas.openxmlformats.org/drawingml/2006/main">
            <a:off x="8020050" y="4324350"/>
            <a:ext cx="3333750" cy="895350"/>
          </a:xfrm>
          <a:prstGeom xmlns:a="http://schemas.openxmlformats.org/drawingml/2006/main" prst="roundRect">
            <a:avLst>
              <a:gd name="adj" fmla="val 17021"/>
            </a:avLst>
          </a:prstGeom>
          <a:solidFill xmlns:a="http://schemas.openxmlformats.org/drawingml/2006/main">
            <a:srgbClr val="DDEFEA"/>
          </a:solidFill>
          <a:ln xmlns:a="http://schemas.openxmlformats.org/drawingml/2006/main" w="9525">
            <a:solidFill>
              <a:srgbClr val="2D7A78"/>
            </a:solidFill>
          </a:ln>
        </p:spPr>
      </p:sp>
      <p:sp>
        <p:nvSpPr>
          <p:cNvPr id="30" name="">
            <a:extLst xmlns:a="http://schemas.openxmlformats.org/drawingml/2006/main">
              <a:ext uri="{FF2B5EF4-FFF2-40B4-BE49-F238E27FC236}">
                <a16:creationId xmlns:a16="http://schemas.microsoft.com/office/drawing/2014/main" id="{9F15EF43-8C36-4731-93BE-01F47A1276DD}"/>
              </a:ext>
            </a:extLst>
          </p:cNvPr>
          <p:cNvSpPr>
            <a:spLocks xmlns:a="http://schemas.openxmlformats.org/drawingml/2006/main" noGrp="1"/>
          </p:cNvSpPr>
          <p:nvPr/>
        </p:nvSpPr>
        <p:spPr>
          <a:xfrm xmlns:a="http://schemas.openxmlformats.org/drawingml/2006/main">
            <a:off x="8191500" y="4438650"/>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9 Monitoring</a:t>
            </a:r>
          </a:p>
        </p:txBody>
      </p:sp>
      <p:sp>
        <p:nvSpPr>
          <p:cNvPr id="31" name="">
            <a:extLst xmlns:a="http://schemas.openxmlformats.org/drawingml/2006/main">
              <a:ext uri="{FF2B5EF4-FFF2-40B4-BE49-F238E27FC236}">
                <a16:creationId xmlns:a16="http://schemas.microsoft.com/office/drawing/2014/main" id="{093491F3-90BB-4F92-8389-AFA470BCBD93}"/>
              </a:ext>
            </a:extLst>
          </p:cNvPr>
          <p:cNvSpPr>
            <a:spLocks xmlns:a="http://schemas.openxmlformats.org/drawingml/2006/main" noGrp="1"/>
          </p:cNvSpPr>
          <p:nvPr/>
        </p:nvSpPr>
        <p:spPr>
          <a:xfrm xmlns:a="http://schemas.openxmlformats.org/drawingml/2006/main">
            <a:off x="8191500" y="4810125"/>
            <a:ext cx="299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Awaiting telemetry</a:t>
            </a:r>
          </a:p>
        </p:txBody>
      </p:sp>
      <p:sp>
        <p:nvSpPr>
          <p:cNvPr id="32" name="">
            <a:extLst xmlns:a="http://schemas.openxmlformats.org/drawingml/2006/main">
              <a:ext uri="{FF2B5EF4-FFF2-40B4-BE49-F238E27FC236}">
                <a16:creationId xmlns:a16="http://schemas.microsoft.com/office/drawing/2014/main" id="{74CB4D1D-5B33-417F-AADF-2141B51F8FBF}"/>
              </a:ext>
            </a:extLst>
          </p:cNvPr>
          <p:cNvSpPr>
            <a:spLocks xmlns:a="http://schemas.openxmlformats.org/drawingml/2006/main" noGrp="1"/>
          </p:cNvSpPr>
          <p:nvPr/>
        </p:nvSpPr>
        <p:spPr>
          <a:xfrm xmlns:a="http://schemas.openxmlformats.org/drawingml/2006/main">
            <a:off x="704850" y="5581650"/>
            <a:ext cx="10315575" cy="457200"/>
          </a:xfrm>
          <a:prstGeom xmlns:a="http://schemas.openxmlformats.org/drawingml/2006/main" prst="roundRect">
            <a:avLst>
              <a:gd name="adj" fmla="val 25000"/>
            </a:avLst>
          </a:prstGeom>
          <a:solidFill xmlns:a="http://schemas.openxmlformats.org/drawingml/2006/main">
            <a:srgbClr val="F7EEDC"/>
          </a:solidFill>
          <a:ln xmlns:a="http://schemas.openxmlformats.org/drawingml/2006/main" w="9525">
            <a:noFill/>
          </a:ln>
        </p:spPr>
      </p:sp>
      <p:sp>
        <p:nvSpPr>
          <p:cNvPr id="33" name="">
            <a:extLst xmlns:a="http://schemas.openxmlformats.org/drawingml/2006/main">
              <a:ext uri="{FF2B5EF4-FFF2-40B4-BE49-F238E27FC236}">
                <a16:creationId xmlns:a16="http://schemas.microsoft.com/office/drawing/2014/main" id="{295138E1-9918-4415-8D68-6CDD958B243C}"/>
              </a:ext>
            </a:extLst>
          </p:cNvPr>
          <p:cNvSpPr>
            <a:spLocks xmlns:a="http://schemas.openxmlformats.org/drawingml/2006/main" noGrp="1"/>
          </p:cNvSpPr>
          <p:nvPr/>
        </p:nvSpPr>
        <p:spPr>
          <a:xfrm xmlns:a="http://schemas.openxmlformats.org/drawingml/2006/main">
            <a:off x="895350" y="5657850"/>
            <a:ext cx="9982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Triage pauses below 0.70 confidence or above 0.60 risk. QA/merge and release need human review.</a:t>
            </a:r>
          </a:p>
        </p:txBody>
      </p:sp>
    </p:spTree>
    <p:extLst>
      <p:ext uri="{BB962C8B-B14F-4D97-AF65-F5344CB8AC3E}">
        <p14:creationId xmlns:p14="http://schemas.microsoft.com/office/powerpoint/2010/main" val="1931423306"/>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9EFDDB8-B0DB-4885-9EA3-76F0C86F9AE7}"/>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Example: a checkout outage moves through the demo</a:t>
            </a:r>
          </a:p>
        </p:txBody>
      </p:sp>
      <p:sp>
        <p:nvSpPr>
          <p:cNvPr id="2" name="">
            <a:extLst xmlns:a="http://schemas.openxmlformats.org/drawingml/2006/main">
              <a:ext uri="{FF2B5EF4-FFF2-40B4-BE49-F238E27FC236}">
                <a16:creationId xmlns:a16="http://schemas.microsoft.com/office/drawing/2014/main" id="{11FA8BB3-69B8-4610-B890-2244F26363C2}"/>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E648E05-6295-4E96-AE56-72E42DEBE364}"/>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One report, nine stage outputs, with a human review at each risky transition</a:t>
            </a:r>
          </a:p>
        </p:txBody>
      </p:sp>
      <p:sp>
        <p:nvSpPr>
          <p:cNvPr id="4" name="">
            <a:extLst xmlns:a="http://schemas.openxmlformats.org/drawingml/2006/main">
              <a:ext uri="{FF2B5EF4-FFF2-40B4-BE49-F238E27FC236}">
                <a16:creationId xmlns:a16="http://schemas.microsoft.com/office/drawing/2014/main" id="{6079638D-EB00-495C-86B8-D91D7D7C245C}"/>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2C098D3D-C605-4613-9256-70B55E5DDBCA}"/>
              </a:ext>
            </a:extLst>
          </p:cNvPr>
          <p:cNvSpPr>
            <a:spLocks xmlns:a="http://schemas.openxmlformats.org/drawingml/2006/main" noGrp="1"/>
          </p:cNvSpPr>
          <p:nvPr/>
        </p:nvSpPr>
        <p:spPr>
          <a:xfrm xmlns:a="http://schemas.openxmlformats.org/drawingml/2006/main">
            <a:off x="723900" y="17526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6" name="">
            <a:extLst xmlns:a="http://schemas.openxmlformats.org/drawingml/2006/main">
              <a:ext uri="{FF2B5EF4-FFF2-40B4-BE49-F238E27FC236}">
                <a16:creationId xmlns:a16="http://schemas.microsoft.com/office/drawing/2014/main" id="{2D826AA7-C162-440A-9038-2C4876DB19A6}"/>
              </a:ext>
            </a:extLst>
          </p:cNvPr>
          <p:cNvSpPr>
            <a:spLocks xmlns:a="http://schemas.openxmlformats.org/drawingml/2006/main" noGrp="1"/>
          </p:cNvSpPr>
          <p:nvPr/>
        </p:nvSpPr>
        <p:spPr>
          <a:xfrm xmlns:a="http://schemas.openxmlformats.org/drawingml/2006/main">
            <a:off x="876300" y="18669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1 · Intake</a:t>
            </a:r>
          </a:p>
        </p:txBody>
      </p:sp>
      <p:sp>
        <p:nvSpPr>
          <p:cNvPr id="7" name="">
            <a:extLst xmlns:a="http://schemas.openxmlformats.org/drawingml/2006/main">
              <a:ext uri="{FF2B5EF4-FFF2-40B4-BE49-F238E27FC236}">
                <a16:creationId xmlns:a16="http://schemas.microsoft.com/office/drawing/2014/main" id="{FBC6BF4A-A67A-4BEE-8E8E-1866BEA2E40B}"/>
              </a:ext>
            </a:extLst>
          </p:cNvPr>
          <p:cNvSpPr>
            <a:spLocks xmlns:a="http://schemas.openxmlformats.org/drawingml/2006/main" noGrp="1"/>
          </p:cNvSpPr>
          <p:nvPr/>
        </p:nvSpPr>
        <p:spPr>
          <a:xfrm xmlns:a="http://schemas.openxmlformats.org/drawingml/2006/main">
            <a:off x="876300" y="22193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Mask and save</a:t>
            </a:r>
          </a:p>
        </p:txBody>
      </p:sp>
      <p:sp>
        <p:nvSpPr>
          <p:cNvPr id="8" name="">
            <a:extLst xmlns:a="http://schemas.openxmlformats.org/drawingml/2006/main">
              <a:ext uri="{FF2B5EF4-FFF2-40B4-BE49-F238E27FC236}">
                <a16:creationId xmlns:a16="http://schemas.microsoft.com/office/drawing/2014/main" id="{BE6B2FC6-1E64-41BA-8055-B8FF9B31A6E9}"/>
              </a:ext>
            </a:extLst>
          </p:cNvPr>
          <p:cNvSpPr>
            <a:spLocks xmlns:a="http://schemas.openxmlformats.org/drawingml/2006/main" noGrp="1"/>
          </p:cNvSpPr>
          <p:nvPr/>
        </p:nvSpPr>
        <p:spPr>
          <a:xfrm xmlns:a="http://schemas.openxmlformats.org/drawingml/2006/main">
            <a:off x="4305300" y="1752600"/>
            <a:ext cx="3314700" cy="876300"/>
          </a:xfrm>
          <a:prstGeom xmlns:a="http://schemas.openxmlformats.org/drawingml/2006/main" prst="roundRect">
            <a:avLst>
              <a:gd name="adj" fmla="val 15217"/>
            </a:avLst>
          </a:prstGeom>
          <a:solidFill xmlns:a="http://schemas.openxmlformats.org/drawingml/2006/main">
            <a:srgbClr val="F7EEDC"/>
          </a:solidFill>
          <a:ln xmlns:a="http://schemas.openxmlformats.org/drawingml/2006/main" w="9525">
            <a:solidFill>
              <a:srgbClr val="B77A28"/>
            </a:solidFill>
          </a:ln>
        </p:spPr>
      </p:sp>
      <p:sp>
        <p:nvSpPr>
          <p:cNvPr id="9" name="">
            <a:extLst xmlns:a="http://schemas.openxmlformats.org/drawingml/2006/main">
              <a:ext uri="{FF2B5EF4-FFF2-40B4-BE49-F238E27FC236}">
                <a16:creationId xmlns:a16="http://schemas.microsoft.com/office/drawing/2014/main" id="{AF395974-E535-461D-B41A-02184EC7C7C2}"/>
              </a:ext>
            </a:extLst>
          </p:cNvPr>
          <p:cNvSpPr>
            <a:spLocks xmlns:a="http://schemas.openxmlformats.org/drawingml/2006/main" noGrp="1"/>
          </p:cNvSpPr>
          <p:nvPr/>
        </p:nvSpPr>
        <p:spPr>
          <a:xfrm xmlns:a="http://schemas.openxmlformats.org/drawingml/2006/main">
            <a:off x="4457700" y="18669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B77A28"/>
                </a:solidFill>
                <a:latin typeface="Arial"/>
                <a:ea typeface="Arial"/>
                <a:cs typeface="Arial"/>
              </a:defRPr>
            </a:pPr>
            <a:r>
              <a:rPr sz="1575" b="1">
                <a:solidFill>
                  <a:srgbClr val="B77A28"/>
                </a:solidFill>
                <a:latin typeface="Arial"/>
                <a:ea typeface="Arial"/>
                <a:cs typeface="Arial"/>
              </a:rPr>
              <a:t>2 · Triage</a:t>
            </a:r>
          </a:p>
        </p:txBody>
      </p:sp>
      <p:sp>
        <p:nvSpPr>
          <p:cNvPr id="10" name="">
            <a:extLst xmlns:a="http://schemas.openxmlformats.org/drawingml/2006/main">
              <a:ext uri="{FF2B5EF4-FFF2-40B4-BE49-F238E27FC236}">
                <a16:creationId xmlns:a16="http://schemas.microsoft.com/office/drawing/2014/main" id="{6CC925D0-F1D8-4F45-87C2-589DDA302E0A}"/>
              </a:ext>
            </a:extLst>
          </p:cNvPr>
          <p:cNvSpPr>
            <a:spLocks xmlns:a="http://schemas.openxmlformats.org/drawingml/2006/main" noGrp="1"/>
          </p:cNvSpPr>
          <p:nvPr/>
        </p:nvSpPr>
        <p:spPr>
          <a:xfrm xmlns:a="http://schemas.openxmlformats.org/drawingml/2006/main">
            <a:off x="4457700" y="22193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High · 0.68 confidence</a:t>
            </a:r>
          </a:p>
        </p:txBody>
      </p:sp>
      <p:sp>
        <p:nvSpPr>
          <p:cNvPr id="11" name="">
            <a:extLst xmlns:a="http://schemas.openxmlformats.org/drawingml/2006/main">
              <a:ext uri="{FF2B5EF4-FFF2-40B4-BE49-F238E27FC236}">
                <a16:creationId xmlns:a16="http://schemas.microsoft.com/office/drawing/2014/main" id="{C98C7631-6DC3-4A76-A75C-3C87082EF050}"/>
              </a:ext>
            </a:extLst>
          </p:cNvPr>
          <p:cNvSpPr>
            <a:spLocks xmlns:a="http://schemas.openxmlformats.org/drawingml/2006/main" noGrp="1"/>
          </p:cNvSpPr>
          <p:nvPr/>
        </p:nvSpPr>
        <p:spPr>
          <a:xfrm xmlns:a="http://schemas.openxmlformats.org/drawingml/2006/main">
            <a:off x="7886700" y="17526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12" name="">
            <a:extLst xmlns:a="http://schemas.openxmlformats.org/drawingml/2006/main">
              <a:ext uri="{FF2B5EF4-FFF2-40B4-BE49-F238E27FC236}">
                <a16:creationId xmlns:a16="http://schemas.microsoft.com/office/drawing/2014/main" id="{3B628693-7E68-4D57-8D4F-340FECED1758}"/>
              </a:ext>
            </a:extLst>
          </p:cNvPr>
          <p:cNvSpPr>
            <a:spLocks xmlns:a="http://schemas.openxmlformats.org/drawingml/2006/main" noGrp="1"/>
          </p:cNvSpPr>
          <p:nvPr/>
        </p:nvSpPr>
        <p:spPr>
          <a:xfrm xmlns:a="http://schemas.openxmlformats.org/drawingml/2006/main">
            <a:off x="8039100" y="18669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3 · Assign</a:t>
            </a:r>
          </a:p>
        </p:txBody>
      </p:sp>
      <p:sp>
        <p:nvSpPr>
          <p:cNvPr id="13" name="">
            <a:extLst xmlns:a="http://schemas.openxmlformats.org/drawingml/2006/main">
              <a:ext uri="{FF2B5EF4-FFF2-40B4-BE49-F238E27FC236}">
                <a16:creationId xmlns:a16="http://schemas.microsoft.com/office/drawing/2014/main" id="{EDF7FB9F-44C8-446E-8734-8F1F9CF69946}"/>
              </a:ext>
            </a:extLst>
          </p:cNvPr>
          <p:cNvSpPr>
            <a:spLocks xmlns:a="http://schemas.openxmlformats.org/drawingml/2006/main" noGrp="1"/>
          </p:cNvSpPr>
          <p:nvPr/>
        </p:nvSpPr>
        <p:spPr>
          <a:xfrm xmlns:a="http://schemas.openxmlformats.org/drawingml/2006/main">
            <a:off x="8039100" y="22193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Contract Net picks a worker</a:t>
            </a:r>
          </a:p>
        </p:txBody>
      </p:sp>
      <p:sp>
        <p:nvSpPr>
          <p:cNvPr id="14" name="">
            <a:extLst xmlns:a="http://schemas.openxmlformats.org/drawingml/2006/main">
              <a:ext uri="{FF2B5EF4-FFF2-40B4-BE49-F238E27FC236}">
                <a16:creationId xmlns:a16="http://schemas.microsoft.com/office/drawing/2014/main" id="{C01F9B9C-899E-478D-AD95-A0B36172A2F3}"/>
              </a:ext>
            </a:extLst>
          </p:cNvPr>
          <p:cNvSpPr>
            <a:spLocks xmlns:a="http://schemas.openxmlformats.org/drawingml/2006/main" noGrp="1"/>
          </p:cNvSpPr>
          <p:nvPr/>
        </p:nvSpPr>
        <p:spPr>
          <a:xfrm xmlns:a="http://schemas.openxmlformats.org/drawingml/2006/main">
            <a:off x="723900" y="28575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15" name="">
            <a:extLst xmlns:a="http://schemas.openxmlformats.org/drawingml/2006/main">
              <a:ext uri="{FF2B5EF4-FFF2-40B4-BE49-F238E27FC236}">
                <a16:creationId xmlns:a16="http://schemas.microsoft.com/office/drawing/2014/main" id="{536B2F26-D5A0-45F0-8FE4-786F8EC28B4C}"/>
              </a:ext>
            </a:extLst>
          </p:cNvPr>
          <p:cNvSpPr>
            <a:spLocks xmlns:a="http://schemas.openxmlformats.org/drawingml/2006/main" noGrp="1"/>
          </p:cNvSpPr>
          <p:nvPr/>
        </p:nvSpPr>
        <p:spPr>
          <a:xfrm xmlns:a="http://schemas.openxmlformats.org/drawingml/2006/main">
            <a:off x="876300" y="29718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4 · Investigate</a:t>
            </a:r>
          </a:p>
        </p:txBody>
      </p:sp>
      <p:sp>
        <p:nvSpPr>
          <p:cNvPr id="16" name="">
            <a:extLst xmlns:a="http://schemas.openxmlformats.org/drawingml/2006/main">
              <a:ext uri="{FF2B5EF4-FFF2-40B4-BE49-F238E27FC236}">
                <a16:creationId xmlns:a16="http://schemas.microsoft.com/office/drawing/2014/main" id="{1C264E5F-C633-4A84-B7EC-5B9FD39D5D19}"/>
              </a:ext>
            </a:extLst>
          </p:cNvPr>
          <p:cNvSpPr>
            <a:spLocks xmlns:a="http://schemas.openxmlformats.org/drawingml/2006/main" noGrp="1"/>
          </p:cNvSpPr>
          <p:nvPr/>
        </p:nvSpPr>
        <p:spPr>
          <a:xfrm xmlns:a="http://schemas.openxmlformats.org/drawingml/2006/main">
            <a:off x="876300" y="33242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Payment hypothesis; no logs</a:t>
            </a:r>
          </a:p>
        </p:txBody>
      </p:sp>
      <p:sp>
        <p:nvSpPr>
          <p:cNvPr id="17" name="">
            <a:extLst xmlns:a="http://schemas.openxmlformats.org/drawingml/2006/main">
              <a:ext uri="{FF2B5EF4-FFF2-40B4-BE49-F238E27FC236}">
                <a16:creationId xmlns:a16="http://schemas.microsoft.com/office/drawing/2014/main" id="{7EBCDD07-AD20-4017-8AFD-EF5CB706BD27}"/>
              </a:ext>
            </a:extLst>
          </p:cNvPr>
          <p:cNvSpPr>
            <a:spLocks xmlns:a="http://schemas.openxmlformats.org/drawingml/2006/main" noGrp="1"/>
          </p:cNvSpPr>
          <p:nvPr/>
        </p:nvSpPr>
        <p:spPr>
          <a:xfrm xmlns:a="http://schemas.openxmlformats.org/drawingml/2006/main">
            <a:off x="4305300" y="28575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18" name="">
            <a:extLst xmlns:a="http://schemas.openxmlformats.org/drawingml/2006/main">
              <a:ext uri="{FF2B5EF4-FFF2-40B4-BE49-F238E27FC236}">
                <a16:creationId xmlns:a16="http://schemas.microsoft.com/office/drawing/2014/main" id="{F5780375-1943-45BD-938B-9969DC6CB8AC}"/>
              </a:ext>
            </a:extLst>
          </p:cNvPr>
          <p:cNvSpPr>
            <a:spLocks xmlns:a="http://schemas.openxmlformats.org/drawingml/2006/main" noGrp="1"/>
          </p:cNvSpPr>
          <p:nvPr/>
        </p:nvSpPr>
        <p:spPr>
          <a:xfrm xmlns:a="http://schemas.openxmlformats.org/drawingml/2006/main">
            <a:off x="4457700" y="29718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5 · Plan</a:t>
            </a:r>
          </a:p>
        </p:txBody>
      </p:sp>
      <p:sp>
        <p:nvSpPr>
          <p:cNvPr id="19" name="">
            <a:extLst xmlns:a="http://schemas.openxmlformats.org/drawingml/2006/main">
              <a:ext uri="{FF2B5EF4-FFF2-40B4-BE49-F238E27FC236}">
                <a16:creationId xmlns:a16="http://schemas.microsoft.com/office/drawing/2014/main" id="{91FF6EFF-818B-44CA-879C-91579AE9A252}"/>
              </a:ext>
            </a:extLst>
          </p:cNvPr>
          <p:cNvSpPr>
            <a:spLocks xmlns:a="http://schemas.openxmlformats.org/drawingml/2006/main" noGrp="1"/>
          </p:cNvSpPr>
          <p:nvPr/>
        </p:nvSpPr>
        <p:spPr>
          <a:xfrm xmlns:a="http://schemas.openxmlformats.org/drawingml/2006/main">
            <a:off x="4457700" y="33242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Tasks + acceptance criteria</a:t>
            </a:r>
          </a:p>
        </p:txBody>
      </p:sp>
      <p:sp>
        <p:nvSpPr>
          <p:cNvPr id="20" name="">
            <a:extLst xmlns:a="http://schemas.openxmlformats.org/drawingml/2006/main">
              <a:ext uri="{FF2B5EF4-FFF2-40B4-BE49-F238E27FC236}">
                <a16:creationId xmlns:a16="http://schemas.microsoft.com/office/drawing/2014/main" id="{A54F6FA3-A406-448A-AAA3-B33A59E917FE}"/>
              </a:ext>
            </a:extLst>
          </p:cNvPr>
          <p:cNvSpPr>
            <a:spLocks xmlns:a="http://schemas.openxmlformats.org/drawingml/2006/main" noGrp="1"/>
          </p:cNvSpPr>
          <p:nvPr/>
        </p:nvSpPr>
        <p:spPr>
          <a:xfrm xmlns:a="http://schemas.openxmlformats.org/drawingml/2006/main">
            <a:off x="7886700" y="28575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21" name="">
            <a:extLst xmlns:a="http://schemas.openxmlformats.org/drawingml/2006/main">
              <a:ext uri="{FF2B5EF4-FFF2-40B4-BE49-F238E27FC236}">
                <a16:creationId xmlns:a16="http://schemas.microsoft.com/office/drawing/2014/main" id="{3F49FAD4-D4D7-4950-897B-3C39748C92F1}"/>
              </a:ext>
            </a:extLst>
          </p:cNvPr>
          <p:cNvSpPr>
            <a:spLocks xmlns:a="http://schemas.openxmlformats.org/drawingml/2006/main" noGrp="1"/>
          </p:cNvSpPr>
          <p:nvPr/>
        </p:nvSpPr>
        <p:spPr>
          <a:xfrm xmlns:a="http://schemas.openxmlformats.org/drawingml/2006/main">
            <a:off x="8039100" y="29718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6 · Implement</a:t>
            </a:r>
          </a:p>
        </p:txBody>
      </p:sp>
      <p:sp>
        <p:nvSpPr>
          <p:cNvPr id="22" name="">
            <a:extLst xmlns:a="http://schemas.openxmlformats.org/drawingml/2006/main">
              <a:ext uri="{FF2B5EF4-FFF2-40B4-BE49-F238E27FC236}">
                <a16:creationId xmlns:a16="http://schemas.microsoft.com/office/drawing/2014/main" id="{709E413B-391A-42FC-AE18-14BEAA1166C2}"/>
              </a:ext>
            </a:extLst>
          </p:cNvPr>
          <p:cNvSpPr>
            <a:spLocks xmlns:a="http://schemas.openxmlformats.org/drawingml/2006/main" noGrp="1"/>
          </p:cNvSpPr>
          <p:nvPr/>
        </p:nvSpPr>
        <p:spPr>
          <a:xfrm xmlns:a="http://schemas.openxmlformats.org/drawingml/2006/main">
            <a:off x="8039100" y="33242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Draft request; no patch</a:t>
            </a:r>
          </a:p>
        </p:txBody>
      </p:sp>
      <p:sp>
        <p:nvSpPr>
          <p:cNvPr id="23" name="">
            <a:extLst xmlns:a="http://schemas.openxmlformats.org/drawingml/2006/main">
              <a:ext uri="{FF2B5EF4-FFF2-40B4-BE49-F238E27FC236}">
                <a16:creationId xmlns:a16="http://schemas.microsoft.com/office/drawing/2014/main" id="{77125308-73D1-429E-932C-4A56C7BDB08C}"/>
              </a:ext>
            </a:extLst>
          </p:cNvPr>
          <p:cNvSpPr>
            <a:spLocks xmlns:a="http://schemas.openxmlformats.org/drawingml/2006/main" noGrp="1"/>
          </p:cNvSpPr>
          <p:nvPr/>
        </p:nvSpPr>
        <p:spPr>
          <a:xfrm xmlns:a="http://schemas.openxmlformats.org/drawingml/2006/main">
            <a:off x="723900" y="39624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24" name="">
            <a:extLst xmlns:a="http://schemas.openxmlformats.org/drawingml/2006/main">
              <a:ext uri="{FF2B5EF4-FFF2-40B4-BE49-F238E27FC236}">
                <a16:creationId xmlns:a16="http://schemas.microsoft.com/office/drawing/2014/main" id="{0AC50B7A-ABA7-45BE-BB4D-C40543B20EFA}"/>
              </a:ext>
            </a:extLst>
          </p:cNvPr>
          <p:cNvSpPr>
            <a:spLocks xmlns:a="http://schemas.openxmlformats.org/drawingml/2006/main" noGrp="1"/>
          </p:cNvSpPr>
          <p:nvPr/>
        </p:nvSpPr>
        <p:spPr>
          <a:xfrm xmlns:a="http://schemas.openxmlformats.org/drawingml/2006/main">
            <a:off x="876300" y="40767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7 · QA</a:t>
            </a:r>
          </a:p>
        </p:txBody>
      </p:sp>
      <p:sp>
        <p:nvSpPr>
          <p:cNvPr id="25" name="">
            <a:extLst xmlns:a="http://schemas.openxmlformats.org/drawingml/2006/main">
              <a:ext uri="{FF2B5EF4-FFF2-40B4-BE49-F238E27FC236}">
                <a16:creationId xmlns:a16="http://schemas.microsoft.com/office/drawing/2014/main" id="{A473CC42-FFD2-4123-ABE5-4F466D1C6DAB}"/>
              </a:ext>
            </a:extLst>
          </p:cNvPr>
          <p:cNvSpPr>
            <a:spLocks xmlns:a="http://schemas.openxmlformats.org/drawingml/2006/main" noGrp="1"/>
          </p:cNvSpPr>
          <p:nvPr/>
        </p:nvSpPr>
        <p:spPr>
          <a:xfrm xmlns:a="http://schemas.openxmlformats.org/drawingml/2006/main">
            <a:off x="876300" y="44291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Checklist; tests undetermined</a:t>
            </a:r>
          </a:p>
        </p:txBody>
      </p:sp>
      <p:sp>
        <p:nvSpPr>
          <p:cNvPr id="26" name="">
            <a:extLst xmlns:a="http://schemas.openxmlformats.org/drawingml/2006/main">
              <a:ext uri="{FF2B5EF4-FFF2-40B4-BE49-F238E27FC236}">
                <a16:creationId xmlns:a16="http://schemas.microsoft.com/office/drawing/2014/main" id="{30CF9B04-2D53-4D5B-9415-693DD897EE1D}"/>
              </a:ext>
            </a:extLst>
          </p:cNvPr>
          <p:cNvSpPr>
            <a:spLocks xmlns:a="http://schemas.openxmlformats.org/drawingml/2006/main" noGrp="1"/>
          </p:cNvSpPr>
          <p:nvPr/>
        </p:nvSpPr>
        <p:spPr>
          <a:xfrm xmlns:a="http://schemas.openxmlformats.org/drawingml/2006/main">
            <a:off x="4305300" y="39624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27" name="">
            <a:extLst xmlns:a="http://schemas.openxmlformats.org/drawingml/2006/main">
              <a:ext uri="{FF2B5EF4-FFF2-40B4-BE49-F238E27FC236}">
                <a16:creationId xmlns:a16="http://schemas.microsoft.com/office/drawing/2014/main" id="{7487DA4A-89D8-4AE2-9E42-166FBC47F0CB}"/>
              </a:ext>
            </a:extLst>
          </p:cNvPr>
          <p:cNvSpPr>
            <a:spLocks xmlns:a="http://schemas.openxmlformats.org/drawingml/2006/main" noGrp="1"/>
          </p:cNvSpPr>
          <p:nvPr/>
        </p:nvSpPr>
        <p:spPr>
          <a:xfrm xmlns:a="http://schemas.openxmlformats.org/drawingml/2006/main">
            <a:off x="4457700" y="40767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8 · Deploy</a:t>
            </a:r>
          </a:p>
        </p:txBody>
      </p:sp>
      <p:sp>
        <p:nvSpPr>
          <p:cNvPr id="28" name="">
            <a:extLst xmlns:a="http://schemas.openxmlformats.org/drawingml/2006/main">
              <a:ext uri="{FF2B5EF4-FFF2-40B4-BE49-F238E27FC236}">
                <a16:creationId xmlns:a16="http://schemas.microsoft.com/office/drawing/2014/main" id="{CE644DFB-37FA-45DA-80AD-CF3AF5EB26FC}"/>
              </a:ext>
            </a:extLst>
          </p:cNvPr>
          <p:cNvSpPr>
            <a:spLocks xmlns:a="http://schemas.openxmlformats.org/drawingml/2006/main" noGrp="1"/>
          </p:cNvSpPr>
          <p:nvPr/>
        </p:nvSpPr>
        <p:spPr>
          <a:xfrm xmlns:a="http://schemas.openxmlformats.org/drawingml/2006/main">
            <a:off x="4457700" y="44291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5% canary proposal; no release</a:t>
            </a:r>
          </a:p>
        </p:txBody>
      </p:sp>
      <p:sp>
        <p:nvSpPr>
          <p:cNvPr id="29" name="">
            <a:extLst xmlns:a="http://schemas.openxmlformats.org/drawingml/2006/main">
              <a:ext uri="{FF2B5EF4-FFF2-40B4-BE49-F238E27FC236}">
                <a16:creationId xmlns:a16="http://schemas.microsoft.com/office/drawing/2014/main" id="{C6CF9B0D-12D5-47AF-BDEC-8F908029CFF7}"/>
              </a:ext>
            </a:extLst>
          </p:cNvPr>
          <p:cNvSpPr>
            <a:spLocks xmlns:a="http://schemas.openxmlformats.org/drawingml/2006/main" noGrp="1"/>
          </p:cNvSpPr>
          <p:nvPr/>
        </p:nvSpPr>
        <p:spPr>
          <a:xfrm xmlns:a="http://schemas.openxmlformats.org/drawingml/2006/main">
            <a:off x="7886700" y="3962400"/>
            <a:ext cx="3314700" cy="876300"/>
          </a:xfrm>
          <a:prstGeom xmlns:a="http://schemas.openxmlformats.org/drawingml/2006/main" prst="roundRect">
            <a:avLst>
              <a:gd name="adj" fmla="val 15217"/>
            </a:avLst>
          </a:prstGeom>
          <a:solidFill xmlns:a="http://schemas.openxmlformats.org/drawingml/2006/main">
            <a:srgbClr val="FFFFFF"/>
          </a:solidFill>
          <a:ln xmlns:a="http://schemas.openxmlformats.org/drawingml/2006/main" w="9525">
            <a:solidFill>
              <a:srgbClr val="D7E0E9"/>
            </a:solidFill>
          </a:ln>
        </p:spPr>
      </p:sp>
      <p:sp>
        <p:nvSpPr>
          <p:cNvPr id="30" name="">
            <a:extLst xmlns:a="http://schemas.openxmlformats.org/drawingml/2006/main">
              <a:ext uri="{FF2B5EF4-FFF2-40B4-BE49-F238E27FC236}">
                <a16:creationId xmlns:a16="http://schemas.microsoft.com/office/drawing/2014/main" id="{150E1979-1FFF-457B-9A11-498D40625F00}"/>
              </a:ext>
            </a:extLst>
          </p:cNvPr>
          <p:cNvSpPr>
            <a:spLocks xmlns:a="http://schemas.openxmlformats.org/drawingml/2006/main" noGrp="1"/>
          </p:cNvSpPr>
          <p:nvPr/>
        </p:nvSpPr>
        <p:spPr>
          <a:xfrm xmlns:a="http://schemas.openxmlformats.org/drawingml/2006/main">
            <a:off x="8039100" y="4076700"/>
            <a:ext cx="3009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9 · Monitor</a:t>
            </a:r>
          </a:p>
        </p:txBody>
      </p:sp>
      <p:sp>
        <p:nvSpPr>
          <p:cNvPr id="31" name="">
            <a:extLst xmlns:a="http://schemas.openxmlformats.org/drawingml/2006/main">
              <a:ext uri="{FF2B5EF4-FFF2-40B4-BE49-F238E27FC236}">
                <a16:creationId xmlns:a16="http://schemas.microsoft.com/office/drawing/2014/main" id="{0E559560-1B01-4297-822D-F71C8C27F6BB}"/>
              </a:ext>
            </a:extLst>
          </p:cNvPr>
          <p:cNvSpPr>
            <a:spLocks xmlns:a="http://schemas.openxmlformats.org/drawingml/2006/main" noGrp="1"/>
          </p:cNvSpPr>
          <p:nvPr/>
        </p:nvSpPr>
        <p:spPr>
          <a:xfrm xmlns:a="http://schemas.openxmlformats.org/drawingml/2006/main">
            <a:off x="8039100" y="44291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No telemetry connected</a:t>
            </a:r>
          </a:p>
        </p:txBody>
      </p:sp>
      <p:sp>
        <p:nvSpPr>
          <p:cNvPr id="32" name="">
            <a:extLst xmlns:a="http://schemas.openxmlformats.org/drawingml/2006/main">
              <a:ext uri="{FF2B5EF4-FFF2-40B4-BE49-F238E27FC236}">
                <a16:creationId xmlns:a16="http://schemas.microsoft.com/office/drawing/2014/main" id="{3199C20E-BE1B-4972-AA50-01FBB15D852C}"/>
              </a:ext>
            </a:extLst>
          </p:cNvPr>
          <p:cNvSpPr>
            <a:spLocks xmlns:a="http://schemas.openxmlformats.org/drawingml/2006/main" noGrp="1"/>
          </p:cNvSpPr>
          <p:nvPr/>
        </p:nvSpPr>
        <p:spPr>
          <a:xfrm xmlns:a="http://schemas.openxmlformats.org/drawingml/2006/main">
            <a:off x="723900" y="5219700"/>
            <a:ext cx="10744200" cy="638175"/>
          </a:xfrm>
          <a:prstGeom xmlns:a="http://schemas.openxmlformats.org/drawingml/2006/main" prst="roundRect">
            <a:avLst>
              <a:gd name="adj" fmla="val 20896"/>
            </a:avLst>
          </a:prstGeom>
          <a:solidFill xmlns:a="http://schemas.openxmlformats.org/drawingml/2006/main">
            <a:srgbClr val="DDEFEA"/>
          </a:solidFill>
          <a:ln xmlns:a="http://schemas.openxmlformats.org/drawingml/2006/main" w="9525">
            <a:noFill/>
          </a:ln>
        </p:spPr>
      </p:sp>
      <p:sp>
        <p:nvSpPr>
          <p:cNvPr id="33" name="">
            <a:extLst xmlns:a="http://schemas.openxmlformats.org/drawingml/2006/main">
              <a:ext uri="{FF2B5EF4-FFF2-40B4-BE49-F238E27FC236}">
                <a16:creationId xmlns:a16="http://schemas.microsoft.com/office/drawing/2014/main" id="{F60B7123-8616-426A-BEA3-B3DFF5E42347}"/>
              </a:ext>
            </a:extLst>
          </p:cNvPr>
          <p:cNvSpPr>
            <a:spLocks xmlns:a="http://schemas.openxmlformats.org/drawingml/2006/main" noGrp="1"/>
          </p:cNvSpPr>
          <p:nvPr/>
        </p:nvSpPr>
        <p:spPr>
          <a:xfrm xmlns:a="http://schemas.openxmlformats.org/drawingml/2006/main">
            <a:off x="914400" y="5353050"/>
            <a:ext cx="10353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7500"/>
          </a:bodyPr>
          <a:lstStyle xmlns:a="http://schemas.openxmlformats.org/drawingml/2006/main"/>
          <a:p xmlns:a="http://schemas.openxmlformats.org/drawingml/2006/main">
            <a:pPr algn="l">
              <a:defRPr sz="1500" b="1">
                <a:solidFill>
                  <a:srgbClr val="18324B"/>
                </a:solidFill>
                <a:latin typeface="Arial"/>
                <a:ea typeface="Arial"/>
                <a:cs typeface="Arial"/>
              </a:defRPr>
            </a:pPr>
            <a:r>
              <a:rPr sz="1500" b="1">
                <a:solidFill>
                  <a:srgbClr val="18324B"/>
                </a:solidFill>
                <a:latin typeface="Arial"/>
                <a:ea typeface="Arial"/>
                <a:cs typeface="Arial"/>
              </a:rPr>
              <a:t>High confidence is 0.68, below tau = 0.70, so triage pauses for review. A reviewer can accept, reject or request changes; the stage then resumes or reruns.</a:t>
            </a:r>
          </a:p>
        </p:txBody>
      </p:sp>
    </p:spTree>
    <p:extLst>
      <p:ext uri="{BB962C8B-B14F-4D97-AF65-F5344CB8AC3E}">
        <p14:creationId xmlns:p14="http://schemas.microsoft.com/office/powerpoint/2010/main" val="1303981473"/>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51EF5E1-6E09-498D-B27B-CC0042317CD8}"/>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AI integration is hybrid, with a bounded optional LLM</a:t>
            </a:r>
          </a:p>
        </p:txBody>
      </p:sp>
      <p:sp>
        <p:nvSpPr>
          <p:cNvPr id="2" name="">
            <a:extLst xmlns:a="http://schemas.openxmlformats.org/drawingml/2006/main">
              <a:ext uri="{FF2B5EF4-FFF2-40B4-BE49-F238E27FC236}">
                <a16:creationId xmlns:a16="http://schemas.microsoft.com/office/drawing/2014/main" id="{EEFA764A-8380-4D33-A797-9D51ADB44C52}"/>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796F3EC-03F8-40B7-80AD-D6D113C233FC}"/>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The interactive path, benchmark and separate ML modules use different methods</a:t>
            </a:r>
          </a:p>
        </p:txBody>
      </p:sp>
      <p:sp>
        <p:nvSpPr>
          <p:cNvPr id="4" name="">
            <a:extLst xmlns:a="http://schemas.openxmlformats.org/drawingml/2006/main">
              <a:ext uri="{FF2B5EF4-FFF2-40B4-BE49-F238E27FC236}">
                <a16:creationId xmlns:a16="http://schemas.microsoft.com/office/drawing/2014/main" id="{AA095DDC-A19D-4143-A10F-0BADD4324AED}"/>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17E245F8-9C0F-48EA-BC15-423ABF7D386D}"/>
              </a:ext>
            </a:extLst>
          </p:cNvPr>
          <p:cNvSpPr>
            <a:spLocks xmlns:a="http://schemas.openxmlformats.org/drawingml/2006/main" noGrp="1"/>
          </p:cNvSpPr>
          <p:nvPr/>
        </p:nvSpPr>
        <p:spPr>
          <a:xfrm xmlns:a="http://schemas.openxmlformats.org/drawingml/2006/main">
            <a:off x="742950" y="1695450"/>
            <a:ext cx="66675" cy="60007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F68F6D4-14C3-425A-A734-F39E766DF856}"/>
              </a:ext>
            </a:extLst>
          </p:cNvPr>
          <p:cNvSpPr>
            <a:spLocks xmlns:a="http://schemas.openxmlformats.org/drawingml/2006/main" noGrp="1"/>
          </p:cNvSpPr>
          <p:nvPr/>
        </p:nvSpPr>
        <p:spPr>
          <a:xfrm xmlns:a="http://schemas.openxmlformats.org/drawingml/2006/main">
            <a:off x="962025" y="16478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Manual triage</a:t>
            </a:r>
          </a:p>
        </p:txBody>
      </p:sp>
      <p:sp>
        <p:nvSpPr>
          <p:cNvPr id="7" name="">
            <a:extLst xmlns:a="http://schemas.openxmlformats.org/drawingml/2006/main">
              <a:ext uri="{FF2B5EF4-FFF2-40B4-BE49-F238E27FC236}">
                <a16:creationId xmlns:a16="http://schemas.microsoft.com/office/drawing/2014/main" id="{D240C00F-934D-4CC5-9292-4915AD993CE8}"/>
              </a:ext>
            </a:extLst>
          </p:cNvPr>
          <p:cNvSpPr>
            <a:spLocks xmlns:a="http://schemas.openxmlformats.org/drawingml/2006/main" noGrp="1"/>
          </p:cNvSpPr>
          <p:nvPr/>
        </p:nvSpPr>
        <p:spPr>
          <a:xfrm xmlns:a="http://schemas.openxmlformats.org/drawingml/2006/main">
            <a:off x="3171825" y="1647825"/>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Explainable rules by default. Optional OpenRouter proposes severity/category; confidence is capped at 0.69, so the human gate still applies.</a:t>
            </a:r>
          </a:p>
        </p:txBody>
      </p:sp>
      <p:sp>
        <p:nvSpPr>
          <p:cNvPr id="8" name="">
            <a:extLst xmlns:a="http://schemas.openxmlformats.org/drawingml/2006/main">
              <a:ext uri="{FF2B5EF4-FFF2-40B4-BE49-F238E27FC236}">
                <a16:creationId xmlns:a16="http://schemas.microsoft.com/office/drawing/2014/main" id="{0974EE80-1F47-4AA8-A704-AA3BC95AA503}"/>
              </a:ext>
            </a:extLst>
          </p:cNvPr>
          <p:cNvSpPr>
            <a:spLocks xmlns:a="http://schemas.openxmlformats.org/drawingml/2006/main" noGrp="1"/>
          </p:cNvSpPr>
          <p:nvPr/>
        </p:nvSpPr>
        <p:spPr>
          <a:xfrm xmlns:a="http://schemas.openxmlformats.org/drawingml/2006/main">
            <a:off x="962025" y="2343150"/>
            <a:ext cx="10315575"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F2F172F-D596-407D-AC20-1051B706D4E2}"/>
              </a:ext>
            </a:extLst>
          </p:cNvPr>
          <p:cNvSpPr>
            <a:spLocks xmlns:a="http://schemas.openxmlformats.org/drawingml/2006/main" noGrp="1"/>
          </p:cNvSpPr>
          <p:nvPr/>
        </p:nvSpPr>
        <p:spPr>
          <a:xfrm xmlns:a="http://schemas.openxmlformats.org/drawingml/2006/main">
            <a:off x="742950" y="2524125"/>
            <a:ext cx="66675" cy="600075"/>
          </a:xfrm>
          <a:prstGeom xmlns:a="http://schemas.openxmlformats.org/drawingml/2006/main" prst="rect">
            <a:avLst/>
          </a:prstGeom>
          <a:solidFill xmlns:a="http://schemas.openxmlformats.org/drawingml/2006/main">
            <a:srgbClr val="3B6FA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11BA4DE-7E4E-47E9-B0C8-1FDEEC5EFBC4}"/>
              </a:ext>
            </a:extLst>
          </p:cNvPr>
          <p:cNvSpPr>
            <a:spLocks xmlns:a="http://schemas.openxmlformats.org/drawingml/2006/main" noGrp="1"/>
          </p:cNvSpPr>
          <p:nvPr/>
        </p:nvSpPr>
        <p:spPr>
          <a:xfrm xmlns:a="http://schemas.openxmlformats.org/drawingml/2006/main">
            <a:off x="962025" y="24765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Review feedback</a:t>
            </a:r>
          </a:p>
        </p:txBody>
      </p:sp>
      <p:sp>
        <p:nvSpPr>
          <p:cNvPr id="11" name="">
            <a:extLst xmlns:a="http://schemas.openxmlformats.org/drawingml/2006/main">
              <a:ext uri="{FF2B5EF4-FFF2-40B4-BE49-F238E27FC236}">
                <a16:creationId xmlns:a16="http://schemas.microsoft.com/office/drawing/2014/main" id="{1FE982F1-705A-45A1-8EE3-F1BEF587CB87}"/>
              </a:ext>
            </a:extLst>
          </p:cNvPr>
          <p:cNvSpPr>
            <a:spLocks xmlns:a="http://schemas.openxmlformats.org/drawingml/2006/main" noGrp="1"/>
          </p:cNvSpPr>
          <p:nvPr/>
        </p:nvSpPr>
        <p:spPr>
          <a:xfrm xmlns:a="http://schemas.openxmlformats.org/drawingml/2006/main">
            <a:off x="3171825" y="2476500"/>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Optional OpenRouter structures a note into changes, constraints and evidence. It can ask for clarification; reviewer decisions stay human.</a:t>
            </a:r>
          </a:p>
        </p:txBody>
      </p:sp>
      <p:sp>
        <p:nvSpPr>
          <p:cNvPr id="12" name="">
            <a:extLst xmlns:a="http://schemas.openxmlformats.org/drawingml/2006/main">
              <a:ext uri="{FF2B5EF4-FFF2-40B4-BE49-F238E27FC236}">
                <a16:creationId xmlns:a16="http://schemas.microsoft.com/office/drawing/2014/main" id="{6B7BDE34-69E5-453C-AF94-85009189FCFA}"/>
              </a:ext>
            </a:extLst>
          </p:cNvPr>
          <p:cNvSpPr>
            <a:spLocks xmlns:a="http://schemas.openxmlformats.org/drawingml/2006/main" noGrp="1"/>
          </p:cNvSpPr>
          <p:nvPr/>
        </p:nvSpPr>
        <p:spPr>
          <a:xfrm xmlns:a="http://schemas.openxmlformats.org/drawingml/2006/main">
            <a:off x="962025" y="3171825"/>
            <a:ext cx="10315575"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AB3F6D2-B2B5-4257-BB4A-3D8C8B4C419B}"/>
              </a:ext>
            </a:extLst>
          </p:cNvPr>
          <p:cNvSpPr>
            <a:spLocks xmlns:a="http://schemas.openxmlformats.org/drawingml/2006/main" noGrp="1"/>
          </p:cNvSpPr>
          <p:nvPr/>
        </p:nvSpPr>
        <p:spPr>
          <a:xfrm xmlns:a="http://schemas.openxmlformats.org/drawingml/2006/main">
            <a:off x="742950" y="3352800"/>
            <a:ext cx="66675" cy="600075"/>
          </a:xfrm>
          <a:prstGeom xmlns:a="http://schemas.openxmlformats.org/drawingml/2006/main" prst="rect">
            <a:avLst/>
          </a:prstGeom>
          <a:solidFill xmlns:a="http://schemas.openxmlformats.org/drawingml/2006/main">
            <a:srgbClr val="B77A2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A19E086-BEB8-4060-85A2-5522EABB30B7}"/>
              </a:ext>
            </a:extLst>
          </p:cNvPr>
          <p:cNvSpPr>
            <a:spLocks xmlns:a="http://schemas.openxmlformats.org/drawingml/2006/main" noGrp="1"/>
          </p:cNvSpPr>
          <p:nvPr/>
        </p:nvSpPr>
        <p:spPr>
          <a:xfrm xmlns:a="http://schemas.openxmlformats.org/drawingml/2006/main">
            <a:off x="962025" y="33051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Original idea · dedup</a:t>
            </a:r>
          </a:p>
        </p:txBody>
      </p:sp>
      <p:sp>
        <p:nvSpPr>
          <p:cNvPr id="15" name="">
            <a:extLst xmlns:a="http://schemas.openxmlformats.org/drawingml/2006/main">
              <a:ext uri="{FF2B5EF4-FFF2-40B4-BE49-F238E27FC236}">
                <a16:creationId xmlns:a16="http://schemas.microsoft.com/office/drawing/2014/main" id="{F719D605-6212-4DAB-A866-59032FDDE6B6}"/>
              </a:ext>
            </a:extLst>
          </p:cNvPr>
          <p:cNvSpPr>
            <a:spLocks xmlns:a="http://schemas.openxmlformats.org/drawingml/2006/main" noGrp="1"/>
          </p:cNvSpPr>
          <p:nvPr/>
        </p:nvSpPr>
        <p:spPr>
          <a:xfrm xmlns:a="http://schemas.openxmlformats.org/drawingml/2006/main">
            <a:off x="3171825" y="3305175"/>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A/B cosine ≈ 0.994 exceeds 0.85; unrelated A/C ≈ 0.119 becomes a new ticket. Sandbox does not run dedup.</a:t>
            </a:r>
          </a:p>
        </p:txBody>
      </p:sp>
      <p:sp>
        <p:nvSpPr>
          <p:cNvPr id="16" name="">
            <a:extLst xmlns:a="http://schemas.openxmlformats.org/drawingml/2006/main">
              <a:ext uri="{FF2B5EF4-FFF2-40B4-BE49-F238E27FC236}">
                <a16:creationId xmlns:a16="http://schemas.microsoft.com/office/drawing/2014/main" id="{9102D941-8EF0-471A-B803-DCAF2EF12F32}"/>
              </a:ext>
            </a:extLst>
          </p:cNvPr>
          <p:cNvSpPr>
            <a:spLocks xmlns:a="http://schemas.openxmlformats.org/drawingml/2006/main" noGrp="1"/>
          </p:cNvSpPr>
          <p:nvPr/>
        </p:nvSpPr>
        <p:spPr>
          <a:xfrm xmlns:a="http://schemas.openxmlformats.org/drawingml/2006/main">
            <a:off x="962025" y="4000500"/>
            <a:ext cx="10315575"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1CFEA5F-432F-4B77-B5A1-C787FE0B6AE8}"/>
              </a:ext>
            </a:extLst>
          </p:cNvPr>
          <p:cNvSpPr>
            <a:spLocks xmlns:a="http://schemas.openxmlformats.org/drawingml/2006/main" noGrp="1"/>
          </p:cNvSpPr>
          <p:nvPr/>
        </p:nvSpPr>
        <p:spPr>
          <a:xfrm xmlns:a="http://schemas.openxmlformats.org/drawingml/2006/main">
            <a:off x="742950" y="4181475"/>
            <a:ext cx="66675" cy="600075"/>
          </a:xfrm>
          <a:prstGeom xmlns:a="http://schemas.openxmlformats.org/drawingml/2006/main" prst="rect">
            <a:avLst/>
          </a:prstGeom>
          <a:solidFill xmlns:a="http://schemas.openxmlformats.org/drawingml/2006/main">
            <a:srgbClr val="B653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EC12665-423E-4BEF-9160-E7C695510160}"/>
              </a:ext>
            </a:extLst>
          </p:cNvPr>
          <p:cNvSpPr>
            <a:spLocks xmlns:a="http://schemas.openxmlformats.org/drawingml/2006/main" noGrp="1"/>
          </p:cNvSpPr>
          <p:nvPr/>
        </p:nvSpPr>
        <p:spPr>
          <a:xfrm xmlns:a="http://schemas.openxmlformats.org/drawingml/2006/main">
            <a:off x="962025" y="41338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Separate models</a:t>
            </a:r>
          </a:p>
        </p:txBody>
      </p:sp>
      <p:sp>
        <p:nvSpPr>
          <p:cNvPr id="19" name="">
            <a:extLst xmlns:a="http://schemas.openxmlformats.org/drawingml/2006/main">
              <a:ext uri="{FF2B5EF4-FFF2-40B4-BE49-F238E27FC236}">
                <a16:creationId xmlns:a16="http://schemas.microsoft.com/office/drawing/2014/main" id="{51E2703B-FF47-42F7-9D04-A49BEFC17C6E}"/>
              </a:ext>
            </a:extLst>
          </p:cNvPr>
          <p:cNvSpPr>
            <a:spLocks xmlns:a="http://schemas.openxmlformats.org/drawingml/2006/main" noGrp="1"/>
          </p:cNvSpPr>
          <p:nvPr/>
        </p:nvSpPr>
        <p:spPr>
          <a:xfrm xmlns:a="http://schemas.openxmlformats.org/drawingml/2006/main">
            <a:off x="3171825" y="4133850"/>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Benchmark: TF-IDF + calibrated LinearSVC. Triage module: embeddings + FAISS and optional DistilBERT. RCA: GraphSAGE.</a:t>
            </a:r>
          </a:p>
        </p:txBody>
      </p:sp>
      <p:sp>
        <p:nvSpPr>
          <p:cNvPr id="20" name="">
            <a:extLst xmlns:a="http://schemas.openxmlformats.org/drawingml/2006/main">
              <a:ext uri="{FF2B5EF4-FFF2-40B4-BE49-F238E27FC236}">
                <a16:creationId xmlns:a16="http://schemas.microsoft.com/office/drawing/2014/main" id="{7679DD00-72A3-4F58-967D-F918F635B6C2}"/>
              </a:ext>
            </a:extLst>
          </p:cNvPr>
          <p:cNvSpPr>
            <a:spLocks xmlns:a="http://schemas.openxmlformats.org/drawingml/2006/main" noGrp="1"/>
          </p:cNvSpPr>
          <p:nvPr/>
        </p:nvSpPr>
        <p:spPr>
          <a:xfrm xmlns:a="http://schemas.openxmlformats.org/drawingml/2006/main">
            <a:off x="962025" y="4829175"/>
            <a:ext cx="10315575"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52DBA3A-8B58-41E8-B1CF-9EAF1FE2C20A}"/>
              </a:ext>
            </a:extLst>
          </p:cNvPr>
          <p:cNvSpPr>
            <a:spLocks xmlns:a="http://schemas.openxmlformats.org/drawingml/2006/main" noGrp="1"/>
          </p:cNvSpPr>
          <p:nvPr/>
        </p:nvSpPr>
        <p:spPr>
          <a:xfrm xmlns:a="http://schemas.openxmlformats.org/drawingml/2006/main">
            <a:off x="742950" y="5010150"/>
            <a:ext cx="66675" cy="600075"/>
          </a:xfrm>
          <a:prstGeom xmlns:a="http://schemas.openxmlformats.org/drawingml/2006/main" prst="rect">
            <a:avLst/>
          </a:prstGeom>
          <a:solidFill xmlns:a="http://schemas.openxmlformats.org/drawingml/2006/main">
            <a:srgbClr val="4B806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3672340-DD52-4E00-91AB-6A4CEB2BFFF2}"/>
              </a:ext>
            </a:extLst>
          </p:cNvPr>
          <p:cNvSpPr>
            <a:spLocks xmlns:a="http://schemas.openxmlformats.org/drawingml/2006/main" noGrp="1"/>
          </p:cNvSpPr>
          <p:nvPr/>
        </p:nvSpPr>
        <p:spPr>
          <a:xfrm xmlns:a="http://schemas.openxmlformats.org/drawingml/2006/main">
            <a:off x="962025" y="49625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Separate policies</a:t>
            </a:r>
          </a:p>
        </p:txBody>
      </p:sp>
      <p:sp>
        <p:nvSpPr>
          <p:cNvPr id="23" name="">
            <a:extLst xmlns:a="http://schemas.openxmlformats.org/drawingml/2006/main">
              <a:ext uri="{FF2B5EF4-FFF2-40B4-BE49-F238E27FC236}">
                <a16:creationId xmlns:a16="http://schemas.microsoft.com/office/drawing/2014/main" id="{4FF99CC5-03E8-49CA-B204-5DB115628930}"/>
              </a:ext>
            </a:extLst>
          </p:cNvPr>
          <p:cNvSpPr>
            <a:spLocks xmlns:a="http://schemas.openxmlformats.org/drawingml/2006/main" noGrp="1"/>
          </p:cNvSpPr>
          <p:nvPr/>
        </p:nvSpPr>
        <p:spPr>
          <a:xfrm xmlns:a="http://schemas.openxmlformats.org/drawingml/2006/main">
            <a:off x="3171825" y="4962525"/>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Contract Net assigns workers. PPO/DQN run in CI/canary simulations. No connected code-writing model, live CI or deployment.</a:t>
            </a:r>
          </a:p>
        </p:txBody>
      </p:sp>
      <p:sp>
        <p:nvSpPr>
          <p:cNvPr id="24" name="">
            <a:extLst xmlns:a="http://schemas.openxmlformats.org/drawingml/2006/main">
              <a:ext uri="{FF2B5EF4-FFF2-40B4-BE49-F238E27FC236}">
                <a16:creationId xmlns:a16="http://schemas.microsoft.com/office/drawing/2014/main" id="{9DA1AAD9-D017-4264-9ADA-896AAC568B31}"/>
              </a:ext>
            </a:extLst>
          </p:cNvPr>
          <p:cNvSpPr>
            <a:spLocks xmlns:a="http://schemas.openxmlformats.org/drawingml/2006/main" noGrp="1"/>
          </p:cNvSpPr>
          <p:nvPr/>
        </p:nvSpPr>
        <p:spPr>
          <a:xfrm xmlns:a="http://schemas.openxmlformats.org/drawingml/2006/main">
            <a:off x="742950" y="5934075"/>
            <a:ext cx="10525125" cy="361950"/>
          </a:xfrm>
          <a:prstGeom xmlns:a="http://schemas.openxmlformats.org/drawingml/2006/main" prst="roundRect">
            <a:avLst>
              <a:gd name="adj" fmla="val 26316"/>
            </a:avLst>
          </a:prstGeom>
          <a:solidFill xmlns:a="http://schemas.openxmlformats.org/drawingml/2006/main">
            <a:srgbClr val="F7E6E3"/>
          </a:solidFill>
          <a:ln xmlns:a="http://schemas.openxmlformats.org/drawingml/2006/main" w="9525">
            <a:noFill/>
          </a:ln>
        </p:spPr>
      </p:sp>
      <p:sp>
        <p:nvSpPr>
          <p:cNvPr id="25" name="">
            <a:extLst xmlns:a="http://schemas.openxmlformats.org/drawingml/2006/main">
              <a:ext uri="{FF2B5EF4-FFF2-40B4-BE49-F238E27FC236}">
                <a16:creationId xmlns:a16="http://schemas.microsoft.com/office/drawing/2014/main" id="{86C98CAB-C002-486F-8C0A-273DF7F5F2E1}"/>
              </a:ext>
            </a:extLst>
          </p:cNvPr>
          <p:cNvSpPr>
            <a:spLocks xmlns:a="http://schemas.openxmlformats.org/drawingml/2006/main" noGrp="1"/>
          </p:cNvSpPr>
          <p:nvPr/>
        </p:nvSpPr>
        <p:spPr>
          <a:xfrm xmlns:a="http://schemas.openxmlformats.org/drawingml/2006/main">
            <a:off x="895350" y="5981700"/>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Benchmark: no hosted LLM. Interactive sandbox: optional OpenRouter when configured.</a:t>
            </a:r>
          </a:p>
        </p:txBody>
      </p:sp>
    </p:spTree>
    <p:extLst>
      <p:ext uri="{BB962C8B-B14F-4D97-AF65-F5344CB8AC3E}">
        <p14:creationId xmlns:p14="http://schemas.microsoft.com/office/powerpoint/2010/main" val="695036463"/>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EF16A5C-1461-43A1-8DBB-547D6386F6D4}"/>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A2 vs A3: static and mobile execution</a:t>
            </a:r>
          </a:p>
        </p:txBody>
      </p:sp>
      <p:sp>
        <p:nvSpPr>
          <p:cNvPr id="2" name="">
            <a:extLst xmlns:a="http://schemas.openxmlformats.org/drawingml/2006/main">
              <a:ext uri="{FF2B5EF4-FFF2-40B4-BE49-F238E27FC236}">
                <a16:creationId xmlns:a16="http://schemas.microsoft.com/office/drawing/2014/main" id="{1B942AA7-545B-4F89-BE6C-066652511494}"/>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5429EF-91D7-499D-8ED8-9A4886C65685}"/>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Mobility is about moving a signed agent to the data, not adding another role</a:t>
            </a:r>
          </a:p>
        </p:txBody>
      </p:sp>
      <p:sp>
        <p:nvSpPr>
          <p:cNvPr id="4" name="">
            <a:extLst xmlns:a="http://schemas.openxmlformats.org/drawingml/2006/main">
              <a:ext uri="{FF2B5EF4-FFF2-40B4-BE49-F238E27FC236}">
                <a16:creationId xmlns:a16="http://schemas.microsoft.com/office/drawing/2014/main" id="{149B1CBC-A250-4481-9336-555F36879E4D}"/>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EEDAB9CB-6699-44FC-A5ED-0E8029278563}"/>
              </a:ext>
            </a:extLst>
          </p:cNvPr>
          <p:cNvSpPr>
            <a:spLocks xmlns:a="http://schemas.openxmlformats.org/drawingml/2006/main" noGrp="1"/>
          </p:cNvSpPr>
          <p:nvPr/>
        </p:nvSpPr>
        <p:spPr>
          <a:xfrm xmlns:a="http://schemas.openxmlformats.org/drawingml/2006/main">
            <a:off x="857250" y="1809750"/>
            <a:ext cx="4143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3B6FA5"/>
                </a:solidFill>
                <a:latin typeface="Arial"/>
                <a:ea typeface="Arial"/>
                <a:cs typeface="Arial"/>
              </a:defRPr>
            </a:pPr>
            <a:r>
              <a:rPr sz="1875" b="1">
                <a:solidFill>
                  <a:srgbClr val="3B6FA5"/>
                </a:solidFill>
                <a:latin typeface="Arial"/>
                <a:ea typeface="Arial"/>
                <a:cs typeface="Arial"/>
              </a:rPr>
              <a:t>A2  ·  STATIC</a:t>
            </a:r>
          </a:p>
        </p:txBody>
      </p:sp>
      <p:sp>
        <p:nvSpPr>
          <p:cNvPr id="6" name="">
            <a:extLst xmlns:a="http://schemas.openxmlformats.org/drawingml/2006/main">
              <a:ext uri="{FF2B5EF4-FFF2-40B4-BE49-F238E27FC236}">
                <a16:creationId xmlns:a16="http://schemas.microsoft.com/office/drawing/2014/main" id="{EA901A8F-78BB-4BBC-AD9B-1DB4098C12C0}"/>
              </a:ext>
            </a:extLst>
          </p:cNvPr>
          <p:cNvSpPr>
            <a:spLocks xmlns:a="http://schemas.openxmlformats.org/drawingml/2006/main" noGrp="1"/>
          </p:cNvSpPr>
          <p:nvPr/>
        </p:nvSpPr>
        <p:spPr>
          <a:xfrm xmlns:a="http://schemas.openxmlformats.org/drawingml/2006/main">
            <a:off x="857250" y="2333625"/>
            <a:ext cx="45339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E4357"/>
                </a:solidFill>
                <a:latin typeface="Arial"/>
                <a:ea typeface="Arial"/>
                <a:cs typeface="Arial"/>
              </a:defRPr>
            </a:pPr>
            <a:r>
              <a:rPr sz="1800" b="0">
                <a:solidFill>
                  <a:srgbClr val="2E4357"/>
                </a:solidFill>
                <a:latin typeface="Arial"/>
                <a:ea typeface="Arial"/>
                <a:cs typeface="Arial"/>
              </a:rPr>
              <a:t>Agents execute centrally. The node sends data or evidence back to the coordinator.</a:t>
            </a:r>
          </a:p>
        </p:txBody>
      </p:sp>
      <p:sp>
        <p:nvSpPr>
          <p:cNvPr id="7" name="">
            <a:extLst xmlns:a="http://schemas.openxmlformats.org/drawingml/2006/main">
              <a:ext uri="{FF2B5EF4-FFF2-40B4-BE49-F238E27FC236}">
                <a16:creationId xmlns:a16="http://schemas.microsoft.com/office/drawing/2014/main" id="{BFBC4D53-6296-4EDE-8745-120F9C79EC25}"/>
              </a:ext>
            </a:extLst>
          </p:cNvPr>
          <p:cNvSpPr>
            <a:spLocks xmlns:a="http://schemas.openxmlformats.org/drawingml/2006/main" noGrp="1"/>
          </p:cNvSpPr>
          <p:nvPr/>
        </p:nvSpPr>
        <p:spPr>
          <a:xfrm xmlns:a="http://schemas.openxmlformats.org/drawingml/2006/main">
            <a:off x="6400800" y="18097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2D7A78"/>
                </a:solidFill>
                <a:latin typeface="Arial"/>
                <a:ea typeface="Arial"/>
                <a:cs typeface="Arial"/>
              </a:defRPr>
            </a:pPr>
            <a:r>
              <a:rPr sz="1875" b="1">
                <a:solidFill>
                  <a:srgbClr val="2D7A78"/>
                </a:solidFill>
                <a:latin typeface="Arial"/>
                <a:ea typeface="Arial"/>
                <a:cs typeface="Arial"/>
              </a:rPr>
              <a:t>A3  ·  MOBILE</a:t>
            </a:r>
          </a:p>
        </p:txBody>
      </p:sp>
      <p:sp>
        <p:nvSpPr>
          <p:cNvPr id="8" name="">
            <a:extLst xmlns:a="http://schemas.openxmlformats.org/drawingml/2006/main">
              <a:ext uri="{FF2B5EF4-FFF2-40B4-BE49-F238E27FC236}">
                <a16:creationId xmlns:a16="http://schemas.microsoft.com/office/drawing/2014/main" id="{E91BC678-C896-4C28-90E1-978E7BAF23B6}"/>
              </a:ext>
            </a:extLst>
          </p:cNvPr>
          <p:cNvSpPr>
            <a:spLocks xmlns:a="http://schemas.openxmlformats.org/drawingml/2006/main" noGrp="1"/>
          </p:cNvSpPr>
          <p:nvPr/>
        </p:nvSpPr>
        <p:spPr>
          <a:xfrm xmlns:a="http://schemas.openxmlformats.org/drawingml/2006/main">
            <a:off x="6400800" y="2333625"/>
            <a:ext cx="4714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2E4357"/>
                </a:solidFill>
                <a:latin typeface="Arial"/>
                <a:ea typeface="Arial"/>
                <a:cs typeface="Arial"/>
              </a:defRPr>
            </a:pPr>
            <a:r>
              <a:rPr sz="1800" b="0">
                <a:solidFill>
                  <a:srgbClr val="2E4357"/>
                </a:solidFill>
                <a:latin typeface="Arial"/>
                <a:ea typeface="Arial"/>
                <a:cs typeface="Arial"/>
              </a:rPr>
              <a:t>A signed bundle runs at a node. The node keeps raw data local and returns allowlisted aggregates.</a:t>
            </a:r>
          </a:p>
        </p:txBody>
      </p:sp>
      <p:sp>
        <p:nvSpPr>
          <p:cNvPr id="9" name="">
            <a:extLst xmlns:a="http://schemas.openxmlformats.org/drawingml/2006/main">
              <a:ext uri="{FF2B5EF4-FFF2-40B4-BE49-F238E27FC236}">
                <a16:creationId xmlns:a16="http://schemas.microsoft.com/office/drawing/2014/main" id="{7EF24EA0-7D98-4D72-B963-E0AD0CC5BBF4}"/>
              </a:ext>
            </a:extLst>
          </p:cNvPr>
          <p:cNvSpPr>
            <a:spLocks xmlns:a="http://schemas.openxmlformats.org/drawingml/2006/main" noGrp="1"/>
          </p:cNvSpPr>
          <p:nvPr/>
        </p:nvSpPr>
        <p:spPr>
          <a:xfrm xmlns:a="http://schemas.openxmlformats.org/drawingml/2006/main">
            <a:off x="5943600" y="1743075"/>
            <a:ext cx="9525" cy="239077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0D3C041-9BA9-4645-B6FF-2FDEF6EC9EFD}"/>
              </a:ext>
            </a:extLst>
          </p:cNvPr>
          <p:cNvSpPr>
            <a:spLocks xmlns:a="http://schemas.openxmlformats.org/drawingml/2006/main" noGrp="1"/>
          </p:cNvSpPr>
          <p:nvPr/>
        </p:nvSpPr>
        <p:spPr>
          <a:xfrm xmlns:a="http://schemas.openxmlformats.org/drawingml/2006/main">
            <a:off x="857250" y="3686175"/>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Example exchange</a:t>
            </a:r>
          </a:p>
        </p:txBody>
      </p:sp>
      <p:sp>
        <p:nvSpPr>
          <p:cNvPr id="11" name="">
            <a:extLst xmlns:a="http://schemas.openxmlformats.org/drawingml/2006/main">
              <a:ext uri="{FF2B5EF4-FFF2-40B4-BE49-F238E27FC236}">
                <a16:creationId xmlns:a16="http://schemas.microsoft.com/office/drawing/2014/main" id="{63C1C538-006A-4448-B950-1D66D07B94E2}"/>
              </a:ext>
            </a:extLst>
          </p:cNvPr>
          <p:cNvSpPr>
            <a:spLocks xmlns:a="http://schemas.openxmlformats.org/drawingml/2006/main" noGrp="1"/>
          </p:cNvSpPr>
          <p:nvPr/>
        </p:nvSpPr>
        <p:spPr>
          <a:xfrm xmlns:a="http://schemas.openxmlformats.org/drawingml/2006/main">
            <a:off x="857250" y="4095750"/>
            <a:ext cx="2914650" cy="790575"/>
          </a:xfrm>
          <a:prstGeom xmlns:a="http://schemas.openxmlformats.org/drawingml/2006/main" prst="roundRect">
            <a:avLst>
              <a:gd name="adj" fmla="val 16867"/>
            </a:avLst>
          </a:prstGeom>
          <a:solidFill xmlns:a="http://schemas.openxmlformats.org/drawingml/2006/main">
            <a:srgbClr val="E3ECF7"/>
          </a:solidFill>
          <a:ln xmlns:a="http://schemas.openxmlformats.org/drawingml/2006/main" w="9525">
            <a:noFill/>
          </a:ln>
        </p:spPr>
      </p:sp>
      <p:sp>
        <p:nvSpPr>
          <p:cNvPr id="12" name="">
            <a:extLst xmlns:a="http://schemas.openxmlformats.org/drawingml/2006/main">
              <a:ext uri="{FF2B5EF4-FFF2-40B4-BE49-F238E27FC236}">
                <a16:creationId xmlns:a16="http://schemas.microsoft.com/office/drawing/2014/main" id="{338A3E6A-C1DC-48FE-9450-A93545767E0F}"/>
              </a:ext>
            </a:extLst>
          </p:cNvPr>
          <p:cNvSpPr>
            <a:spLocks xmlns:a="http://schemas.openxmlformats.org/drawingml/2006/main" noGrp="1"/>
          </p:cNvSpPr>
          <p:nvPr/>
        </p:nvSpPr>
        <p:spPr>
          <a:xfrm xmlns:a="http://schemas.openxmlformats.org/drawingml/2006/main">
            <a:off x="1038225" y="4305300"/>
            <a:ext cx="2552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212"/>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Static agent → sends query</a:t>
            </a:r>
          </a:p>
        </p:txBody>
      </p:sp>
      <p:sp>
        <p:nvSpPr>
          <p:cNvPr id="13" name="">
            <a:extLst xmlns:a="http://schemas.openxmlformats.org/drawingml/2006/main">
              <a:ext uri="{FF2B5EF4-FFF2-40B4-BE49-F238E27FC236}">
                <a16:creationId xmlns:a16="http://schemas.microsoft.com/office/drawing/2014/main" id="{4BDDA94D-2C6D-4AD2-9C2D-CB4149258E5F}"/>
              </a:ext>
            </a:extLst>
          </p:cNvPr>
          <p:cNvSpPr>
            <a:spLocks xmlns:a="http://schemas.openxmlformats.org/drawingml/2006/main" noGrp="1"/>
          </p:cNvSpPr>
          <p:nvPr/>
        </p:nvSpPr>
        <p:spPr>
          <a:xfrm xmlns:a="http://schemas.openxmlformats.org/drawingml/2006/main">
            <a:off x="4467225" y="4095750"/>
            <a:ext cx="2914650" cy="790575"/>
          </a:xfrm>
          <a:prstGeom xmlns:a="http://schemas.openxmlformats.org/drawingml/2006/main" prst="roundRect">
            <a:avLst>
              <a:gd name="adj" fmla="val 16867"/>
            </a:avLst>
          </a:prstGeom>
          <a:solidFill xmlns:a="http://schemas.openxmlformats.org/drawingml/2006/main">
            <a:srgbClr val="DDEFEA"/>
          </a:solidFill>
          <a:ln xmlns:a="http://schemas.openxmlformats.org/drawingml/2006/main" w="9525">
            <a:noFill/>
          </a:ln>
        </p:spPr>
      </p:sp>
      <p:sp>
        <p:nvSpPr>
          <p:cNvPr id="14" name="">
            <a:extLst xmlns:a="http://schemas.openxmlformats.org/drawingml/2006/main">
              <a:ext uri="{FF2B5EF4-FFF2-40B4-BE49-F238E27FC236}">
                <a16:creationId xmlns:a16="http://schemas.microsoft.com/office/drawing/2014/main" id="{4F25DA96-D386-4B00-AAF3-5B71AC36CEB2}"/>
              </a:ext>
            </a:extLst>
          </p:cNvPr>
          <p:cNvSpPr>
            <a:spLocks xmlns:a="http://schemas.openxmlformats.org/drawingml/2006/main" noGrp="1"/>
          </p:cNvSpPr>
          <p:nvPr/>
        </p:nvSpPr>
        <p:spPr>
          <a:xfrm xmlns:a="http://schemas.openxmlformats.org/drawingml/2006/main">
            <a:off x="4648200" y="4305300"/>
            <a:ext cx="2552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Mobile bundle → node</a:t>
            </a:r>
          </a:p>
        </p:txBody>
      </p:sp>
      <p:sp>
        <p:nvSpPr>
          <p:cNvPr id="15" name="">
            <a:extLst xmlns:a="http://schemas.openxmlformats.org/drawingml/2006/main">
              <a:ext uri="{FF2B5EF4-FFF2-40B4-BE49-F238E27FC236}">
                <a16:creationId xmlns:a16="http://schemas.microsoft.com/office/drawing/2014/main" id="{62F64007-45F2-4983-AC08-9561F7D8719D}"/>
              </a:ext>
            </a:extLst>
          </p:cNvPr>
          <p:cNvSpPr>
            <a:spLocks xmlns:a="http://schemas.openxmlformats.org/drawingml/2006/main" noGrp="1"/>
          </p:cNvSpPr>
          <p:nvPr/>
        </p:nvSpPr>
        <p:spPr>
          <a:xfrm xmlns:a="http://schemas.openxmlformats.org/drawingml/2006/main">
            <a:off x="8077200" y="4095750"/>
            <a:ext cx="2914650" cy="790575"/>
          </a:xfrm>
          <a:prstGeom xmlns:a="http://schemas.openxmlformats.org/drawingml/2006/main" prst="roundRect">
            <a:avLst>
              <a:gd name="adj" fmla="val 16867"/>
            </a:avLst>
          </a:prstGeom>
          <a:solidFill xmlns:a="http://schemas.openxmlformats.org/drawingml/2006/main">
            <a:srgbClr val="FFFFFF"/>
          </a:solidFill>
          <a:ln xmlns:a="http://schemas.openxmlformats.org/drawingml/2006/main" w="9525">
            <a:solidFill>
              <a:srgbClr val="D7E0E9"/>
            </a:solidFill>
          </a:ln>
        </p:spPr>
      </p:sp>
      <p:sp>
        <p:nvSpPr>
          <p:cNvPr id="16" name="">
            <a:extLst xmlns:a="http://schemas.openxmlformats.org/drawingml/2006/main">
              <a:ext uri="{FF2B5EF4-FFF2-40B4-BE49-F238E27FC236}">
                <a16:creationId xmlns:a16="http://schemas.microsoft.com/office/drawing/2014/main" id="{46483065-9BB0-4F58-9B22-476BB8D656C2}"/>
              </a:ext>
            </a:extLst>
          </p:cNvPr>
          <p:cNvSpPr>
            <a:spLocks xmlns:a="http://schemas.openxmlformats.org/drawingml/2006/main" noGrp="1"/>
          </p:cNvSpPr>
          <p:nvPr/>
        </p:nvSpPr>
        <p:spPr>
          <a:xfrm xmlns:a="http://schemas.openxmlformats.org/drawingml/2006/main">
            <a:off x="8258175" y="4305300"/>
            <a:ext cx="2552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Aggregate → coordinator</a:t>
            </a:r>
          </a:p>
        </p:txBody>
      </p:sp>
      <p:sp>
        <p:nvSpPr>
          <p:cNvPr id="17" name="">
            <a:extLst xmlns:a="http://schemas.openxmlformats.org/drawingml/2006/main">
              <a:ext uri="{FF2B5EF4-FFF2-40B4-BE49-F238E27FC236}">
                <a16:creationId xmlns:a16="http://schemas.microsoft.com/office/drawing/2014/main" id="{B8641DB6-5A46-4BFD-A5EF-0EE7228BFEDF}"/>
              </a:ext>
            </a:extLst>
          </p:cNvPr>
          <p:cNvSpPr>
            <a:spLocks xmlns:a="http://schemas.openxmlformats.org/drawingml/2006/main" noGrp="1"/>
          </p:cNvSpPr>
          <p:nvPr/>
        </p:nvSpPr>
        <p:spPr>
          <a:xfrm xmlns:a="http://schemas.openxmlformats.org/drawingml/2006/main">
            <a:off x="857250" y="5286375"/>
            <a:ext cx="10134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E4357"/>
                </a:solidFill>
                <a:latin typeface="Arial"/>
                <a:ea typeface="Arial"/>
                <a:cs typeface="Arial"/>
              </a:defRPr>
            </a:pPr>
            <a:r>
              <a:rPr sz="1650" b="0">
                <a:solidFill>
                  <a:srgbClr val="2E4357"/>
                </a:solidFill>
                <a:latin typeface="Arial"/>
                <a:ea typeface="Arial"/>
                <a:cs typeface="Arial"/>
              </a:rPr>
              <a:t>Ed25519 verification and egress filtering run in the separate migration demo. A3 adds bundle bytes in the benchmark; the dashboard Ticket Test does not migrate agents.</a:t>
            </a:r>
          </a:p>
        </p:txBody>
      </p:sp>
    </p:spTree>
    <p:extLst>
      <p:ext uri="{BB962C8B-B14F-4D97-AF65-F5344CB8AC3E}">
        <p14:creationId xmlns:p14="http://schemas.microsoft.com/office/powerpoint/2010/main" val="1470841958"/>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E785138-1BE5-4D1B-B1FE-0D496470C6FC}"/>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benchmark result set is synthetic</a:t>
            </a:r>
          </a:p>
        </p:txBody>
      </p:sp>
      <p:sp>
        <p:nvSpPr>
          <p:cNvPr id="2" name="">
            <a:extLst xmlns:a="http://schemas.openxmlformats.org/drawingml/2006/main">
              <a:ext uri="{FF2B5EF4-FFF2-40B4-BE49-F238E27FC236}">
                <a16:creationId xmlns:a16="http://schemas.microsoft.com/office/drawing/2014/main" id="{1C2AEBD7-BA95-4C82-B5A8-BA1DFAFAFA00}"/>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495A08E-1AED-48BB-8135-8E2D66798575}"/>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The repository can load public bug data, but the reported A0–A3 experiment used generated tickets</a:t>
            </a:r>
          </a:p>
        </p:txBody>
      </p:sp>
      <p:sp>
        <p:nvSpPr>
          <p:cNvPr id="4" name="">
            <a:extLst xmlns:a="http://schemas.openxmlformats.org/drawingml/2006/main">
              <a:ext uri="{FF2B5EF4-FFF2-40B4-BE49-F238E27FC236}">
                <a16:creationId xmlns:a16="http://schemas.microsoft.com/office/drawing/2014/main" id="{6A8E4976-8C46-4E63-9F87-985B8761772D}"/>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1E5B3B0B-531F-4F4F-B3EC-EB4AA6E14082}"/>
              </a:ext>
            </a:extLst>
          </p:cNvPr>
          <p:cNvSpPr>
            <a:spLocks xmlns:a="http://schemas.openxmlformats.org/drawingml/2006/main" noGrp="1"/>
          </p:cNvSpPr>
          <p:nvPr/>
        </p:nvSpPr>
        <p:spPr>
          <a:xfrm xmlns:a="http://schemas.openxmlformats.org/drawingml/2006/main">
            <a:off x="762000" y="1743075"/>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A0–A3 benchmark</a:t>
            </a:r>
          </a:p>
        </p:txBody>
      </p:sp>
      <p:sp>
        <p:nvSpPr>
          <p:cNvPr id="6" name="">
            <a:extLst xmlns:a="http://schemas.openxmlformats.org/drawingml/2006/main">
              <a:ext uri="{FF2B5EF4-FFF2-40B4-BE49-F238E27FC236}">
                <a16:creationId xmlns:a16="http://schemas.microsoft.com/office/drawing/2014/main" id="{85ACAB3B-ABEA-48BA-83C6-8C4C9F917D21}"/>
              </a:ext>
            </a:extLst>
          </p:cNvPr>
          <p:cNvSpPr>
            <a:spLocks xmlns:a="http://schemas.openxmlformats.org/drawingml/2006/main" noGrp="1"/>
          </p:cNvSpPr>
          <p:nvPr/>
        </p:nvSpPr>
        <p:spPr>
          <a:xfrm xmlns:a="http://schemas.openxmlformats.org/drawingml/2006/main">
            <a:off x="762000" y="2190750"/>
            <a:ext cx="4800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2E4357"/>
                </a:solidFill>
                <a:latin typeface="Arial"/>
                <a:ea typeface="Arial"/>
                <a:cs typeface="Arial"/>
              </a:defRPr>
            </a:pPr>
            <a:r>
              <a:rPr sz="1725" b="0">
                <a:solidFill>
                  <a:srgbClr val="2E4357"/>
                </a:solidFill>
                <a:latin typeface="Arial"/>
                <a:ea typeface="Arial"/>
                <a:cs typeface="Arial"/>
              </a:rPr>
              <a:t>500 tickets per arm: 100 generated tickets × 5 seeds (42–46). Version: synthetic-eval-v1. The same generated cases feed all four arms.</a:t>
            </a:r>
          </a:p>
        </p:txBody>
      </p:sp>
      <p:sp>
        <p:nvSpPr>
          <p:cNvPr id="7" name="">
            <a:extLst xmlns:a="http://schemas.openxmlformats.org/drawingml/2006/main">
              <a:ext uri="{FF2B5EF4-FFF2-40B4-BE49-F238E27FC236}">
                <a16:creationId xmlns:a16="http://schemas.microsoft.com/office/drawing/2014/main" id="{0E179930-9D19-4798-AB78-69B595086D0C}"/>
              </a:ext>
            </a:extLst>
          </p:cNvPr>
          <p:cNvSpPr>
            <a:spLocks xmlns:a="http://schemas.openxmlformats.org/drawingml/2006/main" noGrp="1"/>
          </p:cNvSpPr>
          <p:nvPr/>
        </p:nvSpPr>
        <p:spPr>
          <a:xfrm xmlns:a="http://schemas.openxmlformats.org/drawingml/2006/main">
            <a:off x="762000" y="3609975"/>
            <a:ext cx="3810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Ticket fields</a:t>
            </a:r>
          </a:p>
        </p:txBody>
      </p:sp>
      <p:sp>
        <p:nvSpPr>
          <p:cNvPr id="8" name="">
            <a:extLst xmlns:a="http://schemas.openxmlformats.org/drawingml/2006/main">
              <a:ext uri="{FF2B5EF4-FFF2-40B4-BE49-F238E27FC236}">
                <a16:creationId xmlns:a16="http://schemas.microsoft.com/office/drawing/2014/main" id="{04BFFD3E-60CA-49A1-9817-D12C172BA58B}"/>
              </a:ext>
            </a:extLst>
          </p:cNvPr>
          <p:cNvSpPr>
            <a:spLocks xmlns:a="http://schemas.openxmlformats.org/drawingml/2006/main" noGrp="1"/>
          </p:cNvSpPr>
          <p:nvPr/>
        </p:nvSpPr>
        <p:spPr>
          <a:xfrm xmlns:a="http://schemas.openxmlformats.org/drawingml/2006/main">
            <a:off x="762000" y="40195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E4357"/>
                </a:solidFill>
                <a:latin typeface="Arial"/>
                <a:ea typeface="Arial"/>
                <a:cs typeface="Arial"/>
              </a:defRPr>
            </a:pPr>
            <a:r>
              <a:rPr sz="1575" b="0">
                <a:solidFill>
                  <a:srgbClr val="2E4357"/>
                </a:solidFill>
                <a:latin typeface="Arial"/>
                <a:ea typeface="Arial"/>
                <a:cs typeface="Arial"/>
              </a:rPr>
              <a:t>ID · title · body · component · severity · creation time · duplicate link · fault label</a:t>
            </a:r>
          </a:p>
        </p:txBody>
      </p:sp>
      <p:sp>
        <p:nvSpPr>
          <p:cNvPr id="9" name="">
            <a:extLst xmlns:a="http://schemas.openxmlformats.org/drawingml/2006/main">
              <a:ext uri="{FF2B5EF4-FFF2-40B4-BE49-F238E27FC236}">
                <a16:creationId xmlns:a16="http://schemas.microsoft.com/office/drawing/2014/main" id="{5FBF8646-F847-484F-9489-1FA7189D7B79}"/>
              </a:ext>
            </a:extLst>
          </p:cNvPr>
          <p:cNvSpPr>
            <a:spLocks xmlns:a="http://schemas.openxmlformats.org/drawingml/2006/main" noGrp="1"/>
          </p:cNvSpPr>
          <p:nvPr/>
        </p:nvSpPr>
        <p:spPr>
          <a:xfrm xmlns:a="http://schemas.openxmlformats.org/drawingml/2006/main">
            <a:off x="5981700" y="1724025"/>
            <a:ext cx="9525" cy="35147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56C4D0E-32F7-4035-96AD-A1294DAF7671}"/>
              </a:ext>
            </a:extLst>
          </p:cNvPr>
          <p:cNvSpPr>
            <a:spLocks xmlns:a="http://schemas.openxmlformats.org/drawingml/2006/main" noGrp="1"/>
          </p:cNvSpPr>
          <p:nvPr/>
        </p:nvSpPr>
        <p:spPr>
          <a:xfrm xmlns:a="http://schemas.openxmlformats.org/drawingml/2006/main">
            <a:off x="6515100" y="1743075"/>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3B6FA5"/>
                </a:solidFill>
                <a:latin typeface="Arial"/>
                <a:ea typeface="Arial"/>
                <a:cs typeface="Arial"/>
              </a:defRPr>
            </a:pPr>
            <a:r>
              <a:rPr sz="1725" b="1">
                <a:solidFill>
                  <a:srgbClr val="3B6FA5"/>
                </a:solidFill>
                <a:latin typeface="Arial"/>
                <a:ea typeface="Arial"/>
                <a:cs typeface="Arial"/>
              </a:rPr>
              <a:t>Optional source datasets</a:t>
            </a:r>
          </a:p>
        </p:txBody>
      </p:sp>
      <p:sp>
        <p:nvSpPr>
          <p:cNvPr id="11" name="">
            <a:extLst xmlns:a="http://schemas.openxmlformats.org/drawingml/2006/main">
              <a:ext uri="{FF2B5EF4-FFF2-40B4-BE49-F238E27FC236}">
                <a16:creationId xmlns:a16="http://schemas.microsoft.com/office/drawing/2014/main" id="{69CB4624-4549-42D7-ACDB-BDC5E6A19BEC}"/>
              </a:ext>
            </a:extLst>
          </p:cNvPr>
          <p:cNvSpPr>
            <a:spLocks xmlns:a="http://schemas.openxmlformats.org/drawingml/2006/main" noGrp="1"/>
          </p:cNvSpPr>
          <p:nvPr/>
        </p:nvSpPr>
        <p:spPr>
          <a:xfrm xmlns:a="http://schemas.openxmlformats.org/drawingml/2006/main">
            <a:off x="6515100" y="2190750"/>
            <a:ext cx="48196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E4357"/>
                </a:solidFill>
                <a:latin typeface="Arial"/>
                <a:ea typeface="Arial"/>
                <a:cs typeface="Arial"/>
              </a:defRPr>
            </a:pPr>
            <a:r>
              <a:rPr sz="1650" b="0">
                <a:solidFill>
                  <a:srgbClr val="2E4357"/>
                </a:solidFill>
                <a:latin typeface="Arial"/>
                <a:ea typeface="Arial"/>
                <a:cs typeface="Arial"/>
              </a:rPr>
              <a:t>Loaders support GitBugs and Eclipse/Mozilla issue exports. Preprocessing masks common PII patterns, collapses repeated stack-trace lines and creates chronological 70/10/20 train, validation and test splits.</a:t>
            </a:r>
          </a:p>
        </p:txBody>
      </p:sp>
      <p:sp>
        <p:nvSpPr>
          <p:cNvPr id="12" name="">
            <a:extLst xmlns:a="http://schemas.openxmlformats.org/drawingml/2006/main">
              <a:ext uri="{FF2B5EF4-FFF2-40B4-BE49-F238E27FC236}">
                <a16:creationId xmlns:a16="http://schemas.microsoft.com/office/drawing/2014/main" id="{02B38007-7108-4600-B931-16D623E03CFA}"/>
              </a:ext>
            </a:extLst>
          </p:cNvPr>
          <p:cNvSpPr>
            <a:spLocks xmlns:a="http://schemas.openxmlformats.org/drawingml/2006/main" noGrp="1"/>
          </p:cNvSpPr>
          <p:nvPr/>
        </p:nvSpPr>
        <p:spPr>
          <a:xfrm xmlns:a="http://schemas.openxmlformats.org/drawingml/2006/main">
            <a:off x="6515100" y="4000500"/>
            <a:ext cx="3810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18324B"/>
                </a:solidFill>
                <a:latin typeface="Arial"/>
                <a:ea typeface="Arial"/>
                <a:cs typeface="Arial"/>
              </a:defRPr>
            </a:pPr>
            <a:r>
              <a:rPr sz="1650" b="1">
                <a:solidFill>
                  <a:srgbClr val="18324B"/>
                </a:solidFill>
                <a:latin typeface="Arial"/>
                <a:ea typeface="Arial"/>
                <a:cs typeface="Arial"/>
              </a:rPr>
              <a:t>Interpretation</a:t>
            </a:r>
          </a:p>
        </p:txBody>
      </p:sp>
      <p:sp>
        <p:nvSpPr>
          <p:cNvPr id="13" name="">
            <a:extLst xmlns:a="http://schemas.openxmlformats.org/drawingml/2006/main">
              <a:ext uri="{FF2B5EF4-FFF2-40B4-BE49-F238E27FC236}">
                <a16:creationId xmlns:a16="http://schemas.microsoft.com/office/drawing/2014/main" id="{DC6C364D-1DAB-478A-8D61-860CDF16F549}"/>
              </a:ext>
            </a:extLst>
          </p:cNvPr>
          <p:cNvSpPr>
            <a:spLocks xmlns:a="http://schemas.openxmlformats.org/drawingml/2006/main" noGrp="1"/>
          </p:cNvSpPr>
          <p:nvPr/>
        </p:nvSpPr>
        <p:spPr>
          <a:xfrm xmlns:a="http://schemas.openxmlformats.org/drawingml/2006/main">
            <a:off x="6515100" y="4400550"/>
            <a:ext cx="48387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E4357"/>
                </a:solidFill>
                <a:latin typeface="Arial"/>
                <a:ea typeface="Arial"/>
                <a:cs typeface="Arial"/>
              </a:defRPr>
            </a:pPr>
            <a:r>
              <a:rPr sz="1575" b="0">
                <a:solidFill>
                  <a:srgbClr val="2E4357"/>
                </a:solidFill>
                <a:latin typeface="Arial"/>
                <a:ea typeface="Arial"/>
                <a:cs typeface="Arial"/>
              </a:rPr>
              <a:t>Benchmark split: first 70% train, final 30% evaluate. General data loader split is 70/10/20. DORA-style outcomes are simulated; token use is estimated.</a:t>
            </a:r>
          </a:p>
        </p:txBody>
      </p:sp>
    </p:spTree>
    <p:extLst>
      <p:ext uri="{BB962C8B-B14F-4D97-AF65-F5344CB8AC3E}">
        <p14:creationId xmlns:p14="http://schemas.microsoft.com/office/powerpoint/2010/main" val="1355239771"/>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85796782-FC18-4D2E-AF84-303FECEFFCAB}"/>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A1–A3 improve synthetic retrieval and fault ordering</a:t>
            </a:r>
          </a:p>
        </p:txBody>
      </p:sp>
      <p:sp>
        <p:nvSpPr>
          <p:cNvPr id="2" name="">
            <a:extLst xmlns:a="http://schemas.openxmlformats.org/drawingml/2006/main">
              <a:ext uri="{FF2B5EF4-FFF2-40B4-BE49-F238E27FC236}">
                <a16:creationId xmlns:a16="http://schemas.microsoft.com/office/drawing/2014/main" id="{AB55DA8A-9C59-4A1E-86CD-DD677BEF48CE}"/>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799B8C6-FD05-4F4C-B773-760A7A274366}"/>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Latest rerun · 500 generated tickets per arm · host timings are only workload proxies</a:t>
            </a:r>
          </a:p>
        </p:txBody>
      </p:sp>
      <p:sp>
        <p:nvSpPr>
          <p:cNvPr id="4" name="">
            <a:extLst xmlns:a="http://schemas.openxmlformats.org/drawingml/2006/main">
              <a:ext uri="{FF2B5EF4-FFF2-40B4-BE49-F238E27FC236}">
                <a16:creationId xmlns:a16="http://schemas.microsoft.com/office/drawing/2014/main" id="{935ECABF-151C-43A0-90E0-A46EA9637BB3}"/>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74813F23-4747-4D8A-A465-3AA63DFE6AE4}"/>
              </a:ext>
            </a:extLst>
          </p:cNvPr>
          <p:cNvSpPr>
            <a:spLocks xmlns:a="http://schemas.openxmlformats.org/drawingml/2006/main" noGrp="1"/>
          </p:cNvSpPr>
          <p:nvPr/>
        </p:nvSpPr>
        <p:spPr>
          <a:xfrm xmlns:a="http://schemas.openxmlformats.org/drawingml/2006/main">
            <a:off x="762000" y="171450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617487"/>
                </a:solidFill>
                <a:latin typeface="Arial"/>
                <a:ea typeface="Arial"/>
                <a:cs typeface="Arial"/>
              </a:defRPr>
            </a:pPr>
            <a:r>
              <a:rPr sz="1500" b="1">
                <a:solidFill>
                  <a:srgbClr val="617487"/>
                </a:solidFill>
                <a:latin typeface="Arial"/>
                <a:ea typeface="Arial"/>
                <a:cs typeface="Arial"/>
              </a:rPr>
              <a:t>Metric</a:t>
            </a:r>
          </a:p>
        </p:txBody>
      </p:sp>
      <p:sp>
        <p:nvSpPr>
          <p:cNvPr id="6" name="">
            <a:extLst xmlns:a="http://schemas.openxmlformats.org/drawingml/2006/main">
              <a:ext uri="{FF2B5EF4-FFF2-40B4-BE49-F238E27FC236}">
                <a16:creationId xmlns:a16="http://schemas.microsoft.com/office/drawing/2014/main" id="{F095E0FD-4713-4E82-BE73-D474B0E91C0E}"/>
              </a:ext>
            </a:extLst>
          </p:cNvPr>
          <p:cNvSpPr>
            <a:spLocks xmlns:a="http://schemas.openxmlformats.org/drawingml/2006/main" noGrp="1"/>
          </p:cNvSpPr>
          <p:nvPr/>
        </p:nvSpPr>
        <p:spPr>
          <a:xfrm xmlns:a="http://schemas.openxmlformats.org/drawingml/2006/main">
            <a:off x="2933700" y="17145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2D7A78"/>
                </a:solidFill>
                <a:latin typeface="Arial"/>
                <a:ea typeface="Arial"/>
                <a:cs typeface="Arial"/>
              </a:defRPr>
            </a:pPr>
            <a:r>
              <a:rPr sz="1500" b="1">
                <a:solidFill>
                  <a:srgbClr val="2D7A78"/>
                </a:solidFill>
                <a:latin typeface="Arial"/>
                <a:ea typeface="Arial"/>
                <a:cs typeface="Arial"/>
              </a:rPr>
              <a:t>A0</a:t>
            </a:r>
          </a:p>
        </p:txBody>
      </p:sp>
      <p:sp>
        <p:nvSpPr>
          <p:cNvPr id="7" name="">
            <a:extLst xmlns:a="http://schemas.openxmlformats.org/drawingml/2006/main">
              <a:ext uri="{FF2B5EF4-FFF2-40B4-BE49-F238E27FC236}">
                <a16:creationId xmlns:a16="http://schemas.microsoft.com/office/drawing/2014/main" id="{7950C630-C44A-4661-AAE0-CA9ADE0893F9}"/>
              </a:ext>
            </a:extLst>
          </p:cNvPr>
          <p:cNvSpPr>
            <a:spLocks xmlns:a="http://schemas.openxmlformats.org/drawingml/2006/main" noGrp="1"/>
          </p:cNvSpPr>
          <p:nvPr/>
        </p:nvSpPr>
        <p:spPr>
          <a:xfrm xmlns:a="http://schemas.openxmlformats.org/drawingml/2006/main">
            <a:off x="4905375" y="17145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2D7A78"/>
                </a:solidFill>
                <a:latin typeface="Arial"/>
                <a:ea typeface="Arial"/>
                <a:cs typeface="Arial"/>
              </a:defRPr>
            </a:pPr>
            <a:r>
              <a:rPr sz="1500" b="1">
                <a:solidFill>
                  <a:srgbClr val="2D7A78"/>
                </a:solidFill>
                <a:latin typeface="Arial"/>
                <a:ea typeface="Arial"/>
                <a:cs typeface="Arial"/>
              </a:rPr>
              <a:t>A1</a:t>
            </a:r>
          </a:p>
        </p:txBody>
      </p:sp>
      <p:sp>
        <p:nvSpPr>
          <p:cNvPr id="8" name="">
            <a:extLst xmlns:a="http://schemas.openxmlformats.org/drawingml/2006/main">
              <a:ext uri="{FF2B5EF4-FFF2-40B4-BE49-F238E27FC236}">
                <a16:creationId xmlns:a16="http://schemas.microsoft.com/office/drawing/2014/main" id="{85B8938A-E6A5-4C7C-9740-59778B4C6D57}"/>
              </a:ext>
            </a:extLst>
          </p:cNvPr>
          <p:cNvSpPr>
            <a:spLocks xmlns:a="http://schemas.openxmlformats.org/drawingml/2006/main" noGrp="1"/>
          </p:cNvSpPr>
          <p:nvPr/>
        </p:nvSpPr>
        <p:spPr>
          <a:xfrm xmlns:a="http://schemas.openxmlformats.org/drawingml/2006/main">
            <a:off x="7000875" y="17145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2D7A78"/>
                </a:solidFill>
                <a:latin typeface="Arial"/>
                <a:ea typeface="Arial"/>
                <a:cs typeface="Arial"/>
              </a:defRPr>
            </a:pPr>
            <a:r>
              <a:rPr sz="1500" b="1">
                <a:solidFill>
                  <a:srgbClr val="2D7A78"/>
                </a:solidFill>
                <a:latin typeface="Arial"/>
                <a:ea typeface="Arial"/>
                <a:cs typeface="Arial"/>
              </a:rPr>
              <a:t>A2</a:t>
            </a:r>
          </a:p>
        </p:txBody>
      </p:sp>
      <p:sp>
        <p:nvSpPr>
          <p:cNvPr id="9" name="">
            <a:extLst xmlns:a="http://schemas.openxmlformats.org/drawingml/2006/main">
              <a:ext uri="{FF2B5EF4-FFF2-40B4-BE49-F238E27FC236}">
                <a16:creationId xmlns:a16="http://schemas.microsoft.com/office/drawing/2014/main" id="{95759F83-BC60-4515-A236-12E4D6DC5F97}"/>
              </a:ext>
            </a:extLst>
          </p:cNvPr>
          <p:cNvSpPr>
            <a:spLocks xmlns:a="http://schemas.openxmlformats.org/drawingml/2006/main" noGrp="1"/>
          </p:cNvSpPr>
          <p:nvPr/>
        </p:nvSpPr>
        <p:spPr>
          <a:xfrm xmlns:a="http://schemas.openxmlformats.org/drawingml/2006/main">
            <a:off x="9067800" y="17145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1">
                <a:solidFill>
                  <a:srgbClr val="2D7A78"/>
                </a:solidFill>
                <a:latin typeface="Arial"/>
                <a:ea typeface="Arial"/>
                <a:cs typeface="Arial"/>
              </a:defRPr>
            </a:pPr>
            <a:r>
              <a:rPr sz="1500" b="1">
                <a:solidFill>
                  <a:srgbClr val="2D7A78"/>
                </a:solidFill>
                <a:latin typeface="Arial"/>
                <a:ea typeface="Arial"/>
                <a:cs typeface="Arial"/>
              </a:rPr>
              <a:t>A3</a:t>
            </a:r>
          </a:p>
        </p:txBody>
      </p:sp>
      <p:sp>
        <p:nvSpPr>
          <p:cNvPr id="10" name="">
            <a:extLst xmlns:a="http://schemas.openxmlformats.org/drawingml/2006/main">
              <a:ext uri="{FF2B5EF4-FFF2-40B4-BE49-F238E27FC236}">
                <a16:creationId xmlns:a16="http://schemas.microsoft.com/office/drawing/2014/main" id="{11541F8D-FCA9-46A5-8BC1-6FEB66222A51}"/>
              </a:ext>
            </a:extLst>
          </p:cNvPr>
          <p:cNvSpPr>
            <a:spLocks xmlns:a="http://schemas.openxmlformats.org/drawingml/2006/main" noGrp="1"/>
          </p:cNvSpPr>
          <p:nvPr/>
        </p:nvSpPr>
        <p:spPr>
          <a:xfrm xmlns:a="http://schemas.openxmlformats.org/drawingml/2006/main">
            <a:off x="762000" y="2076450"/>
            <a:ext cx="10648950" cy="19050"/>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BCB6C52-FA39-4D2F-A953-90FE2F2CF931}"/>
              </a:ext>
            </a:extLst>
          </p:cNvPr>
          <p:cNvSpPr>
            <a:spLocks xmlns:a="http://schemas.openxmlformats.org/drawingml/2006/main" noGrp="1"/>
          </p:cNvSpPr>
          <p:nvPr/>
        </p:nvSpPr>
        <p:spPr>
          <a:xfrm xmlns:a="http://schemas.openxmlformats.org/drawingml/2006/main">
            <a:off x="762000" y="2171700"/>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Mean wall time / ticket</a:t>
            </a:r>
          </a:p>
        </p:txBody>
      </p:sp>
      <p:sp>
        <p:nvSpPr>
          <p:cNvPr id="12" name="">
            <a:extLst xmlns:a="http://schemas.openxmlformats.org/drawingml/2006/main">
              <a:ext uri="{FF2B5EF4-FFF2-40B4-BE49-F238E27FC236}">
                <a16:creationId xmlns:a16="http://schemas.microsoft.com/office/drawing/2014/main" id="{E346EEFA-6EF2-4CE6-8005-12A9437FB804}"/>
              </a:ext>
            </a:extLst>
          </p:cNvPr>
          <p:cNvSpPr>
            <a:spLocks xmlns:a="http://schemas.openxmlformats.org/drawingml/2006/main" noGrp="1"/>
          </p:cNvSpPr>
          <p:nvPr/>
        </p:nvSpPr>
        <p:spPr>
          <a:xfrm xmlns:a="http://schemas.openxmlformats.org/drawingml/2006/main">
            <a:off x="2933700" y="21717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0.102 ms</a:t>
            </a:r>
          </a:p>
        </p:txBody>
      </p:sp>
      <p:sp>
        <p:nvSpPr>
          <p:cNvPr id="13" name="">
            <a:extLst xmlns:a="http://schemas.openxmlformats.org/drawingml/2006/main">
              <a:ext uri="{FF2B5EF4-FFF2-40B4-BE49-F238E27FC236}">
                <a16:creationId xmlns:a16="http://schemas.microsoft.com/office/drawing/2014/main" id="{E5D50AC0-A5D8-4F90-B5F6-7E6686A8613E}"/>
              </a:ext>
            </a:extLst>
          </p:cNvPr>
          <p:cNvSpPr>
            <a:spLocks xmlns:a="http://schemas.openxmlformats.org/drawingml/2006/main" noGrp="1"/>
          </p:cNvSpPr>
          <p:nvPr/>
        </p:nvSpPr>
        <p:spPr>
          <a:xfrm xmlns:a="http://schemas.openxmlformats.org/drawingml/2006/main">
            <a:off x="4905375" y="21717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0.155 ms</a:t>
            </a:r>
          </a:p>
        </p:txBody>
      </p:sp>
      <p:sp>
        <p:nvSpPr>
          <p:cNvPr id="14" name="">
            <a:extLst xmlns:a="http://schemas.openxmlformats.org/drawingml/2006/main">
              <a:ext uri="{FF2B5EF4-FFF2-40B4-BE49-F238E27FC236}">
                <a16:creationId xmlns:a16="http://schemas.microsoft.com/office/drawing/2014/main" id="{7C43B473-7DB1-49BD-A2B8-76BBE616DED3}"/>
              </a:ext>
            </a:extLst>
          </p:cNvPr>
          <p:cNvSpPr>
            <a:spLocks xmlns:a="http://schemas.openxmlformats.org/drawingml/2006/main" noGrp="1"/>
          </p:cNvSpPr>
          <p:nvPr/>
        </p:nvSpPr>
        <p:spPr>
          <a:xfrm xmlns:a="http://schemas.openxmlformats.org/drawingml/2006/main">
            <a:off x="7000875" y="21717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0.184 ms</a:t>
            </a:r>
          </a:p>
        </p:txBody>
      </p:sp>
      <p:sp>
        <p:nvSpPr>
          <p:cNvPr id="15" name="">
            <a:extLst xmlns:a="http://schemas.openxmlformats.org/drawingml/2006/main">
              <a:ext uri="{FF2B5EF4-FFF2-40B4-BE49-F238E27FC236}">
                <a16:creationId xmlns:a16="http://schemas.microsoft.com/office/drawing/2014/main" id="{917737F9-B67D-460F-8303-3C27856A143A}"/>
              </a:ext>
            </a:extLst>
          </p:cNvPr>
          <p:cNvSpPr>
            <a:spLocks xmlns:a="http://schemas.openxmlformats.org/drawingml/2006/main" noGrp="1"/>
          </p:cNvSpPr>
          <p:nvPr/>
        </p:nvSpPr>
        <p:spPr>
          <a:xfrm xmlns:a="http://schemas.openxmlformats.org/drawingml/2006/main">
            <a:off x="9067800" y="21717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0.198 ms</a:t>
            </a:r>
          </a:p>
        </p:txBody>
      </p:sp>
      <p:sp>
        <p:nvSpPr>
          <p:cNvPr id="16" name="">
            <a:extLst xmlns:a="http://schemas.openxmlformats.org/drawingml/2006/main">
              <a:ext uri="{FF2B5EF4-FFF2-40B4-BE49-F238E27FC236}">
                <a16:creationId xmlns:a16="http://schemas.microsoft.com/office/drawing/2014/main" id="{0AB8ED88-8A3C-41F4-87B1-8DBC15BD1027}"/>
              </a:ext>
            </a:extLst>
          </p:cNvPr>
          <p:cNvSpPr>
            <a:spLocks xmlns:a="http://schemas.openxmlformats.org/drawingml/2006/main" noGrp="1"/>
          </p:cNvSpPr>
          <p:nvPr/>
        </p:nvSpPr>
        <p:spPr>
          <a:xfrm xmlns:a="http://schemas.openxmlformats.org/drawingml/2006/main">
            <a:off x="762000" y="2571750"/>
            <a:ext cx="1064895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695970F-242C-4CDB-B508-97EF0D299CA8}"/>
              </a:ext>
            </a:extLst>
          </p:cNvPr>
          <p:cNvSpPr>
            <a:spLocks xmlns:a="http://schemas.openxmlformats.org/drawingml/2006/main" noGrp="1"/>
          </p:cNvSpPr>
          <p:nvPr/>
        </p:nvSpPr>
        <p:spPr>
          <a:xfrm xmlns:a="http://schemas.openxmlformats.org/drawingml/2006/main">
            <a:off x="762000" y="2638425"/>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Network bytes / ticket</a:t>
            </a:r>
          </a:p>
        </p:txBody>
      </p:sp>
      <p:sp>
        <p:nvSpPr>
          <p:cNvPr id="18" name="">
            <a:extLst xmlns:a="http://schemas.openxmlformats.org/drawingml/2006/main">
              <a:ext uri="{FF2B5EF4-FFF2-40B4-BE49-F238E27FC236}">
                <a16:creationId xmlns:a16="http://schemas.microsoft.com/office/drawing/2014/main" id="{C2F87702-E8EE-4515-92A1-2D70FFCA99CC}"/>
              </a:ext>
            </a:extLst>
          </p:cNvPr>
          <p:cNvSpPr>
            <a:spLocks xmlns:a="http://schemas.openxmlformats.org/drawingml/2006/main" noGrp="1"/>
          </p:cNvSpPr>
          <p:nvPr/>
        </p:nvSpPr>
        <p:spPr>
          <a:xfrm xmlns:a="http://schemas.openxmlformats.org/drawingml/2006/main">
            <a:off x="2933700" y="26384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a:t>
            </a:r>
          </a:p>
        </p:txBody>
      </p:sp>
      <p:sp>
        <p:nvSpPr>
          <p:cNvPr id="19" name="">
            <a:extLst xmlns:a="http://schemas.openxmlformats.org/drawingml/2006/main">
              <a:ext uri="{FF2B5EF4-FFF2-40B4-BE49-F238E27FC236}">
                <a16:creationId xmlns:a16="http://schemas.microsoft.com/office/drawing/2014/main" id="{4948C7C5-090D-4C44-963C-4BFCF28D6BEE}"/>
              </a:ext>
            </a:extLst>
          </p:cNvPr>
          <p:cNvSpPr>
            <a:spLocks xmlns:a="http://schemas.openxmlformats.org/drawingml/2006/main" noGrp="1"/>
          </p:cNvSpPr>
          <p:nvPr/>
        </p:nvSpPr>
        <p:spPr>
          <a:xfrm xmlns:a="http://schemas.openxmlformats.org/drawingml/2006/main">
            <a:off x="4905375" y="26384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1,778</a:t>
            </a:r>
          </a:p>
        </p:txBody>
      </p:sp>
      <p:sp>
        <p:nvSpPr>
          <p:cNvPr id="20" name="">
            <a:extLst xmlns:a="http://schemas.openxmlformats.org/drawingml/2006/main">
              <a:ext uri="{FF2B5EF4-FFF2-40B4-BE49-F238E27FC236}">
                <a16:creationId xmlns:a16="http://schemas.microsoft.com/office/drawing/2014/main" id="{5F1B55DC-CE5B-49EC-90E3-4AA0CC388988}"/>
              </a:ext>
            </a:extLst>
          </p:cNvPr>
          <p:cNvSpPr>
            <a:spLocks xmlns:a="http://schemas.openxmlformats.org/drawingml/2006/main" noGrp="1"/>
          </p:cNvSpPr>
          <p:nvPr/>
        </p:nvSpPr>
        <p:spPr>
          <a:xfrm xmlns:a="http://schemas.openxmlformats.org/drawingml/2006/main">
            <a:off x="7000875" y="26384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3,556</a:t>
            </a:r>
          </a:p>
        </p:txBody>
      </p:sp>
      <p:sp>
        <p:nvSpPr>
          <p:cNvPr id="21" name="">
            <a:extLst xmlns:a="http://schemas.openxmlformats.org/drawingml/2006/main">
              <a:ext uri="{FF2B5EF4-FFF2-40B4-BE49-F238E27FC236}">
                <a16:creationId xmlns:a16="http://schemas.microsoft.com/office/drawing/2014/main" id="{50919F6C-8D1F-4CBF-94DA-2C1B8F725723}"/>
              </a:ext>
            </a:extLst>
          </p:cNvPr>
          <p:cNvSpPr>
            <a:spLocks xmlns:a="http://schemas.openxmlformats.org/drawingml/2006/main" noGrp="1"/>
          </p:cNvSpPr>
          <p:nvPr/>
        </p:nvSpPr>
        <p:spPr>
          <a:xfrm xmlns:a="http://schemas.openxmlformats.org/drawingml/2006/main">
            <a:off x="9067800" y="26384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4,161</a:t>
            </a:r>
          </a:p>
        </p:txBody>
      </p:sp>
      <p:sp>
        <p:nvSpPr>
          <p:cNvPr id="22" name="">
            <a:extLst xmlns:a="http://schemas.openxmlformats.org/drawingml/2006/main">
              <a:ext uri="{FF2B5EF4-FFF2-40B4-BE49-F238E27FC236}">
                <a16:creationId xmlns:a16="http://schemas.microsoft.com/office/drawing/2014/main" id="{C12819D7-5C45-4D3C-B867-6FE59CDA0192}"/>
              </a:ext>
            </a:extLst>
          </p:cNvPr>
          <p:cNvSpPr>
            <a:spLocks xmlns:a="http://schemas.openxmlformats.org/drawingml/2006/main" noGrp="1"/>
          </p:cNvSpPr>
          <p:nvPr/>
        </p:nvSpPr>
        <p:spPr>
          <a:xfrm xmlns:a="http://schemas.openxmlformats.org/drawingml/2006/main">
            <a:off x="762000" y="3038475"/>
            <a:ext cx="1064895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3A8232E-4056-44A1-83C2-82AEB6A51493}"/>
              </a:ext>
            </a:extLst>
          </p:cNvPr>
          <p:cNvSpPr>
            <a:spLocks xmlns:a="http://schemas.openxmlformats.org/drawingml/2006/main" noGrp="1"/>
          </p:cNvSpPr>
          <p:nvPr/>
        </p:nvSpPr>
        <p:spPr>
          <a:xfrm xmlns:a="http://schemas.openxmlformats.org/drawingml/2006/main">
            <a:off x="762000" y="3105150"/>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Duplicate Recall@5</a:t>
            </a:r>
          </a:p>
        </p:txBody>
      </p:sp>
      <p:sp>
        <p:nvSpPr>
          <p:cNvPr id="24" name="">
            <a:extLst xmlns:a="http://schemas.openxmlformats.org/drawingml/2006/main">
              <a:ext uri="{FF2B5EF4-FFF2-40B4-BE49-F238E27FC236}">
                <a16:creationId xmlns:a16="http://schemas.microsoft.com/office/drawing/2014/main" id="{CB8C515E-88F3-402C-ACD4-4877DAA1D72C}"/>
              </a:ext>
            </a:extLst>
          </p:cNvPr>
          <p:cNvSpPr>
            <a:spLocks xmlns:a="http://schemas.openxmlformats.org/drawingml/2006/main" noGrp="1"/>
          </p:cNvSpPr>
          <p:nvPr/>
        </p:nvSpPr>
        <p:spPr>
          <a:xfrm xmlns:a="http://schemas.openxmlformats.org/drawingml/2006/main">
            <a:off x="2933700" y="31051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0.429</a:t>
            </a:r>
          </a:p>
        </p:txBody>
      </p:sp>
      <p:sp>
        <p:nvSpPr>
          <p:cNvPr id="25" name="">
            <a:extLst xmlns:a="http://schemas.openxmlformats.org/drawingml/2006/main">
              <a:ext uri="{FF2B5EF4-FFF2-40B4-BE49-F238E27FC236}">
                <a16:creationId xmlns:a16="http://schemas.microsoft.com/office/drawing/2014/main" id="{1088EC65-53A3-4DF0-86A6-2DB4005D3066}"/>
              </a:ext>
            </a:extLst>
          </p:cNvPr>
          <p:cNvSpPr>
            <a:spLocks xmlns:a="http://schemas.openxmlformats.org/drawingml/2006/main" noGrp="1"/>
          </p:cNvSpPr>
          <p:nvPr/>
        </p:nvSpPr>
        <p:spPr>
          <a:xfrm xmlns:a="http://schemas.openxmlformats.org/drawingml/2006/main">
            <a:off x="4905375" y="31051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26" name="">
            <a:extLst xmlns:a="http://schemas.openxmlformats.org/drawingml/2006/main">
              <a:ext uri="{FF2B5EF4-FFF2-40B4-BE49-F238E27FC236}">
                <a16:creationId xmlns:a16="http://schemas.microsoft.com/office/drawing/2014/main" id="{3A577C81-2BEB-4156-A250-44B61D6B9F67}"/>
              </a:ext>
            </a:extLst>
          </p:cNvPr>
          <p:cNvSpPr>
            <a:spLocks xmlns:a="http://schemas.openxmlformats.org/drawingml/2006/main" noGrp="1"/>
          </p:cNvSpPr>
          <p:nvPr/>
        </p:nvSpPr>
        <p:spPr>
          <a:xfrm xmlns:a="http://schemas.openxmlformats.org/drawingml/2006/main">
            <a:off x="7000875" y="31051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27" name="">
            <a:extLst xmlns:a="http://schemas.openxmlformats.org/drawingml/2006/main">
              <a:ext uri="{FF2B5EF4-FFF2-40B4-BE49-F238E27FC236}">
                <a16:creationId xmlns:a16="http://schemas.microsoft.com/office/drawing/2014/main" id="{3B2C9952-F156-4ADD-B1E6-D5634E293F13}"/>
              </a:ext>
            </a:extLst>
          </p:cNvPr>
          <p:cNvSpPr>
            <a:spLocks xmlns:a="http://schemas.openxmlformats.org/drawingml/2006/main" noGrp="1"/>
          </p:cNvSpPr>
          <p:nvPr/>
        </p:nvSpPr>
        <p:spPr>
          <a:xfrm xmlns:a="http://schemas.openxmlformats.org/drawingml/2006/main">
            <a:off x="9067800" y="31051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28" name="">
            <a:extLst xmlns:a="http://schemas.openxmlformats.org/drawingml/2006/main">
              <a:ext uri="{FF2B5EF4-FFF2-40B4-BE49-F238E27FC236}">
                <a16:creationId xmlns:a16="http://schemas.microsoft.com/office/drawing/2014/main" id="{B20A3168-E175-4D92-A086-F1F4DE2D046D}"/>
              </a:ext>
            </a:extLst>
          </p:cNvPr>
          <p:cNvSpPr>
            <a:spLocks xmlns:a="http://schemas.openxmlformats.org/drawingml/2006/main" noGrp="1"/>
          </p:cNvSpPr>
          <p:nvPr/>
        </p:nvSpPr>
        <p:spPr>
          <a:xfrm xmlns:a="http://schemas.openxmlformats.org/drawingml/2006/main">
            <a:off x="762000" y="3505200"/>
            <a:ext cx="1064895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2648BA9-101E-496C-8F1C-0862164427FD}"/>
              </a:ext>
            </a:extLst>
          </p:cNvPr>
          <p:cNvSpPr>
            <a:spLocks xmlns:a="http://schemas.openxmlformats.org/drawingml/2006/main" noGrp="1"/>
          </p:cNvSpPr>
          <p:nvPr/>
        </p:nvSpPr>
        <p:spPr>
          <a:xfrm xmlns:a="http://schemas.openxmlformats.org/drawingml/2006/main">
            <a:off x="762000" y="3571875"/>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Duplicate MAP</a:t>
            </a:r>
          </a:p>
        </p:txBody>
      </p:sp>
      <p:sp>
        <p:nvSpPr>
          <p:cNvPr id="30" name="">
            <a:extLst xmlns:a="http://schemas.openxmlformats.org/drawingml/2006/main">
              <a:ext uri="{FF2B5EF4-FFF2-40B4-BE49-F238E27FC236}">
                <a16:creationId xmlns:a16="http://schemas.microsoft.com/office/drawing/2014/main" id="{E3E89FBF-60B0-4AC5-B5A1-76784A3FFC6C}"/>
              </a:ext>
            </a:extLst>
          </p:cNvPr>
          <p:cNvSpPr>
            <a:spLocks xmlns:a="http://schemas.openxmlformats.org/drawingml/2006/main" noGrp="1"/>
          </p:cNvSpPr>
          <p:nvPr/>
        </p:nvSpPr>
        <p:spPr>
          <a:xfrm xmlns:a="http://schemas.openxmlformats.org/drawingml/2006/main">
            <a:off x="2933700" y="357187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0.242</a:t>
            </a:r>
          </a:p>
        </p:txBody>
      </p:sp>
      <p:sp>
        <p:nvSpPr>
          <p:cNvPr id="31" name="">
            <a:extLst xmlns:a="http://schemas.openxmlformats.org/drawingml/2006/main">
              <a:ext uri="{FF2B5EF4-FFF2-40B4-BE49-F238E27FC236}">
                <a16:creationId xmlns:a16="http://schemas.microsoft.com/office/drawing/2014/main" id="{72690A9C-3AD3-4847-BEB7-E6B1977C0D93}"/>
              </a:ext>
            </a:extLst>
          </p:cNvPr>
          <p:cNvSpPr>
            <a:spLocks xmlns:a="http://schemas.openxmlformats.org/drawingml/2006/main" noGrp="1"/>
          </p:cNvSpPr>
          <p:nvPr/>
        </p:nvSpPr>
        <p:spPr>
          <a:xfrm xmlns:a="http://schemas.openxmlformats.org/drawingml/2006/main">
            <a:off x="4905375" y="357187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0.680</a:t>
            </a:r>
          </a:p>
        </p:txBody>
      </p:sp>
      <p:sp>
        <p:nvSpPr>
          <p:cNvPr id="32" name="">
            <a:extLst xmlns:a="http://schemas.openxmlformats.org/drawingml/2006/main">
              <a:ext uri="{FF2B5EF4-FFF2-40B4-BE49-F238E27FC236}">
                <a16:creationId xmlns:a16="http://schemas.microsoft.com/office/drawing/2014/main" id="{330CA92D-77CA-4EE0-8628-8E9B01050149}"/>
              </a:ext>
            </a:extLst>
          </p:cNvPr>
          <p:cNvSpPr>
            <a:spLocks xmlns:a="http://schemas.openxmlformats.org/drawingml/2006/main" noGrp="1"/>
          </p:cNvSpPr>
          <p:nvPr/>
        </p:nvSpPr>
        <p:spPr>
          <a:xfrm xmlns:a="http://schemas.openxmlformats.org/drawingml/2006/main">
            <a:off x="7000875" y="357187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0.687</a:t>
            </a:r>
          </a:p>
        </p:txBody>
      </p:sp>
      <p:sp>
        <p:nvSpPr>
          <p:cNvPr id="33" name="">
            <a:extLst xmlns:a="http://schemas.openxmlformats.org/drawingml/2006/main">
              <a:ext uri="{FF2B5EF4-FFF2-40B4-BE49-F238E27FC236}">
                <a16:creationId xmlns:a16="http://schemas.microsoft.com/office/drawing/2014/main" id="{4FC74C2B-4CD7-403F-97B4-1B0E386D6F7F}"/>
              </a:ext>
            </a:extLst>
          </p:cNvPr>
          <p:cNvSpPr>
            <a:spLocks xmlns:a="http://schemas.openxmlformats.org/drawingml/2006/main" noGrp="1"/>
          </p:cNvSpPr>
          <p:nvPr/>
        </p:nvSpPr>
        <p:spPr>
          <a:xfrm xmlns:a="http://schemas.openxmlformats.org/drawingml/2006/main">
            <a:off x="9067800" y="357187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0.685</a:t>
            </a:r>
          </a:p>
        </p:txBody>
      </p:sp>
      <p:sp>
        <p:nvSpPr>
          <p:cNvPr id="34" name="">
            <a:extLst xmlns:a="http://schemas.openxmlformats.org/drawingml/2006/main">
              <a:ext uri="{FF2B5EF4-FFF2-40B4-BE49-F238E27FC236}">
                <a16:creationId xmlns:a16="http://schemas.microsoft.com/office/drawing/2014/main" id="{2D057266-8F3B-4AA5-884E-3FD55F3AD988}"/>
              </a:ext>
            </a:extLst>
          </p:cNvPr>
          <p:cNvSpPr>
            <a:spLocks xmlns:a="http://schemas.openxmlformats.org/drawingml/2006/main" noGrp="1"/>
          </p:cNvSpPr>
          <p:nvPr/>
        </p:nvSpPr>
        <p:spPr>
          <a:xfrm xmlns:a="http://schemas.openxmlformats.org/drawingml/2006/main">
            <a:off x="762000" y="3971925"/>
            <a:ext cx="1064895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30AA1FB9-9837-4931-95F3-BE224118550A}"/>
              </a:ext>
            </a:extLst>
          </p:cNvPr>
          <p:cNvSpPr>
            <a:spLocks xmlns:a="http://schemas.openxmlformats.org/drawingml/2006/main" noGrp="1"/>
          </p:cNvSpPr>
          <p:nvPr/>
        </p:nvSpPr>
        <p:spPr>
          <a:xfrm xmlns:a="http://schemas.openxmlformats.org/drawingml/2006/main">
            <a:off x="762000" y="4038600"/>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Severity macro-F1</a:t>
            </a:r>
          </a:p>
        </p:txBody>
      </p:sp>
      <p:sp>
        <p:nvSpPr>
          <p:cNvPr id="36" name="">
            <a:extLst xmlns:a="http://schemas.openxmlformats.org/drawingml/2006/main">
              <a:ext uri="{FF2B5EF4-FFF2-40B4-BE49-F238E27FC236}">
                <a16:creationId xmlns:a16="http://schemas.microsoft.com/office/drawing/2014/main" id="{231C4F07-366C-4922-911E-29F60064CD20}"/>
              </a:ext>
            </a:extLst>
          </p:cNvPr>
          <p:cNvSpPr>
            <a:spLocks xmlns:a="http://schemas.openxmlformats.org/drawingml/2006/main" noGrp="1"/>
          </p:cNvSpPr>
          <p:nvPr/>
        </p:nvSpPr>
        <p:spPr>
          <a:xfrm xmlns:a="http://schemas.openxmlformats.org/drawingml/2006/main">
            <a:off x="2933700" y="40386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37" name="">
            <a:extLst xmlns:a="http://schemas.openxmlformats.org/drawingml/2006/main">
              <a:ext uri="{FF2B5EF4-FFF2-40B4-BE49-F238E27FC236}">
                <a16:creationId xmlns:a16="http://schemas.microsoft.com/office/drawing/2014/main" id="{61C9667D-C5A1-408A-B3CF-5F848CFC0A39}"/>
              </a:ext>
            </a:extLst>
          </p:cNvPr>
          <p:cNvSpPr>
            <a:spLocks xmlns:a="http://schemas.openxmlformats.org/drawingml/2006/main" noGrp="1"/>
          </p:cNvSpPr>
          <p:nvPr/>
        </p:nvSpPr>
        <p:spPr>
          <a:xfrm xmlns:a="http://schemas.openxmlformats.org/drawingml/2006/main">
            <a:off x="4905375" y="40386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38" name="">
            <a:extLst xmlns:a="http://schemas.openxmlformats.org/drawingml/2006/main">
              <a:ext uri="{FF2B5EF4-FFF2-40B4-BE49-F238E27FC236}">
                <a16:creationId xmlns:a16="http://schemas.microsoft.com/office/drawing/2014/main" id="{FBDA172E-08A0-4694-BBDD-DF52058AB1D0}"/>
              </a:ext>
            </a:extLst>
          </p:cNvPr>
          <p:cNvSpPr>
            <a:spLocks xmlns:a="http://schemas.openxmlformats.org/drawingml/2006/main" noGrp="1"/>
          </p:cNvSpPr>
          <p:nvPr/>
        </p:nvSpPr>
        <p:spPr>
          <a:xfrm xmlns:a="http://schemas.openxmlformats.org/drawingml/2006/main">
            <a:off x="7000875" y="40386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39" name="">
            <a:extLst xmlns:a="http://schemas.openxmlformats.org/drawingml/2006/main">
              <a:ext uri="{FF2B5EF4-FFF2-40B4-BE49-F238E27FC236}">
                <a16:creationId xmlns:a16="http://schemas.microsoft.com/office/drawing/2014/main" id="{E355E7CB-FDE9-48E3-9749-DE2F21A06F3B}"/>
              </a:ext>
            </a:extLst>
          </p:cNvPr>
          <p:cNvSpPr>
            <a:spLocks xmlns:a="http://schemas.openxmlformats.org/drawingml/2006/main" noGrp="1"/>
          </p:cNvSpPr>
          <p:nvPr/>
        </p:nvSpPr>
        <p:spPr>
          <a:xfrm xmlns:a="http://schemas.openxmlformats.org/drawingml/2006/main">
            <a:off x="9067800" y="403860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1.000</a:t>
            </a:r>
          </a:p>
        </p:txBody>
      </p:sp>
      <p:sp>
        <p:nvSpPr>
          <p:cNvPr id="40" name="">
            <a:extLst xmlns:a="http://schemas.openxmlformats.org/drawingml/2006/main">
              <a:ext uri="{FF2B5EF4-FFF2-40B4-BE49-F238E27FC236}">
                <a16:creationId xmlns:a16="http://schemas.microsoft.com/office/drawing/2014/main" id="{CABF7CF2-EE25-4A81-BE01-1BAD743FE45E}"/>
              </a:ext>
            </a:extLst>
          </p:cNvPr>
          <p:cNvSpPr>
            <a:spLocks xmlns:a="http://schemas.openxmlformats.org/drawingml/2006/main" noGrp="1"/>
          </p:cNvSpPr>
          <p:nvPr/>
        </p:nvSpPr>
        <p:spPr>
          <a:xfrm xmlns:a="http://schemas.openxmlformats.org/drawingml/2006/main">
            <a:off x="762000" y="4438650"/>
            <a:ext cx="1064895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042880E-BEBB-4302-A491-C9CE447A72A9}"/>
              </a:ext>
            </a:extLst>
          </p:cNvPr>
          <p:cNvSpPr>
            <a:spLocks xmlns:a="http://schemas.openxmlformats.org/drawingml/2006/main" noGrp="1"/>
          </p:cNvSpPr>
          <p:nvPr/>
        </p:nvSpPr>
        <p:spPr>
          <a:xfrm xmlns:a="http://schemas.openxmlformats.org/drawingml/2006/main">
            <a:off x="762000" y="4505325"/>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Fault ordering NAPFD</a:t>
            </a:r>
          </a:p>
        </p:txBody>
      </p:sp>
      <p:sp>
        <p:nvSpPr>
          <p:cNvPr id="42" name="">
            <a:extLst xmlns:a="http://schemas.openxmlformats.org/drawingml/2006/main">
              <a:ext uri="{FF2B5EF4-FFF2-40B4-BE49-F238E27FC236}">
                <a16:creationId xmlns:a16="http://schemas.microsoft.com/office/drawing/2014/main" id="{39BC3929-2C58-40E6-8571-EE4340851D82}"/>
              </a:ext>
            </a:extLst>
          </p:cNvPr>
          <p:cNvSpPr>
            <a:spLocks xmlns:a="http://schemas.openxmlformats.org/drawingml/2006/main" noGrp="1"/>
          </p:cNvSpPr>
          <p:nvPr/>
        </p:nvSpPr>
        <p:spPr>
          <a:xfrm xmlns:a="http://schemas.openxmlformats.org/drawingml/2006/main">
            <a:off x="2933700" y="45053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0.490</a:t>
            </a:r>
          </a:p>
        </p:txBody>
      </p:sp>
      <p:sp>
        <p:nvSpPr>
          <p:cNvPr id="43" name="">
            <a:extLst xmlns:a="http://schemas.openxmlformats.org/drawingml/2006/main">
              <a:ext uri="{FF2B5EF4-FFF2-40B4-BE49-F238E27FC236}">
                <a16:creationId xmlns:a16="http://schemas.microsoft.com/office/drawing/2014/main" id="{562E5F79-3530-408D-BA7F-856BABA4908C}"/>
              </a:ext>
            </a:extLst>
          </p:cNvPr>
          <p:cNvSpPr>
            <a:spLocks xmlns:a="http://schemas.openxmlformats.org/drawingml/2006/main" noGrp="1"/>
          </p:cNvSpPr>
          <p:nvPr/>
        </p:nvSpPr>
        <p:spPr>
          <a:xfrm xmlns:a="http://schemas.openxmlformats.org/drawingml/2006/main">
            <a:off x="4905375" y="45053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0.750</a:t>
            </a:r>
          </a:p>
        </p:txBody>
      </p:sp>
      <p:sp>
        <p:nvSpPr>
          <p:cNvPr id="44" name="">
            <a:extLst xmlns:a="http://schemas.openxmlformats.org/drawingml/2006/main">
              <a:ext uri="{FF2B5EF4-FFF2-40B4-BE49-F238E27FC236}">
                <a16:creationId xmlns:a16="http://schemas.microsoft.com/office/drawing/2014/main" id="{87E6415A-4F26-41FA-BE69-C9C33C90F00D}"/>
              </a:ext>
            </a:extLst>
          </p:cNvPr>
          <p:cNvSpPr>
            <a:spLocks xmlns:a="http://schemas.openxmlformats.org/drawingml/2006/main" noGrp="1"/>
          </p:cNvSpPr>
          <p:nvPr/>
        </p:nvSpPr>
        <p:spPr>
          <a:xfrm xmlns:a="http://schemas.openxmlformats.org/drawingml/2006/main">
            <a:off x="7000875" y="45053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0.750</a:t>
            </a:r>
          </a:p>
        </p:txBody>
      </p:sp>
      <p:sp>
        <p:nvSpPr>
          <p:cNvPr id="45" name="">
            <a:extLst xmlns:a="http://schemas.openxmlformats.org/drawingml/2006/main">
              <a:ext uri="{FF2B5EF4-FFF2-40B4-BE49-F238E27FC236}">
                <a16:creationId xmlns:a16="http://schemas.microsoft.com/office/drawing/2014/main" id="{284136E9-0DC9-4F4D-8A12-F20A334AEE65}"/>
              </a:ext>
            </a:extLst>
          </p:cNvPr>
          <p:cNvSpPr>
            <a:spLocks xmlns:a="http://schemas.openxmlformats.org/drawingml/2006/main" noGrp="1"/>
          </p:cNvSpPr>
          <p:nvPr/>
        </p:nvSpPr>
        <p:spPr>
          <a:xfrm xmlns:a="http://schemas.openxmlformats.org/drawingml/2006/main">
            <a:off x="9067800" y="45053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0.750</a:t>
            </a:r>
          </a:p>
        </p:txBody>
      </p:sp>
      <p:sp>
        <p:nvSpPr>
          <p:cNvPr id="46" name="">
            <a:extLst xmlns:a="http://schemas.openxmlformats.org/drawingml/2006/main">
              <a:ext uri="{FF2B5EF4-FFF2-40B4-BE49-F238E27FC236}">
                <a16:creationId xmlns:a16="http://schemas.microsoft.com/office/drawing/2014/main" id="{75D4A122-94E1-46BB-A83A-554F0B21C571}"/>
              </a:ext>
            </a:extLst>
          </p:cNvPr>
          <p:cNvSpPr>
            <a:spLocks xmlns:a="http://schemas.openxmlformats.org/drawingml/2006/main" noGrp="1"/>
          </p:cNvSpPr>
          <p:nvPr/>
        </p:nvSpPr>
        <p:spPr>
          <a:xfrm xmlns:a="http://schemas.openxmlformats.org/drawingml/2006/main">
            <a:off x="762000" y="4905375"/>
            <a:ext cx="10648950" cy="9525"/>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7D0853D-0FD2-48EA-B1F5-537F4DA2A566}"/>
              </a:ext>
            </a:extLst>
          </p:cNvPr>
          <p:cNvSpPr>
            <a:spLocks xmlns:a="http://schemas.openxmlformats.org/drawingml/2006/main" noGrp="1"/>
          </p:cNvSpPr>
          <p:nvPr/>
        </p:nvSpPr>
        <p:spPr>
          <a:xfrm xmlns:a="http://schemas.openxmlformats.org/drawingml/2006/main">
            <a:off x="762000" y="4972050"/>
            <a:ext cx="200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8324B"/>
                </a:solidFill>
                <a:latin typeface="Arial"/>
                <a:ea typeface="Arial"/>
                <a:cs typeface="Arial"/>
              </a:defRPr>
            </a:pPr>
            <a:r>
              <a:rPr sz="1350" b="1">
                <a:solidFill>
                  <a:srgbClr val="18324B"/>
                </a:solidFill>
                <a:latin typeface="Arial"/>
                <a:ea typeface="Arial"/>
                <a:cs typeface="Arial"/>
              </a:rPr>
              <a:t>Simulated rollback rate</a:t>
            </a:r>
          </a:p>
        </p:txBody>
      </p:sp>
      <p:sp>
        <p:nvSpPr>
          <p:cNvPr id="48" name="">
            <a:extLst xmlns:a="http://schemas.openxmlformats.org/drawingml/2006/main">
              <a:ext uri="{FF2B5EF4-FFF2-40B4-BE49-F238E27FC236}">
                <a16:creationId xmlns:a16="http://schemas.microsoft.com/office/drawing/2014/main" id="{4EB7898C-4EDE-4924-8F97-EC382620DA72}"/>
              </a:ext>
            </a:extLst>
          </p:cNvPr>
          <p:cNvSpPr>
            <a:spLocks xmlns:a="http://schemas.openxmlformats.org/drawingml/2006/main" noGrp="1"/>
          </p:cNvSpPr>
          <p:nvPr/>
        </p:nvSpPr>
        <p:spPr>
          <a:xfrm xmlns:a="http://schemas.openxmlformats.org/drawingml/2006/main">
            <a:off x="2933700" y="49720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5.6%</a:t>
            </a:r>
          </a:p>
        </p:txBody>
      </p:sp>
      <p:sp>
        <p:nvSpPr>
          <p:cNvPr id="49" name="">
            <a:extLst xmlns:a="http://schemas.openxmlformats.org/drawingml/2006/main">
              <a:ext uri="{FF2B5EF4-FFF2-40B4-BE49-F238E27FC236}">
                <a16:creationId xmlns:a16="http://schemas.microsoft.com/office/drawing/2014/main" id="{9FAB6E09-8411-4042-AF98-2AFE6D9FC2B4}"/>
              </a:ext>
            </a:extLst>
          </p:cNvPr>
          <p:cNvSpPr>
            <a:spLocks xmlns:a="http://schemas.openxmlformats.org/drawingml/2006/main" noGrp="1"/>
          </p:cNvSpPr>
          <p:nvPr/>
        </p:nvSpPr>
        <p:spPr>
          <a:xfrm xmlns:a="http://schemas.openxmlformats.org/drawingml/2006/main">
            <a:off x="4905375" y="49720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5.4%</a:t>
            </a:r>
          </a:p>
        </p:txBody>
      </p:sp>
      <p:sp>
        <p:nvSpPr>
          <p:cNvPr id="50" name="">
            <a:extLst xmlns:a="http://schemas.openxmlformats.org/drawingml/2006/main">
              <a:ext uri="{FF2B5EF4-FFF2-40B4-BE49-F238E27FC236}">
                <a16:creationId xmlns:a16="http://schemas.microsoft.com/office/drawing/2014/main" id="{9EA29CAA-277D-4356-AC46-4432BA9A44E0}"/>
              </a:ext>
            </a:extLst>
          </p:cNvPr>
          <p:cNvSpPr>
            <a:spLocks xmlns:a="http://schemas.openxmlformats.org/drawingml/2006/main" noGrp="1"/>
          </p:cNvSpPr>
          <p:nvPr/>
        </p:nvSpPr>
        <p:spPr>
          <a:xfrm xmlns:a="http://schemas.openxmlformats.org/drawingml/2006/main">
            <a:off x="7000875" y="49720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5.8%</a:t>
            </a:r>
          </a:p>
        </p:txBody>
      </p:sp>
      <p:sp>
        <p:nvSpPr>
          <p:cNvPr id="51" name="">
            <a:extLst xmlns:a="http://schemas.openxmlformats.org/drawingml/2006/main">
              <a:ext uri="{FF2B5EF4-FFF2-40B4-BE49-F238E27FC236}">
                <a16:creationId xmlns:a16="http://schemas.microsoft.com/office/drawing/2014/main" id="{4AF0F277-A9AA-4529-AF1B-417856D9EC5A}"/>
              </a:ext>
            </a:extLst>
          </p:cNvPr>
          <p:cNvSpPr>
            <a:spLocks xmlns:a="http://schemas.openxmlformats.org/drawingml/2006/main" noGrp="1"/>
          </p:cNvSpPr>
          <p:nvPr/>
        </p:nvSpPr>
        <p:spPr>
          <a:xfrm xmlns:a="http://schemas.openxmlformats.org/drawingml/2006/main">
            <a:off x="9067800" y="4972050"/>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7.4%</a:t>
            </a:r>
          </a:p>
        </p:txBody>
      </p:sp>
      <p:sp>
        <p:nvSpPr>
          <p:cNvPr id="52" name="">
            <a:extLst xmlns:a="http://schemas.openxmlformats.org/drawingml/2006/main">
              <a:ext uri="{FF2B5EF4-FFF2-40B4-BE49-F238E27FC236}">
                <a16:creationId xmlns:a16="http://schemas.microsoft.com/office/drawing/2014/main" id="{A6EDD5EF-919F-4259-B8D8-40970F649CC0}"/>
              </a:ext>
            </a:extLst>
          </p:cNvPr>
          <p:cNvSpPr>
            <a:spLocks xmlns:a="http://schemas.openxmlformats.org/drawingml/2006/main" noGrp="1"/>
          </p:cNvSpPr>
          <p:nvPr/>
        </p:nvSpPr>
        <p:spPr>
          <a:xfrm xmlns:a="http://schemas.openxmlformats.org/drawingml/2006/main">
            <a:off x="762000" y="5543550"/>
            <a:ext cx="10648950" cy="552450"/>
          </a:xfrm>
          <a:prstGeom xmlns:a="http://schemas.openxmlformats.org/drawingml/2006/main" prst="roundRect">
            <a:avLst>
              <a:gd name="adj" fmla="val 20690"/>
            </a:avLst>
          </a:prstGeom>
          <a:solidFill xmlns:a="http://schemas.openxmlformats.org/drawingml/2006/main">
            <a:srgbClr val="DDEFEA"/>
          </a:solidFill>
          <a:ln xmlns:a="http://schemas.openxmlformats.org/drawingml/2006/main" w="9525">
            <a:noFill/>
          </a:ln>
        </p:spPr>
      </p:sp>
      <p:sp>
        <p:nvSpPr>
          <p:cNvPr id="53" name="">
            <a:extLst xmlns:a="http://schemas.openxmlformats.org/drawingml/2006/main">
              <a:ext uri="{FF2B5EF4-FFF2-40B4-BE49-F238E27FC236}">
                <a16:creationId xmlns:a16="http://schemas.microsoft.com/office/drawing/2014/main" id="{64E81837-9D2B-4C73-8CCE-E931050F259E}"/>
              </a:ext>
            </a:extLst>
          </p:cNvPr>
          <p:cNvSpPr>
            <a:spLocks xmlns:a="http://schemas.openxmlformats.org/drawingml/2006/main" noGrp="1"/>
          </p:cNvSpPr>
          <p:nvPr/>
        </p:nvSpPr>
        <p:spPr>
          <a:xfrm xmlns:a="http://schemas.openxmlformats.org/drawingml/2006/main">
            <a:off x="923925" y="563880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18324B"/>
                </a:solidFill>
                <a:latin typeface="Arial"/>
                <a:ea typeface="Arial"/>
                <a:cs typeface="Arial"/>
              </a:defRPr>
            </a:pPr>
            <a:r>
              <a:rPr sz="1425" b="1">
                <a:solidFill>
                  <a:srgbClr val="18324B"/>
                </a:solidFill>
                <a:latin typeface="Arial"/>
                <a:ea typeface="Arial"/>
                <a:cs typeface="Arial"/>
              </a:rPr>
              <a:t>A3 adds the most bytes and has the highest rollback rate. All arms reach F1 = 1.0 on distinctive synthetic labels.</a:t>
            </a:r>
          </a:p>
        </p:txBody>
      </p:sp>
    </p:spTree>
    <p:extLst>
      <p:ext uri="{BB962C8B-B14F-4D97-AF65-F5344CB8AC3E}">
        <p14:creationId xmlns:p14="http://schemas.microsoft.com/office/powerpoint/2010/main" val="844811114"/>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BF10364-2295-456C-8498-468DE4DD98E8}"/>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Treat these as classroom results, not field evidence</a:t>
            </a:r>
          </a:p>
        </p:txBody>
      </p:sp>
      <p:sp>
        <p:nvSpPr>
          <p:cNvPr id="2" name="">
            <a:extLst xmlns:a="http://schemas.openxmlformats.org/drawingml/2006/main">
              <a:ext uri="{FF2B5EF4-FFF2-40B4-BE49-F238E27FC236}">
                <a16:creationId xmlns:a16="http://schemas.microsoft.com/office/drawing/2014/main" id="{0BADA39F-DAD2-4D9A-A452-663FFE26D2C3}"/>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CF0CFA9-AB5B-4FCD-8FCD-AF7E8B6FE5D2}"/>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Seeded results support discussion of trade-offs; they do not validate business impact</a:t>
            </a:r>
          </a:p>
        </p:txBody>
      </p:sp>
      <p:sp>
        <p:nvSpPr>
          <p:cNvPr id="4" name="">
            <a:extLst xmlns:a="http://schemas.openxmlformats.org/drawingml/2006/main">
              <a:ext uri="{FF2B5EF4-FFF2-40B4-BE49-F238E27FC236}">
                <a16:creationId xmlns:a16="http://schemas.microsoft.com/office/drawing/2014/main" id="{D77DB854-6637-46FC-922E-75998DA7034B}"/>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26824999-6867-4383-AF3C-3CFD00E7CEA6}"/>
              </a:ext>
            </a:extLst>
          </p:cNvPr>
          <p:cNvSpPr>
            <a:spLocks xmlns:a="http://schemas.openxmlformats.org/drawingml/2006/main" noGrp="1"/>
          </p:cNvSpPr>
          <p:nvPr/>
        </p:nvSpPr>
        <p:spPr>
          <a:xfrm xmlns:a="http://schemas.openxmlformats.org/drawingml/2006/main">
            <a:off x="762000" y="1924050"/>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9C40C3F-F62A-49B8-8DA1-EB0BC64711D3}"/>
              </a:ext>
            </a:extLst>
          </p:cNvPr>
          <p:cNvSpPr>
            <a:spLocks xmlns:a="http://schemas.openxmlformats.org/drawingml/2006/main" noGrp="1"/>
          </p:cNvSpPr>
          <p:nvPr/>
        </p:nvSpPr>
        <p:spPr>
          <a:xfrm xmlns:a="http://schemas.openxmlformats.org/drawingml/2006/main">
            <a:off x="1009650" y="1838325"/>
            <a:ext cx="4800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Wall time differed in this run</a:t>
            </a:r>
          </a:p>
        </p:txBody>
      </p:sp>
      <p:sp>
        <p:nvSpPr>
          <p:cNvPr id="7" name="">
            <a:extLst xmlns:a="http://schemas.openxmlformats.org/drawingml/2006/main">
              <a:ext uri="{FF2B5EF4-FFF2-40B4-BE49-F238E27FC236}">
                <a16:creationId xmlns:a16="http://schemas.microsoft.com/office/drawing/2014/main" id="{5D24ECFE-CCB6-4207-900F-7FD164DC103A}"/>
              </a:ext>
            </a:extLst>
          </p:cNvPr>
          <p:cNvSpPr>
            <a:spLocks xmlns:a="http://schemas.openxmlformats.org/drawingml/2006/main" noGrp="1"/>
          </p:cNvSpPr>
          <p:nvPr/>
        </p:nvSpPr>
        <p:spPr>
          <a:xfrm xmlns:a="http://schemas.openxmlformats.org/drawingml/2006/main">
            <a:off x="1009650" y="2143125"/>
            <a:ext cx="480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Friedman omnibus p = 0.0136 across five seeds. Values remain tiny CPU-proxy timings, not service latency.</a:t>
            </a:r>
          </a:p>
        </p:txBody>
      </p:sp>
      <p:sp>
        <p:nvSpPr>
          <p:cNvPr id="8" name="">
            <a:extLst xmlns:a="http://schemas.openxmlformats.org/drawingml/2006/main">
              <a:ext uri="{FF2B5EF4-FFF2-40B4-BE49-F238E27FC236}">
                <a16:creationId xmlns:a16="http://schemas.microsoft.com/office/drawing/2014/main" id="{3955B339-CD82-4646-A829-6085EFAFA347}"/>
              </a:ext>
            </a:extLst>
          </p:cNvPr>
          <p:cNvSpPr>
            <a:spLocks xmlns:a="http://schemas.openxmlformats.org/drawingml/2006/main" noGrp="1"/>
          </p:cNvSpPr>
          <p:nvPr/>
        </p:nvSpPr>
        <p:spPr>
          <a:xfrm xmlns:a="http://schemas.openxmlformats.org/drawingml/2006/main">
            <a:off x="762000" y="3228975"/>
            <a:ext cx="114300" cy="114300"/>
          </a:xfrm>
          <a:prstGeom xmlns:a="http://schemas.openxmlformats.org/drawingml/2006/main" prst="ellipse">
            <a:avLst/>
          </a:prstGeom>
          <a:solidFill xmlns:a="http://schemas.openxmlformats.org/drawingml/2006/main">
            <a:srgbClr val="3B6FA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F75D6EC-92F1-4C09-B2E9-520965BBCE56}"/>
              </a:ext>
            </a:extLst>
          </p:cNvPr>
          <p:cNvSpPr>
            <a:spLocks xmlns:a="http://schemas.openxmlformats.org/drawingml/2006/main" noGrp="1"/>
          </p:cNvSpPr>
          <p:nvPr/>
        </p:nvSpPr>
        <p:spPr>
          <a:xfrm xmlns:a="http://schemas.openxmlformats.org/drawingml/2006/main">
            <a:off x="1009650" y="3143250"/>
            <a:ext cx="4800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Network bytes also differed</a:t>
            </a:r>
          </a:p>
        </p:txBody>
      </p:sp>
      <p:sp>
        <p:nvSpPr>
          <p:cNvPr id="10" name="">
            <a:extLst xmlns:a="http://schemas.openxmlformats.org/drawingml/2006/main">
              <a:ext uri="{FF2B5EF4-FFF2-40B4-BE49-F238E27FC236}">
                <a16:creationId xmlns:a16="http://schemas.microsoft.com/office/drawing/2014/main" id="{B80BBAF1-0267-4D14-AEAB-62B2998E47FB}"/>
              </a:ext>
            </a:extLst>
          </p:cNvPr>
          <p:cNvSpPr>
            <a:spLocks xmlns:a="http://schemas.openxmlformats.org/drawingml/2006/main" noGrp="1"/>
          </p:cNvSpPr>
          <p:nvPr/>
        </p:nvSpPr>
        <p:spPr>
          <a:xfrm xmlns:a="http://schemas.openxmlformats.org/drawingml/2006/main">
            <a:off x="1009650" y="3448050"/>
            <a:ext cx="4800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Friedman omnibus p = 0.0018. CPU (p = 0.926) and rollback (p = 0.604) were not significant.</a:t>
            </a:r>
          </a:p>
        </p:txBody>
      </p:sp>
      <p:sp>
        <p:nvSpPr>
          <p:cNvPr id="11" name="">
            <a:extLst xmlns:a="http://schemas.openxmlformats.org/drawingml/2006/main">
              <a:ext uri="{FF2B5EF4-FFF2-40B4-BE49-F238E27FC236}">
                <a16:creationId xmlns:a16="http://schemas.microsoft.com/office/drawing/2014/main" id="{C6235D98-2287-4413-B53D-AF1D0A0FFCFB}"/>
              </a:ext>
            </a:extLst>
          </p:cNvPr>
          <p:cNvSpPr>
            <a:spLocks xmlns:a="http://schemas.openxmlformats.org/drawingml/2006/main" noGrp="1"/>
          </p:cNvSpPr>
          <p:nvPr/>
        </p:nvSpPr>
        <p:spPr>
          <a:xfrm xmlns:a="http://schemas.openxmlformats.org/drawingml/2006/main">
            <a:off x="6429375" y="1924050"/>
            <a:ext cx="114300" cy="114300"/>
          </a:xfrm>
          <a:prstGeom xmlns:a="http://schemas.openxmlformats.org/drawingml/2006/main" prst="ellipse">
            <a:avLst/>
          </a:prstGeom>
          <a:solidFill xmlns:a="http://schemas.openxmlformats.org/drawingml/2006/main">
            <a:srgbClr val="4B806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D2A6C90-D190-4810-85B4-5AF290C5A0C1}"/>
              </a:ext>
            </a:extLst>
          </p:cNvPr>
          <p:cNvSpPr>
            <a:spLocks xmlns:a="http://schemas.openxmlformats.org/drawingml/2006/main" noGrp="1"/>
          </p:cNvSpPr>
          <p:nvPr/>
        </p:nvSpPr>
        <p:spPr>
          <a:xfrm xmlns:a="http://schemas.openxmlformats.org/drawingml/2006/main">
            <a:off x="6677025" y="1838325"/>
            <a:ext cx="4610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Policy gates held in this run</a:t>
            </a:r>
          </a:p>
        </p:txBody>
      </p:sp>
      <p:sp>
        <p:nvSpPr>
          <p:cNvPr id="13" name="">
            <a:extLst xmlns:a="http://schemas.openxmlformats.org/drawingml/2006/main">
              <a:ext uri="{FF2B5EF4-FFF2-40B4-BE49-F238E27FC236}">
                <a16:creationId xmlns:a16="http://schemas.microsoft.com/office/drawing/2014/main" id="{C685E721-2765-4F90-9C13-D2B444C16F5C}"/>
              </a:ext>
            </a:extLst>
          </p:cNvPr>
          <p:cNvSpPr>
            <a:spLocks xmlns:a="http://schemas.openxmlformats.org/drawingml/2006/main" noGrp="1"/>
          </p:cNvSpPr>
          <p:nvPr/>
        </p:nvSpPr>
        <p:spPr>
          <a:xfrm xmlns:a="http://schemas.openxmlformats.org/drawingml/2006/main">
            <a:off x="6677025" y="2143125"/>
            <a:ext cx="461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20/20 synthetic injections blocked; zero unapproved full releases. A3 had 11 approved simulated releases.</a:t>
            </a:r>
          </a:p>
        </p:txBody>
      </p:sp>
      <p:sp>
        <p:nvSpPr>
          <p:cNvPr id="14" name="">
            <a:extLst xmlns:a="http://schemas.openxmlformats.org/drawingml/2006/main">
              <a:ext uri="{FF2B5EF4-FFF2-40B4-BE49-F238E27FC236}">
                <a16:creationId xmlns:a16="http://schemas.microsoft.com/office/drawing/2014/main" id="{A872614F-D005-4078-A88D-DA180A2097C9}"/>
              </a:ext>
            </a:extLst>
          </p:cNvPr>
          <p:cNvSpPr>
            <a:spLocks xmlns:a="http://schemas.openxmlformats.org/drawingml/2006/main" noGrp="1"/>
          </p:cNvSpPr>
          <p:nvPr/>
        </p:nvSpPr>
        <p:spPr>
          <a:xfrm xmlns:a="http://schemas.openxmlformats.org/drawingml/2006/main">
            <a:off x="6429375" y="3228975"/>
            <a:ext cx="114300" cy="114300"/>
          </a:xfrm>
          <a:prstGeom xmlns:a="http://schemas.openxmlformats.org/drawingml/2006/main" prst="ellipse">
            <a:avLst/>
          </a:prstGeom>
          <a:solidFill xmlns:a="http://schemas.openxmlformats.org/drawingml/2006/main">
            <a:srgbClr val="B77A2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ED9AB67-BCDD-4260-9766-7EE3D5D4052A}"/>
              </a:ext>
            </a:extLst>
          </p:cNvPr>
          <p:cNvSpPr>
            <a:spLocks xmlns:a="http://schemas.openxmlformats.org/drawingml/2006/main" noGrp="1"/>
          </p:cNvSpPr>
          <p:nvPr/>
        </p:nvSpPr>
        <p:spPr>
          <a:xfrm xmlns:a="http://schemas.openxmlformats.org/drawingml/2006/main">
            <a:off x="6677025" y="3143250"/>
            <a:ext cx="4610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No field productivity claim</a:t>
            </a:r>
          </a:p>
        </p:txBody>
      </p:sp>
      <p:sp>
        <p:nvSpPr>
          <p:cNvPr id="16" name="">
            <a:extLst xmlns:a="http://schemas.openxmlformats.org/drawingml/2006/main">
              <a:ext uri="{FF2B5EF4-FFF2-40B4-BE49-F238E27FC236}">
                <a16:creationId xmlns:a16="http://schemas.microsoft.com/office/drawing/2014/main" id="{FD3B5A5C-11A3-4421-9A77-D917137A6F49}"/>
              </a:ext>
            </a:extLst>
          </p:cNvPr>
          <p:cNvSpPr>
            <a:spLocks xmlns:a="http://schemas.openxmlformats.org/drawingml/2006/main" noGrp="1"/>
          </p:cNvSpPr>
          <p:nvPr/>
        </p:nvSpPr>
        <p:spPr>
          <a:xfrm xmlns:a="http://schemas.openxmlformats.org/drawingml/2006/main">
            <a:off x="6677025" y="3448050"/>
            <a:ext cx="461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387"/>
          </a:bodyPr>
          <a:lstStyle xmlns:a="http://schemas.openxmlformats.org/drawingml/2006/main"/>
          <a:p xmlns:a="http://schemas.openxmlformats.org/drawingml/2006/main">
            <a:pPr algn="l">
              <a:defRPr sz="1425" b="0">
                <a:solidFill>
                  <a:srgbClr val="2E4357"/>
                </a:solidFill>
                <a:latin typeface="Arial"/>
                <a:ea typeface="Arial"/>
                <a:cs typeface="Arial"/>
              </a:defRPr>
            </a:pPr>
            <a:r>
              <a:rPr sz="1425" b="0">
                <a:solidFill>
                  <a:srgbClr val="2E4357"/>
                </a:solidFill>
                <a:latin typeface="Arial"/>
                <a:ea typeface="Arial"/>
                <a:cs typeface="Arial"/>
              </a:rPr>
              <a:t>The harness runs no LLM API, Redis, real CI or production deployment. DORA-style outcomes are simulated.</a:t>
            </a:r>
          </a:p>
        </p:txBody>
      </p:sp>
      <p:sp>
        <p:nvSpPr>
          <p:cNvPr id="17" name="">
            <a:extLst xmlns:a="http://schemas.openxmlformats.org/drawingml/2006/main">
              <a:ext uri="{FF2B5EF4-FFF2-40B4-BE49-F238E27FC236}">
                <a16:creationId xmlns:a16="http://schemas.microsoft.com/office/drawing/2014/main" id="{8161AA18-33B8-4C41-9308-277C9553A03E}"/>
              </a:ext>
            </a:extLst>
          </p:cNvPr>
          <p:cNvSpPr>
            <a:spLocks xmlns:a="http://schemas.openxmlformats.org/drawingml/2006/main" noGrp="1"/>
          </p:cNvSpPr>
          <p:nvPr/>
        </p:nvSpPr>
        <p:spPr>
          <a:xfrm xmlns:a="http://schemas.openxmlformats.org/drawingml/2006/main">
            <a:off x="762000" y="4810125"/>
            <a:ext cx="10620375" cy="904875"/>
          </a:xfrm>
          <a:prstGeom xmlns:a="http://schemas.openxmlformats.org/drawingml/2006/main" prst="roundRect">
            <a:avLst>
              <a:gd name="adj" fmla="val 16842"/>
            </a:avLst>
          </a:prstGeom>
          <a:solidFill xmlns:a="http://schemas.openxmlformats.org/drawingml/2006/main">
            <a:srgbClr val="FFFFFF"/>
          </a:solidFill>
          <a:ln xmlns:a="http://schemas.openxmlformats.org/drawingml/2006/main" w="9525">
            <a:solidFill>
              <a:srgbClr val="D7E0E9"/>
            </a:solidFill>
          </a:ln>
        </p:spPr>
      </p:sp>
      <p:sp>
        <p:nvSpPr>
          <p:cNvPr id="18" name="">
            <a:extLst xmlns:a="http://schemas.openxmlformats.org/drawingml/2006/main">
              <a:ext uri="{FF2B5EF4-FFF2-40B4-BE49-F238E27FC236}">
                <a16:creationId xmlns:a16="http://schemas.microsoft.com/office/drawing/2014/main" id="{49444C8B-750E-4D7D-AB87-E3D9CB274FEB}"/>
              </a:ext>
            </a:extLst>
          </p:cNvPr>
          <p:cNvSpPr>
            <a:spLocks xmlns:a="http://schemas.openxmlformats.org/drawingml/2006/main" noGrp="1"/>
          </p:cNvSpPr>
          <p:nvPr/>
        </p:nvSpPr>
        <p:spPr>
          <a:xfrm xmlns:a="http://schemas.openxmlformats.org/drawingml/2006/main">
            <a:off x="952500" y="49625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2D7A78"/>
                </a:solidFill>
                <a:latin typeface="Arial"/>
                <a:ea typeface="Arial"/>
                <a:cs typeface="Arial"/>
              </a:defRPr>
            </a:pPr>
            <a:r>
              <a:rPr sz="1575" b="1">
                <a:solidFill>
                  <a:srgbClr val="2D7A78"/>
                </a:solidFill>
                <a:latin typeface="Arial"/>
                <a:ea typeface="Arial"/>
                <a:cs typeface="Arial"/>
              </a:rPr>
              <a:t>What the result actually says</a:t>
            </a:r>
          </a:p>
        </p:txBody>
      </p:sp>
      <p:sp>
        <p:nvSpPr>
          <p:cNvPr id="19" name="">
            <a:extLst xmlns:a="http://schemas.openxmlformats.org/drawingml/2006/main">
              <a:ext uri="{FF2B5EF4-FFF2-40B4-BE49-F238E27FC236}">
                <a16:creationId xmlns:a16="http://schemas.microsoft.com/office/drawing/2014/main" id="{0233FDB8-0561-4586-8490-C15A9D42CCAF}"/>
              </a:ext>
            </a:extLst>
          </p:cNvPr>
          <p:cNvSpPr>
            <a:spLocks xmlns:a="http://schemas.openxmlformats.org/drawingml/2006/main" noGrp="1"/>
          </p:cNvSpPr>
          <p:nvPr/>
        </p:nvSpPr>
        <p:spPr>
          <a:xfrm xmlns:a="http://schemas.openxmlformats.org/drawingml/2006/main">
            <a:off x="952500" y="5276850"/>
            <a:ext cx="1009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25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Coordination and mobility increase serialized work in this setup. Whether local execution is worth that cost depends on data locality and privacy requirements, which this benchmark does not quantify.</a:t>
            </a:r>
          </a:p>
        </p:txBody>
      </p:sp>
    </p:spTree>
    <p:extLst>
      <p:ext uri="{BB962C8B-B14F-4D97-AF65-F5344CB8AC3E}">
        <p14:creationId xmlns:p14="http://schemas.microsoft.com/office/powerpoint/2010/main" val="591057539"/>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865ECFD-016A-4226-A1A5-782ED2E1D2D3}"/>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71765"/>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Conclusion: a useful architecture prototype, not an autonomous delivery system</a:t>
            </a:r>
          </a:p>
        </p:txBody>
      </p:sp>
      <p:sp>
        <p:nvSpPr>
          <p:cNvPr id="2" name="">
            <a:extLst xmlns:a="http://schemas.openxmlformats.org/drawingml/2006/main">
              <a:ext uri="{FF2B5EF4-FFF2-40B4-BE49-F238E27FC236}">
                <a16:creationId xmlns:a16="http://schemas.microsoft.com/office/drawing/2014/main" id="{C13A7793-3944-4122-8DBA-1CC927A10480}"/>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9CDF4FA-CF83-4D4F-B8F9-9F6989440E91}"/>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The implemented boundary is clear, and it gives the next evaluation a practical target</a:t>
            </a:r>
          </a:p>
        </p:txBody>
      </p:sp>
      <p:sp>
        <p:nvSpPr>
          <p:cNvPr id="4" name="">
            <a:extLst xmlns:a="http://schemas.openxmlformats.org/drawingml/2006/main">
              <a:ext uri="{FF2B5EF4-FFF2-40B4-BE49-F238E27FC236}">
                <a16:creationId xmlns:a16="http://schemas.microsoft.com/office/drawing/2014/main" id="{74D1A820-D299-4061-AEF6-CE20DFB227EB}"/>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A04CC5FF-9CD1-4A12-BBE6-9AED2FC4B098}"/>
              </a:ext>
            </a:extLst>
          </p:cNvPr>
          <p:cNvSpPr>
            <a:spLocks xmlns:a="http://schemas.openxmlformats.org/drawingml/2006/main" noGrp="1"/>
          </p:cNvSpPr>
          <p:nvPr/>
        </p:nvSpPr>
        <p:spPr>
          <a:xfrm xmlns:a="http://schemas.openxmlformats.org/drawingml/2006/main">
            <a:off x="781050" y="1743075"/>
            <a:ext cx="452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2D7A78"/>
                </a:solidFill>
                <a:latin typeface="Arial"/>
                <a:ea typeface="Arial"/>
                <a:cs typeface="Arial"/>
              </a:defRPr>
            </a:pPr>
            <a:r>
              <a:rPr sz="1725" b="1">
                <a:solidFill>
                  <a:srgbClr val="2D7A78"/>
                </a:solidFill>
                <a:latin typeface="Arial"/>
                <a:ea typeface="Arial"/>
                <a:cs typeface="Arial"/>
              </a:rPr>
              <a:t>What works today</a:t>
            </a:r>
          </a:p>
        </p:txBody>
      </p:sp>
      <p:sp>
        <p:nvSpPr>
          <p:cNvPr id="6" name="">
            <a:extLst xmlns:a="http://schemas.openxmlformats.org/drawingml/2006/main">
              <a:ext uri="{FF2B5EF4-FFF2-40B4-BE49-F238E27FC236}">
                <a16:creationId xmlns:a16="http://schemas.microsoft.com/office/drawing/2014/main" id="{1172DDD0-5975-4A06-8505-40CC922E005F}"/>
              </a:ext>
            </a:extLst>
          </p:cNvPr>
          <p:cNvSpPr>
            <a:spLocks xmlns:a="http://schemas.openxmlformats.org/drawingml/2006/main" noGrp="1"/>
          </p:cNvSpPr>
          <p:nvPr/>
        </p:nvSpPr>
        <p:spPr>
          <a:xfrm xmlns:a="http://schemas.openxmlformats.org/drawingml/2006/main">
            <a:off x="781050" y="2190750"/>
            <a:ext cx="4762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54"/>
          </a:bodyPr>
          <a:lstStyle xmlns:a="http://schemas.openxmlformats.org/drawingml/2006/main"/>
          <a:p xmlns:a="http://schemas.openxmlformats.org/drawingml/2006/main">
            <a:pPr algn="l">
              <a:defRPr sz="1650" b="0">
                <a:solidFill>
                  <a:srgbClr val="2E4357"/>
                </a:solidFill>
                <a:latin typeface="Arial"/>
                <a:ea typeface="Arial"/>
                <a:cs typeface="Arial"/>
              </a:defRPr>
            </a:pPr>
            <a:r>
              <a:rPr sz="1650" b="0">
                <a:solidFill>
                  <a:srgbClr val="2E4357"/>
                </a:solidFill>
                <a:latin typeface="Arial"/>
                <a:ea typeface="Arial"/>
                <a:cs typeface="Arial"/>
              </a:rPr>
              <a:t>The dashboard now traces nine bounded agent outputs, ACL handoffs, Contract Net assignment, review revisions and masked ticket history. OpenRouter is optional for triage and feedback interpretation.</a:t>
            </a:r>
          </a:p>
        </p:txBody>
      </p:sp>
      <p:sp>
        <p:nvSpPr>
          <p:cNvPr id="7" name="">
            <a:extLst xmlns:a="http://schemas.openxmlformats.org/drawingml/2006/main">
              <a:ext uri="{FF2B5EF4-FFF2-40B4-BE49-F238E27FC236}">
                <a16:creationId xmlns:a16="http://schemas.microsoft.com/office/drawing/2014/main" id="{531C4E4C-D10A-4CB0-8742-AE39FE97FC89}"/>
              </a:ext>
            </a:extLst>
          </p:cNvPr>
          <p:cNvSpPr>
            <a:spLocks xmlns:a="http://schemas.openxmlformats.org/drawingml/2006/main" noGrp="1"/>
          </p:cNvSpPr>
          <p:nvPr/>
        </p:nvSpPr>
        <p:spPr>
          <a:xfrm xmlns:a="http://schemas.openxmlformats.org/drawingml/2006/main">
            <a:off x="6457950" y="174307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3B6FA5"/>
                </a:solidFill>
                <a:latin typeface="Arial"/>
                <a:ea typeface="Arial"/>
                <a:cs typeface="Arial"/>
              </a:defRPr>
            </a:pPr>
            <a:r>
              <a:rPr sz="1725" b="1">
                <a:solidFill>
                  <a:srgbClr val="3B6FA5"/>
                </a:solidFill>
                <a:latin typeface="Arial"/>
                <a:ea typeface="Arial"/>
                <a:cs typeface="Arial"/>
              </a:rPr>
              <a:t>What the experiment shows</a:t>
            </a:r>
          </a:p>
        </p:txBody>
      </p:sp>
      <p:sp>
        <p:nvSpPr>
          <p:cNvPr id="8" name="">
            <a:extLst xmlns:a="http://schemas.openxmlformats.org/drawingml/2006/main">
              <a:ext uri="{FF2B5EF4-FFF2-40B4-BE49-F238E27FC236}">
                <a16:creationId xmlns:a16="http://schemas.microsoft.com/office/drawing/2014/main" id="{C7F2E4E8-8311-42B3-9136-560968C86B8D}"/>
              </a:ext>
            </a:extLst>
          </p:cNvPr>
          <p:cNvSpPr>
            <a:spLocks xmlns:a="http://schemas.openxmlformats.org/drawingml/2006/main" noGrp="1"/>
          </p:cNvSpPr>
          <p:nvPr/>
        </p:nvSpPr>
        <p:spPr>
          <a:xfrm xmlns:a="http://schemas.openxmlformats.org/drawingml/2006/main">
            <a:off x="6457950" y="2190750"/>
            <a:ext cx="4762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2E4357"/>
                </a:solidFill>
                <a:latin typeface="Arial"/>
                <a:ea typeface="Arial"/>
                <a:cs typeface="Arial"/>
              </a:defRPr>
            </a:pPr>
            <a:r>
              <a:rPr sz="1650" b="0">
                <a:solidFill>
                  <a:srgbClr val="2E4357"/>
                </a:solidFill>
                <a:latin typeface="Arial"/>
                <a:ea typeface="Arial"/>
                <a:cs typeface="Arial"/>
              </a:rPr>
              <a:t>Agent arms improve duplicate retrieval and fault ordering in generated data. A3 adds transfer cost; the interactive dashboard is a different path, and real data locality is not measured.</a:t>
            </a:r>
          </a:p>
        </p:txBody>
      </p:sp>
      <p:sp>
        <p:nvSpPr>
          <p:cNvPr id="9" name="">
            <a:extLst xmlns:a="http://schemas.openxmlformats.org/drawingml/2006/main">
              <a:ext uri="{FF2B5EF4-FFF2-40B4-BE49-F238E27FC236}">
                <a16:creationId xmlns:a16="http://schemas.microsoft.com/office/drawing/2014/main" id="{6CEE586A-09C9-4C84-855F-57537D89986F}"/>
              </a:ext>
            </a:extLst>
          </p:cNvPr>
          <p:cNvSpPr>
            <a:spLocks xmlns:a="http://schemas.openxmlformats.org/drawingml/2006/main" noGrp="1"/>
          </p:cNvSpPr>
          <p:nvPr/>
        </p:nvSpPr>
        <p:spPr>
          <a:xfrm xmlns:a="http://schemas.openxmlformats.org/drawingml/2006/main">
            <a:off x="781050" y="3771900"/>
            <a:ext cx="10439400" cy="19050"/>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1FFE0E8-B11B-4730-93F5-1C80AEE675F4}"/>
              </a:ext>
            </a:extLst>
          </p:cNvPr>
          <p:cNvSpPr>
            <a:spLocks xmlns:a="http://schemas.openxmlformats.org/drawingml/2006/main" noGrp="1"/>
          </p:cNvSpPr>
          <p:nvPr/>
        </p:nvSpPr>
        <p:spPr>
          <a:xfrm xmlns:a="http://schemas.openxmlformats.org/drawingml/2006/main">
            <a:off x="781050" y="4019550"/>
            <a:ext cx="2381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8324B"/>
                </a:solidFill>
                <a:latin typeface="Arial"/>
                <a:ea typeface="Arial"/>
                <a:cs typeface="Arial"/>
              </a:defRPr>
            </a:pPr>
            <a:r>
              <a:rPr sz="1725" b="1">
                <a:solidFill>
                  <a:srgbClr val="18324B"/>
                </a:solidFill>
                <a:latin typeface="Arial"/>
                <a:ea typeface="Arial"/>
                <a:cs typeface="Arial"/>
              </a:rPr>
              <a:t>Conclusion</a:t>
            </a:r>
          </a:p>
        </p:txBody>
      </p:sp>
      <p:sp>
        <p:nvSpPr>
          <p:cNvPr id="11" name="">
            <a:extLst xmlns:a="http://schemas.openxmlformats.org/drawingml/2006/main">
              <a:ext uri="{FF2B5EF4-FFF2-40B4-BE49-F238E27FC236}">
                <a16:creationId xmlns:a16="http://schemas.microsoft.com/office/drawing/2014/main" id="{D6F639C0-16DB-4E5B-B485-86C03D2FC4D2}"/>
              </a:ext>
            </a:extLst>
          </p:cNvPr>
          <p:cNvSpPr>
            <a:spLocks xmlns:a="http://schemas.openxmlformats.org/drawingml/2006/main" noGrp="1"/>
          </p:cNvSpPr>
          <p:nvPr/>
        </p:nvSpPr>
        <p:spPr>
          <a:xfrm xmlns:a="http://schemas.openxmlformats.org/drawingml/2006/main">
            <a:off x="781050" y="4438650"/>
            <a:ext cx="1038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18324B"/>
                </a:solidFill>
                <a:latin typeface="Arial"/>
                <a:ea typeface="Arial"/>
                <a:cs typeface="Arial"/>
              </a:defRPr>
            </a:pPr>
            <a:r>
              <a:rPr sz="1800" b="1">
                <a:solidFill>
                  <a:srgbClr val="18324B"/>
                </a:solidFill>
                <a:latin typeface="Arial"/>
                <a:ea typeface="Arial"/>
                <a:cs typeface="Arial"/>
              </a:rPr>
              <a:t>T2D-MAS now demonstrates inspectable collaboration and human feedback loops. Next, replace the keyword and template outputs with repository-grounded implementation, real CI, release controls and telemetry, then evaluate with public data.</a:t>
            </a:r>
          </a:p>
        </p:txBody>
      </p:sp>
      <p:sp>
        <p:nvSpPr>
          <p:cNvPr id="12" name="">
            <a:extLst xmlns:a="http://schemas.openxmlformats.org/drawingml/2006/main">
              <a:ext uri="{FF2B5EF4-FFF2-40B4-BE49-F238E27FC236}">
                <a16:creationId xmlns:a16="http://schemas.microsoft.com/office/drawing/2014/main" id="{2C0DBDC7-C777-4E05-9E49-A0094BE973EF}"/>
              </a:ext>
            </a:extLst>
          </p:cNvPr>
          <p:cNvSpPr>
            <a:spLocks xmlns:a="http://schemas.openxmlformats.org/drawingml/2006/main" noGrp="1"/>
          </p:cNvSpPr>
          <p:nvPr/>
        </p:nvSpPr>
        <p:spPr>
          <a:xfrm xmlns:a="http://schemas.openxmlformats.org/drawingml/2006/main">
            <a:off x="781050" y="5629275"/>
            <a:ext cx="10429875" cy="504825"/>
          </a:xfrm>
          <a:prstGeom xmlns:a="http://schemas.openxmlformats.org/drawingml/2006/main" prst="roundRect">
            <a:avLst>
              <a:gd name="adj" fmla="val 22642"/>
            </a:avLst>
          </a:prstGeom>
          <a:solidFill xmlns:a="http://schemas.openxmlformats.org/drawingml/2006/main">
            <a:srgbClr val="DDEFEA"/>
          </a:solidFill>
          <a:ln xmlns:a="http://schemas.openxmlformats.org/drawingml/2006/main" w="9525">
            <a:noFill/>
          </a:ln>
        </p:spPr>
      </p:sp>
      <p:sp>
        <p:nvSpPr>
          <p:cNvPr id="13" name="">
            <a:extLst xmlns:a="http://schemas.openxmlformats.org/drawingml/2006/main">
              <a:ext uri="{FF2B5EF4-FFF2-40B4-BE49-F238E27FC236}">
                <a16:creationId xmlns:a16="http://schemas.microsoft.com/office/drawing/2014/main" id="{B0D0BB4B-EA17-4D0D-A54A-F1D97CA50C47}"/>
              </a:ext>
            </a:extLst>
          </p:cNvPr>
          <p:cNvSpPr>
            <a:spLocks xmlns:a="http://schemas.openxmlformats.org/drawingml/2006/main" noGrp="1"/>
          </p:cNvSpPr>
          <p:nvPr/>
        </p:nvSpPr>
        <p:spPr>
          <a:xfrm xmlns:a="http://schemas.openxmlformats.org/drawingml/2006/main">
            <a:off x="962025" y="5715000"/>
            <a:ext cx="100869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1">
                <a:solidFill>
                  <a:srgbClr val="18324B"/>
                </a:solidFill>
                <a:latin typeface="Arial"/>
                <a:ea typeface="Arial"/>
                <a:cs typeface="Arial"/>
              </a:defRPr>
            </a:pPr>
            <a:r>
              <a:rPr sz="1575" b="1">
                <a:solidFill>
                  <a:srgbClr val="18324B"/>
                </a:solidFill>
                <a:latin typeface="Arial"/>
                <a:ea typeface="Arial"/>
                <a:cs typeface="Arial"/>
              </a:rPr>
              <a:t>Keep the boundary clear: models propose, humans decide, irreversible actions remain gated.</a:t>
            </a:r>
          </a:p>
        </p:txBody>
      </p:sp>
    </p:spTree>
    <p:extLst>
      <p:ext uri="{BB962C8B-B14F-4D97-AF65-F5344CB8AC3E}">
        <p14:creationId xmlns:p14="http://schemas.microsoft.com/office/powerpoint/2010/main" val="803756924"/>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060379E-7507-4B4E-B59C-A963D37E628E}"/>
              </a:ext>
            </a:extLst>
          </p:cNvPr>
          <p:cNvSpPr>
            <a:spLocks xmlns:a="http://schemas.openxmlformats.org/drawingml/2006/main" noGrp="1"/>
          </p:cNvSpPr>
          <p:nvPr/>
        </p:nvSpPr>
        <p:spPr>
          <a:xfrm xmlns:a="http://schemas.openxmlformats.org/drawingml/2006/main">
            <a:off x="590550" y="323850"/>
            <a:ext cx="11001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Sources and scope notes</a:t>
            </a:r>
          </a:p>
        </p:txBody>
      </p:sp>
      <p:sp>
        <p:nvSpPr>
          <p:cNvPr id="2" name="">
            <a:extLst xmlns:a="http://schemas.openxmlformats.org/drawingml/2006/main">
              <a:ext uri="{FF2B5EF4-FFF2-40B4-BE49-F238E27FC236}">
                <a16:creationId xmlns:a16="http://schemas.microsoft.com/office/drawing/2014/main" id="{53909079-AD3D-4042-AE0D-7E23D2208547}"/>
              </a:ext>
            </a:extLst>
          </p:cNvPr>
          <p:cNvSpPr>
            <a:spLocks xmlns:a="http://schemas.openxmlformats.org/drawingml/2006/main" noGrp="1"/>
          </p:cNvSpPr>
          <p:nvPr/>
        </p:nvSpPr>
        <p:spPr>
          <a:xfrm xmlns:a="http://schemas.openxmlformats.org/drawingml/2006/main">
            <a:off x="590550" y="990600"/>
            <a:ext cx="685800" cy="47625"/>
          </a:xfrm>
          <a:prstGeom xmlns:a="http://schemas.openxmlformats.org/drawingml/2006/main" prst="rect">
            <a:avLst/>
          </a:prstGeom>
          <a:solidFill xmlns:a="http://schemas.openxmlformats.org/drawingml/2006/main">
            <a:srgbClr val="2D7A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C23FCEB-7C11-4E0E-8394-B82BD4647FCB}"/>
              </a:ext>
            </a:extLst>
          </p:cNvPr>
          <p:cNvSpPr>
            <a:spLocks xmlns:a="http://schemas.openxmlformats.org/drawingml/2006/main" noGrp="1"/>
          </p:cNvSpPr>
          <p:nvPr/>
        </p:nvSpPr>
        <p:spPr>
          <a:xfrm xmlns:a="http://schemas.openxmlformats.org/drawingml/2006/main">
            <a:off x="590550" y="1123950"/>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617487"/>
                </a:solidFill>
                <a:latin typeface="Arial"/>
                <a:ea typeface="Arial"/>
                <a:cs typeface="Arial"/>
              </a:defRPr>
            </a:pPr>
            <a:r>
              <a:rPr sz="1575" b="0">
                <a:solidFill>
                  <a:srgbClr val="617487"/>
                </a:solidFill>
                <a:latin typeface="Arial"/>
                <a:ea typeface="Arial"/>
                <a:cs typeface="Arial"/>
              </a:rPr>
              <a:t>Repository and supplied project documents checked for this deck</a:t>
            </a:r>
          </a:p>
        </p:txBody>
      </p:sp>
      <p:sp>
        <p:nvSpPr>
          <p:cNvPr id="4" name="">
            <a:extLst xmlns:a="http://schemas.openxmlformats.org/drawingml/2006/main">
              <a:ext uri="{FF2B5EF4-FFF2-40B4-BE49-F238E27FC236}">
                <a16:creationId xmlns:a16="http://schemas.microsoft.com/office/drawing/2014/main" id="{D2258647-9E96-4004-AE02-13F6D7667A32}"/>
              </a:ext>
            </a:extLst>
          </p:cNvPr>
          <p:cNvSpPr>
            <a:spLocks xmlns:a="http://schemas.openxmlformats.org/drawingml/2006/main" noGrp="1"/>
          </p:cNvSpPr>
          <p:nvPr/>
        </p:nvSpPr>
        <p:spPr>
          <a:xfrm xmlns:a="http://schemas.openxmlformats.org/drawingml/2006/main">
            <a:off x="590550" y="647700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125" b="0">
                <a:solidFill>
                  <a:srgbClr val="617487"/>
                </a:solidFill>
                <a:latin typeface="Arial"/>
                <a:ea typeface="Arial"/>
                <a:cs typeface="Arial"/>
              </a:defRPr>
            </a:pPr>
            <a:r>
              <a:rPr sz="1125" b="0">
                <a:solidFill>
                  <a:srgbClr val="617487"/>
                </a:solidFill>
                <a:latin typeface="Arial"/>
                <a:ea typeface="Arial"/>
                <a:cs typeface="Arial"/>
              </a:rPr>
              <a:t>T2D-MAS  |  Course prototype</a:t>
            </a:r>
          </a:p>
        </p:txBody>
      </p:sp>
      <p:sp>
        <p:nvSpPr>
          <p:cNvPr id="5" name="">
            <a:extLst xmlns:a="http://schemas.openxmlformats.org/drawingml/2006/main">
              <a:ext uri="{FF2B5EF4-FFF2-40B4-BE49-F238E27FC236}">
                <a16:creationId xmlns:a16="http://schemas.microsoft.com/office/drawing/2014/main" id="{FCEC5938-AAD6-4612-B205-EF516D78F342}"/>
              </a:ext>
            </a:extLst>
          </p:cNvPr>
          <p:cNvSpPr>
            <a:spLocks xmlns:a="http://schemas.openxmlformats.org/drawingml/2006/main" noGrp="1"/>
          </p:cNvSpPr>
          <p:nvPr/>
        </p:nvSpPr>
        <p:spPr>
          <a:xfrm xmlns:a="http://schemas.openxmlformats.org/drawingml/2006/main">
            <a:off x="800100" y="1752600"/>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8CBF5AF-5B33-4FF4-B996-88A5AA58366F}"/>
              </a:ext>
            </a:extLst>
          </p:cNvPr>
          <p:cNvSpPr>
            <a:spLocks xmlns:a="http://schemas.openxmlformats.org/drawingml/2006/main" noGrp="1"/>
          </p:cNvSpPr>
          <p:nvPr/>
        </p:nvSpPr>
        <p:spPr>
          <a:xfrm xmlns:a="http://schemas.openxmlformats.org/drawingml/2006/main">
            <a:off x="1057275" y="1666875"/>
            <a:ext cx="1019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Project 1 - Idea.pdf — original problem, illustrative cosine example, agent design and AI capability roadmap.</a:t>
            </a:r>
          </a:p>
        </p:txBody>
      </p:sp>
      <p:sp>
        <p:nvSpPr>
          <p:cNvPr id="7" name="">
            <a:extLst xmlns:a="http://schemas.openxmlformats.org/drawingml/2006/main">
              <a:ext uri="{FF2B5EF4-FFF2-40B4-BE49-F238E27FC236}">
                <a16:creationId xmlns:a16="http://schemas.microsoft.com/office/drawing/2014/main" id="{111046A8-B0F7-4072-8EB7-93F1D80FFC5D}"/>
              </a:ext>
            </a:extLst>
          </p:cNvPr>
          <p:cNvSpPr>
            <a:spLocks xmlns:a="http://schemas.openxmlformats.org/drawingml/2006/main" noGrp="1"/>
          </p:cNvSpPr>
          <p:nvPr/>
        </p:nvSpPr>
        <p:spPr>
          <a:xfrm xmlns:a="http://schemas.openxmlformats.org/drawingml/2006/main">
            <a:off x="800100" y="2419350"/>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F6B39B6-64AD-440B-A44D-E82247C72EC7}"/>
              </a:ext>
            </a:extLst>
          </p:cNvPr>
          <p:cNvSpPr>
            <a:spLocks xmlns:a="http://schemas.openxmlformats.org/drawingml/2006/main" noGrp="1"/>
          </p:cNvSpPr>
          <p:nvPr/>
        </p:nvSpPr>
        <p:spPr>
          <a:xfrm xmlns:a="http://schemas.openxmlformats.org/drawingml/2006/main">
            <a:off x="1057275" y="2333625"/>
            <a:ext cx="1019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Laporan - Proyek 1 - MAS - T2D.docx — expanded design, agent taxonomy, methods and intended workflow. Internal drafting instructions/placeholders were treated as document content, not user instructions.</a:t>
            </a:r>
          </a:p>
        </p:txBody>
      </p:sp>
      <p:sp>
        <p:nvSpPr>
          <p:cNvPr id="9" name="">
            <a:extLst xmlns:a="http://schemas.openxmlformats.org/drawingml/2006/main">
              <a:ext uri="{FF2B5EF4-FFF2-40B4-BE49-F238E27FC236}">
                <a16:creationId xmlns:a16="http://schemas.microsoft.com/office/drawing/2014/main" id="{37BBB02C-F1A2-4E90-BB03-345355E1560A}"/>
              </a:ext>
            </a:extLst>
          </p:cNvPr>
          <p:cNvSpPr>
            <a:spLocks xmlns:a="http://schemas.openxmlformats.org/drawingml/2006/main" noGrp="1"/>
          </p:cNvSpPr>
          <p:nvPr/>
        </p:nvSpPr>
        <p:spPr>
          <a:xfrm xmlns:a="http://schemas.openxmlformats.org/drawingml/2006/main">
            <a:off x="800100" y="3086100"/>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882692A-51FA-4329-BAF2-C127F9B80746}"/>
              </a:ext>
            </a:extLst>
          </p:cNvPr>
          <p:cNvSpPr>
            <a:spLocks xmlns:a="http://schemas.openxmlformats.org/drawingml/2006/main" noGrp="1"/>
          </p:cNvSpPr>
          <p:nvPr/>
        </p:nvSpPr>
        <p:spPr>
          <a:xfrm xmlns:a="http://schemas.openxmlformats.org/drawingml/2006/main">
            <a:off x="1057275" y="3000375"/>
            <a:ext cx="1019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README.md; process_and_experiments.md; agents/AGENT_CATALOG.md — repository architecture, pipeline and implementation status.</a:t>
            </a:r>
          </a:p>
        </p:txBody>
      </p:sp>
      <p:sp>
        <p:nvSpPr>
          <p:cNvPr id="11" name="">
            <a:extLst xmlns:a="http://schemas.openxmlformats.org/drawingml/2006/main">
              <a:ext uri="{FF2B5EF4-FFF2-40B4-BE49-F238E27FC236}">
                <a16:creationId xmlns:a16="http://schemas.microsoft.com/office/drawing/2014/main" id="{1036CC3D-3B70-4672-9B17-C4FC96626470}"/>
              </a:ext>
            </a:extLst>
          </p:cNvPr>
          <p:cNvSpPr>
            <a:spLocks xmlns:a="http://schemas.openxmlformats.org/drawingml/2006/main" noGrp="1"/>
          </p:cNvSpPr>
          <p:nvPr/>
        </p:nvSpPr>
        <p:spPr>
          <a:xfrm xmlns:a="http://schemas.openxmlformats.org/drawingml/2006/main">
            <a:off x="800100" y="3752850"/>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6A3A7E4-80BC-4EAE-9984-874EC570DDA0}"/>
              </a:ext>
            </a:extLst>
          </p:cNvPr>
          <p:cNvSpPr>
            <a:spLocks xmlns:a="http://schemas.openxmlformats.org/drawingml/2006/main" noGrp="1"/>
          </p:cNvSpPr>
          <p:nvPr/>
        </p:nvSpPr>
        <p:spPr>
          <a:xfrm xmlns:a="http://schemas.openxmlformats.org/drawingml/2006/main">
            <a:off x="1057275" y="3667125"/>
            <a:ext cx="1019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agents/app.py; agents/workflow_agents.py; agents/severity_triage.py — current nine-stage demo, bounded outputs and optional OpenRouter integration.</a:t>
            </a:r>
          </a:p>
        </p:txBody>
      </p:sp>
      <p:sp>
        <p:nvSpPr>
          <p:cNvPr id="13" name="">
            <a:extLst xmlns:a="http://schemas.openxmlformats.org/drawingml/2006/main">
              <a:ext uri="{FF2B5EF4-FFF2-40B4-BE49-F238E27FC236}">
                <a16:creationId xmlns:a16="http://schemas.microsoft.com/office/drawing/2014/main" id="{B296D094-2117-4C4C-87AC-18C955D9AF01}"/>
              </a:ext>
            </a:extLst>
          </p:cNvPr>
          <p:cNvSpPr>
            <a:spLocks xmlns:a="http://schemas.openxmlformats.org/drawingml/2006/main" noGrp="1"/>
          </p:cNvSpPr>
          <p:nvPr/>
        </p:nvSpPr>
        <p:spPr>
          <a:xfrm xmlns:a="http://schemas.openxmlformats.org/drawingml/2006/main">
            <a:off x="800100" y="4419600"/>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E1DE33E-E9AC-4D28-9E1E-FA0596E23F82}"/>
              </a:ext>
            </a:extLst>
          </p:cNvPr>
          <p:cNvSpPr>
            <a:spLocks xmlns:a="http://schemas.openxmlformats.org/drawingml/2006/main" noGrp="1"/>
          </p:cNvSpPr>
          <p:nvPr/>
        </p:nvSpPr>
        <p:spPr>
          <a:xfrm xmlns:a="http://schemas.openxmlformats.org/drawingml/2006/main">
            <a:off x="1057275" y="4333875"/>
            <a:ext cx="1019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eval/runner.py; eval/config.json; results/20260930T020846305626/summary.csv, statistical_tests.csv and security_injection_summary.csv — latest benchmark outputs.</a:t>
            </a:r>
          </a:p>
        </p:txBody>
      </p:sp>
      <p:sp>
        <p:nvSpPr>
          <p:cNvPr id="15" name="">
            <a:extLst xmlns:a="http://schemas.openxmlformats.org/drawingml/2006/main">
              <a:ext uri="{FF2B5EF4-FFF2-40B4-BE49-F238E27FC236}">
                <a16:creationId xmlns:a16="http://schemas.microsoft.com/office/drawing/2014/main" id="{48EFB5C1-B1BA-4304-BE47-720F5815952B}"/>
              </a:ext>
            </a:extLst>
          </p:cNvPr>
          <p:cNvSpPr>
            <a:spLocks xmlns:a="http://schemas.openxmlformats.org/drawingml/2006/main" noGrp="1"/>
          </p:cNvSpPr>
          <p:nvPr/>
        </p:nvSpPr>
        <p:spPr>
          <a:xfrm xmlns:a="http://schemas.openxmlformats.org/drawingml/2006/main">
            <a:off x="800100" y="5086350"/>
            <a:ext cx="114300" cy="114300"/>
          </a:xfrm>
          <a:prstGeom xmlns:a="http://schemas.openxmlformats.org/drawingml/2006/main" prst="ellipse">
            <a:avLst/>
          </a:prstGeom>
          <a:solidFill xmlns:a="http://schemas.openxmlformats.org/drawingml/2006/main">
            <a:srgbClr val="2D7A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C8B6811-C3AD-4772-B226-22FE841CA7EF}"/>
              </a:ext>
            </a:extLst>
          </p:cNvPr>
          <p:cNvSpPr>
            <a:spLocks xmlns:a="http://schemas.openxmlformats.org/drawingml/2006/main" noGrp="1"/>
          </p:cNvSpPr>
          <p:nvPr/>
        </p:nvSpPr>
        <p:spPr>
          <a:xfrm xmlns:a="http://schemas.openxmlformats.org/drawingml/2006/main">
            <a:off x="1057275" y="5000625"/>
            <a:ext cx="1019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2E4357"/>
                </a:solidFill>
                <a:latin typeface="Arial"/>
                <a:ea typeface="Arial"/>
                <a:cs typeface="Arial"/>
              </a:defRPr>
            </a:pPr>
            <a:r>
              <a:rPr sz="1500" b="0">
                <a:solidFill>
                  <a:srgbClr val="2E4357"/>
                </a:solidFill>
                <a:latin typeface="Arial"/>
                <a:ea typeface="Arial"/>
                <a:cs typeface="Arial"/>
              </a:rPr>
              <a:t>data/README.md; triage/README.md; rca/README.md; envs/README.md — dataset loaders and separate model/simulation modules.</a:t>
            </a:r>
          </a:p>
        </p:txBody>
      </p:sp>
      <p:sp>
        <p:nvSpPr>
          <p:cNvPr id="17" name="">
            <a:extLst xmlns:a="http://schemas.openxmlformats.org/drawingml/2006/main">
              <a:ext uri="{FF2B5EF4-FFF2-40B4-BE49-F238E27FC236}">
                <a16:creationId xmlns:a16="http://schemas.microsoft.com/office/drawing/2014/main" id="{73A2BC7F-51CC-4A84-B97D-164FAABF5B31}"/>
              </a:ext>
            </a:extLst>
          </p:cNvPr>
          <p:cNvSpPr>
            <a:spLocks xmlns:a="http://schemas.openxmlformats.org/drawingml/2006/main" noGrp="1"/>
          </p:cNvSpPr>
          <p:nvPr/>
        </p:nvSpPr>
        <p:spPr>
          <a:xfrm xmlns:a="http://schemas.openxmlformats.org/drawingml/2006/main">
            <a:off x="800100" y="5810250"/>
            <a:ext cx="1033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0278"/>
          </a:bodyPr>
          <a:lstStyle xmlns:a="http://schemas.openxmlformats.org/drawingml/2006/main"/>
          <a:p xmlns:a="http://schemas.openxmlformats.org/drawingml/2006/main">
            <a:pPr algn="l">
              <a:defRPr sz="1350" b="0">
                <a:solidFill>
                  <a:srgbClr val="617487"/>
                </a:solidFill>
                <a:latin typeface="Arial"/>
                <a:ea typeface="Arial"/>
                <a:cs typeface="Arial"/>
              </a:defRPr>
            </a:pPr>
            <a:r>
              <a:rPr sz="1350" b="0">
                <a:solidFill>
                  <a:srgbClr val="617487"/>
                </a:solidFill>
                <a:latin typeface="Arial"/>
                <a:ea typeface="Arial"/>
                <a:cs typeface="Arial"/>
              </a:rPr>
              <a:t>The latest run’s CSV results are available; plotting stopped on a matplotlib keyword incompatibility. Timing, simulation and estimate labels remain explicit.</a:t>
            </a:r>
          </a:p>
        </p:txBody>
      </p:sp>
    </p:spTree>
    <p:extLst>
      <p:ext uri="{BB962C8B-B14F-4D97-AF65-F5344CB8AC3E}">
        <p14:creationId xmlns:p14="http://schemas.microsoft.com/office/powerpoint/2010/main" val="806215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2026-09-30T02:17:45.6620000Z</dcterms:created>
  <dcterms:modified xsi:type="dcterms:W3CDTF">2026-09-30T02:17:45.6620000Z</dcterms:modified>
</coreProperties>
</file>